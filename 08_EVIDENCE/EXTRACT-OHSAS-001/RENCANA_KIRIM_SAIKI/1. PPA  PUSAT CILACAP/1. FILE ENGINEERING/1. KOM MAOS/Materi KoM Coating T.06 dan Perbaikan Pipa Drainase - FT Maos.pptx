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handoutMasterIdLst>
    <p:handoutMasterId r:id="rId29"/>
  </p:handoutMasterIdLst>
  <p:sldIdLst>
    <p:sldId id="281" r:id="rId2"/>
    <p:sldId id="282" r:id="rId3"/>
    <p:sldId id="276" r:id="rId4"/>
    <p:sldId id="284" r:id="rId5"/>
    <p:sldId id="285" r:id="rId6"/>
    <p:sldId id="286" r:id="rId7"/>
    <p:sldId id="287" r:id="rId8"/>
    <p:sldId id="288" r:id="rId9"/>
    <p:sldId id="289" r:id="rId10"/>
    <p:sldId id="294" r:id="rId11"/>
    <p:sldId id="295" r:id="rId12"/>
    <p:sldId id="290" r:id="rId13"/>
    <p:sldId id="296" r:id="rId14"/>
    <p:sldId id="297" r:id="rId15"/>
    <p:sldId id="298" r:id="rId16"/>
    <p:sldId id="299" r:id="rId17"/>
    <p:sldId id="291" r:id="rId18"/>
    <p:sldId id="292" r:id="rId19"/>
    <p:sldId id="293" r:id="rId20"/>
    <p:sldId id="300" r:id="rId21"/>
    <p:sldId id="301" r:id="rId22"/>
    <p:sldId id="302" r:id="rId23"/>
    <p:sldId id="303" r:id="rId24"/>
    <p:sldId id="304" r:id="rId25"/>
    <p:sldId id="305" r:id="rId26"/>
    <p:sldId id="28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5BB23D"/>
    <a:srgbClr val="114D67"/>
    <a:srgbClr val="E97132"/>
    <a:srgbClr val="5E9765"/>
    <a:srgbClr val="F09B6F"/>
    <a:srgbClr val="5B8F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90" autoAdjust="0"/>
  </p:normalViewPr>
  <p:slideViewPr>
    <p:cSldViewPr snapToGrid="0">
      <p:cViewPr varScale="1">
        <p:scale>
          <a:sx n="41" d="100"/>
          <a:sy n="41" d="100"/>
        </p:scale>
        <p:origin x="882" y="42"/>
      </p:cViewPr>
      <p:guideLst/>
    </p:cSldViewPr>
  </p:slideViewPr>
  <p:outlineViewPr>
    <p:cViewPr>
      <p:scale>
        <a:sx n="33" d="100"/>
        <a:sy n="33" d="100"/>
      </p:scale>
      <p:origin x="0" y="-662"/>
    </p:cViewPr>
  </p:outlineViewPr>
  <p:notesTextViewPr>
    <p:cViewPr>
      <p:scale>
        <a:sx n="1" d="1"/>
        <a:sy n="1" d="1"/>
      </p:scale>
      <p:origin x="0" y="0"/>
    </p:cViewPr>
  </p:notesTextViewPr>
  <p:sorterViewPr>
    <p:cViewPr>
      <p:scale>
        <a:sx n="100" d="100"/>
        <a:sy n="100" d="100"/>
      </p:scale>
      <p:origin x="0" y="-6091"/>
    </p:cViewPr>
  </p:sorterViewPr>
  <p:notesViewPr>
    <p:cSldViewPr snapToGrid="0">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Header 1">
            <a:extLst>
              <a:ext uri="{FF2B5EF4-FFF2-40B4-BE49-F238E27FC236}">
                <a16:creationId xmlns:a16="http://schemas.microsoft.com/office/drawing/2014/main" id="{F56F36C2-BD4B-4EF5-AD06-3CB2E41E678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Tampungan Tanggal 2">
            <a:extLst>
              <a:ext uri="{FF2B5EF4-FFF2-40B4-BE49-F238E27FC236}">
                <a16:creationId xmlns:a16="http://schemas.microsoft.com/office/drawing/2014/main" id="{9E84B5C3-1705-BE61-69E1-B5161393FC1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DE9C5C-AA8B-46CF-96BE-460E12B55A3F}" type="datetimeFigureOut">
              <a:rPr lang="id-ID" smtClean="0"/>
              <a:t>29/07/2025</a:t>
            </a:fld>
            <a:endParaRPr lang="id-ID"/>
          </a:p>
        </p:txBody>
      </p:sp>
      <p:sp>
        <p:nvSpPr>
          <p:cNvPr id="4" name="Tampungan Kaki 3">
            <a:extLst>
              <a:ext uri="{FF2B5EF4-FFF2-40B4-BE49-F238E27FC236}">
                <a16:creationId xmlns:a16="http://schemas.microsoft.com/office/drawing/2014/main" id="{9E0F3DF3-176D-FE60-0D8F-1FCE8C59BA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5" name="Tampungan Nomor Slide 4">
            <a:extLst>
              <a:ext uri="{FF2B5EF4-FFF2-40B4-BE49-F238E27FC236}">
                <a16:creationId xmlns:a16="http://schemas.microsoft.com/office/drawing/2014/main" id="{114D5E8F-3370-6EC0-2EB0-A0EF57134B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3DD1E4-9C08-4790-B46A-9E6183F1C018}" type="slidenum">
              <a:rPr lang="id-ID" smtClean="0"/>
              <a:t>‹#›</a:t>
            </a:fld>
            <a:endParaRPr lang="id-ID"/>
          </a:p>
        </p:txBody>
      </p:sp>
    </p:spTree>
    <p:extLst>
      <p:ext uri="{BB962C8B-B14F-4D97-AF65-F5344CB8AC3E}">
        <p14:creationId xmlns:p14="http://schemas.microsoft.com/office/powerpoint/2010/main" val="6191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3A79CA-FC32-B742-A70B-E8D30071E3A2}" type="datetimeFigureOut">
              <a:rPr lang="en-US" smtClean="0"/>
              <a:t>7/29/2025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30FA1F-E585-0B47-8C16-67D0BE956B58}" type="slidenum">
              <a:rPr lang="en-US" smtClean="0"/>
              <a:t>‹#›</a:t>
            </a:fld>
            <a:endParaRPr lang="en-US"/>
          </a:p>
        </p:txBody>
      </p:sp>
    </p:spTree>
    <p:extLst>
      <p:ext uri="{BB962C8B-B14F-4D97-AF65-F5344CB8AC3E}">
        <p14:creationId xmlns:p14="http://schemas.microsoft.com/office/powerpoint/2010/main" val="3297297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7530FA1F-E585-0B47-8C16-67D0BE956B58}" type="slidenum">
              <a:rPr lang="en-US" smtClean="0"/>
              <a:t>4</a:t>
            </a:fld>
            <a:endParaRPr lang="en-US"/>
          </a:p>
        </p:txBody>
      </p:sp>
    </p:spTree>
    <p:extLst>
      <p:ext uri="{BB962C8B-B14F-4D97-AF65-F5344CB8AC3E}">
        <p14:creationId xmlns:p14="http://schemas.microsoft.com/office/powerpoint/2010/main" val="3225515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7530FA1F-E585-0B47-8C16-67D0BE956B58}" type="slidenum">
              <a:rPr lang="en-US" smtClean="0"/>
              <a:t>12</a:t>
            </a:fld>
            <a:endParaRPr lang="en-US"/>
          </a:p>
        </p:txBody>
      </p:sp>
    </p:spTree>
    <p:extLst>
      <p:ext uri="{BB962C8B-B14F-4D97-AF65-F5344CB8AC3E}">
        <p14:creationId xmlns:p14="http://schemas.microsoft.com/office/powerpoint/2010/main" val="7509997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0A0E8-7BB9-5E5E-1BFD-18AFECD55D98}"/>
              </a:ext>
            </a:extLst>
          </p:cNvPr>
          <p:cNvSpPr>
            <a:spLocks noGrp="1"/>
          </p:cNvSpPr>
          <p:nvPr>
            <p:ph type="ctrTitle"/>
          </p:nvPr>
        </p:nvSpPr>
        <p:spPr>
          <a:xfrm>
            <a:off x="1524000" y="1122362"/>
            <a:ext cx="9144000" cy="1300797"/>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7B42C8D9-821A-2954-DB04-BF7A4F55CD8E}"/>
              </a:ext>
            </a:extLst>
          </p:cNvPr>
          <p:cNvSpPr>
            <a:spLocks noGrp="1"/>
          </p:cNvSpPr>
          <p:nvPr>
            <p:ph type="subTitle" idx="1"/>
          </p:nvPr>
        </p:nvSpPr>
        <p:spPr>
          <a:xfrm>
            <a:off x="1524000" y="2423159"/>
            <a:ext cx="9144000" cy="90208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99135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FA70A-3C91-2482-CC03-98DA83137A91}"/>
              </a:ext>
            </a:extLst>
          </p:cNvPr>
          <p:cNvSpPr>
            <a:spLocks noGrp="1"/>
          </p:cNvSpPr>
          <p:nvPr>
            <p:ph type="title"/>
          </p:nvPr>
        </p:nvSpPr>
        <p:spPr>
          <a:xfrm>
            <a:off x="4038600" y="1073150"/>
            <a:ext cx="7315200" cy="1325563"/>
          </a:xfrm>
        </p:spPr>
        <p:txBody>
          <a:bodyPr/>
          <a:lstStyle>
            <a:lvl1pPr algn="l">
              <a:defRPr/>
            </a:lvl1pPr>
          </a:lstStyle>
          <a:p>
            <a:r>
              <a:rPr lang="en-US"/>
              <a:t>Click to edit Master title style</a:t>
            </a:r>
          </a:p>
        </p:txBody>
      </p:sp>
      <p:sp>
        <p:nvSpPr>
          <p:cNvPr id="3" name="Content Placeholder 2">
            <a:extLst>
              <a:ext uri="{FF2B5EF4-FFF2-40B4-BE49-F238E27FC236}">
                <a16:creationId xmlns:a16="http://schemas.microsoft.com/office/drawing/2014/main" id="{7BAE67E3-2117-815A-62F2-F4253937FA51}"/>
              </a:ext>
            </a:extLst>
          </p:cNvPr>
          <p:cNvSpPr>
            <a:spLocks noGrp="1"/>
          </p:cNvSpPr>
          <p:nvPr>
            <p:ph idx="1"/>
          </p:nvPr>
        </p:nvSpPr>
        <p:spPr>
          <a:xfrm>
            <a:off x="4038600" y="2398713"/>
            <a:ext cx="7315200" cy="3778250"/>
          </a:xfrm>
        </p:spPr>
        <p:txBody>
          <a:bodyPr/>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2BA0EDE-C873-3D09-0F53-25CBFEDCA88D}"/>
              </a:ext>
            </a:extLst>
          </p:cNvPr>
          <p:cNvSpPr>
            <a:spLocks noGrp="1"/>
          </p:cNvSpPr>
          <p:nvPr>
            <p:ph type="dt" sz="half" idx="10"/>
          </p:nvPr>
        </p:nvSpPr>
        <p:spPr/>
        <p:txBody>
          <a:bodyPr/>
          <a:lstStyle/>
          <a:p>
            <a:fld id="{DD3D1EC9-772C-D447-B0BC-8878E13AD991}" type="datetimeFigureOut">
              <a:rPr lang="en-US" smtClean="0"/>
              <a:t>7/29/2025</a:t>
            </a:fld>
            <a:endParaRPr lang="en-US"/>
          </a:p>
        </p:txBody>
      </p:sp>
      <p:sp>
        <p:nvSpPr>
          <p:cNvPr id="5" name="Footer Placeholder 4">
            <a:extLst>
              <a:ext uri="{FF2B5EF4-FFF2-40B4-BE49-F238E27FC236}">
                <a16:creationId xmlns:a16="http://schemas.microsoft.com/office/drawing/2014/main" id="{F23B335B-EBDA-D796-A567-5CD9DB3992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F1CCBE-A30B-94D5-8E2C-68500EE09F1A}"/>
              </a:ext>
            </a:extLst>
          </p:cNvPr>
          <p:cNvSpPr>
            <a:spLocks noGrp="1"/>
          </p:cNvSpPr>
          <p:nvPr>
            <p:ph type="sldNum" sz="quarter" idx="12"/>
          </p:nvPr>
        </p:nvSpPr>
        <p:spPr/>
        <p:txBody>
          <a:bodyPr/>
          <a:lstStyle/>
          <a:p>
            <a:fld id="{D7412CF8-9496-C741-9A19-CFC46C0C0D9D}" type="slidenum">
              <a:rPr lang="en-US" smtClean="0"/>
              <a:t>‹#›</a:t>
            </a:fld>
            <a:endParaRPr lang="en-US"/>
          </a:p>
        </p:txBody>
      </p:sp>
    </p:spTree>
    <p:extLst>
      <p:ext uri="{BB962C8B-B14F-4D97-AF65-F5344CB8AC3E}">
        <p14:creationId xmlns:p14="http://schemas.microsoft.com/office/powerpoint/2010/main" val="2255383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A6DB6-B16F-2087-1349-EEC1B4D09EFB}"/>
              </a:ext>
            </a:extLst>
          </p:cNvPr>
          <p:cNvSpPr>
            <a:spLocks noGrp="1"/>
          </p:cNvSpPr>
          <p:nvPr>
            <p:ph type="title"/>
          </p:nvPr>
        </p:nvSpPr>
        <p:spPr>
          <a:xfrm>
            <a:off x="571023" y="219870"/>
            <a:ext cx="8977313" cy="592138"/>
          </a:xfrm>
        </p:spPr>
        <p:txBody>
          <a:bodyPr/>
          <a:lstStyle/>
          <a:p>
            <a:r>
              <a:rPr lang="en-US" dirty="0"/>
              <a:t>Click to edit Master title style</a:t>
            </a:r>
          </a:p>
        </p:txBody>
      </p:sp>
    </p:spTree>
    <p:extLst>
      <p:ext uri="{BB962C8B-B14F-4D97-AF65-F5344CB8AC3E}">
        <p14:creationId xmlns:p14="http://schemas.microsoft.com/office/powerpoint/2010/main" val="1328312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694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91001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2C1799-20A1-B311-EF25-6236DC2414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B20D60D-4B6E-03D9-EC79-B83A8048DF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CD9037-2662-07F2-FEDF-51DEFFEF7D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3D1EC9-772C-D447-B0BC-8878E13AD991}" type="datetimeFigureOut">
              <a:rPr lang="en-US" smtClean="0"/>
              <a:t>7/29/2025</a:t>
            </a:fld>
            <a:endParaRPr lang="en-US"/>
          </a:p>
        </p:txBody>
      </p:sp>
      <p:sp>
        <p:nvSpPr>
          <p:cNvPr id="5" name="Footer Placeholder 4">
            <a:extLst>
              <a:ext uri="{FF2B5EF4-FFF2-40B4-BE49-F238E27FC236}">
                <a16:creationId xmlns:a16="http://schemas.microsoft.com/office/drawing/2014/main" id="{2F85988B-8C12-9161-2E0C-0EFE42D251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EA17EC-F41C-8172-36ED-FE2184ED5B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412CF8-9496-C741-9A19-CFC46C0C0D9D}" type="slidenum">
              <a:rPr lang="en-US" smtClean="0"/>
              <a:t>‹#›</a:t>
            </a:fld>
            <a:endParaRPr lang="en-US"/>
          </a:p>
        </p:txBody>
      </p:sp>
    </p:spTree>
    <p:extLst>
      <p:ext uri="{BB962C8B-B14F-4D97-AF65-F5344CB8AC3E}">
        <p14:creationId xmlns:p14="http://schemas.microsoft.com/office/powerpoint/2010/main" val="4070043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1" r:id="rId4"/>
    <p:sldLayoutId id="2147483659"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tags" Target="../tags/tag20.xml"/><Relationship Id="rId3" Type="http://schemas.openxmlformats.org/officeDocument/2006/relationships/tags" Target="../tags/tag15.xml"/><Relationship Id="rId7" Type="http://schemas.openxmlformats.org/officeDocument/2006/relationships/tags" Target="../tags/tag19.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9"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judul 2">
            <a:extLst>
              <a:ext uri="{FF2B5EF4-FFF2-40B4-BE49-F238E27FC236}">
                <a16:creationId xmlns:a16="http://schemas.microsoft.com/office/drawing/2014/main" id="{302934AC-0341-679C-C031-5057F0C609A3}"/>
              </a:ext>
            </a:extLst>
          </p:cNvPr>
          <p:cNvSpPr>
            <a:spLocks noGrp="1"/>
          </p:cNvSpPr>
          <p:nvPr>
            <p:ph type="subTitle" idx="1"/>
          </p:nvPr>
        </p:nvSpPr>
        <p:spPr/>
        <p:txBody>
          <a:bodyPr/>
          <a:lstStyle/>
          <a:p>
            <a:r>
              <a:rPr lang="it-IT" sz="2400" b="1" kern="0" spc="200" dirty="0">
                <a:solidFill>
                  <a:srgbClr val="D36C26"/>
                </a:solidFill>
                <a:effectLst>
                  <a:glow rad="127000">
                    <a:prstClr val="white"/>
                  </a:glow>
                  <a:outerShdw blurRad="50800" dist="50800" dir="5400000" algn="ctr" rotWithShape="0">
                    <a:prstClr val="white"/>
                  </a:outerShdw>
                </a:effectLst>
                <a:latin typeface="Futura Bk BT" pitchFamily="34" charset="0"/>
              </a:rPr>
              <a:t>PEKERJAAN COATING TANGKI 06 DAN PERBAIKAN PIPA DRAINASE AREA TANGKI TIMBUN DI FT MAOS</a:t>
            </a:r>
            <a:endParaRPr lang="en-US" sz="2400" b="1" kern="0" spc="200" dirty="0">
              <a:solidFill>
                <a:srgbClr val="D36C26"/>
              </a:solidFill>
              <a:effectLst>
                <a:glow rad="127000">
                  <a:prstClr val="white"/>
                </a:glow>
                <a:outerShdw blurRad="50800" dist="50800" dir="5400000" algn="ctr" rotWithShape="0">
                  <a:prstClr val="white"/>
                </a:outerShdw>
              </a:effectLst>
              <a:latin typeface="Futura Bk BT" pitchFamily="34" charset="0"/>
            </a:endParaRPr>
          </a:p>
          <a:p>
            <a:endParaRPr lang="id-ID" dirty="0"/>
          </a:p>
        </p:txBody>
      </p:sp>
      <p:sp>
        <p:nvSpPr>
          <p:cNvPr id="4" name="Title 3">
            <a:extLst>
              <a:ext uri="{FF2B5EF4-FFF2-40B4-BE49-F238E27FC236}">
                <a16:creationId xmlns:a16="http://schemas.microsoft.com/office/drawing/2014/main" id="{B2ADD98C-807B-4054-AA95-E168719FEDC1}"/>
              </a:ext>
            </a:extLst>
          </p:cNvPr>
          <p:cNvSpPr>
            <a:spLocks noGrp="1"/>
          </p:cNvSpPr>
          <p:nvPr>
            <p:ph type="ctrTitle"/>
            <p:custDataLst>
              <p:tags r:id="rId1"/>
            </p:custDataLst>
          </p:nvPr>
        </p:nvSpPr>
        <p:spPr>
          <a:xfrm>
            <a:off x="1524000" y="834980"/>
            <a:ext cx="9144000" cy="1300162"/>
          </a:xfrm>
          <a:prstGeom prst="rect">
            <a:avLst/>
          </a:prstGeom>
        </p:spPr>
        <p:txBody>
          <a:bodyPr wrap="square" lIns="90943" tIns="45473" rIns="90943" bIns="45473">
            <a:spAutoFit/>
          </a:bodyPr>
          <a:lstStyle/>
          <a:p>
            <a:pPr algn="ctr" defTabSz="909438">
              <a:defRPr/>
            </a:pPr>
            <a:r>
              <a:rPr lang="id-ID" sz="3600" u="sng" kern="0" spc="200" dirty="0">
                <a:solidFill>
                  <a:srgbClr val="0070C0"/>
                </a:solidFill>
                <a:effectLst>
                  <a:glow rad="127000">
                    <a:prstClr val="white"/>
                  </a:glow>
                </a:effectLst>
                <a:latin typeface="Elephant" panose="02020904090505020303" pitchFamily="18" charset="0"/>
              </a:rPr>
              <a:t>KICK OFF MEETING</a:t>
            </a:r>
            <a:endParaRPr lang="en-US" sz="2000" u="sng" kern="0" spc="200" dirty="0">
              <a:solidFill>
                <a:srgbClr val="0070C0"/>
              </a:solidFill>
              <a:effectLst>
                <a:glow rad="127000">
                  <a:prstClr val="white"/>
                </a:glow>
              </a:effectLst>
              <a:latin typeface="Elephant" panose="02020904090505020303" pitchFamily="18" charset="0"/>
            </a:endParaRPr>
          </a:p>
        </p:txBody>
      </p:sp>
    </p:spTree>
    <p:extLst>
      <p:ext uri="{BB962C8B-B14F-4D97-AF65-F5344CB8AC3E}">
        <p14:creationId xmlns:p14="http://schemas.microsoft.com/office/powerpoint/2010/main" val="2769820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 27">
            <a:extLst>
              <a:ext uri="{FF2B5EF4-FFF2-40B4-BE49-F238E27FC236}">
                <a16:creationId xmlns:a16="http://schemas.microsoft.com/office/drawing/2014/main" id="{ED0D179B-2662-442D-9CFD-F487CBF019DD}"/>
              </a:ext>
            </a:extLst>
          </p:cNvPr>
          <p:cNvGrpSpPr/>
          <p:nvPr/>
        </p:nvGrpSpPr>
        <p:grpSpPr>
          <a:xfrm>
            <a:off x="204644" y="789798"/>
            <a:ext cx="3542350" cy="3217830"/>
            <a:chOff x="1571574" y="1036030"/>
            <a:chExt cx="3542350" cy="3217830"/>
          </a:xfrm>
        </p:grpSpPr>
        <p:sp>
          <p:nvSpPr>
            <p:cNvPr id="5" name="Rectangle 65">
              <a:extLst>
                <a:ext uri="{FF2B5EF4-FFF2-40B4-BE49-F238E27FC236}">
                  <a16:creationId xmlns:a16="http://schemas.microsoft.com/office/drawing/2014/main" id="{1668EDA7-9498-4AD5-BBBF-E471A2E55E22}"/>
                </a:ext>
              </a:extLst>
            </p:cNvPr>
            <p:cNvSpPr>
              <a:spLocks noChangeArrowheads="1"/>
            </p:cNvSpPr>
            <p:nvPr>
              <p:custDataLst>
                <p:tags r:id="rId2"/>
              </p:custDataLst>
            </p:nvPr>
          </p:nvSpPr>
          <p:spPr bwMode="auto">
            <a:xfrm>
              <a:off x="2063552" y="1740086"/>
              <a:ext cx="2592288" cy="392773"/>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MASTER SCHEDULE </a:t>
              </a:r>
              <a:r>
                <a:rPr lang="en-US" sz="1200" b="1" dirty="0">
                  <a:solidFill>
                    <a:srgbClr val="FFFFFF"/>
                  </a:solidFill>
                  <a:latin typeface="Calibri"/>
                  <a:ea typeface="SimSun" pitchFamily="2" charset="-122"/>
                </a:rPr>
                <a:t>   </a:t>
              </a:r>
            </a:p>
          </p:txBody>
        </p:sp>
        <p:sp>
          <p:nvSpPr>
            <p:cNvPr id="6" name="Rectangle 65">
              <a:extLst>
                <a:ext uri="{FF2B5EF4-FFF2-40B4-BE49-F238E27FC236}">
                  <a16:creationId xmlns:a16="http://schemas.microsoft.com/office/drawing/2014/main" id="{78CECACE-3991-49BE-BD25-C2FBD5D56A16}"/>
                </a:ext>
              </a:extLst>
            </p:cNvPr>
            <p:cNvSpPr>
              <a:spLocks noChangeArrowheads="1"/>
            </p:cNvSpPr>
            <p:nvPr>
              <p:custDataLst>
                <p:tags r:id="rId3"/>
              </p:custDataLst>
            </p:nvPr>
          </p:nvSpPr>
          <p:spPr bwMode="auto">
            <a:xfrm>
              <a:off x="1991544" y="3065638"/>
              <a:ext cx="2667570" cy="392773"/>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EXECUTION METHOD</a:t>
              </a:r>
            </a:p>
          </p:txBody>
        </p:sp>
        <p:sp>
          <p:nvSpPr>
            <p:cNvPr id="7" name="Rectangle 65">
              <a:extLst>
                <a:ext uri="{FF2B5EF4-FFF2-40B4-BE49-F238E27FC236}">
                  <a16:creationId xmlns:a16="http://schemas.microsoft.com/office/drawing/2014/main" id="{4F72D7B3-3EF9-4E42-BCE7-C2CE9DFFD80C}"/>
                </a:ext>
              </a:extLst>
            </p:cNvPr>
            <p:cNvSpPr>
              <a:spLocks noChangeArrowheads="1"/>
            </p:cNvSpPr>
            <p:nvPr>
              <p:custDataLst>
                <p:tags r:id="rId4"/>
              </p:custDataLst>
            </p:nvPr>
          </p:nvSpPr>
          <p:spPr bwMode="auto">
            <a:xfrm>
              <a:off x="2018596" y="2386980"/>
              <a:ext cx="2637244" cy="393946"/>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TOOL &amp; RESOURCE  </a:t>
              </a:r>
            </a:p>
          </p:txBody>
        </p:sp>
        <p:sp>
          <p:nvSpPr>
            <p:cNvPr id="8" name="Rectangle 65">
              <a:extLst>
                <a:ext uri="{FF2B5EF4-FFF2-40B4-BE49-F238E27FC236}">
                  <a16:creationId xmlns:a16="http://schemas.microsoft.com/office/drawing/2014/main" id="{929F87C2-DB0A-44A0-AF32-C5C4EAEFCE18}"/>
                </a:ext>
              </a:extLst>
            </p:cNvPr>
            <p:cNvSpPr>
              <a:spLocks noChangeArrowheads="1"/>
            </p:cNvSpPr>
            <p:nvPr>
              <p:custDataLst>
                <p:tags r:id="rId5"/>
              </p:custDataLst>
            </p:nvPr>
          </p:nvSpPr>
          <p:spPr bwMode="auto">
            <a:xfrm>
              <a:off x="2063552" y="3805031"/>
              <a:ext cx="2592288" cy="392773"/>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OTHER</a:t>
              </a:r>
              <a:r>
                <a:rPr lang="en-US" sz="1200" b="1" dirty="0">
                  <a:solidFill>
                    <a:srgbClr val="FFFFFF"/>
                  </a:solidFill>
                  <a:latin typeface="Calibri"/>
                  <a:ea typeface="SimSun" pitchFamily="2" charset="-122"/>
                </a:rPr>
                <a:t>  </a:t>
              </a:r>
            </a:p>
          </p:txBody>
        </p:sp>
        <p:sp>
          <p:nvSpPr>
            <p:cNvPr id="9" name="Rectangle 65">
              <a:extLst>
                <a:ext uri="{FF2B5EF4-FFF2-40B4-BE49-F238E27FC236}">
                  <a16:creationId xmlns:a16="http://schemas.microsoft.com/office/drawing/2014/main" id="{0011EBB3-F63A-4CDE-9D7E-BA6974CEF195}"/>
                </a:ext>
              </a:extLst>
            </p:cNvPr>
            <p:cNvSpPr>
              <a:spLocks noChangeArrowheads="1"/>
            </p:cNvSpPr>
            <p:nvPr>
              <p:custDataLst>
                <p:tags r:id="rId6"/>
              </p:custDataLst>
            </p:nvPr>
          </p:nvSpPr>
          <p:spPr bwMode="auto">
            <a:xfrm>
              <a:off x="2038155" y="1080754"/>
              <a:ext cx="3075769" cy="455822"/>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PROJECT ORGANIZATION</a:t>
              </a:r>
              <a:endParaRPr lang="en-US" sz="1200" b="1" dirty="0">
                <a:solidFill>
                  <a:srgbClr val="FFFFFF"/>
                </a:solidFill>
                <a:latin typeface="Calibri"/>
                <a:ea typeface="SimSun" pitchFamily="2" charset="-122"/>
              </a:endParaRPr>
            </a:p>
          </p:txBody>
        </p:sp>
        <p:sp>
          <p:nvSpPr>
            <p:cNvPr id="10" name="Rectangle 4">
              <a:extLst>
                <a:ext uri="{FF2B5EF4-FFF2-40B4-BE49-F238E27FC236}">
                  <a16:creationId xmlns:a16="http://schemas.microsoft.com/office/drawing/2014/main" id="{306370E4-4E24-4811-BE34-3F21FDF0C911}"/>
                </a:ext>
              </a:extLst>
            </p:cNvPr>
            <p:cNvSpPr>
              <a:spLocks noChangeArrowheads="1"/>
            </p:cNvSpPr>
            <p:nvPr>
              <p:custDataLst>
                <p:tags r:id="rId7"/>
              </p:custDataLst>
            </p:nvPr>
          </p:nvSpPr>
          <p:spPr bwMode="auto">
            <a:xfrm>
              <a:off x="1571574" y="1036030"/>
              <a:ext cx="576064" cy="520765"/>
            </a:xfrm>
            <a:prstGeom prst="ellipse">
              <a:avLst/>
            </a:prstGeom>
            <a:solidFill>
              <a:schemeClr val="tx2"/>
            </a:solidFill>
            <a:ln w="28575">
              <a:solidFill>
                <a:schemeClr val="bg2"/>
              </a:solidFill>
              <a:round/>
              <a:headEnd/>
              <a:tailEnd/>
            </a:ln>
          </p:spPr>
          <p:txBody>
            <a:bodyPr wrap="none" lIns="0" tIns="0" rIns="0" bIns="0" anchor="ctr" anchorCtr="1"/>
            <a:lstStyle/>
            <a:p>
              <a:pPr marL="342278" indent="-342278" algn="ctr" defTabSz="898871" fontAlgn="base">
                <a:spcBef>
                  <a:spcPct val="0"/>
                </a:spcBef>
                <a:spcAft>
                  <a:spcPct val="0"/>
                </a:spcAft>
                <a:buClr>
                  <a:srgbClr val="002960"/>
                </a:buClr>
                <a:defRPr/>
              </a:pPr>
              <a:r>
                <a:rPr lang="en-US" altLang="zh-CN" sz="2800" b="1" dirty="0">
                  <a:solidFill>
                    <a:srgbClr val="FFFFFF"/>
                  </a:solidFill>
                  <a:latin typeface="Arial" panose="020B0604020202020204" pitchFamily="34" charset="0"/>
                  <a:ea typeface="SimSun" pitchFamily="2" charset="-122"/>
                  <a:cs typeface="Arial" panose="020B0604020202020204" pitchFamily="34" charset="0"/>
                </a:rPr>
                <a:t> ►</a:t>
              </a:r>
              <a:endParaRPr lang="en-US" altLang="zh-CN" sz="2800" b="1" dirty="0">
                <a:solidFill>
                  <a:srgbClr val="FFFFFF"/>
                </a:solidFill>
                <a:latin typeface="Calibri"/>
                <a:ea typeface="SimSun" pitchFamily="2" charset="-122"/>
              </a:endParaRPr>
            </a:p>
          </p:txBody>
        </p:sp>
        <p:sp>
          <p:nvSpPr>
            <p:cNvPr id="11" name="Rectangle 4">
              <a:extLst>
                <a:ext uri="{FF2B5EF4-FFF2-40B4-BE49-F238E27FC236}">
                  <a16:creationId xmlns:a16="http://schemas.microsoft.com/office/drawing/2014/main" id="{ECB2B0AC-9E0A-44A2-8E65-442A1968D727}"/>
                </a:ext>
              </a:extLst>
            </p:cNvPr>
            <p:cNvSpPr>
              <a:spLocks noChangeArrowheads="1"/>
            </p:cNvSpPr>
            <p:nvPr>
              <p:custDataLst>
                <p:tags r:id="rId8"/>
              </p:custDataLst>
            </p:nvPr>
          </p:nvSpPr>
          <p:spPr bwMode="auto">
            <a:xfrm>
              <a:off x="1593671" y="1686292"/>
              <a:ext cx="576064" cy="520765"/>
            </a:xfrm>
            <a:prstGeom prst="ellipse">
              <a:avLst/>
            </a:prstGeom>
            <a:solidFill>
              <a:schemeClr val="tx2"/>
            </a:solidFill>
            <a:ln w="28575">
              <a:solidFill>
                <a:schemeClr val="bg2"/>
              </a:solidFill>
              <a:round/>
              <a:headEnd/>
              <a:tailEnd/>
            </a:ln>
          </p:spPr>
          <p:txBody>
            <a:bodyPr wrap="none" lIns="0" tIns="0" rIns="0" bIns="0" anchor="ctr" anchorCtr="1"/>
            <a:lstStyle/>
            <a:p>
              <a:pPr marL="342278" indent="-342278" algn="ctr" defTabSz="898871" fontAlgn="base">
                <a:spcBef>
                  <a:spcPct val="0"/>
                </a:spcBef>
                <a:spcAft>
                  <a:spcPct val="0"/>
                </a:spcAft>
                <a:buClr>
                  <a:srgbClr val="002960"/>
                </a:buClr>
                <a:defRPr/>
              </a:pPr>
              <a:r>
                <a:rPr lang="en-US" altLang="zh-CN" sz="2800" b="1" dirty="0">
                  <a:solidFill>
                    <a:srgbClr val="FFFFFF"/>
                  </a:solidFill>
                  <a:latin typeface="Arial" panose="020B0604020202020204" pitchFamily="34" charset="0"/>
                  <a:ea typeface="SimSun" pitchFamily="2" charset="-122"/>
                  <a:cs typeface="Arial" panose="020B0604020202020204" pitchFamily="34" charset="0"/>
                </a:rPr>
                <a:t> ►</a:t>
              </a:r>
              <a:endParaRPr lang="en-US" altLang="zh-CN" sz="2800" b="1" dirty="0">
                <a:solidFill>
                  <a:srgbClr val="FFFFFF"/>
                </a:solidFill>
                <a:latin typeface="Calibri"/>
                <a:ea typeface="SimSun" pitchFamily="2" charset="-122"/>
              </a:endParaRPr>
            </a:p>
          </p:txBody>
        </p:sp>
        <p:sp>
          <p:nvSpPr>
            <p:cNvPr id="12" name="Rectangle 4">
              <a:extLst>
                <a:ext uri="{FF2B5EF4-FFF2-40B4-BE49-F238E27FC236}">
                  <a16:creationId xmlns:a16="http://schemas.microsoft.com/office/drawing/2014/main" id="{EBE44A00-9BA5-40D4-9D83-186E7843715D}"/>
                </a:ext>
              </a:extLst>
            </p:cNvPr>
            <p:cNvSpPr>
              <a:spLocks noChangeArrowheads="1"/>
            </p:cNvSpPr>
            <p:nvPr>
              <p:custDataLst>
                <p:tags r:id="rId9"/>
              </p:custDataLst>
            </p:nvPr>
          </p:nvSpPr>
          <p:spPr bwMode="auto">
            <a:xfrm>
              <a:off x="1571574" y="2347723"/>
              <a:ext cx="576064" cy="520765"/>
            </a:xfrm>
            <a:prstGeom prst="ellipse">
              <a:avLst/>
            </a:prstGeom>
            <a:solidFill>
              <a:schemeClr val="tx2"/>
            </a:solidFill>
            <a:ln w="28575">
              <a:solidFill>
                <a:schemeClr val="bg2"/>
              </a:solidFill>
              <a:round/>
              <a:headEnd/>
              <a:tailEnd/>
            </a:ln>
          </p:spPr>
          <p:txBody>
            <a:bodyPr wrap="none" lIns="0" tIns="0" rIns="0" bIns="0" anchor="ctr" anchorCtr="1"/>
            <a:lstStyle/>
            <a:p>
              <a:pPr marL="342278" indent="-342278" algn="ctr" defTabSz="898871" fontAlgn="base">
                <a:spcBef>
                  <a:spcPct val="0"/>
                </a:spcBef>
                <a:spcAft>
                  <a:spcPct val="0"/>
                </a:spcAft>
                <a:buClr>
                  <a:srgbClr val="002960"/>
                </a:buClr>
                <a:defRPr/>
              </a:pPr>
              <a:r>
                <a:rPr lang="en-US" altLang="zh-CN" sz="2800" b="1" dirty="0">
                  <a:solidFill>
                    <a:srgbClr val="FFFFFF"/>
                  </a:solidFill>
                  <a:latin typeface="Arial" panose="020B0604020202020204" pitchFamily="34" charset="0"/>
                  <a:ea typeface="SimSun" pitchFamily="2" charset="-122"/>
                  <a:cs typeface="Arial" panose="020B0604020202020204" pitchFamily="34" charset="0"/>
                </a:rPr>
                <a:t> ►</a:t>
              </a:r>
              <a:endParaRPr lang="en-US" altLang="zh-CN" sz="2800" b="1" dirty="0">
                <a:solidFill>
                  <a:srgbClr val="FFFFFF"/>
                </a:solidFill>
                <a:latin typeface="Calibri"/>
                <a:ea typeface="SimSun" pitchFamily="2" charset="-122"/>
              </a:endParaRPr>
            </a:p>
          </p:txBody>
        </p:sp>
        <p:sp>
          <p:nvSpPr>
            <p:cNvPr id="13" name="Rectangle 4">
              <a:extLst>
                <a:ext uri="{FF2B5EF4-FFF2-40B4-BE49-F238E27FC236}">
                  <a16:creationId xmlns:a16="http://schemas.microsoft.com/office/drawing/2014/main" id="{24BAA3E4-0EAE-48EB-B38A-1183C3E0519B}"/>
                </a:ext>
              </a:extLst>
            </p:cNvPr>
            <p:cNvSpPr>
              <a:spLocks noChangeArrowheads="1"/>
            </p:cNvSpPr>
            <p:nvPr>
              <p:custDataLst>
                <p:tags r:id="rId10"/>
              </p:custDataLst>
            </p:nvPr>
          </p:nvSpPr>
          <p:spPr bwMode="auto">
            <a:xfrm>
              <a:off x="1591878" y="3733095"/>
              <a:ext cx="576064" cy="520765"/>
            </a:xfrm>
            <a:prstGeom prst="ellipse">
              <a:avLst/>
            </a:prstGeom>
            <a:solidFill>
              <a:schemeClr val="tx2"/>
            </a:solidFill>
            <a:ln w="28575">
              <a:solidFill>
                <a:schemeClr val="bg2"/>
              </a:solidFill>
              <a:round/>
              <a:headEnd/>
              <a:tailEnd/>
            </a:ln>
          </p:spPr>
          <p:txBody>
            <a:bodyPr wrap="none" lIns="0" tIns="0" rIns="0" bIns="0" anchor="ctr" anchorCtr="1"/>
            <a:lstStyle/>
            <a:p>
              <a:pPr marL="342278" indent="-342278" algn="ctr" defTabSz="898871" fontAlgn="base">
                <a:spcBef>
                  <a:spcPct val="0"/>
                </a:spcBef>
                <a:spcAft>
                  <a:spcPct val="0"/>
                </a:spcAft>
                <a:buClr>
                  <a:srgbClr val="002960"/>
                </a:buClr>
                <a:defRPr/>
              </a:pPr>
              <a:r>
                <a:rPr lang="en-US" altLang="zh-CN" sz="2800" b="1" dirty="0">
                  <a:solidFill>
                    <a:srgbClr val="FFFFFF"/>
                  </a:solidFill>
                  <a:latin typeface="Arial" panose="020B0604020202020204" pitchFamily="34" charset="0"/>
                  <a:ea typeface="SimSun" pitchFamily="2" charset="-122"/>
                  <a:cs typeface="Arial" panose="020B0604020202020204" pitchFamily="34" charset="0"/>
                </a:rPr>
                <a:t> ►</a:t>
              </a:r>
              <a:endParaRPr lang="en-US" altLang="zh-CN" sz="2800" b="1" dirty="0">
                <a:solidFill>
                  <a:srgbClr val="FFFFFF"/>
                </a:solidFill>
                <a:latin typeface="Calibri"/>
                <a:ea typeface="SimSun" pitchFamily="2" charset="-122"/>
              </a:endParaRPr>
            </a:p>
          </p:txBody>
        </p:sp>
        <p:sp>
          <p:nvSpPr>
            <p:cNvPr id="14" name="Rectangle 4">
              <a:extLst>
                <a:ext uri="{FF2B5EF4-FFF2-40B4-BE49-F238E27FC236}">
                  <a16:creationId xmlns:a16="http://schemas.microsoft.com/office/drawing/2014/main" id="{308D0550-FD29-47B1-8A11-29CB365B68A8}"/>
                </a:ext>
              </a:extLst>
            </p:cNvPr>
            <p:cNvSpPr>
              <a:spLocks noChangeArrowheads="1"/>
            </p:cNvSpPr>
            <p:nvPr>
              <p:custDataLst>
                <p:tags r:id="rId11"/>
              </p:custDataLst>
            </p:nvPr>
          </p:nvSpPr>
          <p:spPr bwMode="auto">
            <a:xfrm>
              <a:off x="1591878" y="3016263"/>
              <a:ext cx="576064" cy="520765"/>
            </a:xfrm>
            <a:prstGeom prst="ellipse">
              <a:avLst/>
            </a:prstGeom>
            <a:solidFill>
              <a:schemeClr val="tx2"/>
            </a:solidFill>
            <a:ln w="28575">
              <a:solidFill>
                <a:schemeClr val="bg2"/>
              </a:solidFill>
              <a:round/>
              <a:headEnd/>
              <a:tailEnd/>
            </a:ln>
          </p:spPr>
          <p:txBody>
            <a:bodyPr wrap="none" lIns="0" tIns="0" rIns="0" bIns="0" anchor="ctr" anchorCtr="1"/>
            <a:lstStyle/>
            <a:p>
              <a:pPr marL="342278" indent="-342278" algn="ctr" defTabSz="898871" fontAlgn="base">
                <a:spcBef>
                  <a:spcPct val="0"/>
                </a:spcBef>
                <a:spcAft>
                  <a:spcPct val="0"/>
                </a:spcAft>
                <a:buClr>
                  <a:srgbClr val="002960"/>
                </a:buClr>
                <a:defRPr/>
              </a:pPr>
              <a:r>
                <a:rPr lang="en-US" altLang="zh-CN" sz="2800" b="1" dirty="0">
                  <a:solidFill>
                    <a:srgbClr val="FFFFFF"/>
                  </a:solidFill>
                  <a:latin typeface="Arial" panose="020B0604020202020204" pitchFamily="34" charset="0"/>
                  <a:ea typeface="SimSun" pitchFamily="2" charset="-122"/>
                  <a:cs typeface="Arial" panose="020B0604020202020204" pitchFamily="34" charset="0"/>
                </a:rPr>
                <a:t> ►</a:t>
              </a:r>
              <a:endParaRPr lang="en-US" altLang="zh-CN" sz="2800" b="1" dirty="0">
                <a:solidFill>
                  <a:srgbClr val="FFFFFF"/>
                </a:solidFill>
                <a:latin typeface="Calibri"/>
                <a:ea typeface="SimSun" pitchFamily="2" charset="-122"/>
              </a:endParaRPr>
            </a:p>
          </p:txBody>
        </p:sp>
      </p:grpSp>
      <p:sp>
        <p:nvSpPr>
          <p:cNvPr id="15" name="TextBox 14">
            <a:extLst>
              <a:ext uri="{FF2B5EF4-FFF2-40B4-BE49-F238E27FC236}">
                <a16:creationId xmlns:a16="http://schemas.microsoft.com/office/drawing/2014/main" id="{B6921AC2-AF29-40E6-9EA0-6CEA385B0B64}"/>
              </a:ext>
            </a:extLst>
          </p:cNvPr>
          <p:cNvSpPr txBox="1"/>
          <p:nvPr>
            <p:custDataLst>
              <p:tags r:id="rId1"/>
            </p:custDataLst>
          </p:nvPr>
        </p:nvSpPr>
        <p:spPr>
          <a:xfrm>
            <a:off x="4151784" y="1440060"/>
            <a:ext cx="7134525" cy="459666"/>
          </a:xfrm>
          <a:prstGeom prst="rect">
            <a:avLst/>
          </a:prstGeom>
          <a:ln>
            <a:noFill/>
          </a:ln>
          <a:effectLst/>
          <a:scene3d>
            <a:camera prst="orthographicFront">
              <a:rot lat="0" lon="0" rev="0"/>
            </a:camera>
            <a:lightRig rig="glow" dir="t">
              <a:rot lat="0" lon="0" rev="14100000"/>
            </a:lightRig>
          </a:scene3d>
          <a:sp3d prstMaterial="softEdge">
            <a:bevelT w="127000" prst="artDeco"/>
          </a:sp3d>
        </p:spPr>
        <p:style>
          <a:lnRef idx="1">
            <a:schemeClr val="dk1"/>
          </a:lnRef>
          <a:fillRef idx="2">
            <a:schemeClr val="dk1"/>
          </a:fillRef>
          <a:effectRef idx="1">
            <a:schemeClr val="dk1"/>
          </a:effectRef>
          <a:fontRef idx="minor">
            <a:schemeClr val="dk1"/>
          </a:fontRef>
        </p:style>
        <p:txBody>
          <a:bodyPr wrap="square" lIns="89450" tIns="44730" rIns="89450" bIns="44730">
            <a:spAutoFit/>
          </a:bodyPr>
          <a:lstStyle/>
          <a:p>
            <a:pPr algn="ctr" defTabSz="932962" fontAlgn="base">
              <a:spcBef>
                <a:spcPct val="0"/>
              </a:spcBef>
              <a:spcAft>
                <a:spcPct val="0"/>
              </a:spcAft>
              <a:defRPr/>
            </a:pPr>
            <a:r>
              <a:rPr lang="id-ID" sz="2400" dirty="0">
                <a:solidFill>
                  <a:srgbClr val="FFFFFF"/>
                </a:solidFill>
                <a:latin typeface="Futura-Bold" pitchFamily="2" charset="0"/>
                <a:cs typeface="Arial" pitchFamily="34" charset="0"/>
              </a:rPr>
              <a:t>TARGET </a:t>
            </a:r>
            <a:r>
              <a:rPr lang="en-US" sz="2400" dirty="0">
                <a:solidFill>
                  <a:srgbClr val="FFFFFF"/>
                </a:solidFill>
                <a:latin typeface="Futura-Bold" pitchFamily="2" charset="0"/>
                <a:cs typeface="Arial" pitchFamily="34" charset="0"/>
              </a:rPr>
              <a:t>160</a:t>
            </a:r>
            <a:r>
              <a:rPr lang="id-ID" sz="2400" dirty="0">
                <a:solidFill>
                  <a:srgbClr val="FFFFFF"/>
                </a:solidFill>
                <a:latin typeface="Futura-Bold" pitchFamily="2" charset="0"/>
                <a:cs typeface="Arial" pitchFamily="34" charset="0"/>
              </a:rPr>
              <a:t> </a:t>
            </a:r>
            <a:r>
              <a:rPr lang="en-US" sz="2400" dirty="0">
                <a:solidFill>
                  <a:srgbClr val="FFFFFF"/>
                </a:solidFill>
                <a:latin typeface="Futura-Bold" pitchFamily="2" charset="0"/>
                <a:cs typeface="Arial" pitchFamily="34" charset="0"/>
              </a:rPr>
              <a:t>HARI</a:t>
            </a:r>
            <a:r>
              <a:rPr lang="id-ID" sz="2400" dirty="0">
                <a:solidFill>
                  <a:srgbClr val="FFFFFF"/>
                </a:solidFill>
                <a:latin typeface="Futura-Bold" pitchFamily="2" charset="0"/>
                <a:cs typeface="Arial" pitchFamily="34" charset="0"/>
              </a:rPr>
              <a:t> KALENDER</a:t>
            </a:r>
          </a:p>
        </p:txBody>
      </p:sp>
      <p:sp>
        <p:nvSpPr>
          <p:cNvPr id="16" name="Slide Number Placeholder 3">
            <a:extLst>
              <a:ext uri="{FF2B5EF4-FFF2-40B4-BE49-F238E27FC236}">
                <a16:creationId xmlns:a16="http://schemas.microsoft.com/office/drawing/2014/main" id="{D38F1451-52E6-45F7-9821-6FBB1CA05A5D}"/>
              </a:ext>
            </a:extLst>
          </p:cNvPr>
          <p:cNvSpPr>
            <a:spLocks noGrp="1"/>
          </p:cNvSpPr>
          <p:nvPr>
            <p:ph type="sldNum" sz="quarter" idx="12"/>
          </p:nvPr>
        </p:nvSpPr>
        <p:spPr>
          <a:xfrm>
            <a:off x="8610600" y="6356350"/>
            <a:ext cx="2743200" cy="365125"/>
          </a:xfrm>
        </p:spPr>
        <p:txBody>
          <a:bodyPr/>
          <a:lstStyle/>
          <a:p>
            <a:fld id="{CF7A2BDD-D331-44F0-96AA-4FB4ED497064}" type="slidenum">
              <a:rPr lang="en-US" smtClean="0">
                <a:solidFill>
                  <a:prstClr val="black"/>
                </a:solidFill>
              </a:rPr>
              <a:pPr/>
              <a:t>2</a:t>
            </a:fld>
            <a:endParaRPr lang="en-US" dirty="0">
              <a:solidFill>
                <a:prstClr val="black"/>
              </a:solidFill>
            </a:endParaRPr>
          </a:p>
        </p:txBody>
      </p:sp>
      <p:grpSp>
        <p:nvGrpSpPr>
          <p:cNvPr id="17" name="Group 16">
            <a:extLst>
              <a:ext uri="{FF2B5EF4-FFF2-40B4-BE49-F238E27FC236}">
                <a16:creationId xmlns:a16="http://schemas.microsoft.com/office/drawing/2014/main" id="{513F2804-1DD8-4EA6-9DC3-E24EBC824C0F}"/>
              </a:ext>
            </a:extLst>
          </p:cNvPr>
          <p:cNvGrpSpPr/>
          <p:nvPr/>
        </p:nvGrpSpPr>
        <p:grpSpPr>
          <a:xfrm>
            <a:off x="4904835" y="2564909"/>
            <a:ext cx="2631325" cy="2902459"/>
            <a:chOff x="3419872" y="2530996"/>
            <a:chExt cx="2382329" cy="2902459"/>
          </a:xfrm>
          <a:solidFill>
            <a:srgbClr val="203864"/>
          </a:solidFill>
        </p:grpSpPr>
        <p:sp>
          <p:nvSpPr>
            <p:cNvPr id="18" name="Oval 17">
              <a:extLst>
                <a:ext uri="{FF2B5EF4-FFF2-40B4-BE49-F238E27FC236}">
                  <a16:creationId xmlns:a16="http://schemas.microsoft.com/office/drawing/2014/main" id="{7F0BD3B8-2D0D-4DAE-83B6-4111BF7F1B4A}"/>
                </a:ext>
              </a:extLst>
            </p:cNvPr>
            <p:cNvSpPr/>
            <p:nvPr/>
          </p:nvSpPr>
          <p:spPr>
            <a:xfrm>
              <a:off x="3436813" y="2956392"/>
              <a:ext cx="2160240" cy="2055046"/>
            </a:xfrm>
            <a:prstGeom prst="ellipse">
              <a:avLst/>
            </a:prstGeom>
            <a:gr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3">
              <a:schemeClr val="lt1"/>
            </a:lnRef>
            <a:fillRef idx="1">
              <a:schemeClr val="accent6"/>
            </a:fillRef>
            <a:effectRef idx="1">
              <a:schemeClr val="accent6"/>
            </a:effectRef>
            <a:fontRef idx="minor">
              <a:schemeClr val="lt1"/>
            </a:fontRef>
          </p:style>
          <p:txBody>
            <a:bodyPr rtlCol="0" anchor="ctr"/>
            <a:lstStyle/>
            <a:p>
              <a:pPr algn="ctr">
                <a:defRPr/>
              </a:pPr>
              <a:endParaRPr lang="en-US" dirty="0">
                <a:solidFill>
                  <a:prstClr val="white"/>
                </a:solidFill>
                <a:latin typeface="Calibri"/>
              </a:endParaRPr>
            </a:p>
          </p:txBody>
        </p:sp>
        <p:sp>
          <p:nvSpPr>
            <p:cNvPr id="19" name="TextBox 18">
              <a:extLst>
                <a:ext uri="{FF2B5EF4-FFF2-40B4-BE49-F238E27FC236}">
                  <a16:creationId xmlns:a16="http://schemas.microsoft.com/office/drawing/2014/main" id="{1AF8B500-9C28-4EB5-8D3A-19959B73EF99}"/>
                </a:ext>
              </a:extLst>
            </p:cNvPr>
            <p:cNvSpPr txBox="1"/>
            <p:nvPr/>
          </p:nvSpPr>
          <p:spPr>
            <a:xfrm>
              <a:off x="3419872" y="2530996"/>
              <a:ext cx="2160240" cy="400110"/>
            </a:xfrm>
            <a:prstGeom prst="rect">
              <a:avLst/>
            </a:prstGeom>
            <a:gr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wrap="square" rtlCol="0">
              <a:spAutoFit/>
            </a:bodyPr>
            <a:lstStyle/>
            <a:p>
              <a:pPr algn="ctr">
                <a:defRPr/>
              </a:pPr>
              <a:r>
                <a:rPr lang="en-US" sz="2000" b="1" dirty="0">
                  <a:ln w="6600" cmpd="dbl">
                    <a:solidFill>
                      <a:schemeClr val="tx1"/>
                    </a:solidFill>
                    <a:prstDash val="solid"/>
                  </a:ln>
                  <a:solidFill>
                    <a:srgbClr val="FFFFFF"/>
                  </a:solidFill>
                  <a:effectLst>
                    <a:outerShdw dist="38100" dir="2700000" algn="tl" rotWithShape="0">
                      <a:srgbClr val="ED7D31"/>
                    </a:outerShdw>
                  </a:effectLst>
                  <a:latin typeface="Calibri"/>
                </a:rPr>
                <a:t>DAY</a:t>
              </a:r>
              <a:endParaRPr lang="en-US" sz="2000" dirty="0">
                <a:ln cmpd="dbl">
                  <a:solidFill>
                    <a:schemeClr val="tx1"/>
                  </a:solidFill>
                </a:ln>
                <a:solidFill>
                  <a:prstClr val="white"/>
                </a:solidFill>
                <a:latin typeface="Calibri"/>
              </a:endParaRPr>
            </a:p>
          </p:txBody>
        </p:sp>
        <p:sp>
          <p:nvSpPr>
            <p:cNvPr id="20" name="TextBox 19">
              <a:extLst>
                <a:ext uri="{FF2B5EF4-FFF2-40B4-BE49-F238E27FC236}">
                  <a16:creationId xmlns:a16="http://schemas.microsoft.com/office/drawing/2014/main" id="{D6450F41-53CE-4EF2-A85A-12AF7B8DB729}"/>
                </a:ext>
              </a:extLst>
            </p:cNvPr>
            <p:cNvSpPr txBox="1"/>
            <p:nvPr/>
          </p:nvSpPr>
          <p:spPr>
            <a:xfrm>
              <a:off x="3730338" y="3238974"/>
              <a:ext cx="1532468" cy="1200329"/>
            </a:xfrm>
            <a:prstGeom prst="rect">
              <a:avLst/>
            </a:prstGeom>
            <a:grp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txBody>
            <a:bodyPr wrap="square" rtlCol="0">
              <a:spAutoFit/>
            </a:bodyPr>
            <a:lstStyle/>
            <a:p>
              <a:pPr lvl="0" algn="ctr">
                <a:defRPr/>
              </a:pPr>
              <a:r>
                <a:rPr lang="id-ID" sz="7200" b="1" dirty="0">
                  <a:ln w="12700">
                    <a:solidFill>
                      <a:srgbClr val="002960">
                        <a:satMod val="155000"/>
                      </a:srgbClr>
                    </a:solidFill>
                    <a:prstDash val="solid"/>
                  </a:ln>
                  <a:solidFill>
                    <a:srgbClr val="FFFFFF"/>
                  </a:solidFill>
                  <a:effectLst>
                    <a:outerShdw blurRad="41275" dist="20320" dir="1800000" algn="tl" rotWithShape="0">
                      <a:srgbClr val="000000">
                        <a:alpha val="40000"/>
                      </a:srgbClr>
                    </a:outerShdw>
                  </a:effectLst>
                  <a:latin typeface="Futura-Bold" pitchFamily="2" charset="0"/>
                  <a:cs typeface="Arial" pitchFamily="34" charset="0"/>
                </a:rPr>
                <a:t>01</a:t>
              </a:r>
              <a:endParaRPr lang="en-US" sz="7200" b="1" dirty="0">
                <a:ln w="12700">
                  <a:solidFill>
                    <a:srgbClr val="002960">
                      <a:satMod val="155000"/>
                    </a:srgbClr>
                  </a:solidFill>
                  <a:prstDash val="solid"/>
                </a:ln>
                <a:solidFill>
                  <a:srgbClr val="FFFFFF"/>
                </a:solidFill>
                <a:effectLst>
                  <a:outerShdw blurRad="41275" dist="20320" dir="1800000" algn="tl" rotWithShape="0">
                    <a:srgbClr val="000000">
                      <a:alpha val="40000"/>
                    </a:srgbClr>
                  </a:outerShdw>
                </a:effectLst>
                <a:latin typeface="Futura-Bold" pitchFamily="2" charset="0"/>
                <a:cs typeface="Arial" pitchFamily="34" charset="0"/>
              </a:endParaRPr>
            </a:p>
          </p:txBody>
        </p:sp>
        <p:sp>
          <p:nvSpPr>
            <p:cNvPr id="21" name="TextBox 20">
              <a:extLst>
                <a:ext uri="{FF2B5EF4-FFF2-40B4-BE49-F238E27FC236}">
                  <a16:creationId xmlns:a16="http://schemas.microsoft.com/office/drawing/2014/main" id="{AD12B8F5-5BA1-4A5F-9BBF-A9750AA26A51}"/>
                </a:ext>
              </a:extLst>
            </p:cNvPr>
            <p:cNvSpPr txBox="1"/>
            <p:nvPr/>
          </p:nvSpPr>
          <p:spPr>
            <a:xfrm>
              <a:off x="3520377" y="5064123"/>
              <a:ext cx="2281824" cy="369332"/>
            </a:xfrm>
            <a:prstGeom prst="rect">
              <a:avLst/>
            </a:prstGeom>
            <a:grpFill/>
            <a:ln>
              <a:solidFill>
                <a:srgbClr val="002960">
                  <a:satMod val="155000"/>
                </a:srgbClr>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wrap="square" rtlCol="0">
              <a:spAutoFit/>
            </a:bodyPr>
            <a:lstStyle/>
            <a:p>
              <a:pPr lvl="0">
                <a:defRPr/>
              </a:pPr>
              <a:r>
                <a:rPr lang="en-US" dirty="0">
                  <a:ln w="0">
                    <a:noFill/>
                  </a:ln>
                  <a:solidFill>
                    <a:schemeClr val="bg1"/>
                  </a:solidFill>
                  <a:effectLst>
                    <a:outerShdw blurRad="38100" dist="19050" dir="2700000" algn="tl" rotWithShape="0">
                      <a:prstClr val="black">
                        <a:alpha val="40000"/>
                      </a:prstClr>
                    </a:outerShdw>
                  </a:effectLst>
                  <a:latin typeface="Calibri"/>
                </a:rPr>
                <a:t>Start </a:t>
              </a:r>
              <a:r>
                <a:rPr lang="en-US" dirty="0">
                  <a:ln w="0">
                    <a:noFill/>
                  </a:ln>
                  <a:solidFill>
                    <a:schemeClr val="bg1"/>
                  </a:solidFill>
                  <a:effectLst>
                    <a:outerShdw blurRad="38100" dist="19050" dir="2700000" algn="tl" rotWithShape="0">
                      <a:prstClr val="black">
                        <a:alpha val="40000"/>
                      </a:prstClr>
                    </a:outerShdw>
                  </a:effectLst>
                </a:rPr>
                <a:t>: 21 </a:t>
              </a:r>
              <a:r>
                <a:rPr lang="en-US" dirty="0" err="1">
                  <a:ln w="0">
                    <a:noFill/>
                  </a:ln>
                  <a:solidFill>
                    <a:schemeClr val="bg1"/>
                  </a:solidFill>
                  <a:effectLst>
                    <a:outerShdw blurRad="38100" dist="19050" dir="2700000" algn="tl" rotWithShape="0">
                      <a:prstClr val="black">
                        <a:alpha val="40000"/>
                      </a:prstClr>
                    </a:outerShdw>
                  </a:effectLst>
                </a:rPr>
                <a:t>Juli</a:t>
              </a:r>
              <a:r>
                <a:rPr lang="id-ID" dirty="0">
                  <a:ln w="0">
                    <a:noFill/>
                  </a:ln>
                  <a:solidFill>
                    <a:schemeClr val="bg1"/>
                  </a:solidFill>
                  <a:effectLst>
                    <a:outerShdw blurRad="38100" dist="19050" dir="2700000" algn="tl" rotWithShape="0">
                      <a:prstClr val="black">
                        <a:alpha val="40000"/>
                      </a:prstClr>
                    </a:outerShdw>
                  </a:effectLst>
                </a:rPr>
                <a:t> 202</a:t>
              </a:r>
              <a:r>
                <a:rPr lang="en-US" dirty="0">
                  <a:ln w="0">
                    <a:noFill/>
                  </a:ln>
                  <a:solidFill>
                    <a:schemeClr val="bg1"/>
                  </a:solidFill>
                  <a:effectLst>
                    <a:outerShdw blurRad="38100" dist="19050" dir="2700000" algn="tl" rotWithShape="0">
                      <a:prstClr val="black">
                        <a:alpha val="40000"/>
                      </a:prstClr>
                    </a:outerShdw>
                  </a:effectLst>
                </a:rPr>
                <a:t>5</a:t>
              </a:r>
              <a:endParaRPr lang="en-US" dirty="0">
                <a:ln w="0">
                  <a:noFill/>
                </a:ln>
                <a:solidFill>
                  <a:schemeClr val="bg1"/>
                </a:solidFill>
                <a:effectLst>
                  <a:outerShdw blurRad="38100" dist="19050" dir="2700000" algn="tl" rotWithShape="0">
                    <a:prstClr val="black">
                      <a:alpha val="40000"/>
                    </a:prstClr>
                  </a:outerShdw>
                </a:effectLst>
                <a:latin typeface="Calibri"/>
              </a:endParaRPr>
            </a:p>
          </p:txBody>
        </p:sp>
      </p:grpSp>
      <p:grpSp>
        <p:nvGrpSpPr>
          <p:cNvPr id="22" name="Group 21">
            <a:extLst>
              <a:ext uri="{FF2B5EF4-FFF2-40B4-BE49-F238E27FC236}">
                <a16:creationId xmlns:a16="http://schemas.microsoft.com/office/drawing/2014/main" id="{47878692-7341-410B-BB8A-1FA620C4132F}"/>
              </a:ext>
            </a:extLst>
          </p:cNvPr>
          <p:cNvGrpSpPr/>
          <p:nvPr/>
        </p:nvGrpSpPr>
        <p:grpSpPr>
          <a:xfrm>
            <a:off x="8610600" y="2564906"/>
            <a:ext cx="2886000" cy="2963305"/>
            <a:chOff x="3400024" y="2530996"/>
            <a:chExt cx="2281836" cy="2963305"/>
          </a:xfrm>
          <a:solidFill>
            <a:srgbClr val="203864"/>
          </a:solidFill>
        </p:grpSpPr>
        <p:sp>
          <p:nvSpPr>
            <p:cNvPr id="23" name="Oval 22">
              <a:extLst>
                <a:ext uri="{FF2B5EF4-FFF2-40B4-BE49-F238E27FC236}">
                  <a16:creationId xmlns:a16="http://schemas.microsoft.com/office/drawing/2014/main" id="{1E56E544-A6CC-4F9A-A981-EDF667689B44}"/>
                </a:ext>
              </a:extLst>
            </p:cNvPr>
            <p:cNvSpPr/>
            <p:nvPr/>
          </p:nvSpPr>
          <p:spPr>
            <a:xfrm>
              <a:off x="3400024" y="3043680"/>
              <a:ext cx="2160240" cy="2055046"/>
            </a:xfrm>
            <a:prstGeom prst="ellipse">
              <a:avLst/>
            </a:prstGeom>
            <a:gr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3">
              <a:schemeClr val="lt1"/>
            </a:lnRef>
            <a:fillRef idx="1">
              <a:schemeClr val="accent1"/>
            </a:fillRef>
            <a:effectRef idx="1">
              <a:schemeClr val="accent1"/>
            </a:effectRef>
            <a:fontRef idx="minor">
              <a:schemeClr val="lt1"/>
            </a:fontRef>
          </p:style>
          <p:txBody>
            <a:bodyPr rtlCol="0" anchor="ctr"/>
            <a:lstStyle/>
            <a:p>
              <a:pPr algn="ctr">
                <a:defRPr/>
              </a:pPr>
              <a:endParaRPr lang="en-US">
                <a:solidFill>
                  <a:prstClr val="white"/>
                </a:solidFill>
                <a:latin typeface="Calibri"/>
              </a:endParaRPr>
            </a:p>
          </p:txBody>
        </p:sp>
        <p:sp>
          <p:nvSpPr>
            <p:cNvPr id="24" name="TextBox 23">
              <a:extLst>
                <a:ext uri="{FF2B5EF4-FFF2-40B4-BE49-F238E27FC236}">
                  <a16:creationId xmlns:a16="http://schemas.microsoft.com/office/drawing/2014/main" id="{00BE886E-EEA7-48C4-AEEC-32BF15E669B4}"/>
                </a:ext>
              </a:extLst>
            </p:cNvPr>
            <p:cNvSpPr txBox="1"/>
            <p:nvPr/>
          </p:nvSpPr>
          <p:spPr>
            <a:xfrm>
              <a:off x="3419872" y="2530996"/>
              <a:ext cx="2160240" cy="400110"/>
            </a:xfrm>
            <a:prstGeom prst="rect">
              <a:avLst/>
            </a:prstGeom>
            <a:grpFill/>
            <a:ln cmpd="dbl">
              <a:solidFill>
                <a:schemeClr val="bg1">
                  <a:lumMod val="95000"/>
                </a:schemeClr>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wrap="square" rtlCol="0">
              <a:spAutoFit/>
            </a:bodyPr>
            <a:lstStyle/>
            <a:p>
              <a:pPr algn="ctr">
                <a:defRPr/>
              </a:pPr>
              <a:r>
                <a:rPr lang="en-US" sz="2000" b="1" dirty="0">
                  <a:ln w="6600">
                    <a:solidFill>
                      <a:srgbClr val="FFFFFF"/>
                    </a:solidFill>
                    <a:prstDash val="solid"/>
                  </a:ln>
                  <a:solidFill>
                    <a:srgbClr val="FFFFFF"/>
                  </a:solidFill>
                  <a:latin typeface="Calibri"/>
                </a:rPr>
                <a:t>REMAINING DAY</a:t>
              </a:r>
            </a:p>
          </p:txBody>
        </p:sp>
        <p:sp>
          <p:nvSpPr>
            <p:cNvPr id="25" name="TextBox 24">
              <a:extLst>
                <a:ext uri="{FF2B5EF4-FFF2-40B4-BE49-F238E27FC236}">
                  <a16:creationId xmlns:a16="http://schemas.microsoft.com/office/drawing/2014/main" id="{3F406588-9BCF-461C-82FE-6084C37C86B6}"/>
                </a:ext>
              </a:extLst>
            </p:cNvPr>
            <p:cNvSpPr txBox="1"/>
            <p:nvPr/>
          </p:nvSpPr>
          <p:spPr>
            <a:xfrm>
              <a:off x="3650116" y="3357861"/>
              <a:ext cx="1801499" cy="1200329"/>
            </a:xfrm>
            <a:prstGeom prst="rect">
              <a:avLst/>
            </a:prstGeom>
            <a:grp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txBody>
            <a:bodyPr wrap="square" rtlCol="0">
              <a:spAutoFit/>
            </a:bodyPr>
            <a:lstStyle/>
            <a:p>
              <a:pPr>
                <a:defRPr/>
              </a:pPr>
              <a:r>
                <a:rPr lang="en-US" sz="7200" b="1" dirty="0">
                  <a:ln w="12700">
                    <a:solidFill>
                      <a:srgbClr val="002960">
                        <a:satMod val="155000"/>
                      </a:srgbClr>
                    </a:solidFill>
                    <a:prstDash val="solid"/>
                  </a:ln>
                  <a:solidFill>
                    <a:prstClr val="white"/>
                  </a:solidFill>
                  <a:effectLst>
                    <a:outerShdw blurRad="41275" dist="20320" dir="1800000" algn="tl" rotWithShape="0">
                      <a:srgbClr val="000000">
                        <a:alpha val="40000"/>
                      </a:srgbClr>
                    </a:outerShdw>
                  </a:effectLst>
                  <a:latin typeface="Futura-Bold" pitchFamily="2" charset="0"/>
                  <a:cs typeface="Arial" pitchFamily="34" charset="0"/>
                </a:rPr>
                <a:t> 120</a:t>
              </a:r>
            </a:p>
          </p:txBody>
        </p:sp>
        <p:sp>
          <p:nvSpPr>
            <p:cNvPr id="26" name="TextBox 25">
              <a:extLst>
                <a:ext uri="{FF2B5EF4-FFF2-40B4-BE49-F238E27FC236}">
                  <a16:creationId xmlns:a16="http://schemas.microsoft.com/office/drawing/2014/main" id="{1FCF73EA-25DB-4348-A082-2E85C83646C5}"/>
                </a:ext>
              </a:extLst>
            </p:cNvPr>
            <p:cNvSpPr txBox="1"/>
            <p:nvPr/>
          </p:nvSpPr>
          <p:spPr>
            <a:xfrm>
              <a:off x="3521620" y="5124969"/>
              <a:ext cx="2160240" cy="369332"/>
            </a:xfrm>
            <a:prstGeom prst="rect">
              <a:avLst/>
            </a:prstGeom>
            <a:gr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wrap="square" rtlCol="0">
              <a:spAutoFit/>
            </a:bodyPr>
            <a:lstStyle/>
            <a:p>
              <a:pPr>
                <a:defRPr/>
              </a:pPr>
              <a:r>
                <a:rPr lang="en-US" dirty="0">
                  <a:solidFill>
                    <a:schemeClr val="bg1"/>
                  </a:solidFill>
                  <a:latin typeface="Calibri"/>
                </a:rPr>
                <a:t>End : 19 November 202</a:t>
              </a:r>
              <a:r>
                <a:rPr lang="id-ID" dirty="0">
                  <a:solidFill>
                    <a:schemeClr val="bg1"/>
                  </a:solidFill>
                  <a:latin typeface="Calibri"/>
                </a:rPr>
                <a:t>5</a:t>
              </a:r>
              <a:endParaRPr lang="en-US" dirty="0">
                <a:solidFill>
                  <a:schemeClr val="bg1"/>
                </a:solidFill>
                <a:latin typeface="Calibri"/>
              </a:endParaRPr>
            </a:p>
          </p:txBody>
        </p:sp>
      </p:grpSp>
    </p:spTree>
    <p:extLst>
      <p:ext uri="{BB962C8B-B14F-4D97-AF65-F5344CB8AC3E}">
        <p14:creationId xmlns:p14="http://schemas.microsoft.com/office/powerpoint/2010/main" val="2360072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up 52">
            <a:extLst>
              <a:ext uri="{FF2B5EF4-FFF2-40B4-BE49-F238E27FC236}">
                <a16:creationId xmlns:a16="http://schemas.microsoft.com/office/drawing/2014/main" id="{06D20EC3-F484-AC9E-E369-BB73D2EAE25E}"/>
              </a:ext>
            </a:extLst>
          </p:cNvPr>
          <p:cNvGrpSpPr/>
          <p:nvPr/>
        </p:nvGrpSpPr>
        <p:grpSpPr>
          <a:xfrm>
            <a:off x="3429647" y="2825983"/>
            <a:ext cx="2438466" cy="1447359"/>
            <a:chOff x="3682626" y="3001003"/>
            <a:chExt cx="1885161" cy="1380599"/>
          </a:xfrm>
        </p:grpSpPr>
        <p:grpSp>
          <p:nvGrpSpPr>
            <p:cNvPr id="54" name="Group 60">
              <a:extLst>
                <a:ext uri="{FF2B5EF4-FFF2-40B4-BE49-F238E27FC236}">
                  <a16:creationId xmlns:a16="http://schemas.microsoft.com/office/drawing/2014/main" id="{F944C62E-DC07-A522-1839-104A544DAA5A}"/>
                </a:ext>
              </a:extLst>
            </p:cNvPr>
            <p:cNvGrpSpPr/>
            <p:nvPr/>
          </p:nvGrpSpPr>
          <p:grpSpPr>
            <a:xfrm>
              <a:off x="3682626" y="3001003"/>
              <a:ext cx="1692353" cy="307777"/>
              <a:chOff x="5436656" y="998461"/>
              <a:chExt cx="2256472" cy="410369"/>
            </a:xfrm>
          </p:grpSpPr>
          <p:sp>
            <p:nvSpPr>
              <p:cNvPr id="56" name="Oval 55">
                <a:extLst>
                  <a:ext uri="{FF2B5EF4-FFF2-40B4-BE49-F238E27FC236}">
                    <a16:creationId xmlns:a16="http://schemas.microsoft.com/office/drawing/2014/main" id="{AA4882EA-15F9-CFF6-B133-EFE1F06D4DE8}"/>
                  </a:ext>
                </a:extLst>
              </p:cNvPr>
              <p:cNvSpPr/>
              <p:nvPr/>
            </p:nvSpPr>
            <p:spPr>
              <a:xfrm>
                <a:off x="5436656" y="1087502"/>
                <a:ext cx="143185" cy="184280"/>
              </a:xfrm>
              <a:prstGeom prst="ellipse">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dirty="0">
                  <a:solidFill>
                    <a:schemeClr val="tx1"/>
                  </a:solidFill>
                  <a:latin typeface="Calibri" panose="020F0502020204030204"/>
                </a:endParaRPr>
              </a:p>
            </p:txBody>
          </p:sp>
          <p:sp>
            <p:nvSpPr>
              <p:cNvPr id="57" name="TextBox 77">
                <a:extLst>
                  <a:ext uri="{FF2B5EF4-FFF2-40B4-BE49-F238E27FC236}">
                    <a16:creationId xmlns:a16="http://schemas.microsoft.com/office/drawing/2014/main" id="{97707846-369E-A18C-394D-CB4B78B9C2BE}"/>
                  </a:ext>
                </a:extLst>
              </p:cNvPr>
              <p:cNvSpPr txBox="1"/>
              <p:nvPr/>
            </p:nvSpPr>
            <p:spPr>
              <a:xfrm>
                <a:off x="5660392" y="998461"/>
                <a:ext cx="2032736" cy="410369"/>
              </a:xfrm>
              <a:prstGeom prst="rect">
                <a:avLst/>
              </a:prstGeom>
              <a:noFill/>
            </p:spPr>
            <p:txBody>
              <a:bodyPr wrap="none" rtlCol="0">
                <a:spAutoFit/>
              </a:bodyPr>
              <a:lstStyle/>
              <a:p>
                <a:pPr defTabSz="685800"/>
                <a:r>
                  <a:rPr lang="id-ID" sz="1400" b="1" dirty="0">
                    <a:solidFill>
                      <a:schemeClr val="bg1"/>
                    </a:solidFill>
                    <a:latin typeface="Tahoma" panose="020B0604030504040204" pitchFamily="34" charset="0"/>
                    <a:ea typeface="Tahoma" panose="020B0604030504040204" pitchFamily="34" charset="0"/>
                    <a:cs typeface="Tahoma" panose="020B0604030504040204" pitchFamily="34" charset="0"/>
                  </a:rPr>
                  <a:t>AREA YOGYAKARTA</a:t>
                </a:r>
                <a:endParaRPr lang="en-US" sz="1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55" name="TextBox 111">
              <a:extLst>
                <a:ext uri="{FF2B5EF4-FFF2-40B4-BE49-F238E27FC236}">
                  <a16:creationId xmlns:a16="http://schemas.microsoft.com/office/drawing/2014/main" id="{2F998381-338C-80B1-4C07-757DB7C20FEA}"/>
                </a:ext>
              </a:extLst>
            </p:cNvPr>
            <p:cNvSpPr txBox="1"/>
            <p:nvPr/>
          </p:nvSpPr>
          <p:spPr>
            <a:xfrm>
              <a:off x="3790015" y="3301165"/>
              <a:ext cx="1777772" cy="1080437"/>
            </a:xfrm>
            <a:prstGeom prst="rect">
              <a:avLst/>
            </a:prstGeom>
            <a:noFill/>
          </p:spPr>
          <p:txBody>
            <a:bodyPr wrap="square" rtlCol="0">
              <a:spAutoFit/>
            </a:bodyPr>
            <a:lstStyle/>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REWULU</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SUDJIPTO / YIA</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BOYOLALI</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SUMARMO</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CEPU</a:t>
              </a:r>
              <a:endParaRPr lang="en-US" sz="1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10" name="Group 9">
            <a:extLst>
              <a:ext uri="{FF2B5EF4-FFF2-40B4-BE49-F238E27FC236}">
                <a16:creationId xmlns:a16="http://schemas.microsoft.com/office/drawing/2014/main" id="{72D4E056-FE87-4230-A9C3-5AE82B055E82}"/>
              </a:ext>
            </a:extLst>
          </p:cNvPr>
          <p:cNvGrpSpPr/>
          <p:nvPr/>
        </p:nvGrpSpPr>
        <p:grpSpPr>
          <a:xfrm>
            <a:off x="331588" y="189128"/>
            <a:ext cx="5297838" cy="687155"/>
            <a:chOff x="615626" y="735245"/>
            <a:chExt cx="5297838" cy="687155"/>
          </a:xfrm>
        </p:grpSpPr>
        <p:sp>
          <p:nvSpPr>
            <p:cNvPr id="11" name="Rectangle: Rounded Corners 10">
              <a:extLst>
                <a:ext uri="{FF2B5EF4-FFF2-40B4-BE49-F238E27FC236}">
                  <a16:creationId xmlns:a16="http://schemas.microsoft.com/office/drawing/2014/main" id="{8F6EE12D-5280-4BF9-9CD7-3FF1165ED335}"/>
                </a:ext>
              </a:extLst>
            </p:cNvPr>
            <p:cNvSpPr/>
            <p:nvPr/>
          </p:nvSpPr>
          <p:spPr>
            <a:xfrm>
              <a:off x="624769" y="735245"/>
              <a:ext cx="4904016" cy="687155"/>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1F6C0ECF-7B20-4376-8BAC-A7AC43089857}"/>
                </a:ext>
              </a:extLst>
            </p:cNvPr>
            <p:cNvSpPr/>
            <p:nvPr/>
          </p:nvSpPr>
          <p:spPr>
            <a:xfrm>
              <a:off x="4999064" y="735245"/>
              <a:ext cx="914400" cy="687155"/>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B081691D-6E87-40FC-85FD-FD3A4FCDD3DB}"/>
                </a:ext>
              </a:extLst>
            </p:cNvPr>
            <p:cNvCxnSpPr/>
            <p:nvPr/>
          </p:nvCxnSpPr>
          <p:spPr>
            <a:xfrm>
              <a:off x="2988121" y="777765"/>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9FC5E68-3A98-4CCA-87B6-A3B585C8E1B1}"/>
                </a:ext>
              </a:extLst>
            </p:cNvPr>
            <p:cNvSpPr txBox="1"/>
            <p:nvPr/>
          </p:nvSpPr>
          <p:spPr>
            <a:xfrm>
              <a:off x="615626" y="755748"/>
              <a:ext cx="2390801" cy="646331"/>
            </a:xfrm>
            <a:prstGeom prst="rect">
              <a:avLst/>
            </a:prstGeom>
            <a:noFill/>
          </p:spPr>
          <p:txBody>
            <a:bodyPr wrap="square" rtlCol="0">
              <a:spAutoFit/>
            </a:bodyPr>
            <a:lstStyle/>
            <a:p>
              <a:pPr algn="ctr"/>
              <a:r>
                <a:rPr lang="en-US" b="1" dirty="0">
                  <a:solidFill>
                    <a:schemeClr val="bg1"/>
                  </a:solidFill>
                </a:rPr>
                <a:t>STRUCTURE ORGANIZATION</a:t>
              </a:r>
            </a:p>
          </p:txBody>
        </p:sp>
      </p:grpSp>
      <p:pic>
        <p:nvPicPr>
          <p:cNvPr id="3" name="Picture 2">
            <a:extLst>
              <a:ext uri="{FF2B5EF4-FFF2-40B4-BE49-F238E27FC236}">
                <a16:creationId xmlns:a16="http://schemas.microsoft.com/office/drawing/2014/main" id="{00B0A565-3E0B-4FB4-9311-020E7A071DCD}"/>
              </a:ext>
            </a:extLst>
          </p:cNvPr>
          <p:cNvPicPr>
            <a:picLocks noChangeAspect="1"/>
          </p:cNvPicPr>
          <p:nvPr/>
        </p:nvPicPr>
        <p:blipFill rotWithShape="1">
          <a:blip r:embed="rId2"/>
          <a:srcRect l="-2232" t="6005" r="2232" b="28354"/>
          <a:stretch/>
        </p:blipFill>
        <p:spPr>
          <a:xfrm>
            <a:off x="1246769" y="1178169"/>
            <a:ext cx="9698461" cy="4501662"/>
          </a:xfrm>
          <a:prstGeom prst="rect">
            <a:avLst/>
          </a:prstGeom>
        </p:spPr>
      </p:pic>
    </p:spTree>
    <p:extLst>
      <p:ext uri="{BB962C8B-B14F-4D97-AF65-F5344CB8AC3E}">
        <p14:creationId xmlns:p14="http://schemas.microsoft.com/office/powerpoint/2010/main" val="3155077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up 52">
            <a:extLst>
              <a:ext uri="{FF2B5EF4-FFF2-40B4-BE49-F238E27FC236}">
                <a16:creationId xmlns:a16="http://schemas.microsoft.com/office/drawing/2014/main" id="{06D20EC3-F484-AC9E-E369-BB73D2EAE25E}"/>
              </a:ext>
            </a:extLst>
          </p:cNvPr>
          <p:cNvGrpSpPr/>
          <p:nvPr/>
        </p:nvGrpSpPr>
        <p:grpSpPr>
          <a:xfrm>
            <a:off x="3429647" y="2825983"/>
            <a:ext cx="2438466" cy="1447359"/>
            <a:chOff x="3682626" y="3001003"/>
            <a:chExt cx="1885161" cy="1380599"/>
          </a:xfrm>
        </p:grpSpPr>
        <p:grpSp>
          <p:nvGrpSpPr>
            <p:cNvPr id="54" name="Group 60">
              <a:extLst>
                <a:ext uri="{FF2B5EF4-FFF2-40B4-BE49-F238E27FC236}">
                  <a16:creationId xmlns:a16="http://schemas.microsoft.com/office/drawing/2014/main" id="{F944C62E-DC07-A522-1839-104A544DAA5A}"/>
                </a:ext>
              </a:extLst>
            </p:cNvPr>
            <p:cNvGrpSpPr/>
            <p:nvPr/>
          </p:nvGrpSpPr>
          <p:grpSpPr>
            <a:xfrm>
              <a:off x="3682626" y="3001003"/>
              <a:ext cx="1692353" cy="307777"/>
              <a:chOff x="5436656" y="998461"/>
              <a:chExt cx="2256472" cy="410369"/>
            </a:xfrm>
          </p:grpSpPr>
          <p:sp>
            <p:nvSpPr>
              <p:cNvPr id="56" name="Oval 55">
                <a:extLst>
                  <a:ext uri="{FF2B5EF4-FFF2-40B4-BE49-F238E27FC236}">
                    <a16:creationId xmlns:a16="http://schemas.microsoft.com/office/drawing/2014/main" id="{AA4882EA-15F9-CFF6-B133-EFE1F06D4DE8}"/>
                  </a:ext>
                </a:extLst>
              </p:cNvPr>
              <p:cNvSpPr/>
              <p:nvPr/>
            </p:nvSpPr>
            <p:spPr>
              <a:xfrm>
                <a:off x="5436656" y="1087502"/>
                <a:ext cx="143185" cy="184280"/>
              </a:xfrm>
              <a:prstGeom prst="ellipse">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dirty="0">
                  <a:solidFill>
                    <a:schemeClr val="tx1"/>
                  </a:solidFill>
                  <a:latin typeface="Calibri" panose="020F0502020204030204"/>
                </a:endParaRPr>
              </a:p>
            </p:txBody>
          </p:sp>
          <p:sp>
            <p:nvSpPr>
              <p:cNvPr id="57" name="TextBox 77">
                <a:extLst>
                  <a:ext uri="{FF2B5EF4-FFF2-40B4-BE49-F238E27FC236}">
                    <a16:creationId xmlns:a16="http://schemas.microsoft.com/office/drawing/2014/main" id="{97707846-369E-A18C-394D-CB4B78B9C2BE}"/>
                  </a:ext>
                </a:extLst>
              </p:cNvPr>
              <p:cNvSpPr txBox="1"/>
              <p:nvPr/>
            </p:nvSpPr>
            <p:spPr>
              <a:xfrm>
                <a:off x="5660392" y="998461"/>
                <a:ext cx="2032736" cy="410369"/>
              </a:xfrm>
              <a:prstGeom prst="rect">
                <a:avLst/>
              </a:prstGeom>
              <a:noFill/>
            </p:spPr>
            <p:txBody>
              <a:bodyPr wrap="none" rtlCol="0">
                <a:spAutoFit/>
              </a:bodyPr>
              <a:lstStyle/>
              <a:p>
                <a:pPr defTabSz="685800"/>
                <a:r>
                  <a:rPr lang="id-ID" sz="1400" b="1" dirty="0">
                    <a:solidFill>
                      <a:schemeClr val="bg1"/>
                    </a:solidFill>
                    <a:latin typeface="Tahoma" panose="020B0604030504040204" pitchFamily="34" charset="0"/>
                    <a:ea typeface="Tahoma" panose="020B0604030504040204" pitchFamily="34" charset="0"/>
                    <a:cs typeface="Tahoma" panose="020B0604030504040204" pitchFamily="34" charset="0"/>
                  </a:rPr>
                  <a:t>AREA YOGYAKARTA</a:t>
                </a:r>
                <a:endParaRPr lang="en-US" sz="1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55" name="TextBox 111">
              <a:extLst>
                <a:ext uri="{FF2B5EF4-FFF2-40B4-BE49-F238E27FC236}">
                  <a16:creationId xmlns:a16="http://schemas.microsoft.com/office/drawing/2014/main" id="{2F998381-338C-80B1-4C07-757DB7C20FEA}"/>
                </a:ext>
              </a:extLst>
            </p:cNvPr>
            <p:cNvSpPr txBox="1"/>
            <p:nvPr/>
          </p:nvSpPr>
          <p:spPr>
            <a:xfrm>
              <a:off x="3790015" y="3301165"/>
              <a:ext cx="1777772" cy="1080437"/>
            </a:xfrm>
            <a:prstGeom prst="rect">
              <a:avLst/>
            </a:prstGeom>
            <a:noFill/>
          </p:spPr>
          <p:txBody>
            <a:bodyPr wrap="square" rtlCol="0">
              <a:spAutoFit/>
            </a:bodyPr>
            <a:lstStyle/>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REWULU</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SUDJIPTO / YIA</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BOYOLALI</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SUMARMO</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CEPU</a:t>
              </a:r>
              <a:endParaRPr lang="en-US" sz="1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7" name="Group 6">
            <a:extLst>
              <a:ext uri="{FF2B5EF4-FFF2-40B4-BE49-F238E27FC236}">
                <a16:creationId xmlns:a16="http://schemas.microsoft.com/office/drawing/2014/main" id="{B9800A29-D6FF-4828-B5CF-5A168245F261}"/>
              </a:ext>
            </a:extLst>
          </p:cNvPr>
          <p:cNvGrpSpPr/>
          <p:nvPr/>
        </p:nvGrpSpPr>
        <p:grpSpPr>
          <a:xfrm>
            <a:off x="438122" y="221567"/>
            <a:ext cx="5297838" cy="687155"/>
            <a:chOff x="1544574" y="576718"/>
            <a:chExt cx="5297838" cy="687155"/>
          </a:xfrm>
        </p:grpSpPr>
        <p:sp>
          <p:nvSpPr>
            <p:cNvPr id="8" name="Rectangle: Rounded Corners 7">
              <a:extLst>
                <a:ext uri="{FF2B5EF4-FFF2-40B4-BE49-F238E27FC236}">
                  <a16:creationId xmlns:a16="http://schemas.microsoft.com/office/drawing/2014/main" id="{234E424A-72D3-4ED7-B75F-BC0A52B9A780}"/>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8D8E8847-1C2D-4116-8A1F-8F47678520EA}"/>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33439CA-0134-4E45-8AD1-7ECA75C27DF4}"/>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389BFC6-5E46-4149-AACC-089077FA6224}"/>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MANPOWER</a:t>
              </a:r>
              <a:endParaRPr lang="en-US" sz="2000" b="1" dirty="0">
                <a:solidFill>
                  <a:schemeClr val="bg1"/>
                </a:solidFill>
              </a:endParaRPr>
            </a:p>
          </p:txBody>
        </p:sp>
        <p:sp>
          <p:nvSpPr>
            <p:cNvPr id="13" name="TextBox 12">
              <a:extLst>
                <a:ext uri="{FF2B5EF4-FFF2-40B4-BE49-F238E27FC236}">
                  <a16:creationId xmlns:a16="http://schemas.microsoft.com/office/drawing/2014/main" id="{6C0ADF7F-4ACA-4982-96F8-91D822C59E9C}"/>
                </a:ext>
              </a:extLst>
            </p:cNvPr>
            <p:cNvSpPr txBox="1"/>
            <p:nvPr/>
          </p:nvSpPr>
          <p:spPr>
            <a:xfrm>
              <a:off x="6097067" y="612065"/>
              <a:ext cx="731520" cy="584775"/>
            </a:xfrm>
            <a:prstGeom prst="rect">
              <a:avLst/>
            </a:prstGeom>
            <a:noFill/>
          </p:spPr>
          <p:txBody>
            <a:bodyPr wrap="square" rtlCol="0">
              <a:spAutoFit/>
            </a:bodyPr>
            <a:lstStyle/>
            <a:p>
              <a:endParaRPr lang="en-US" sz="3200" dirty="0">
                <a:solidFill>
                  <a:schemeClr val="accent2">
                    <a:lumMod val="50000"/>
                  </a:schemeClr>
                </a:solidFill>
              </a:endParaRPr>
            </a:p>
          </p:txBody>
        </p:sp>
      </p:grpSp>
      <p:graphicFrame>
        <p:nvGraphicFramePr>
          <p:cNvPr id="14" name="Content Placeholder 4">
            <a:extLst>
              <a:ext uri="{FF2B5EF4-FFF2-40B4-BE49-F238E27FC236}">
                <a16:creationId xmlns:a16="http://schemas.microsoft.com/office/drawing/2014/main" id="{696413D4-2DF4-434F-9181-FFEC3F09F672}"/>
              </a:ext>
            </a:extLst>
          </p:cNvPr>
          <p:cNvGraphicFramePr>
            <a:graphicFrameLocks/>
          </p:cNvGraphicFramePr>
          <p:nvPr>
            <p:extLst>
              <p:ext uri="{D42A27DB-BD31-4B8C-83A1-F6EECF244321}">
                <p14:modId xmlns:p14="http://schemas.microsoft.com/office/powerpoint/2010/main" val="3529764359"/>
              </p:ext>
            </p:extLst>
          </p:nvPr>
        </p:nvGraphicFramePr>
        <p:xfrm>
          <a:off x="1127448" y="974877"/>
          <a:ext cx="9937104" cy="5531724"/>
        </p:xfrm>
        <a:graphic>
          <a:graphicData uri="http://schemas.openxmlformats.org/drawingml/2006/table">
            <a:tbl>
              <a:tblPr firstRow="1" bandRow="1">
                <a:tableStyleId>{68D230F3-CF80-4859-8CE7-A43EE81993B5}</a:tableStyleId>
              </a:tblPr>
              <a:tblGrid>
                <a:gridCol w="899065">
                  <a:extLst>
                    <a:ext uri="{9D8B030D-6E8A-4147-A177-3AD203B41FA5}">
                      <a16:colId xmlns:a16="http://schemas.microsoft.com/office/drawing/2014/main" val="2968914665"/>
                    </a:ext>
                  </a:extLst>
                </a:gridCol>
                <a:gridCol w="4410232">
                  <a:extLst>
                    <a:ext uri="{9D8B030D-6E8A-4147-A177-3AD203B41FA5}">
                      <a16:colId xmlns:a16="http://schemas.microsoft.com/office/drawing/2014/main" val="4219746791"/>
                    </a:ext>
                  </a:extLst>
                </a:gridCol>
                <a:gridCol w="2027186">
                  <a:extLst>
                    <a:ext uri="{9D8B030D-6E8A-4147-A177-3AD203B41FA5}">
                      <a16:colId xmlns:a16="http://schemas.microsoft.com/office/drawing/2014/main" val="3762102807"/>
                    </a:ext>
                  </a:extLst>
                </a:gridCol>
                <a:gridCol w="2600621">
                  <a:extLst>
                    <a:ext uri="{9D8B030D-6E8A-4147-A177-3AD203B41FA5}">
                      <a16:colId xmlns:a16="http://schemas.microsoft.com/office/drawing/2014/main" val="3039436035"/>
                    </a:ext>
                  </a:extLst>
                </a:gridCol>
              </a:tblGrid>
              <a:tr h="475613">
                <a:tc>
                  <a:txBody>
                    <a:bodyPr/>
                    <a:lstStyle/>
                    <a:p>
                      <a:pPr algn="ctr"/>
                      <a:r>
                        <a:rPr lang="en-US" sz="1200" dirty="0"/>
                        <a:t>NO</a:t>
                      </a:r>
                    </a:p>
                  </a:txBody>
                  <a:tcPr anchor="ctr"/>
                </a:tc>
                <a:tc>
                  <a:txBody>
                    <a:bodyPr/>
                    <a:lstStyle/>
                    <a:p>
                      <a:pPr algn="ctr"/>
                      <a:r>
                        <a:rPr lang="en-US" sz="1200" dirty="0"/>
                        <a:t>URAIAN</a:t>
                      </a:r>
                    </a:p>
                  </a:txBody>
                  <a:tcPr anchor="ctr"/>
                </a:tc>
                <a:tc>
                  <a:txBody>
                    <a:bodyPr/>
                    <a:lstStyle/>
                    <a:p>
                      <a:pPr algn="ctr"/>
                      <a:r>
                        <a:rPr lang="en-US" sz="1200" dirty="0"/>
                        <a:t>JUMLAH</a:t>
                      </a:r>
                    </a:p>
                  </a:txBody>
                  <a:tcPr anchor="ctr"/>
                </a:tc>
                <a:tc>
                  <a:txBody>
                    <a:bodyPr/>
                    <a:lstStyle/>
                    <a:p>
                      <a:pPr algn="ctr"/>
                      <a:r>
                        <a:rPr lang="en-US" sz="1200" dirty="0"/>
                        <a:t>KET</a:t>
                      </a:r>
                    </a:p>
                  </a:txBody>
                  <a:tcPr anchor="ctr"/>
                </a:tc>
                <a:extLst>
                  <a:ext uri="{0D108BD9-81ED-4DB2-BD59-A6C34878D82A}">
                    <a16:rowId xmlns:a16="http://schemas.microsoft.com/office/drawing/2014/main" val="1864887311"/>
                  </a:ext>
                </a:extLst>
              </a:tr>
              <a:tr h="377177">
                <a:tc>
                  <a:txBody>
                    <a:bodyPr/>
                    <a:lstStyle/>
                    <a:p>
                      <a:pPr algn="ctr"/>
                      <a:r>
                        <a:rPr lang="en-US" sz="1600" dirty="0"/>
                        <a:t>1</a:t>
                      </a:r>
                    </a:p>
                  </a:txBody>
                  <a:tcPr anchor="ctr"/>
                </a:tc>
                <a:tc>
                  <a:txBody>
                    <a:bodyPr/>
                    <a:lstStyle/>
                    <a:p>
                      <a:pPr algn="l"/>
                      <a:r>
                        <a:rPr lang="en-US" sz="1600" dirty="0"/>
                        <a:t>Project Manager</a:t>
                      </a:r>
                    </a:p>
                  </a:txBody>
                  <a:tcPr anchor="ctr"/>
                </a:tc>
                <a:tc>
                  <a:txBody>
                    <a:bodyPr/>
                    <a:lstStyle/>
                    <a:p>
                      <a:pPr algn="ctr"/>
                      <a:r>
                        <a:rPr lang="en-US" sz="1600" dirty="0"/>
                        <a:t>1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1911872564"/>
                  </a:ext>
                </a:extLst>
              </a:tr>
              <a:tr h="465157">
                <a:tc>
                  <a:txBody>
                    <a:bodyPr/>
                    <a:lstStyle/>
                    <a:p>
                      <a:pPr algn="ctr"/>
                      <a:r>
                        <a:rPr lang="id-ID" sz="1600" dirty="0"/>
                        <a:t>2</a:t>
                      </a:r>
                      <a:endParaRPr lang="en-US" sz="1600" dirty="0"/>
                    </a:p>
                  </a:txBody>
                  <a:tcPr anchor="ctr"/>
                </a:tc>
                <a:tc>
                  <a:txBody>
                    <a:bodyPr/>
                    <a:lstStyle/>
                    <a:p>
                      <a:pPr algn="l"/>
                      <a:r>
                        <a:rPr lang="en-US" sz="1600" dirty="0"/>
                        <a:t>Manager Area</a:t>
                      </a:r>
                    </a:p>
                  </a:txBody>
                  <a:tcPr anchor="ctr"/>
                </a:tc>
                <a:tc>
                  <a:txBody>
                    <a:bodyPr/>
                    <a:lstStyle/>
                    <a:p>
                      <a:pPr algn="ctr"/>
                      <a:r>
                        <a:rPr lang="en-US" sz="1600" dirty="0"/>
                        <a:t>1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2442977398"/>
                  </a:ext>
                </a:extLst>
              </a:tr>
              <a:tr h="465157">
                <a:tc>
                  <a:txBody>
                    <a:bodyPr/>
                    <a:lstStyle/>
                    <a:p>
                      <a:pPr algn="ctr"/>
                      <a:r>
                        <a:rPr lang="en-US" sz="1600" dirty="0"/>
                        <a:t>3</a:t>
                      </a:r>
                    </a:p>
                  </a:txBody>
                  <a:tcPr anchor="ctr"/>
                </a:tc>
                <a:tc>
                  <a:txBody>
                    <a:bodyPr/>
                    <a:lstStyle/>
                    <a:p>
                      <a:pPr algn="l"/>
                      <a:r>
                        <a:rPr lang="id-ID" sz="1600" dirty="0"/>
                        <a:t>Keuangan</a:t>
                      </a:r>
                      <a:endParaRPr lang="en-US" sz="1600" dirty="0"/>
                    </a:p>
                  </a:txBody>
                  <a:tcPr anchor="ctr"/>
                </a:tc>
                <a:tc>
                  <a:txBody>
                    <a:bodyPr/>
                    <a:lstStyle/>
                    <a:p>
                      <a:pPr algn="ctr"/>
                      <a:r>
                        <a:rPr lang="id-ID" sz="1600" dirty="0"/>
                        <a:t>1</a:t>
                      </a:r>
                      <a:r>
                        <a:rPr lang="en-US" sz="1600" dirty="0"/>
                        <a:t>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2477496956"/>
                  </a:ext>
                </a:extLst>
              </a:tr>
              <a:tr h="387632">
                <a:tc>
                  <a:txBody>
                    <a:bodyPr/>
                    <a:lstStyle/>
                    <a:p>
                      <a:pPr algn="ctr"/>
                      <a:r>
                        <a:rPr lang="en-US" sz="1600" dirty="0"/>
                        <a:t>4</a:t>
                      </a:r>
                    </a:p>
                  </a:txBody>
                  <a:tcPr anchor="ctr"/>
                </a:tc>
                <a:tc>
                  <a:txBody>
                    <a:bodyPr/>
                    <a:lstStyle/>
                    <a:p>
                      <a:pPr algn="l"/>
                      <a:r>
                        <a:rPr lang="en-US" sz="1600" dirty="0"/>
                        <a:t>Drafter</a:t>
                      </a:r>
                    </a:p>
                  </a:txBody>
                  <a:tcPr anchor="ctr"/>
                </a:tc>
                <a:tc>
                  <a:txBody>
                    <a:bodyPr/>
                    <a:lstStyle/>
                    <a:p>
                      <a:pPr algn="ctr"/>
                      <a:r>
                        <a:rPr lang="en-US" sz="1600" dirty="0"/>
                        <a:t>1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3266332216"/>
                  </a:ext>
                </a:extLst>
              </a:tr>
              <a:tr h="387632">
                <a:tc>
                  <a:txBody>
                    <a:bodyPr/>
                    <a:lstStyle/>
                    <a:p>
                      <a:pPr algn="ctr"/>
                      <a:r>
                        <a:rPr lang="en-US" sz="1600" dirty="0"/>
                        <a:t>5</a:t>
                      </a:r>
                    </a:p>
                  </a:txBody>
                  <a:tcPr anchor="ctr"/>
                </a:tc>
                <a:tc>
                  <a:txBody>
                    <a:bodyPr/>
                    <a:lstStyle/>
                    <a:p>
                      <a:pPr algn="l"/>
                      <a:r>
                        <a:rPr lang="id-ID" sz="1600" dirty="0"/>
                        <a:t>Foreman</a:t>
                      </a:r>
                      <a:endParaRPr lang="en-US" sz="1600" dirty="0"/>
                    </a:p>
                  </a:txBody>
                  <a:tcPr anchor="ctr"/>
                </a:tc>
                <a:tc>
                  <a:txBody>
                    <a:bodyPr/>
                    <a:lstStyle/>
                    <a:p>
                      <a:pPr algn="ctr"/>
                      <a:r>
                        <a:rPr lang="en-US" sz="1600" dirty="0"/>
                        <a:t>2</a:t>
                      </a:r>
                      <a:r>
                        <a:rPr lang="id-ID" sz="1600" dirty="0"/>
                        <a:t> Orang</a:t>
                      </a:r>
                      <a:endParaRPr lang="en-US"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4222651992"/>
                  </a:ext>
                </a:extLst>
              </a:tr>
              <a:tr h="387632">
                <a:tc>
                  <a:txBody>
                    <a:bodyPr/>
                    <a:lstStyle/>
                    <a:p>
                      <a:pPr algn="ctr"/>
                      <a:r>
                        <a:rPr lang="en-US" sz="1600" dirty="0"/>
                        <a:t>6</a:t>
                      </a:r>
                    </a:p>
                  </a:txBody>
                  <a:tcPr anchor="ctr"/>
                </a:tc>
                <a:tc>
                  <a:txBody>
                    <a:bodyPr/>
                    <a:lstStyle/>
                    <a:p>
                      <a:pPr algn="l"/>
                      <a:r>
                        <a:rPr lang="en-US" sz="1600" dirty="0"/>
                        <a:t>Project Control</a:t>
                      </a:r>
                    </a:p>
                  </a:txBody>
                  <a:tcPr anchor="ctr"/>
                </a:tc>
                <a:tc>
                  <a:txBody>
                    <a:bodyPr/>
                    <a:lstStyle/>
                    <a:p>
                      <a:pPr algn="ctr"/>
                      <a:r>
                        <a:rPr lang="en-US" sz="1600" dirty="0"/>
                        <a:t>1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2513831790"/>
                  </a:ext>
                </a:extLst>
              </a:tr>
              <a:tr h="387632">
                <a:tc>
                  <a:txBody>
                    <a:bodyPr/>
                    <a:lstStyle/>
                    <a:p>
                      <a:pPr algn="ctr"/>
                      <a:r>
                        <a:rPr lang="en-US" sz="1600" dirty="0"/>
                        <a:t>7</a:t>
                      </a:r>
                    </a:p>
                  </a:txBody>
                  <a:tcPr anchor="ctr"/>
                </a:tc>
                <a:tc>
                  <a:txBody>
                    <a:bodyPr/>
                    <a:lstStyle/>
                    <a:p>
                      <a:pPr algn="l"/>
                      <a:r>
                        <a:rPr lang="en-US" sz="1600" dirty="0"/>
                        <a:t>Safety Officer</a:t>
                      </a:r>
                    </a:p>
                  </a:txBody>
                  <a:tcPr anchor="ctr"/>
                </a:tc>
                <a:tc>
                  <a:txBody>
                    <a:bodyPr/>
                    <a:lstStyle/>
                    <a:p>
                      <a:pPr algn="ctr"/>
                      <a:r>
                        <a:rPr lang="en-US" sz="1600" dirty="0"/>
                        <a:t>1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1996200271"/>
                  </a:ext>
                </a:extLst>
              </a:tr>
              <a:tr h="387632">
                <a:tc>
                  <a:txBody>
                    <a:bodyPr/>
                    <a:lstStyle/>
                    <a:p>
                      <a:pPr algn="ctr"/>
                      <a:r>
                        <a:rPr lang="en-US" sz="1600" dirty="0"/>
                        <a:t>8</a:t>
                      </a:r>
                    </a:p>
                  </a:txBody>
                  <a:tcPr anchor="ctr"/>
                </a:tc>
                <a:tc>
                  <a:txBody>
                    <a:bodyPr/>
                    <a:lstStyle/>
                    <a:p>
                      <a:pPr algn="l"/>
                      <a:r>
                        <a:rPr lang="en-US" sz="1600" dirty="0"/>
                        <a:t>Safety</a:t>
                      </a:r>
                    </a:p>
                  </a:txBody>
                  <a:tcPr anchor="ctr"/>
                </a:tc>
                <a:tc>
                  <a:txBody>
                    <a:bodyPr/>
                    <a:lstStyle/>
                    <a:p>
                      <a:pPr algn="ctr"/>
                      <a:r>
                        <a:rPr lang="en-US" sz="1600" dirty="0"/>
                        <a:t>2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2245250396"/>
                  </a:ext>
                </a:extLst>
              </a:tr>
              <a:tr h="387632">
                <a:tc>
                  <a:txBody>
                    <a:bodyPr/>
                    <a:lstStyle/>
                    <a:p>
                      <a:pPr algn="ctr"/>
                      <a:r>
                        <a:rPr lang="en-US" sz="1600" dirty="0"/>
                        <a:t>9</a:t>
                      </a:r>
                    </a:p>
                  </a:txBody>
                  <a:tcPr anchor="ctr"/>
                </a:tc>
                <a:tc>
                  <a:txBody>
                    <a:bodyPr/>
                    <a:lstStyle/>
                    <a:p>
                      <a:pPr algn="l"/>
                      <a:r>
                        <a:rPr lang="en-US" sz="1600" dirty="0"/>
                        <a:t>First Aider</a:t>
                      </a:r>
                    </a:p>
                  </a:txBody>
                  <a:tcPr anchor="ctr"/>
                </a:tc>
                <a:tc>
                  <a:txBody>
                    <a:bodyPr/>
                    <a:lstStyle/>
                    <a:p>
                      <a:pPr algn="ctr"/>
                      <a:r>
                        <a:rPr lang="en-US" sz="1600" dirty="0"/>
                        <a:t>1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550636185"/>
                  </a:ext>
                </a:extLst>
              </a:tr>
              <a:tr h="474276">
                <a:tc>
                  <a:txBody>
                    <a:bodyPr/>
                    <a:lstStyle/>
                    <a:p>
                      <a:pPr algn="ctr"/>
                      <a:r>
                        <a:rPr lang="en-US" sz="1600" dirty="0"/>
                        <a:t>10</a:t>
                      </a:r>
                    </a:p>
                  </a:txBody>
                  <a:tcPr anchor="ctr"/>
                </a:tc>
                <a:tc>
                  <a:txBody>
                    <a:bodyPr/>
                    <a:lstStyle/>
                    <a:p>
                      <a:pPr algn="l"/>
                      <a:r>
                        <a:rPr lang="en-US" sz="1600" dirty="0"/>
                        <a:t>Document Control</a:t>
                      </a:r>
                    </a:p>
                  </a:txBody>
                  <a:tcPr anchor="ctr"/>
                </a:tc>
                <a:tc>
                  <a:txBody>
                    <a:bodyPr/>
                    <a:lstStyle/>
                    <a:p>
                      <a:pPr algn="ctr"/>
                      <a:r>
                        <a:rPr lang="en-US" sz="1600" dirty="0"/>
                        <a:t>1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1169765297"/>
                  </a:ext>
                </a:extLst>
              </a:tr>
              <a:tr h="474276">
                <a:tc>
                  <a:txBody>
                    <a:bodyPr/>
                    <a:lstStyle/>
                    <a:p>
                      <a:pPr algn="ctr"/>
                      <a:r>
                        <a:rPr lang="en-US" sz="1600" dirty="0"/>
                        <a:t>11</a:t>
                      </a:r>
                    </a:p>
                  </a:txBody>
                  <a:tcPr anchor="ctr"/>
                </a:tc>
                <a:tc>
                  <a:txBody>
                    <a:bodyPr/>
                    <a:lstStyle/>
                    <a:p>
                      <a:pPr algn="l"/>
                      <a:r>
                        <a:rPr lang="en-US" sz="1600" dirty="0" err="1"/>
                        <a:t>Pekerja</a:t>
                      </a:r>
                      <a:endParaRPr lang="en-US" sz="1600" dirty="0"/>
                    </a:p>
                  </a:txBody>
                  <a:tcPr anchor="ctr"/>
                </a:tc>
                <a:tc>
                  <a:txBody>
                    <a:bodyPr/>
                    <a:lstStyle/>
                    <a:p>
                      <a:pPr algn="ctr"/>
                      <a:r>
                        <a:rPr lang="id-ID" sz="1600" dirty="0"/>
                        <a:t>30</a:t>
                      </a:r>
                      <a:r>
                        <a:rPr lang="en-US" sz="1600" dirty="0"/>
                        <a:t>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3615882844"/>
                  </a:ext>
                </a:extLst>
              </a:tr>
              <a:tr h="474276">
                <a:tc>
                  <a:txBody>
                    <a:bodyPr/>
                    <a:lstStyle/>
                    <a:p>
                      <a:pPr algn="ctr"/>
                      <a:endParaRPr lang="en-US" sz="1600" dirty="0"/>
                    </a:p>
                  </a:txBody>
                  <a:tcPr anchor="ctr"/>
                </a:tc>
                <a:tc>
                  <a:txBody>
                    <a:bodyPr/>
                    <a:lstStyle/>
                    <a:p>
                      <a:pPr algn="l"/>
                      <a:endParaRPr lang="en-US" sz="1600" dirty="0"/>
                    </a:p>
                  </a:txBody>
                  <a:tcPr anchor="ctr"/>
                </a:tc>
                <a:tc>
                  <a:txBody>
                    <a:bodyPr/>
                    <a:lstStyle/>
                    <a:p>
                      <a:pPr algn="ctr"/>
                      <a:endParaRPr lang="en-US"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dirty="0"/>
                    </a:p>
                  </a:txBody>
                  <a:tcPr anchor="ctr"/>
                </a:tc>
                <a:extLst>
                  <a:ext uri="{0D108BD9-81ED-4DB2-BD59-A6C34878D82A}">
                    <a16:rowId xmlns:a16="http://schemas.microsoft.com/office/drawing/2014/main" val="1912000191"/>
                  </a:ext>
                </a:extLst>
              </a:tr>
            </a:tbl>
          </a:graphicData>
        </a:graphic>
      </p:graphicFrame>
    </p:spTree>
    <p:extLst>
      <p:ext uri="{BB962C8B-B14F-4D97-AF65-F5344CB8AC3E}">
        <p14:creationId xmlns:p14="http://schemas.microsoft.com/office/powerpoint/2010/main" val="590924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up 52">
            <a:extLst>
              <a:ext uri="{FF2B5EF4-FFF2-40B4-BE49-F238E27FC236}">
                <a16:creationId xmlns:a16="http://schemas.microsoft.com/office/drawing/2014/main" id="{06D20EC3-F484-AC9E-E369-BB73D2EAE25E}"/>
              </a:ext>
            </a:extLst>
          </p:cNvPr>
          <p:cNvGrpSpPr/>
          <p:nvPr/>
        </p:nvGrpSpPr>
        <p:grpSpPr>
          <a:xfrm>
            <a:off x="3429647" y="2825983"/>
            <a:ext cx="2438466" cy="1447359"/>
            <a:chOff x="3682626" y="3001003"/>
            <a:chExt cx="1885161" cy="1380599"/>
          </a:xfrm>
        </p:grpSpPr>
        <p:grpSp>
          <p:nvGrpSpPr>
            <p:cNvPr id="54" name="Group 60">
              <a:extLst>
                <a:ext uri="{FF2B5EF4-FFF2-40B4-BE49-F238E27FC236}">
                  <a16:creationId xmlns:a16="http://schemas.microsoft.com/office/drawing/2014/main" id="{F944C62E-DC07-A522-1839-104A544DAA5A}"/>
                </a:ext>
              </a:extLst>
            </p:cNvPr>
            <p:cNvGrpSpPr/>
            <p:nvPr/>
          </p:nvGrpSpPr>
          <p:grpSpPr>
            <a:xfrm>
              <a:off x="3682626" y="3001003"/>
              <a:ext cx="1692353" cy="307777"/>
              <a:chOff x="5436656" y="998461"/>
              <a:chExt cx="2256472" cy="410369"/>
            </a:xfrm>
          </p:grpSpPr>
          <p:sp>
            <p:nvSpPr>
              <p:cNvPr id="56" name="Oval 55">
                <a:extLst>
                  <a:ext uri="{FF2B5EF4-FFF2-40B4-BE49-F238E27FC236}">
                    <a16:creationId xmlns:a16="http://schemas.microsoft.com/office/drawing/2014/main" id="{AA4882EA-15F9-CFF6-B133-EFE1F06D4DE8}"/>
                  </a:ext>
                </a:extLst>
              </p:cNvPr>
              <p:cNvSpPr/>
              <p:nvPr/>
            </p:nvSpPr>
            <p:spPr>
              <a:xfrm>
                <a:off x="5436656" y="1087502"/>
                <a:ext cx="143185" cy="184280"/>
              </a:xfrm>
              <a:prstGeom prst="ellipse">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dirty="0">
                  <a:solidFill>
                    <a:schemeClr val="tx1"/>
                  </a:solidFill>
                  <a:latin typeface="Calibri" panose="020F0502020204030204"/>
                </a:endParaRPr>
              </a:p>
            </p:txBody>
          </p:sp>
          <p:sp>
            <p:nvSpPr>
              <p:cNvPr id="57" name="TextBox 77">
                <a:extLst>
                  <a:ext uri="{FF2B5EF4-FFF2-40B4-BE49-F238E27FC236}">
                    <a16:creationId xmlns:a16="http://schemas.microsoft.com/office/drawing/2014/main" id="{97707846-369E-A18C-394D-CB4B78B9C2BE}"/>
                  </a:ext>
                </a:extLst>
              </p:cNvPr>
              <p:cNvSpPr txBox="1"/>
              <p:nvPr/>
            </p:nvSpPr>
            <p:spPr>
              <a:xfrm>
                <a:off x="5660392" y="998461"/>
                <a:ext cx="2032736" cy="410369"/>
              </a:xfrm>
              <a:prstGeom prst="rect">
                <a:avLst/>
              </a:prstGeom>
              <a:noFill/>
            </p:spPr>
            <p:txBody>
              <a:bodyPr wrap="none" rtlCol="0">
                <a:spAutoFit/>
              </a:bodyPr>
              <a:lstStyle/>
              <a:p>
                <a:pPr defTabSz="685800"/>
                <a:r>
                  <a:rPr lang="id-ID" sz="1400" b="1" dirty="0">
                    <a:solidFill>
                      <a:schemeClr val="bg1"/>
                    </a:solidFill>
                    <a:latin typeface="Tahoma" panose="020B0604030504040204" pitchFamily="34" charset="0"/>
                    <a:ea typeface="Tahoma" panose="020B0604030504040204" pitchFamily="34" charset="0"/>
                    <a:cs typeface="Tahoma" panose="020B0604030504040204" pitchFamily="34" charset="0"/>
                  </a:rPr>
                  <a:t>AREA YOGYAKARTA</a:t>
                </a:r>
                <a:endParaRPr lang="en-US" sz="1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55" name="TextBox 111">
              <a:extLst>
                <a:ext uri="{FF2B5EF4-FFF2-40B4-BE49-F238E27FC236}">
                  <a16:creationId xmlns:a16="http://schemas.microsoft.com/office/drawing/2014/main" id="{2F998381-338C-80B1-4C07-757DB7C20FEA}"/>
                </a:ext>
              </a:extLst>
            </p:cNvPr>
            <p:cNvSpPr txBox="1"/>
            <p:nvPr/>
          </p:nvSpPr>
          <p:spPr>
            <a:xfrm>
              <a:off x="3790015" y="3301165"/>
              <a:ext cx="1777772" cy="1080437"/>
            </a:xfrm>
            <a:prstGeom prst="rect">
              <a:avLst/>
            </a:prstGeom>
            <a:noFill/>
          </p:spPr>
          <p:txBody>
            <a:bodyPr wrap="square" rtlCol="0">
              <a:spAutoFit/>
            </a:bodyPr>
            <a:lstStyle/>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REWULU</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SUDJIPTO / YIA</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BOYOLALI</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SUMARMO</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CEPU</a:t>
              </a:r>
              <a:endParaRPr lang="en-US" sz="1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pic>
        <p:nvPicPr>
          <p:cNvPr id="3" name="Picture 2">
            <a:extLst>
              <a:ext uri="{FF2B5EF4-FFF2-40B4-BE49-F238E27FC236}">
                <a16:creationId xmlns:a16="http://schemas.microsoft.com/office/drawing/2014/main" id="{8089FE78-4E4D-4D80-8194-7BD506F686CC}"/>
              </a:ext>
            </a:extLst>
          </p:cNvPr>
          <p:cNvPicPr>
            <a:picLocks noChangeAspect="1"/>
          </p:cNvPicPr>
          <p:nvPr/>
        </p:nvPicPr>
        <p:blipFill rotWithShape="1">
          <a:blip r:embed="rId2"/>
          <a:srcRect b="28889"/>
          <a:stretch/>
        </p:blipFill>
        <p:spPr>
          <a:xfrm>
            <a:off x="340732" y="910691"/>
            <a:ext cx="11476130" cy="5372877"/>
          </a:xfrm>
          <a:prstGeom prst="rect">
            <a:avLst/>
          </a:prstGeom>
        </p:spPr>
      </p:pic>
      <p:grpSp>
        <p:nvGrpSpPr>
          <p:cNvPr id="9" name="Group 8">
            <a:extLst>
              <a:ext uri="{FF2B5EF4-FFF2-40B4-BE49-F238E27FC236}">
                <a16:creationId xmlns:a16="http://schemas.microsoft.com/office/drawing/2014/main" id="{EEF80105-BA02-4FDA-B457-E2624017807A}"/>
              </a:ext>
            </a:extLst>
          </p:cNvPr>
          <p:cNvGrpSpPr/>
          <p:nvPr/>
        </p:nvGrpSpPr>
        <p:grpSpPr>
          <a:xfrm>
            <a:off x="331588" y="189128"/>
            <a:ext cx="5297838" cy="687155"/>
            <a:chOff x="615626" y="735245"/>
            <a:chExt cx="5297838" cy="687155"/>
          </a:xfrm>
        </p:grpSpPr>
        <p:sp>
          <p:nvSpPr>
            <p:cNvPr id="10" name="Rectangle: Rounded Corners 9">
              <a:extLst>
                <a:ext uri="{FF2B5EF4-FFF2-40B4-BE49-F238E27FC236}">
                  <a16:creationId xmlns:a16="http://schemas.microsoft.com/office/drawing/2014/main" id="{9A955715-BB38-4ABB-A3F0-F0E836BCF801}"/>
                </a:ext>
              </a:extLst>
            </p:cNvPr>
            <p:cNvSpPr/>
            <p:nvPr/>
          </p:nvSpPr>
          <p:spPr>
            <a:xfrm>
              <a:off x="624769" y="735245"/>
              <a:ext cx="4904016" cy="687155"/>
            </a:xfrm>
            <a:prstGeom prst="round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DE7752F0-BBA7-463D-9897-708BA1B29E59}"/>
                </a:ext>
              </a:extLst>
            </p:cNvPr>
            <p:cNvSpPr/>
            <p:nvPr/>
          </p:nvSpPr>
          <p:spPr>
            <a:xfrm>
              <a:off x="4999064" y="735245"/>
              <a:ext cx="914400" cy="68715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9FCC81FB-6FAE-4802-89F2-3A8D919BC08D}"/>
                </a:ext>
              </a:extLst>
            </p:cNvPr>
            <p:cNvCxnSpPr/>
            <p:nvPr/>
          </p:nvCxnSpPr>
          <p:spPr>
            <a:xfrm>
              <a:off x="2988121" y="777765"/>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2C57E0F-0EA9-4E32-9460-3D22E4F05EA7}"/>
                </a:ext>
              </a:extLst>
            </p:cNvPr>
            <p:cNvSpPr/>
            <p:nvPr/>
          </p:nvSpPr>
          <p:spPr>
            <a:xfrm>
              <a:off x="5096888" y="806076"/>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EB706A4-4D97-4C5F-96AE-1A6F8C06A463}"/>
                </a:ext>
              </a:extLst>
            </p:cNvPr>
            <p:cNvSpPr txBox="1"/>
            <p:nvPr/>
          </p:nvSpPr>
          <p:spPr>
            <a:xfrm>
              <a:off x="615626" y="878773"/>
              <a:ext cx="2390801" cy="369332"/>
            </a:xfrm>
            <a:prstGeom prst="rect">
              <a:avLst/>
            </a:prstGeom>
            <a:noFill/>
          </p:spPr>
          <p:txBody>
            <a:bodyPr wrap="square" rtlCol="0">
              <a:spAutoFit/>
            </a:bodyPr>
            <a:lstStyle/>
            <a:p>
              <a:pPr algn="ctr"/>
              <a:r>
                <a:rPr lang="id-ID" b="1" dirty="0">
                  <a:solidFill>
                    <a:schemeClr val="bg1"/>
                  </a:solidFill>
                </a:rPr>
                <a:t>KURVA S</a:t>
              </a:r>
              <a:endParaRPr lang="en-US" b="1" dirty="0">
                <a:solidFill>
                  <a:schemeClr val="bg1"/>
                </a:solidFill>
              </a:endParaRPr>
            </a:p>
          </p:txBody>
        </p:sp>
      </p:grpSp>
    </p:spTree>
    <p:extLst>
      <p:ext uri="{BB962C8B-B14F-4D97-AF65-F5344CB8AC3E}">
        <p14:creationId xmlns:p14="http://schemas.microsoft.com/office/powerpoint/2010/main" val="1166252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up 52">
            <a:extLst>
              <a:ext uri="{FF2B5EF4-FFF2-40B4-BE49-F238E27FC236}">
                <a16:creationId xmlns:a16="http://schemas.microsoft.com/office/drawing/2014/main" id="{06D20EC3-F484-AC9E-E369-BB73D2EAE25E}"/>
              </a:ext>
            </a:extLst>
          </p:cNvPr>
          <p:cNvGrpSpPr/>
          <p:nvPr/>
        </p:nvGrpSpPr>
        <p:grpSpPr>
          <a:xfrm>
            <a:off x="3429647" y="2825983"/>
            <a:ext cx="2438466" cy="1447359"/>
            <a:chOff x="3682626" y="3001003"/>
            <a:chExt cx="1885161" cy="1380599"/>
          </a:xfrm>
        </p:grpSpPr>
        <p:grpSp>
          <p:nvGrpSpPr>
            <p:cNvPr id="54" name="Group 60">
              <a:extLst>
                <a:ext uri="{FF2B5EF4-FFF2-40B4-BE49-F238E27FC236}">
                  <a16:creationId xmlns:a16="http://schemas.microsoft.com/office/drawing/2014/main" id="{F944C62E-DC07-A522-1839-104A544DAA5A}"/>
                </a:ext>
              </a:extLst>
            </p:cNvPr>
            <p:cNvGrpSpPr/>
            <p:nvPr/>
          </p:nvGrpSpPr>
          <p:grpSpPr>
            <a:xfrm>
              <a:off x="3682626" y="3001003"/>
              <a:ext cx="1692353" cy="307777"/>
              <a:chOff x="5436656" y="998461"/>
              <a:chExt cx="2256472" cy="410369"/>
            </a:xfrm>
          </p:grpSpPr>
          <p:sp>
            <p:nvSpPr>
              <p:cNvPr id="56" name="Oval 55">
                <a:extLst>
                  <a:ext uri="{FF2B5EF4-FFF2-40B4-BE49-F238E27FC236}">
                    <a16:creationId xmlns:a16="http://schemas.microsoft.com/office/drawing/2014/main" id="{AA4882EA-15F9-CFF6-B133-EFE1F06D4DE8}"/>
                  </a:ext>
                </a:extLst>
              </p:cNvPr>
              <p:cNvSpPr/>
              <p:nvPr/>
            </p:nvSpPr>
            <p:spPr>
              <a:xfrm>
                <a:off x="5436656" y="1087502"/>
                <a:ext cx="143185" cy="184280"/>
              </a:xfrm>
              <a:prstGeom prst="ellipse">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dirty="0">
                  <a:solidFill>
                    <a:schemeClr val="tx1"/>
                  </a:solidFill>
                  <a:latin typeface="Calibri" panose="020F0502020204030204"/>
                </a:endParaRPr>
              </a:p>
            </p:txBody>
          </p:sp>
          <p:sp>
            <p:nvSpPr>
              <p:cNvPr id="57" name="TextBox 77">
                <a:extLst>
                  <a:ext uri="{FF2B5EF4-FFF2-40B4-BE49-F238E27FC236}">
                    <a16:creationId xmlns:a16="http://schemas.microsoft.com/office/drawing/2014/main" id="{97707846-369E-A18C-394D-CB4B78B9C2BE}"/>
                  </a:ext>
                </a:extLst>
              </p:cNvPr>
              <p:cNvSpPr txBox="1"/>
              <p:nvPr/>
            </p:nvSpPr>
            <p:spPr>
              <a:xfrm>
                <a:off x="5660392" y="998461"/>
                <a:ext cx="2032736" cy="410369"/>
              </a:xfrm>
              <a:prstGeom prst="rect">
                <a:avLst/>
              </a:prstGeom>
              <a:noFill/>
            </p:spPr>
            <p:txBody>
              <a:bodyPr wrap="none" rtlCol="0">
                <a:spAutoFit/>
              </a:bodyPr>
              <a:lstStyle/>
              <a:p>
                <a:pPr defTabSz="685800"/>
                <a:r>
                  <a:rPr lang="id-ID" sz="1400" b="1" dirty="0">
                    <a:solidFill>
                      <a:schemeClr val="bg1"/>
                    </a:solidFill>
                    <a:latin typeface="Tahoma" panose="020B0604030504040204" pitchFamily="34" charset="0"/>
                    <a:ea typeface="Tahoma" panose="020B0604030504040204" pitchFamily="34" charset="0"/>
                    <a:cs typeface="Tahoma" panose="020B0604030504040204" pitchFamily="34" charset="0"/>
                  </a:rPr>
                  <a:t>AREA YOGYAKARTA</a:t>
                </a:r>
                <a:endParaRPr lang="en-US" sz="1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55" name="TextBox 111">
              <a:extLst>
                <a:ext uri="{FF2B5EF4-FFF2-40B4-BE49-F238E27FC236}">
                  <a16:creationId xmlns:a16="http://schemas.microsoft.com/office/drawing/2014/main" id="{2F998381-338C-80B1-4C07-757DB7C20FEA}"/>
                </a:ext>
              </a:extLst>
            </p:cNvPr>
            <p:cNvSpPr txBox="1"/>
            <p:nvPr/>
          </p:nvSpPr>
          <p:spPr>
            <a:xfrm>
              <a:off x="3790015" y="3301165"/>
              <a:ext cx="1777772" cy="1080437"/>
            </a:xfrm>
            <a:prstGeom prst="rect">
              <a:avLst/>
            </a:prstGeom>
            <a:noFill/>
          </p:spPr>
          <p:txBody>
            <a:bodyPr wrap="square" rtlCol="0">
              <a:spAutoFit/>
            </a:bodyPr>
            <a:lstStyle/>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REWULU</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SUDJIPTO / YIA</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BOYOLALI</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SUMARMO</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CEPU</a:t>
              </a:r>
              <a:endParaRPr lang="en-US" sz="1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14" name="Group 13">
            <a:extLst>
              <a:ext uri="{FF2B5EF4-FFF2-40B4-BE49-F238E27FC236}">
                <a16:creationId xmlns:a16="http://schemas.microsoft.com/office/drawing/2014/main" id="{517D2FBF-F501-4D6F-B54A-54B751B78277}"/>
              </a:ext>
            </a:extLst>
          </p:cNvPr>
          <p:cNvGrpSpPr/>
          <p:nvPr/>
        </p:nvGrpSpPr>
        <p:grpSpPr>
          <a:xfrm>
            <a:off x="367752" y="296503"/>
            <a:ext cx="4904016" cy="687155"/>
            <a:chOff x="596421" y="735245"/>
            <a:chExt cx="4904016" cy="687155"/>
          </a:xfrm>
        </p:grpSpPr>
        <p:sp>
          <p:nvSpPr>
            <p:cNvPr id="15" name="Rectangle: Rounded Corners 14">
              <a:extLst>
                <a:ext uri="{FF2B5EF4-FFF2-40B4-BE49-F238E27FC236}">
                  <a16:creationId xmlns:a16="http://schemas.microsoft.com/office/drawing/2014/main" id="{A7B2FC58-A2F0-417E-A558-18606C682B31}"/>
                </a:ext>
              </a:extLst>
            </p:cNvPr>
            <p:cNvSpPr/>
            <p:nvPr/>
          </p:nvSpPr>
          <p:spPr>
            <a:xfrm>
              <a:off x="596421" y="735245"/>
              <a:ext cx="4904016" cy="687155"/>
            </a:xfrm>
            <a:prstGeom prst="roundRect">
              <a:avLst/>
            </a:prstGeom>
            <a:solidFill>
              <a:srgbClr val="F6A2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Connector 16">
              <a:extLst>
                <a:ext uri="{FF2B5EF4-FFF2-40B4-BE49-F238E27FC236}">
                  <a16:creationId xmlns:a16="http://schemas.microsoft.com/office/drawing/2014/main" id="{E84AB6C1-CF05-4C10-A369-3F7A138F692B}"/>
                </a:ext>
              </a:extLst>
            </p:cNvPr>
            <p:cNvCxnSpPr/>
            <p:nvPr/>
          </p:nvCxnSpPr>
          <p:spPr>
            <a:xfrm>
              <a:off x="2988121" y="777765"/>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5F3C0D3-4FDA-4767-A92A-103A28E909DC}"/>
                </a:ext>
              </a:extLst>
            </p:cNvPr>
            <p:cNvSpPr txBox="1"/>
            <p:nvPr/>
          </p:nvSpPr>
          <p:spPr>
            <a:xfrm>
              <a:off x="615626" y="897152"/>
              <a:ext cx="2390801" cy="369332"/>
            </a:xfrm>
            <a:prstGeom prst="rect">
              <a:avLst/>
            </a:prstGeom>
            <a:noFill/>
          </p:spPr>
          <p:txBody>
            <a:bodyPr wrap="square" rtlCol="0">
              <a:spAutoFit/>
            </a:bodyPr>
            <a:lstStyle/>
            <a:p>
              <a:pPr algn="ctr"/>
              <a:r>
                <a:rPr lang="id-ID" b="1" dirty="0">
                  <a:solidFill>
                    <a:schemeClr val="bg1"/>
                  </a:solidFill>
                </a:rPr>
                <a:t>PERALATAN</a:t>
              </a:r>
              <a:endParaRPr lang="en-US" b="1" dirty="0">
                <a:solidFill>
                  <a:schemeClr val="bg1"/>
                </a:solidFill>
              </a:endParaRPr>
            </a:p>
          </p:txBody>
        </p:sp>
      </p:grpSp>
      <p:graphicFrame>
        <p:nvGraphicFramePr>
          <p:cNvPr id="20" name="Content Placeholder 2">
            <a:extLst>
              <a:ext uri="{FF2B5EF4-FFF2-40B4-BE49-F238E27FC236}">
                <a16:creationId xmlns:a16="http://schemas.microsoft.com/office/drawing/2014/main" id="{236211D6-661C-471C-884B-0BF9C7BF2385}"/>
              </a:ext>
            </a:extLst>
          </p:cNvPr>
          <p:cNvGraphicFramePr>
            <a:graphicFrameLocks/>
          </p:cNvGraphicFramePr>
          <p:nvPr>
            <p:extLst>
              <p:ext uri="{D42A27DB-BD31-4B8C-83A1-F6EECF244321}">
                <p14:modId xmlns:p14="http://schemas.microsoft.com/office/powerpoint/2010/main" val="633910764"/>
              </p:ext>
            </p:extLst>
          </p:nvPr>
        </p:nvGraphicFramePr>
        <p:xfrm>
          <a:off x="1173934" y="1076408"/>
          <a:ext cx="9901662" cy="3367218"/>
        </p:xfrm>
        <a:graphic>
          <a:graphicData uri="http://schemas.openxmlformats.org/drawingml/2006/table">
            <a:tbl>
              <a:tblPr firstRow="1" firstCol="1" bandRow="1">
                <a:tableStyleId>{BDBED569-4797-4DF1-A0F4-6AAB3CD982D8}</a:tableStyleId>
              </a:tblPr>
              <a:tblGrid>
                <a:gridCol w="607687">
                  <a:extLst>
                    <a:ext uri="{9D8B030D-6E8A-4147-A177-3AD203B41FA5}">
                      <a16:colId xmlns:a16="http://schemas.microsoft.com/office/drawing/2014/main" val="2287895332"/>
                    </a:ext>
                  </a:extLst>
                </a:gridCol>
                <a:gridCol w="2784551">
                  <a:extLst>
                    <a:ext uri="{9D8B030D-6E8A-4147-A177-3AD203B41FA5}">
                      <a16:colId xmlns:a16="http://schemas.microsoft.com/office/drawing/2014/main" val="2585788363"/>
                    </a:ext>
                  </a:extLst>
                </a:gridCol>
                <a:gridCol w="1741959">
                  <a:extLst>
                    <a:ext uri="{9D8B030D-6E8A-4147-A177-3AD203B41FA5}">
                      <a16:colId xmlns:a16="http://schemas.microsoft.com/office/drawing/2014/main" val="3079639673"/>
                    </a:ext>
                  </a:extLst>
                </a:gridCol>
                <a:gridCol w="4767465">
                  <a:extLst>
                    <a:ext uri="{9D8B030D-6E8A-4147-A177-3AD203B41FA5}">
                      <a16:colId xmlns:a16="http://schemas.microsoft.com/office/drawing/2014/main" val="618632973"/>
                    </a:ext>
                  </a:extLst>
                </a:gridCol>
              </a:tblGrid>
              <a:tr h="442653">
                <a:tc>
                  <a:txBody>
                    <a:bodyPr/>
                    <a:lstStyle/>
                    <a:p>
                      <a:pPr algn="ctr">
                        <a:spcAft>
                          <a:spcPts val="0"/>
                        </a:spcAft>
                        <a:tabLst>
                          <a:tab pos="228600" algn="l"/>
                          <a:tab pos="285750" algn="l"/>
                        </a:tabLst>
                      </a:pPr>
                      <a:r>
                        <a:rPr lang="en-US" sz="1400" dirty="0">
                          <a:effectLst/>
                          <a:latin typeface="Arial" panose="020B0604020202020204" pitchFamily="34" charset="0"/>
                          <a:cs typeface="Arial" panose="020B0604020202020204" pitchFamily="34" charset="0"/>
                        </a:rPr>
                        <a:t>NO</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cs typeface="Arial" panose="020B0604020202020204" pitchFamily="34" charset="0"/>
                        </a:rPr>
                        <a:t>ALAT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id-ID" sz="1400" dirty="0">
                          <a:effectLst/>
                          <a:latin typeface="Arial" panose="020B0604020202020204" pitchFamily="34" charset="0"/>
                          <a:cs typeface="Arial" panose="020B0604020202020204" pitchFamily="34" charset="0"/>
                        </a:rPr>
                        <a:t>JUMLAH</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cs typeface="Arial" panose="020B0604020202020204" pitchFamily="34" charset="0"/>
                        </a:rPr>
                        <a:t>KETERANGAN</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1143147080"/>
                  </a:ext>
                </a:extLst>
              </a:tr>
              <a:tr h="292977">
                <a:tc>
                  <a:txBody>
                    <a:bodyPr/>
                    <a:lstStyle/>
                    <a:p>
                      <a:pPr algn="ctr">
                        <a:spcAft>
                          <a:spcPts val="0"/>
                        </a:spcAft>
                        <a:tabLst>
                          <a:tab pos="228600" algn="l"/>
                          <a:tab pos="285750" algn="l"/>
                        </a:tabLst>
                      </a:pPr>
                      <a:r>
                        <a:rPr lang="en-US" sz="1400" b="0" dirty="0">
                          <a:effectLst/>
                          <a:latin typeface="Arial" panose="020B0604020202020204" pitchFamily="34" charset="0"/>
                          <a:cs typeface="Arial" panose="020B0604020202020204" pitchFamily="34" charset="0"/>
                        </a:rPr>
                        <a:t>1</a:t>
                      </a: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cs typeface="Arial" panose="020B0604020202020204" pitchFamily="34" charset="0"/>
                        </a:rPr>
                        <a:t>Generator Set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1 Unit</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 / Sewa</a:t>
                      </a:r>
                    </a:p>
                  </a:txBody>
                  <a:tcPr marL="37465" marR="37465" marT="0" marB="0" anchor="ctr"/>
                </a:tc>
                <a:extLst>
                  <a:ext uri="{0D108BD9-81ED-4DB2-BD59-A6C34878D82A}">
                    <a16:rowId xmlns:a16="http://schemas.microsoft.com/office/drawing/2014/main" val="2464438591"/>
                  </a:ext>
                </a:extLst>
              </a:tr>
              <a:tr h="295793">
                <a:tc>
                  <a:txBody>
                    <a:bodyPr/>
                    <a:lstStyle/>
                    <a:p>
                      <a:pPr algn="ctr">
                        <a:spcAft>
                          <a:spcPts val="0"/>
                        </a:spcAft>
                        <a:tabLst>
                          <a:tab pos="228600" algn="l"/>
                          <a:tab pos="285750" algn="l"/>
                        </a:tabLst>
                      </a:pPr>
                      <a:r>
                        <a:rPr lang="en-US" sz="1400" b="0" dirty="0">
                          <a:effectLst/>
                          <a:latin typeface="Arial" panose="020B0604020202020204" pitchFamily="34" charset="0"/>
                          <a:cs typeface="Arial" panose="020B0604020202020204" pitchFamily="34" charset="0"/>
                        </a:rPr>
                        <a:t>2</a:t>
                      </a: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err="1">
                          <a:effectLst/>
                          <a:latin typeface="Arial" panose="020B0604020202020204" pitchFamily="34" charset="0"/>
                          <a:cs typeface="Arial" panose="020B0604020202020204" pitchFamily="34" charset="0"/>
                        </a:rPr>
                        <a:t>Gerinda</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cs typeface="Arial" panose="020B0604020202020204" pitchFamily="34" charset="0"/>
                        </a:rPr>
                        <a:t>4 Unit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err="1">
                          <a:effectLst/>
                          <a:latin typeface="Arial" panose="020B0604020202020204" pitchFamily="34" charset="0"/>
                          <a:ea typeface="Times New Roman" panose="02020603050405020304" pitchFamily="18" charset="0"/>
                          <a:cs typeface="Arial" panose="020B0604020202020204" pitchFamily="34" charset="0"/>
                        </a:rPr>
                        <a:t>Milik</a:t>
                      </a:r>
                      <a:r>
                        <a:rPr lang="en-US" sz="1400" dirty="0">
                          <a:effectLst/>
                          <a:latin typeface="Arial" panose="020B0604020202020204" pitchFamily="34" charset="0"/>
                          <a:ea typeface="Times New Roman" panose="02020603050405020304" pitchFamily="18" charset="0"/>
                          <a:cs typeface="Arial" panose="020B0604020202020204" pitchFamily="34" charset="0"/>
                        </a:rPr>
                        <a:t> Perusahaan</a:t>
                      </a:r>
                    </a:p>
                  </a:txBody>
                  <a:tcPr marL="37465" marR="37465" marT="0" marB="0" anchor="ctr"/>
                </a:tc>
                <a:extLst>
                  <a:ext uri="{0D108BD9-81ED-4DB2-BD59-A6C34878D82A}">
                    <a16:rowId xmlns:a16="http://schemas.microsoft.com/office/drawing/2014/main" val="3146917194"/>
                  </a:ext>
                </a:extLst>
              </a:tr>
              <a:tr h="362225">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3</a:t>
                      </a:r>
                    </a:p>
                  </a:txBody>
                  <a:tcPr marL="37465" marR="37465" marT="0" marB="0" anchor="ctr"/>
                </a:tc>
                <a:tc>
                  <a:txBody>
                    <a:bodyPr/>
                    <a:lstStyle/>
                    <a:p>
                      <a:pPr>
                        <a:spcAft>
                          <a:spcPts val="0"/>
                        </a:spcAft>
                        <a:tabLst>
                          <a:tab pos="228600" algn="l"/>
                          <a:tab pos="285750" algn="l"/>
                        </a:tabLst>
                      </a:pPr>
                      <a:r>
                        <a:rPr lang="en-US" sz="1400" dirty="0" err="1">
                          <a:effectLst/>
                          <a:latin typeface="Arial" panose="020B0604020202020204" pitchFamily="34" charset="0"/>
                          <a:ea typeface="Times New Roman" panose="02020603050405020304" pitchFamily="18" charset="0"/>
                          <a:cs typeface="Arial" panose="020B0604020202020204" pitchFamily="34" charset="0"/>
                        </a:rPr>
                        <a:t>Mesin</a:t>
                      </a:r>
                      <a:r>
                        <a:rPr lang="en-US" sz="1400" dirty="0">
                          <a:effectLst/>
                          <a:latin typeface="Arial" panose="020B0604020202020204" pitchFamily="34" charset="0"/>
                          <a:ea typeface="Times New Roman" panose="02020603050405020304" pitchFamily="18" charset="0"/>
                          <a:cs typeface="Arial" panose="020B0604020202020204" pitchFamily="34" charset="0"/>
                        </a:rPr>
                        <a:t> Las 600 Ampere</a:t>
                      </a: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1 Set</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1055523169"/>
                  </a:ext>
                </a:extLst>
              </a:tr>
              <a:tr h="238864">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4</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Concrete Mixer</a:t>
                      </a: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cs typeface="Arial" panose="020B0604020202020204" pitchFamily="34" charset="0"/>
                        </a:rPr>
                        <a:t>1 Unit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501229199"/>
                  </a:ext>
                </a:extLst>
              </a:tr>
              <a:tr h="291790">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5</a:t>
                      </a:r>
                    </a:p>
                  </a:txBody>
                  <a:tcPr marL="37465" marR="37465" marT="0" marB="0" anchor="ctr"/>
                </a:tc>
                <a:tc>
                  <a:txBody>
                    <a:bodyPr/>
                    <a:lstStyle/>
                    <a:p>
                      <a:pPr>
                        <a:spcAft>
                          <a:spcPts val="0"/>
                        </a:spcAft>
                        <a:tabLst>
                          <a:tab pos="228600" algn="l"/>
                          <a:tab pos="285750" algn="l"/>
                        </a:tabLst>
                      </a:pPr>
                      <a:r>
                        <a:rPr lang="en-US" sz="1400" dirty="0" err="1">
                          <a:effectLst/>
                          <a:latin typeface="Arial" panose="020B0604020202020204" pitchFamily="34" charset="0"/>
                          <a:ea typeface="Times New Roman" panose="02020603050405020304" pitchFamily="18" charset="0"/>
                          <a:cs typeface="Arial" panose="020B0604020202020204" pitchFamily="34" charset="0"/>
                        </a:rPr>
                        <a:t>Peralatan</a:t>
                      </a:r>
                      <a:r>
                        <a:rPr lang="en-US" sz="1400" baseline="0" dirty="0">
                          <a:effectLst/>
                          <a:latin typeface="Arial" panose="020B0604020202020204" pitchFamily="34" charset="0"/>
                          <a:ea typeface="Times New Roman" panose="02020603050405020304" pitchFamily="18" charset="0"/>
                          <a:cs typeface="Arial" panose="020B0604020202020204" pitchFamily="34" charset="0"/>
                        </a:rPr>
                        <a:t> </a:t>
                      </a:r>
                      <a:r>
                        <a:rPr lang="en-US" sz="1400" baseline="0" dirty="0" err="1">
                          <a:effectLst/>
                          <a:latin typeface="Arial" panose="020B0604020202020204" pitchFamily="34" charset="0"/>
                          <a:ea typeface="Times New Roman" panose="02020603050405020304" pitchFamily="18" charset="0"/>
                          <a:cs typeface="Arial" panose="020B0604020202020204" pitchFamily="34" charset="0"/>
                        </a:rPr>
                        <a:t>Tukang</a:t>
                      </a:r>
                      <a:r>
                        <a:rPr lang="en-US" sz="1400" baseline="0" dirty="0">
                          <a:effectLst/>
                          <a:latin typeface="Arial" panose="020B0604020202020204" pitchFamily="34" charset="0"/>
                          <a:ea typeface="Times New Roman" panose="02020603050405020304" pitchFamily="18" charset="0"/>
                          <a:cs typeface="Arial" panose="020B0604020202020204" pitchFamily="34" charset="0"/>
                        </a:rPr>
                        <a:t> / </a:t>
                      </a:r>
                      <a:r>
                        <a:rPr lang="en-US" sz="1400" baseline="0" dirty="0" err="1">
                          <a:effectLst/>
                          <a:latin typeface="Arial" panose="020B0604020202020204" pitchFamily="34" charset="0"/>
                          <a:ea typeface="Times New Roman" panose="02020603050405020304" pitchFamily="18" charset="0"/>
                          <a:cs typeface="Arial" panose="020B0604020202020204" pitchFamily="34" charset="0"/>
                        </a:rPr>
                        <a:t>Sipil</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id-ID" sz="1400" dirty="0">
                          <a:effectLst/>
                          <a:latin typeface="Arial" panose="020B0604020202020204" pitchFamily="34" charset="0"/>
                          <a:cs typeface="Arial" panose="020B0604020202020204" pitchFamily="34" charset="0"/>
                        </a:rPr>
                        <a:t>1</a:t>
                      </a:r>
                      <a:r>
                        <a:rPr lang="en-US" sz="1400" baseline="0" dirty="0">
                          <a:effectLst/>
                          <a:latin typeface="Arial" panose="020B0604020202020204" pitchFamily="34" charset="0"/>
                          <a:cs typeface="Arial" panose="020B0604020202020204" pitchFamily="34" charset="0"/>
                        </a:rPr>
                        <a:t> ls</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2447104494"/>
                  </a:ext>
                </a:extLst>
              </a:tr>
              <a:tr h="284274">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6</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Jack Hammer</a:t>
                      </a: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1 Unit</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1968798498"/>
                  </a:ext>
                </a:extLst>
              </a:tr>
              <a:tr h="274825">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7</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Concrete vibrator</a:t>
                      </a:r>
                    </a:p>
                  </a:txBody>
                  <a:tcPr marL="37465" marR="37465" marT="0" marB="0" anchor="ctr"/>
                </a:tc>
                <a:tc>
                  <a:txBody>
                    <a:bodyPr/>
                    <a:lstStyle/>
                    <a:p>
                      <a:pPr algn="ctr">
                        <a:spcAft>
                          <a:spcPts val="0"/>
                        </a:spcAft>
                        <a:tabLst>
                          <a:tab pos="228600" algn="l"/>
                          <a:tab pos="285750" algn="l"/>
                        </a:tabLst>
                      </a:pPr>
                      <a:r>
                        <a:rPr lang="id-ID" sz="1400" dirty="0">
                          <a:effectLst/>
                          <a:latin typeface="Arial" panose="020B0604020202020204" pitchFamily="34" charset="0"/>
                          <a:cs typeface="Arial" panose="020B0604020202020204" pitchFamily="34" charset="0"/>
                        </a:rPr>
                        <a:t>1</a:t>
                      </a:r>
                      <a:r>
                        <a:rPr lang="en-US" sz="1400" baseline="0" dirty="0">
                          <a:effectLst/>
                          <a:latin typeface="Arial" panose="020B0604020202020204" pitchFamily="34" charset="0"/>
                          <a:cs typeface="Arial" panose="020B0604020202020204" pitchFamily="34" charset="0"/>
                        </a:rPr>
                        <a:t> Unit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4201047148"/>
                  </a:ext>
                </a:extLst>
              </a:tr>
              <a:tr h="277453">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8</a:t>
                      </a:r>
                    </a:p>
                  </a:txBody>
                  <a:tcPr marL="37465" marR="37465" marT="0" marB="0" anchor="ctr"/>
                </a:tc>
                <a:tc>
                  <a:txBody>
                    <a:bodyPr/>
                    <a:lstStyle/>
                    <a:p>
                      <a:pPr>
                        <a:spcAft>
                          <a:spcPts val="0"/>
                        </a:spcAft>
                        <a:tabLst>
                          <a:tab pos="228600" algn="l"/>
                          <a:tab pos="285750" algn="l"/>
                        </a:tabLst>
                      </a:pPr>
                      <a:r>
                        <a:rPr lang="en-US" sz="1400" dirty="0" err="1">
                          <a:effectLst/>
                          <a:latin typeface="Arial" panose="020B0604020202020204" pitchFamily="34" charset="0"/>
                          <a:ea typeface="Times New Roman" panose="02020603050405020304" pitchFamily="18" charset="0"/>
                          <a:cs typeface="Arial" panose="020B0604020202020204" pitchFamily="34" charset="0"/>
                        </a:rPr>
                        <a:t>Pompa</a:t>
                      </a:r>
                      <a:r>
                        <a:rPr lang="en-US" sz="1400" dirty="0">
                          <a:effectLst/>
                          <a:latin typeface="Arial" panose="020B0604020202020204" pitchFamily="34" charset="0"/>
                          <a:ea typeface="Times New Roman" panose="02020603050405020304" pitchFamily="18" charset="0"/>
                          <a:cs typeface="Arial" panose="020B0604020202020204" pitchFamily="34" charset="0"/>
                        </a:rPr>
                        <a:t> Air</a:t>
                      </a: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1 Unit</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760835654"/>
                  </a:ext>
                </a:extLst>
              </a:tr>
              <a:tr h="323618">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9</a:t>
                      </a:r>
                    </a:p>
                  </a:txBody>
                  <a:tcPr marL="37465" marR="37465" marT="0" marB="0" anchor="ctr"/>
                </a:tc>
                <a:tc>
                  <a:txBody>
                    <a:bodyPr/>
                    <a:lstStyle/>
                    <a:p>
                      <a:pPr>
                        <a:spcAft>
                          <a:spcPts val="0"/>
                        </a:spcAft>
                        <a:tabLst>
                          <a:tab pos="228600" algn="l"/>
                          <a:tab pos="285750" algn="l"/>
                        </a:tabLst>
                      </a:pPr>
                      <a:r>
                        <a:rPr lang="en-US" sz="1400" dirty="0" err="1">
                          <a:effectLst/>
                          <a:latin typeface="Arial" panose="020B0604020202020204" pitchFamily="34" charset="0"/>
                          <a:ea typeface="Times New Roman" panose="02020603050405020304" pitchFamily="18" charset="0"/>
                          <a:cs typeface="Arial" panose="020B0604020202020204" pitchFamily="34" charset="0"/>
                        </a:rPr>
                        <a:t>Peralatan</a:t>
                      </a:r>
                      <a:r>
                        <a:rPr lang="en-US" sz="1400" dirty="0">
                          <a:effectLst/>
                          <a:latin typeface="Arial" panose="020B0604020202020204" pitchFamily="34" charset="0"/>
                          <a:ea typeface="Times New Roman" panose="02020603050405020304" pitchFamily="18" charset="0"/>
                          <a:cs typeface="Arial" panose="020B0604020202020204" pitchFamily="34" charset="0"/>
                        </a:rPr>
                        <a:t> Painting</a:t>
                      </a: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1 ls</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2920884938"/>
                  </a:ext>
                </a:extLst>
              </a:tr>
              <a:tr h="282746">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10</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Scaffolding</a:t>
                      </a: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1 ls</a:t>
                      </a: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 / Sewa</a:t>
                      </a:r>
                    </a:p>
                  </a:txBody>
                  <a:tcPr marL="37465" marR="37465" marT="0" marB="0" anchor="ctr"/>
                </a:tc>
                <a:extLst>
                  <a:ext uri="{0D108BD9-81ED-4DB2-BD59-A6C34878D82A}">
                    <a16:rowId xmlns:a16="http://schemas.microsoft.com/office/drawing/2014/main" val="3304924534"/>
                  </a:ext>
                </a:extLst>
              </a:tr>
            </a:tbl>
          </a:graphicData>
        </a:graphic>
      </p:graphicFrame>
    </p:spTree>
    <p:extLst>
      <p:ext uri="{BB962C8B-B14F-4D97-AF65-F5344CB8AC3E}">
        <p14:creationId xmlns:p14="http://schemas.microsoft.com/office/powerpoint/2010/main" val="2430651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65">
            <a:extLst>
              <a:ext uri="{FF2B5EF4-FFF2-40B4-BE49-F238E27FC236}">
                <a16:creationId xmlns:a16="http://schemas.microsoft.com/office/drawing/2014/main" id="{0C6927DC-7F8E-40B7-9B62-E9978A1828E6}"/>
              </a:ext>
            </a:extLst>
          </p:cNvPr>
          <p:cNvSpPr>
            <a:spLocks noChangeArrowheads="1"/>
          </p:cNvSpPr>
          <p:nvPr>
            <p:custDataLst>
              <p:tags r:id="rId1"/>
            </p:custDataLst>
          </p:nvPr>
        </p:nvSpPr>
        <p:spPr bwMode="auto">
          <a:xfrm>
            <a:off x="2442643" y="3682656"/>
            <a:ext cx="4809314" cy="392773"/>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PERBAIKAN FLESKIBLE PIPE T.02,07,11,12</a:t>
            </a:r>
            <a:endParaRPr lang="en-US" sz="1200" b="1" dirty="0">
              <a:solidFill>
                <a:srgbClr val="FFFFFF"/>
              </a:solidFill>
              <a:latin typeface="Calibri"/>
              <a:ea typeface="SimSun" pitchFamily="2" charset="-122"/>
            </a:endParaRPr>
          </a:p>
        </p:txBody>
      </p:sp>
      <p:sp>
        <p:nvSpPr>
          <p:cNvPr id="19" name="Rectangle 65">
            <a:extLst>
              <a:ext uri="{FF2B5EF4-FFF2-40B4-BE49-F238E27FC236}">
                <a16:creationId xmlns:a16="http://schemas.microsoft.com/office/drawing/2014/main" id="{292D1151-1DE4-443D-9D64-537343FC0FA2}"/>
              </a:ext>
            </a:extLst>
          </p:cNvPr>
          <p:cNvSpPr>
            <a:spLocks noChangeArrowheads="1"/>
          </p:cNvSpPr>
          <p:nvPr>
            <p:custDataLst>
              <p:tags r:id="rId2"/>
            </p:custDataLst>
          </p:nvPr>
        </p:nvSpPr>
        <p:spPr bwMode="auto">
          <a:xfrm>
            <a:off x="2442641" y="4702521"/>
            <a:ext cx="4409256" cy="392773"/>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MODIFIKASI PIPA HIDRAN TANGKI 10</a:t>
            </a:r>
          </a:p>
        </p:txBody>
      </p:sp>
      <p:sp>
        <p:nvSpPr>
          <p:cNvPr id="20" name="Rectangle 65">
            <a:extLst>
              <a:ext uri="{FF2B5EF4-FFF2-40B4-BE49-F238E27FC236}">
                <a16:creationId xmlns:a16="http://schemas.microsoft.com/office/drawing/2014/main" id="{C5778407-84A4-4249-9CDD-2721413CD1DE}"/>
              </a:ext>
            </a:extLst>
          </p:cNvPr>
          <p:cNvSpPr>
            <a:spLocks noChangeArrowheads="1"/>
          </p:cNvSpPr>
          <p:nvPr>
            <p:custDataLst>
              <p:tags r:id="rId3"/>
            </p:custDataLst>
          </p:nvPr>
        </p:nvSpPr>
        <p:spPr bwMode="auto">
          <a:xfrm>
            <a:off x="2442643" y="4207754"/>
            <a:ext cx="5066882" cy="393946"/>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PENGGANTIAN BALL VALVE RUMAH POMPA  </a:t>
            </a:r>
          </a:p>
        </p:txBody>
      </p:sp>
      <p:sp>
        <p:nvSpPr>
          <p:cNvPr id="21" name="Rectangle 65">
            <a:extLst>
              <a:ext uri="{FF2B5EF4-FFF2-40B4-BE49-F238E27FC236}">
                <a16:creationId xmlns:a16="http://schemas.microsoft.com/office/drawing/2014/main" id="{7CE01F44-F9A5-4012-864A-70ED4D549B67}"/>
              </a:ext>
            </a:extLst>
          </p:cNvPr>
          <p:cNvSpPr>
            <a:spLocks noChangeArrowheads="1"/>
          </p:cNvSpPr>
          <p:nvPr>
            <p:custDataLst>
              <p:tags r:id="rId4"/>
            </p:custDataLst>
          </p:nvPr>
        </p:nvSpPr>
        <p:spPr bwMode="auto">
          <a:xfrm>
            <a:off x="2419190" y="5222750"/>
            <a:ext cx="3865539" cy="392773"/>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FINISHING DAN COMMISIONING</a:t>
            </a:r>
            <a:r>
              <a:rPr lang="en-US" sz="1200" b="1" dirty="0">
                <a:solidFill>
                  <a:srgbClr val="FFFFFF"/>
                </a:solidFill>
                <a:latin typeface="Calibri"/>
                <a:ea typeface="SimSun" pitchFamily="2" charset="-122"/>
              </a:rPr>
              <a:t>  </a:t>
            </a:r>
          </a:p>
        </p:txBody>
      </p:sp>
      <p:sp>
        <p:nvSpPr>
          <p:cNvPr id="22" name="Rectangle 65">
            <a:extLst>
              <a:ext uri="{FF2B5EF4-FFF2-40B4-BE49-F238E27FC236}">
                <a16:creationId xmlns:a16="http://schemas.microsoft.com/office/drawing/2014/main" id="{38DA20F0-A35D-425A-893B-F89CF6811048}"/>
              </a:ext>
            </a:extLst>
          </p:cNvPr>
          <p:cNvSpPr>
            <a:spLocks noChangeArrowheads="1"/>
          </p:cNvSpPr>
          <p:nvPr>
            <p:custDataLst>
              <p:tags r:id="rId5"/>
            </p:custDataLst>
          </p:nvPr>
        </p:nvSpPr>
        <p:spPr bwMode="auto">
          <a:xfrm>
            <a:off x="2410833" y="3105012"/>
            <a:ext cx="3444181" cy="455822"/>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PERBAIKAN PIPA DRAINASE</a:t>
            </a:r>
            <a:endParaRPr lang="en-US" sz="1200" b="1" dirty="0">
              <a:solidFill>
                <a:srgbClr val="FFFFFF"/>
              </a:solidFill>
              <a:latin typeface="Calibri"/>
              <a:ea typeface="SimSun" pitchFamily="2" charset="-122"/>
            </a:endParaRPr>
          </a:p>
        </p:txBody>
      </p:sp>
      <p:sp>
        <p:nvSpPr>
          <p:cNvPr id="28" name="Rectangle 65">
            <a:extLst>
              <a:ext uri="{FF2B5EF4-FFF2-40B4-BE49-F238E27FC236}">
                <a16:creationId xmlns:a16="http://schemas.microsoft.com/office/drawing/2014/main" id="{1EA9BAFD-8766-468C-B01B-4B46F2B015AC}"/>
              </a:ext>
            </a:extLst>
          </p:cNvPr>
          <p:cNvSpPr>
            <a:spLocks noChangeArrowheads="1"/>
          </p:cNvSpPr>
          <p:nvPr>
            <p:custDataLst>
              <p:tags r:id="rId6"/>
            </p:custDataLst>
          </p:nvPr>
        </p:nvSpPr>
        <p:spPr bwMode="auto">
          <a:xfrm>
            <a:off x="2410832" y="1334217"/>
            <a:ext cx="3075769" cy="455822"/>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PEKERJAAN PERSIAPAN</a:t>
            </a:r>
            <a:endParaRPr lang="en-US" sz="1200" b="1" dirty="0">
              <a:solidFill>
                <a:srgbClr val="FFFFFF"/>
              </a:solidFill>
              <a:latin typeface="Calibri"/>
              <a:ea typeface="SimSun" pitchFamily="2" charset="-122"/>
            </a:endParaRPr>
          </a:p>
        </p:txBody>
      </p:sp>
      <p:sp>
        <p:nvSpPr>
          <p:cNvPr id="30" name="Rectangle 65">
            <a:extLst>
              <a:ext uri="{FF2B5EF4-FFF2-40B4-BE49-F238E27FC236}">
                <a16:creationId xmlns:a16="http://schemas.microsoft.com/office/drawing/2014/main" id="{0F2E490F-CDF9-4870-8C0A-C455037B9E45}"/>
              </a:ext>
            </a:extLst>
          </p:cNvPr>
          <p:cNvSpPr>
            <a:spLocks noChangeArrowheads="1"/>
          </p:cNvSpPr>
          <p:nvPr>
            <p:custDataLst>
              <p:tags r:id="rId7"/>
            </p:custDataLst>
          </p:nvPr>
        </p:nvSpPr>
        <p:spPr bwMode="auto">
          <a:xfrm>
            <a:off x="2410836" y="2516865"/>
            <a:ext cx="3075769" cy="455822"/>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COATING TANGKI 06</a:t>
            </a:r>
            <a:endParaRPr lang="en-US" sz="1200" b="1" dirty="0">
              <a:solidFill>
                <a:srgbClr val="FFFFFF"/>
              </a:solidFill>
              <a:latin typeface="Calibri"/>
              <a:ea typeface="SimSun" pitchFamily="2" charset="-122"/>
            </a:endParaRPr>
          </a:p>
        </p:txBody>
      </p:sp>
      <p:sp>
        <p:nvSpPr>
          <p:cNvPr id="31" name="Rectangle 65">
            <a:extLst>
              <a:ext uri="{FF2B5EF4-FFF2-40B4-BE49-F238E27FC236}">
                <a16:creationId xmlns:a16="http://schemas.microsoft.com/office/drawing/2014/main" id="{951501E4-6AD7-4094-9083-B579B417A9D3}"/>
              </a:ext>
            </a:extLst>
          </p:cNvPr>
          <p:cNvSpPr>
            <a:spLocks noChangeArrowheads="1"/>
          </p:cNvSpPr>
          <p:nvPr>
            <p:custDataLst>
              <p:tags r:id="rId8"/>
            </p:custDataLst>
          </p:nvPr>
        </p:nvSpPr>
        <p:spPr bwMode="auto">
          <a:xfrm>
            <a:off x="2410828" y="1934013"/>
            <a:ext cx="5098692" cy="455822"/>
          </a:xfrm>
          <a:prstGeom prst="rect">
            <a:avLst/>
          </a:prstGeom>
          <a:solidFill>
            <a:schemeClr val="tx2"/>
          </a:solidFill>
          <a:ln w="9525">
            <a:solidFill>
              <a:schemeClr val="folHlink"/>
            </a:solidFill>
            <a:miter lim="800000"/>
            <a:headEnd/>
            <a:tailEnd/>
          </a:ln>
        </p:spPr>
        <p:txBody>
          <a:bodyPr wrap="none" lIns="92090" tIns="46052" rIns="92090" bIns="46052" anchor="ct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ENGINEERING DAN PROJECT MANAGEMENT </a:t>
            </a:r>
            <a:endParaRPr lang="en-US" sz="1200" b="1" dirty="0">
              <a:solidFill>
                <a:srgbClr val="FFFFFF"/>
              </a:solidFill>
              <a:latin typeface="Calibri"/>
              <a:ea typeface="SimSun" pitchFamily="2" charset="-122"/>
            </a:endParaRPr>
          </a:p>
        </p:txBody>
      </p:sp>
      <p:sp>
        <p:nvSpPr>
          <p:cNvPr id="2" name="Rectangle: Rounded Corners 1">
            <a:extLst>
              <a:ext uri="{FF2B5EF4-FFF2-40B4-BE49-F238E27FC236}">
                <a16:creationId xmlns:a16="http://schemas.microsoft.com/office/drawing/2014/main" id="{7B09234E-F6F9-4A77-9641-36CA0F0BD617}"/>
              </a:ext>
            </a:extLst>
          </p:cNvPr>
          <p:cNvSpPr/>
          <p:nvPr/>
        </p:nvSpPr>
        <p:spPr>
          <a:xfrm>
            <a:off x="1008185" y="1334217"/>
            <a:ext cx="914400" cy="42813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3200" dirty="0">
                <a:solidFill>
                  <a:schemeClr val="accent3">
                    <a:lumMod val="20000"/>
                    <a:lumOff val="80000"/>
                  </a:schemeClr>
                </a:solidFill>
              </a:rPr>
              <a:t>SCOPE OF WORK</a:t>
            </a:r>
            <a:endParaRPr lang="en-ID" sz="3200" dirty="0">
              <a:solidFill>
                <a:schemeClr val="accent3">
                  <a:lumMod val="20000"/>
                  <a:lumOff val="80000"/>
                </a:schemeClr>
              </a:solidFill>
            </a:endParaRPr>
          </a:p>
        </p:txBody>
      </p:sp>
    </p:spTree>
    <p:extLst>
      <p:ext uri="{BB962C8B-B14F-4D97-AF65-F5344CB8AC3E}">
        <p14:creationId xmlns:p14="http://schemas.microsoft.com/office/powerpoint/2010/main" val="2953635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rrow: Right 2">
            <a:extLst>
              <a:ext uri="{FF2B5EF4-FFF2-40B4-BE49-F238E27FC236}">
                <a16:creationId xmlns:a16="http://schemas.microsoft.com/office/drawing/2014/main" id="{E481CF10-97F4-43A8-8AF0-845B67DB4B2A}"/>
              </a:ext>
            </a:extLst>
          </p:cNvPr>
          <p:cNvSpPr/>
          <p:nvPr/>
        </p:nvSpPr>
        <p:spPr>
          <a:xfrm>
            <a:off x="1115414" y="3009760"/>
            <a:ext cx="10524362" cy="46534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ndParaRPr>
          </a:p>
        </p:txBody>
      </p:sp>
      <p:sp>
        <p:nvSpPr>
          <p:cNvPr id="4" name="TextBox 3">
            <a:extLst>
              <a:ext uri="{FF2B5EF4-FFF2-40B4-BE49-F238E27FC236}">
                <a16:creationId xmlns:a16="http://schemas.microsoft.com/office/drawing/2014/main" id="{CEB0F96D-367D-4643-8230-D1DC48667860}"/>
              </a:ext>
            </a:extLst>
          </p:cNvPr>
          <p:cNvSpPr txBox="1"/>
          <p:nvPr/>
        </p:nvSpPr>
        <p:spPr>
          <a:xfrm>
            <a:off x="2854437" y="4609158"/>
            <a:ext cx="1533536" cy="175626"/>
          </a:xfrm>
          <a:prstGeom prst="rect">
            <a:avLst/>
          </a:prstGeom>
          <a:noFill/>
        </p:spPr>
        <p:txBody>
          <a:bodyPr wrap="square" lIns="0" rIns="0" rtlCol="0">
            <a:spAutoFit/>
          </a:bodyPr>
          <a:lstStyle/>
          <a:p>
            <a:pPr marL="914400" indent="457200" algn="ctr">
              <a:lnSpc>
                <a:spcPct val="115000"/>
              </a:lnSpc>
              <a:spcAft>
                <a:spcPts val="1000"/>
              </a:spcAft>
            </a:pPr>
            <a:endParaRPr lang="en-US" sz="500"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5" name="Grup 9">
            <a:extLst>
              <a:ext uri="{FF2B5EF4-FFF2-40B4-BE49-F238E27FC236}">
                <a16:creationId xmlns:a16="http://schemas.microsoft.com/office/drawing/2014/main" id="{C04342CB-C533-4D37-A371-513A4160F00B}"/>
              </a:ext>
            </a:extLst>
          </p:cNvPr>
          <p:cNvGrpSpPr/>
          <p:nvPr/>
        </p:nvGrpSpPr>
        <p:grpSpPr>
          <a:xfrm>
            <a:off x="1870413" y="2851518"/>
            <a:ext cx="1273259" cy="793507"/>
            <a:chOff x="2610557" y="2851518"/>
            <a:chExt cx="1273259" cy="793507"/>
          </a:xfrm>
        </p:grpSpPr>
        <p:sp>
          <p:nvSpPr>
            <p:cNvPr id="6" name="Rounded Rectangle 5">
              <a:extLst>
                <a:ext uri="{FF2B5EF4-FFF2-40B4-BE49-F238E27FC236}">
                  <a16:creationId xmlns:a16="http://schemas.microsoft.com/office/drawing/2014/main" id="{C877CA88-E7A5-40CF-AEED-812793152AB5}"/>
                </a:ext>
              </a:extLst>
            </p:cNvPr>
            <p:cNvSpPr/>
            <p:nvPr/>
          </p:nvSpPr>
          <p:spPr>
            <a:xfrm>
              <a:off x="2610557" y="2851518"/>
              <a:ext cx="1273259" cy="793507"/>
            </a:xfrm>
            <a:prstGeom prst="round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7" name="TextBox 6">
              <a:extLst>
                <a:ext uri="{FF2B5EF4-FFF2-40B4-BE49-F238E27FC236}">
                  <a16:creationId xmlns:a16="http://schemas.microsoft.com/office/drawing/2014/main" id="{782C6990-228D-4FEF-9A8E-5EDD0FE64BD9}"/>
                </a:ext>
              </a:extLst>
            </p:cNvPr>
            <p:cNvSpPr txBox="1"/>
            <p:nvPr/>
          </p:nvSpPr>
          <p:spPr>
            <a:xfrm>
              <a:off x="2667786" y="2996953"/>
              <a:ext cx="1123958" cy="461665"/>
            </a:xfrm>
            <a:prstGeom prst="rect">
              <a:avLst/>
            </a:prstGeom>
            <a:noFill/>
          </p:spPr>
          <p:txBody>
            <a:bodyPr wrap="square" rtlCol="0">
              <a:spAutoFit/>
            </a:bodyPr>
            <a:lstStyle/>
            <a:p>
              <a:pPr algn="ctr" defTabSz="685800"/>
              <a:r>
                <a:rPr lang="en-US" altLang="ko-KR" sz="1200" b="1" dirty="0" err="1">
                  <a:solidFill>
                    <a:srgbClr val="000000">
                      <a:lumMod val="75000"/>
                      <a:lumOff val="25000"/>
                    </a:srgbClr>
                  </a:solidFill>
                  <a:latin typeface="Arial"/>
                  <a:cs typeface="Arial" pitchFamily="34" charset="0"/>
                </a:rPr>
                <a:t>Mobilisasi</a:t>
              </a:r>
              <a:r>
                <a:rPr lang="en-US" altLang="ko-KR" sz="1200" b="1" dirty="0">
                  <a:solidFill>
                    <a:srgbClr val="000000">
                      <a:lumMod val="75000"/>
                      <a:lumOff val="25000"/>
                    </a:srgbClr>
                  </a:solidFill>
                  <a:latin typeface="Arial"/>
                  <a:cs typeface="Arial" pitchFamily="34" charset="0"/>
                </a:rPr>
                <a:t> &amp; </a:t>
              </a:r>
              <a:r>
                <a:rPr lang="en-US" altLang="ko-KR" sz="1200" b="1" dirty="0" err="1">
                  <a:solidFill>
                    <a:srgbClr val="000000">
                      <a:lumMod val="75000"/>
                      <a:lumOff val="25000"/>
                    </a:srgbClr>
                  </a:solidFill>
                  <a:latin typeface="Arial"/>
                  <a:cs typeface="Arial" pitchFamily="34" charset="0"/>
                </a:rPr>
                <a:t>Demobilisasi</a:t>
              </a:r>
              <a:endParaRPr lang="ko-KR" altLang="en-US" sz="1200" b="1" dirty="0">
                <a:solidFill>
                  <a:srgbClr val="000000">
                    <a:lumMod val="75000"/>
                    <a:lumOff val="25000"/>
                  </a:srgbClr>
                </a:solidFill>
                <a:latin typeface="Arial"/>
                <a:cs typeface="Arial" pitchFamily="34" charset="0"/>
              </a:endParaRPr>
            </a:p>
          </p:txBody>
        </p:sp>
      </p:grpSp>
      <p:grpSp>
        <p:nvGrpSpPr>
          <p:cNvPr id="8" name="Grup 11">
            <a:extLst>
              <a:ext uri="{FF2B5EF4-FFF2-40B4-BE49-F238E27FC236}">
                <a16:creationId xmlns:a16="http://schemas.microsoft.com/office/drawing/2014/main" id="{FC2697F1-DEFE-4EA3-9582-9ACC4B8A2008}"/>
              </a:ext>
            </a:extLst>
          </p:cNvPr>
          <p:cNvGrpSpPr/>
          <p:nvPr/>
        </p:nvGrpSpPr>
        <p:grpSpPr>
          <a:xfrm>
            <a:off x="4390693" y="2851518"/>
            <a:ext cx="1273259" cy="793507"/>
            <a:chOff x="4153713" y="2851518"/>
            <a:chExt cx="1273259" cy="793507"/>
          </a:xfrm>
        </p:grpSpPr>
        <p:sp>
          <p:nvSpPr>
            <p:cNvPr id="9" name="Rounded Rectangle 2">
              <a:extLst>
                <a:ext uri="{FF2B5EF4-FFF2-40B4-BE49-F238E27FC236}">
                  <a16:creationId xmlns:a16="http://schemas.microsoft.com/office/drawing/2014/main" id="{0369540E-1DC4-4694-932E-7FCF4A69C31F}"/>
                </a:ext>
              </a:extLst>
            </p:cNvPr>
            <p:cNvSpPr/>
            <p:nvPr/>
          </p:nvSpPr>
          <p:spPr>
            <a:xfrm>
              <a:off x="4153713" y="2851518"/>
              <a:ext cx="1273259" cy="793507"/>
            </a:xfrm>
            <a:prstGeom prst="round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10" name="TextBox 9">
              <a:extLst>
                <a:ext uri="{FF2B5EF4-FFF2-40B4-BE49-F238E27FC236}">
                  <a16:creationId xmlns:a16="http://schemas.microsoft.com/office/drawing/2014/main" id="{E8BF44BE-78C9-432B-B4B4-12BA7A01A1D8}"/>
                </a:ext>
              </a:extLst>
            </p:cNvPr>
            <p:cNvSpPr txBox="1"/>
            <p:nvPr/>
          </p:nvSpPr>
          <p:spPr>
            <a:xfrm>
              <a:off x="4295800" y="2996953"/>
              <a:ext cx="959880" cy="461665"/>
            </a:xfrm>
            <a:prstGeom prst="rect">
              <a:avLst/>
            </a:prstGeom>
            <a:noFill/>
          </p:spPr>
          <p:txBody>
            <a:bodyPr wrap="square" rtlCol="0">
              <a:spAutoFit/>
            </a:bodyPr>
            <a:lstStyle/>
            <a:p>
              <a:pPr algn="ctr" defTabSz="685800"/>
              <a:r>
                <a:rPr lang="en-US" altLang="ko-KR" sz="1200" b="1" dirty="0" err="1">
                  <a:solidFill>
                    <a:srgbClr val="000000">
                      <a:lumMod val="75000"/>
                      <a:lumOff val="25000"/>
                    </a:srgbClr>
                  </a:solidFill>
                  <a:latin typeface="Arial"/>
                  <a:cs typeface="Arial" pitchFamily="34" charset="0"/>
                </a:rPr>
                <a:t>Direksi</a:t>
              </a:r>
              <a:r>
                <a:rPr lang="en-US" altLang="ko-KR" sz="1200" b="1" dirty="0">
                  <a:solidFill>
                    <a:srgbClr val="000000">
                      <a:lumMod val="75000"/>
                      <a:lumOff val="25000"/>
                    </a:srgbClr>
                  </a:solidFill>
                  <a:latin typeface="Arial"/>
                  <a:cs typeface="Arial" pitchFamily="34" charset="0"/>
                </a:rPr>
                <a:t> </a:t>
              </a:r>
              <a:r>
                <a:rPr lang="en-US" altLang="ko-KR" sz="1200" b="1" dirty="0" err="1">
                  <a:solidFill>
                    <a:srgbClr val="000000">
                      <a:lumMod val="75000"/>
                      <a:lumOff val="25000"/>
                    </a:srgbClr>
                  </a:solidFill>
                  <a:latin typeface="Arial"/>
                  <a:cs typeface="Arial" pitchFamily="34" charset="0"/>
                </a:rPr>
                <a:t>Keet</a:t>
              </a:r>
              <a:r>
                <a:rPr lang="en-US" altLang="ko-KR" sz="1200" b="1" dirty="0">
                  <a:solidFill>
                    <a:srgbClr val="000000">
                      <a:lumMod val="75000"/>
                      <a:lumOff val="25000"/>
                    </a:srgbClr>
                  </a:solidFill>
                  <a:latin typeface="Arial"/>
                  <a:cs typeface="Arial" pitchFamily="34" charset="0"/>
                </a:rPr>
                <a:t> </a:t>
              </a:r>
              <a:endParaRPr lang="ko-KR" altLang="en-US" sz="1200" b="1" dirty="0">
                <a:solidFill>
                  <a:srgbClr val="000000">
                    <a:lumMod val="75000"/>
                    <a:lumOff val="25000"/>
                  </a:srgbClr>
                </a:solidFill>
                <a:latin typeface="Arial"/>
                <a:cs typeface="Arial" pitchFamily="34" charset="0"/>
              </a:endParaRPr>
            </a:p>
          </p:txBody>
        </p:sp>
      </p:grpSp>
      <p:grpSp>
        <p:nvGrpSpPr>
          <p:cNvPr id="11" name="Grup 13">
            <a:extLst>
              <a:ext uri="{FF2B5EF4-FFF2-40B4-BE49-F238E27FC236}">
                <a16:creationId xmlns:a16="http://schemas.microsoft.com/office/drawing/2014/main" id="{BC1B8908-2AB4-41B1-8815-0DC758C331A6}"/>
              </a:ext>
            </a:extLst>
          </p:cNvPr>
          <p:cNvGrpSpPr/>
          <p:nvPr/>
        </p:nvGrpSpPr>
        <p:grpSpPr>
          <a:xfrm>
            <a:off x="6982981" y="2851518"/>
            <a:ext cx="1273259" cy="816558"/>
            <a:chOff x="5696869" y="2851518"/>
            <a:chExt cx="1273259" cy="816558"/>
          </a:xfrm>
        </p:grpSpPr>
        <p:sp>
          <p:nvSpPr>
            <p:cNvPr id="12" name="Rounded Rectangle 3">
              <a:extLst>
                <a:ext uri="{FF2B5EF4-FFF2-40B4-BE49-F238E27FC236}">
                  <a16:creationId xmlns:a16="http://schemas.microsoft.com/office/drawing/2014/main" id="{92B42406-5A07-4844-9D53-910537913EE9}"/>
                </a:ext>
              </a:extLst>
            </p:cNvPr>
            <p:cNvSpPr/>
            <p:nvPr/>
          </p:nvSpPr>
          <p:spPr>
            <a:xfrm>
              <a:off x="5696869" y="2851518"/>
              <a:ext cx="1273259" cy="793507"/>
            </a:xfrm>
            <a:prstGeom prst="roundRect">
              <a:avLst/>
            </a:prstGeom>
            <a:solidFill>
              <a:schemeClr val="bg1"/>
            </a:solid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13" name="TextBox 12">
              <a:extLst>
                <a:ext uri="{FF2B5EF4-FFF2-40B4-BE49-F238E27FC236}">
                  <a16:creationId xmlns:a16="http://schemas.microsoft.com/office/drawing/2014/main" id="{0C53DB9C-0AE5-4AC5-AC65-CFB62FD02D14}"/>
                </a:ext>
              </a:extLst>
            </p:cNvPr>
            <p:cNvSpPr txBox="1"/>
            <p:nvPr/>
          </p:nvSpPr>
          <p:spPr>
            <a:xfrm>
              <a:off x="5796774" y="2898635"/>
              <a:ext cx="1073447" cy="769441"/>
            </a:xfrm>
            <a:prstGeom prst="rect">
              <a:avLst/>
            </a:prstGeom>
            <a:noFill/>
          </p:spPr>
          <p:txBody>
            <a:bodyPr wrap="square" rtlCol="0">
              <a:spAutoFit/>
            </a:bodyPr>
            <a:lstStyle/>
            <a:p>
              <a:pPr algn="ctr" defTabSz="685800"/>
              <a:r>
                <a:rPr lang="en-US" altLang="ko-KR" sz="1100" b="1" dirty="0">
                  <a:solidFill>
                    <a:srgbClr val="000000">
                      <a:lumMod val="75000"/>
                      <a:lumOff val="25000"/>
                    </a:srgbClr>
                  </a:solidFill>
                  <a:latin typeface="Arial"/>
                  <a:cs typeface="Arial" pitchFamily="34" charset="0"/>
                </a:rPr>
                <a:t> </a:t>
              </a:r>
              <a:r>
                <a:rPr lang="en-US" altLang="ko-KR" sz="1100" b="1" dirty="0" err="1">
                  <a:solidFill>
                    <a:srgbClr val="000000">
                      <a:lumMod val="75000"/>
                      <a:lumOff val="25000"/>
                    </a:srgbClr>
                  </a:solidFill>
                  <a:latin typeface="Arial"/>
                  <a:cs typeface="Arial" pitchFamily="34" charset="0"/>
                </a:rPr>
                <a:t>Penyediaan</a:t>
              </a:r>
              <a:r>
                <a:rPr lang="en-US" altLang="ko-KR" sz="1100" b="1" dirty="0">
                  <a:solidFill>
                    <a:srgbClr val="000000">
                      <a:lumMod val="75000"/>
                      <a:lumOff val="25000"/>
                    </a:srgbClr>
                  </a:solidFill>
                  <a:latin typeface="Arial"/>
                  <a:cs typeface="Arial" pitchFamily="34" charset="0"/>
                </a:rPr>
                <a:t> </a:t>
              </a:r>
              <a:r>
                <a:rPr lang="en-US" altLang="ko-KR" sz="1100" b="1" dirty="0" err="1">
                  <a:solidFill>
                    <a:srgbClr val="000000">
                      <a:lumMod val="75000"/>
                      <a:lumOff val="25000"/>
                    </a:srgbClr>
                  </a:solidFill>
                  <a:latin typeface="Arial"/>
                  <a:cs typeface="Arial" pitchFamily="34" charset="0"/>
                </a:rPr>
                <a:t>peratalan</a:t>
              </a:r>
              <a:r>
                <a:rPr lang="en-US" altLang="ko-KR" sz="1100" b="1" dirty="0">
                  <a:solidFill>
                    <a:srgbClr val="000000">
                      <a:lumMod val="75000"/>
                      <a:lumOff val="25000"/>
                    </a:srgbClr>
                  </a:solidFill>
                  <a:latin typeface="Arial"/>
                  <a:cs typeface="Arial" pitchFamily="34" charset="0"/>
                </a:rPr>
                <a:t> </a:t>
              </a:r>
              <a:r>
                <a:rPr lang="en-US" altLang="ko-KR" sz="1100" b="1" dirty="0" err="1">
                  <a:solidFill>
                    <a:srgbClr val="000000">
                      <a:lumMod val="75000"/>
                      <a:lumOff val="25000"/>
                    </a:srgbClr>
                  </a:solidFill>
                  <a:latin typeface="Arial"/>
                  <a:cs typeface="Arial" pitchFamily="34" charset="0"/>
                </a:rPr>
                <a:t>kerja</a:t>
              </a:r>
              <a:r>
                <a:rPr lang="en-US" altLang="ko-KR" sz="1100" b="1" dirty="0">
                  <a:solidFill>
                    <a:srgbClr val="000000">
                      <a:lumMod val="75000"/>
                      <a:lumOff val="25000"/>
                    </a:srgbClr>
                  </a:solidFill>
                  <a:latin typeface="Arial"/>
                  <a:cs typeface="Arial" pitchFamily="34" charset="0"/>
                </a:rPr>
                <a:t> dan </a:t>
              </a:r>
              <a:r>
                <a:rPr lang="en-US" altLang="ko-KR" sz="1100" b="1" dirty="0" err="1">
                  <a:solidFill>
                    <a:srgbClr val="000000">
                      <a:lumMod val="75000"/>
                      <a:lumOff val="25000"/>
                    </a:srgbClr>
                  </a:solidFill>
                  <a:latin typeface="Arial"/>
                  <a:cs typeface="Arial" pitchFamily="34" charset="0"/>
                </a:rPr>
                <a:t>pendukung</a:t>
              </a:r>
              <a:endParaRPr lang="ko-KR" altLang="en-US" sz="1100" b="1" dirty="0">
                <a:solidFill>
                  <a:srgbClr val="000000">
                    <a:lumMod val="75000"/>
                    <a:lumOff val="25000"/>
                  </a:srgbClr>
                </a:solidFill>
                <a:latin typeface="Arial"/>
                <a:cs typeface="Arial" pitchFamily="34" charset="0"/>
              </a:endParaRPr>
            </a:p>
          </p:txBody>
        </p:sp>
      </p:grpSp>
      <p:grpSp>
        <p:nvGrpSpPr>
          <p:cNvPr id="14" name="Grup 15">
            <a:extLst>
              <a:ext uri="{FF2B5EF4-FFF2-40B4-BE49-F238E27FC236}">
                <a16:creationId xmlns:a16="http://schemas.microsoft.com/office/drawing/2014/main" id="{546F205E-EF93-47C7-AFA0-80DB14C41FA9}"/>
              </a:ext>
            </a:extLst>
          </p:cNvPr>
          <p:cNvGrpSpPr/>
          <p:nvPr/>
        </p:nvGrpSpPr>
        <p:grpSpPr>
          <a:xfrm>
            <a:off x="9359245" y="2851518"/>
            <a:ext cx="1273259" cy="793507"/>
            <a:chOff x="7240025" y="2851518"/>
            <a:chExt cx="1273259" cy="793507"/>
          </a:xfrm>
        </p:grpSpPr>
        <p:sp>
          <p:nvSpPr>
            <p:cNvPr id="15" name="Rounded Rectangle 4">
              <a:extLst>
                <a:ext uri="{FF2B5EF4-FFF2-40B4-BE49-F238E27FC236}">
                  <a16:creationId xmlns:a16="http://schemas.microsoft.com/office/drawing/2014/main" id="{FFD1F2AF-A409-4ABA-8DF7-4699CA14E34C}"/>
                </a:ext>
              </a:extLst>
            </p:cNvPr>
            <p:cNvSpPr/>
            <p:nvPr/>
          </p:nvSpPr>
          <p:spPr>
            <a:xfrm>
              <a:off x="7240025" y="2851518"/>
              <a:ext cx="1273259" cy="793507"/>
            </a:xfrm>
            <a:prstGeom prst="roundRect">
              <a:avLst/>
            </a:prstGeom>
            <a:solidFill>
              <a:schemeClr val="bg1"/>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16" name="TextBox 15">
              <a:extLst>
                <a:ext uri="{FF2B5EF4-FFF2-40B4-BE49-F238E27FC236}">
                  <a16:creationId xmlns:a16="http://schemas.microsoft.com/office/drawing/2014/main" id="{5C9AC030-24E3-4F12-A0B5-DC0BB90A901C}"/>
                </a:ext>
              </a:extLst>
            </p:cNvPr>
            <p:cNvSpPr txBox="1"/>
            <p:nvPr/>
          </p:nvSpPr>
          <p:spPr>
            <a:xfrm>
              <a:off x="7248129" y="3068960"/>
              <a:ext cx="1214647" cy="276999"/>
            </a:xfrm>
            <a:prstGeom prst="rect">
              <a:avLst/>
            </a:prstGeom>
            <a:noFill/>
          </p:spPr>
          <p:txBody>
            <a:bodyPr wrap="square" rtlCol="0">
              <a:spAutoFit/>
            </a:bodyPr>
            <a:lstStyle/>
            <a:p>
              <a:pPr algn="ctr" defTabSz="685800"/>
              <a:r>
                <a:rPr lang="id-ID" altLang="ko-KR" sz="1200" b="1" dirty="0">
                  <a:solidFill>
                    <a:srgbClr val="000000">
                      <a:lumMod val="75000"/>
                      <a:lumOff val="25000"/>
                    </a:srgbClr>
                  </a:solidFill>
                  <a:latin typeface="Arial"/>
                  <a:cs typeface="Arial" pitchFamily="34" charset="0"/>
                </a:rPr>
                <a:t>Engineering</a:t>
              </a:r>
              <a:endParaRPr lang="ko-KR" altLang="en-US" sz="1200" b="1" dirty="0">
                <a:solidFill>
                  <a:srgbClr val="000000">
                    <a:lumMod val="75000"/>
                    <a:lumOff val="25000"/>
                  </a:srgbClr>
                </a:solidFill>
                <a:latin typeface="Arial"/>
                <a:cs typeface="Arial" pitchFamily="34" charset="0"/>
              </a:endParaRPr>
            </a:p>
          </p:txBody>
        </p:sp>
      </p:grpSp>
      <p:grpSp>
        <p:nvGrpSpPr>
          <p:cNvPr id="17" name="Grup 12">
            <a:extLst>
              <a:ext uri="{FF2B5EF4-FFF2-40B4-BE49-F238E27FC236}">
                <a16:creationId xmlns:a16="http://schemas.microsoft.com/office/drawing/2014/main" id="{442BD4B2-E5BD-4E5F-9BE0-A858C0191587}"/>
              </a:ext>
            </a:extLst>
          </p:cNvPr>
          <p:cNvGrpSpPr/>
          <p:nvPr/>
        </p:nvGrpSpPr>
        <p:grpSpPr>
          <a:xfrm>
            <a:off x="3215680" y="1268761"/>
            <a:ext cx="3096344" cy="1296144"/>
            <a:chOff x="3387328" y="1268761"/>
            <a:chExt cx="3096344" cy="1296144"/>
          </a:xfrm>
        </p:grpSpPr>
        <p:cxnSp>
          <p:nvCxnSpPr>
            <p:cNvPr id="18" name="Elbow Connector 43">
              <a:extLst>
                <a:ext uri="{FF2B5EF4-FFF2-40B4-BE49-F238E27FC236}">
                  <a16:creationId xmlns:a16="http://schemas.microsoft.com/office/drawing/2014/main" id="{A22CE364-1193-4370-B7EB-20CF35C4F1DE}"/>
                </a:ext>
              </a:extLst>
            </p:cNvPr>
            <p:cNvCxnSpPr/>
            <p:nvPr/>
          </p:nvCxnSpPr>
          <p:spPr>
            <a:xfrm>
              <a:off x="3387328" y="1924236"/>
              <a:ext cx="1906760" cy="640669"/>
            </a:xfrm>
            <a:prstGeom prst="bentConnector3">
              <a:avLst>
                <a:gd name="adj1" fmla="val -6919"/>
              </a:avLst>
            </a:prstGeom>
            <a:ln w="25400">
              <a:solidFill>
                <a:schemeClr val="accent2">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47D94F6-C968-4F8B-9434-3817A338662C}"/>
                </a:ext>
              </a:extLst>
            </p:cNvPr>
            <p:cNvSpPr txBox="1"/>
            <p:nvPr/>
          </p:nvSpPr>
          <p:spPr>
            <a:xfrm>
              <a:off x="3500588" y="1268761"/>
              <a:ext cx="2983084" cy="1223412"/>
            </a:xfrm>
            <a:prstGeom prst="rect">
              <a:avLst/>
            </a:prstGeom>
            <a:noFill/>
          </p:spPr>
          <p:txBody>
            <a:bodyPr wrap="square" rtlCol="0">
              <a:spAutoFit/>
            </a:bodyPr>
            <a:lstStyle/>
            <a:p>
              <a:pPr algn="just"/>
              <a:r>
                <a:rPr lang="en-US" sz="1050" dirty="0" err="1">
                  <a:latin typeface="Tahoma" panose="020B0604030504040204" pitchFamily="34" charset="0"/>
                  <a:ea typeface="Tahoma" panose="020B0604030504040204" pitchFamily="34" charset="0"/>
                  <a:cs typeface="Tahoma" panose="020B0604030504040204" pitchFamily="34" charset="0"/>
                </a:rPr>
                <a:t>Pembuatan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Direksi</a:t>
              </a:r>
              <a:r>
                <a:rPr lang="en-US" sz="1050" dirty="0">
                  <a:latin typeface="Tahoma" panose="020B0604030504040204" pitchFamily="34" charset="0"/>
                  <a:ea typeface="Tahoma" panose="020B0604030504040204" pitchFamily="34" charset="0"/>
                  <a:cs typeface="Tahoma" panose="020B0604030504040204" pitchFamily="34" charset="0"/>
                </a:rPr>
                <a:t> Kit </a:t>
              </a:r>
              <a:r>
                <a:rPr lang="en-US" sz="1050" dirty="0" err="1">
                  <a:latin typeface="Tahoma" panose="020B0604030504040204" pitchFamily="34" charset="0"/>
                  <a:ea typeface="Tahoma" panose="020B0604030504040204" pitchFamily="34" charset="0"/>
                  <a:cs typeface="Tahoma" panose="020B0604030504040204" pitchFamily="34" charset="0"/>
                </a:rPr>
                <a:t>bertujuan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sebagai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tempat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penyimpanan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alat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ataupun</a:t>
              </a:r>
              <a:r>
                <a:rPr lang="en-US" sz="1050" dirty="0">
                  <a:latin typeface="Tahoma" panose="020B0604030504040204" pitchFamily="34" charset="0"/>
                  <a:ea typeface="Tahoma" panose="020B0604030504040204" pitchFamily="34" charset="0"/>
                  <a:cs typeface="Tahoma" panose="020B0604030504040204" pitchFamily="34" charset="0"/>
                </a:rPr>
                <a:t> material yang sudah On site pada area pekerjaan, dan juga bisa </a:t>
              </a:r>
              <a:r>
                <a:rPr lang="en-US" sz="1050" dirty="0" err="1">
                  <a:latin typeface="Tahoma" panose="020B0604030504040204" pitchFamily="34" charset="0"/>
                  <a:ea typeface="Tahoma" panose="020B0604030504040204" pitchFamily="34" charset="0"/>
                  <a:cs typeface="Tahoma" panose="020B0604030504040204" pitchFamily="34" charset="0"/>
                </a:rPr>
                <a:t>digunakan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sebagai</a:t>
              </a:r>
              <a:r>
                <a:rPr lang="en-US" sz="1050" dirty="0">
                  <a:latin typeface="Tahoma" panose="020B0604030504040204" pitchFamily="34" charset="0"/>
                  <a:ea typeface="Tahoma" panose="020B0604030504040204" pitchFamily="34" charset="0"/>
                  <a:cs typeface="Tahoma" panose="020B0604030504040204" pitchFamily="34" charset="0"/>
                </a:rPr>
                <a:t> area </a:t>
              </a:r>
              <a:r>
                <a:rPr lang="en-US" sz="1050" dirty="0" err="1">
                  <a:latin typeface="Tahoma" panose="020B0604030504040204" pitchFamily="34" charset="0"/>
                  <a:ea typeface="Tahoma" panose="020B0604030504040204" pitchFamily="34" charset="0"/>
                  <a:cs typeface="Tahoma" panose="020B0604030504040204" pitchFamily="34" charset="0"/>
                </a:rPr>
                <a:t>perkantoran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sementara</a:t>
              </a:r>
              <a:r>
                <a:rPr lang="en-US" sz="1050" dirty="0">
                  <a:latin typeface="Tahoma" panose="020B0604030504040204" pitchFamily="34" charset="0"/>
                  <a:ea typeface="Tahoma" panose="020B0604030504040204" pitchFamily="34" charset="0"/>
                  <a:cs typeface="Tahoma" panose="020B0604030504040204" pitchFamily="34" charset="0"/>
                </a:rPr>
                <a:t> untuk </a:t>
              </a:r>
              <a:r>
                <a:rPr lang="en-US" sz="1050" dirty="0" err="1">
                  <a:latin typeface="Tahoma" panose="020B0604030504040204" pitchFamily="34" charset="0"/>
                  <a:ea typeface="Tahoma" panose="020B0604030504040204" pitchFamily="34" charset="0"/>
                  <a:cs typeface="Tahoma" panose="020B0604030504040204" pitchFamily="34" charset="0"/>
                </a:rPr>
                <a:t>membahas</a:t>
              </a:r>
              <a:r>
                <a:rPr lang="en-US" sz="1050" dirty="0">
                  <a:latin typeface="Tahoma" panose="020B0604030504040204" pitchFamily="34" charset="0"/>
                  <a:ea typeface="Tahoma" panose="020B0604030504040204" pitchFamily="34" charset="0"/>
                  <a:cs typeface="Tahoma" panose="020B0604030504040204" pitchFamily="34" charset="0"/>
                </a:rPr>
                <a:t> progress dan </a:t>
              </a:r>
              <a:r>
                <a:rPr lang="en-US" sz="1050" dirty="0" err="1">
                  <a:latin typeface="Tahoma" panose="020B0604030504040204" pitchFamily="34" charset="0"/>
                  <a:ea typeface="Tahoma" panose="020B0604030504040204" pitchFamily="34" charset="0"/>
                  <a:cs typeface="Tahoma" panose="020B0604030504040204" pitchFamily="34" charset="0"/>
                </a:rPr>
                <a:t>scadule</a:t>
              </a:r>
              <a:r>
                <a:rPr lang="en-US" sz="1050" dirty="0">
                  <a:latin typeface="Tahoma" panose="020B0604030504040204" pitchFamily="34" charset="0"/>
                  <a:ea typeface="Tahoma" panose="020B0604030504040204" pitchFamily="34" charset="0"/>
                  <a:cs typeface="Tahoma" panose="020B0604030504040204" pitchFamily="34" charset="0"/>
                </a:rPr>
                <a:t> pekerjaan.</a:t>
              </a:r>
            </a:p>
            <a:p>
              <a:pPr algn="just"/>
              <a:endParaRPr lang="en-US" sz="105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20" name="Grup 17">
            <a:extLst>
              <a:ext uri="{FF2B5EF4-FFF2-40B4-BE49-F238E27FC236}">
                <a16:creationId xmlns:a16="http://schemas.microsoft.com/office/drawing/2014/main" id="{6AF04436-23AE-4ACE-BF47-892DFCA96830}"/>
              </a:ext>
            </a:extLst>
          </p:cNvPr>
          <p:cNvGrpSpPr/>
          <p:nvPr/>
        </p:nvGrpSpPr>
        <p:grpSpPr>
          <a:xfrm>
            <a:off x="7549574" y="1412777"/>
            <a:ext cx="3803010" cy="1247649"/>
            <a:chOff x="5591945" y="1412777"/>
            <a:chExt cx="3803010" cy="1247649"/>
          </a:xfrm>
        </p:grpSpPr>
        <p:cxnSp>
          <p:nvCxnSpPr>
            <p:cNvPr id="21" name="Elbow Connector 55">
              <a:extLst>
                <a:ext uri="{FF2B5EF4-FFF2-40B4-BE49-F238E27FC236}">
                  <a16:creationId xmlns:a16="http://schemas.microsoft.com/office/drawing/2014/main" id="{A9705389-2E58-4FB2-B66F-57D7C66529ED}"/>
                </a:ext>
              </a:extLst>
            </p:cNvPr>
            <p:cNvCxnSpPr/>
            <p:nvPr/>
          </p:nvCxnSpPr>
          <p:spPr>
            <a:xfrm flipV="1">
              <a:off x="7328147" y="1719802"/>
              <a:ext cx="2066808" cy="694676"/>
            </a:xfrm>
            <a:prstGeom prst="bentConnector3">
              <a:avLst>
                <a:gd name="adj1" fmla="val 117007"/>
              </a:avLst>
            </a:prstGeom>
            <a:ln w="25400">
              <a:solidFill>
                <a:schemeClr val="accent4">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C4B2F24-A827-4B68-8C7F-66B1563DDDD9}"/>
                </a:ext>
              </a:extLst>
            </p:cNvPr>
            <p:cNvSpPr txBox="1"/>
            <p:nvPr/>
          </p:nvSpPr>
          <p:spPr>
            <a:xfrm>
              <a:off x="5591945" y="1412777"/>
              <a:ext cx="3718175" cy="1247649"/>
            </a:xfrm>
            <a:prstGeom prst="rect">
              <a:avLst/>
            </a:prstGeom>
            <a:noFill/>
          </p:spPr>
          <p:txBody>
            <a:bodyPr wrap="square" rtlCol="0">
              <a:spAutoFit/>
            </a:bodyPr>
            <a:lstStyle/>
            <a:p>
              <a:r>
                <a:rPr lang="en-US" sz="1050" dirty="0" err="1">
                  <a:latin typeface="Tahoma" panose="020B0604030504040204" pitchFamily="34" charset="0"/>
                  <a:ea typeface="Tahoma" panose="020B0604030504040204" pitchFamily="34" charset="0"/>
                  <a:cs typeface="Tahoma" panose="020B0604030504040204" pitchFamily="34" charset="0"/>
                </a:rPr>
                <a:t>Pekerjaan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Engginering</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meliputi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pembuatan</a:t>
              </a:r>
              <a:r>
                <a:rPr lang="en-US" sz="1050" dirty="0">
                  <a:latin typeface="Tahoma" panose="020B0604030504040204" pitchFamily="34" charset="0"/>
                  <a:ea typeface="Tahoma" panose="020B0604030504040204" pitchFamily="34" charset="0"/>
                  <a:cs typeface="Tahoma" panose="020B0604030504040204" pitchFamily="34" charset="0"/>
                </a:rPr>
                <a:t> Shop Drawing dan </a:t>
              </a:r>
              <a:r>
                <a:rPr lang="en-US" sz="1050" dirty="0" err="1">
                  <a:latin typeface="Tahoma" panose="020B0604030504040204" pitchFamily="34" charset="0"/>
                  <a:ea typeface="Tahoma" panose="020B0604030504040204" pitchFamily="34" charset="0"/>
                  <a:cs typeface="Tahoma" panose="020B0604030504040204" pitchFamily="34" charset="0"/>
                </a:rPr>
                <a:t>Prosedur</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Kerja</a:t>
              </a:r>
              <a:r>
                <a:rPr lang="en-US" sz="1050" dirty="0">
                  <a:latin typeface="Tahoma" panose="020B0604030504040204" pitchFamily="34" charset="0"/>
                  <a:ea typeface="Tahoma" panose="020B0604030504040204" pitchFamily="34" charset="0"/>
                  <a:cs typeface="Tahoma" panose="020B0604030504040204" pitchFamily="34" charset="0"/>
                </a:rPr>
                <a:t> yang </a:t>
              </a:r>
              <a:r>
                <a:rPr lang="en-US" sz="1050" dirty="0" err="1">
                  <a:latin typeface="Tahoma" panose="020B0604030504040204" pitchFamily="34" charset="0"/>
                  <a:ea typeface="Tahoma" panose="020B0604030504040204" pitchFamily="34" charset="0"/>
                  <a:cs typeface="Tahoma" panose="020B0604030504040204" pitchFamily="34" charset="0"/>
                </a:rPr>
                <a:t>akan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dikerjakan</a:t>
              </a:r>
              <a:r>
                <a:rPr lang="en-US" sz="1050" dirty="0">
                  <a:latin typeface="Tahoma" panose="020B0604030504040204" pitchFamily="34" charset="0"/>
                  <a:ea typeface="Tahoma" panose="020B0604030504040204" pitchFamily="34" charset="0"/>
                  <a:cs typeface="Tahoma" panose="020B0604030504040204" pitchFamily="34" charset="0"/>
                </a:rPr>
                <a:t> pada </a:t>
              </a:r>
              <a:r>
                <a:rPr lang="en-US" sz="1050" dirty="0" err="1">
                  <a:latin typeface="Tahoma" panose="020B0604030504040204" pitchFamily="34" charset="0"/>
                  <a:ea typeface="Tahoma" panose="020B0604030504040204" pitchFamily="34" charset="0"/>
                  <a:cs typeface="Tahoma" panose="020B0604030504040204" pitchFamily="34" charset="0"/>
                </a:rPr>
                <a:t>pekerjaan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ini</a:t>
              </a:r>
              <a:r>
                <a:rPr lang="en-US" sz="1050" dirty="0">
                  <a:latin typeface="Tahoma" panose="020B0604030504040204" pitchFamily="34" charset="0"/>
                  <a:ea typeface="Tahoma" panose="020B0604030504040204" pitchFamily="34" charset="0"/>
                  <a:cs typeface="Tahoma" panose="020B0604030504040204" pitchFamily="34" charset="0"/>
                </a:rPr>
                <a:t>, Engineering </a:t>
              </a:r>
              <a:r>
                <a:rPr lang="en-US" sz="1050" dirty="0" err="1">
                  <a:latin typeface="Tahoma" panose="020B0604030504040204" pitchFamily="34" charset="0"/>
                  <a:ea typeface="Tahoma" panose="020B0604030504040204" pitchFamily="34" charset="0"/>
                  <a:cs typeface="Tahoma" panose="020B0604030504040204" pitchFamily="34" charset="0"/>
                </a:rPr>
                <a:t>dari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kontraktor</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sebelum</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menyerahkan</a:t>
              </a:r>
              <a:r>
                <a:rPr lang="en-US" sz="1050" dirty="0">
                  <a:latin typeface="Tahoma" panose="020B0604030504040204" pitchFamily="34" charset="0"/>
                  <a:ea typeface="Tahoma" panose="020B0604030504040204" pitchFamily="34" charset="0"/>
                  <a:cs typeface="Tahoma" panose="020B0604030504040204" pitchFamily="34" charset="0"/>
                </a:rPr>
                <a:t> Shop Drawing </a:t>
              </a:r>
              <a:r>
                <a:rPr lang="en-US" sz="1050" dirty="0" err="1">
                  <a:latin typeface="Tahoma" panose="020B0604030504040204" pitchFamily="34" charset="0"/>
                  <a:ea typeface="Tahoma" panose="020B0604030504040204" pitchFamily="34" charset="0"/>
                  <a:cs typeface="Tahoma" panose="020B0604030504040204" pitchFamily="34" charset="0"/>
                </a:rPr>
                <a:t>terlebih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dahulu</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harus</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sudah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melakukan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pengecekan</a:t>
              </a:r>
              <a:r>
                <a:rPr lang="en-US" sz="1050" dirty="0">
                  <a:latin typeface="Tahoma" panose="020B0604030504040204" pitchFamily="34" charset="0"/>
                  <a:ea typeface="Tahoma" panose="020B0604030504040204" pitchFamily="34" charset="0"/>
                  <a:cs typeface="Tahoma" panose="020B0604030504040204" pitchFamily="34" charset="0"/>
                </a:rPr>
                <a:t> dan </a:t>
              </a:r>
              <a:r>
                <a:rPr lang="en-US" sz="1050" dirty="0" err="1">
                  <a:latin typeface="Tahoma" panose="020B0604030504040204" pitchFamily="34" charset="0"/>
                  <a:ea typeface="Tahoma" panose="020B0604030504040204" pitchFamily="34" charset="0"/>
                  <a:cs typeface="Tahoma" panose="020B0604030504040204" pitchFamily="34" charset="0"/>
                </a:rPr>
                <a:t>pengukuran</a:t>
              </a:r>
              <a:r>
                <a:rPr lang="en-US" sz="1050" dirty="0">
                  <a:latin typeface="Tahoma" panose="020B0604030504040204" pitchFamily="34" charset="0"/>
                  <a:ea typeface="Tahoma" panose="020B0604030504040204" pitchFamily="34" charset="0"/>
                  <a:cs typeface="Tahoma" panose="020B0604030504040204" pitchFamily="34" charset="0"/>
                </a:rPr>
                <a:t> di </a:t>
              </a:r>
              <a:r>
                <a:rPr lang="en-US" sz="1050" dirty="0" err="1">
                  <a:latin typeface="Tahoma" panose="020B0604030504040204" pitchFamily="34" charset="0"/>
                  <a:ea typeface="Tahoma" panose="020B0604030504040204" pitchFamily="34" charset="0"/>
                  <a:cs typeface="Tahoma" panose="020B0604030504040204" pitchFamily="34" charset="0"/>
                </a:rPr>
                <a:t>lapangan</a:t>
              </a:r>
              <a:r>
                <a:rPr lang="en-US" sz="1050" dirty="0">
                  <a:latin typeface="Tahoma" panose="020B0604030504040204" pitchFamily="34" charset="0"/>
                  <a:ea typeface="Tahoma" panose="020B0604030504040204" pitchFamily="34" charset="0"/>
                  <a:cs typeface="Tahoma" panose="020B0604030504040204" pitchFamily="34" charset="0"/>
                </a:rPr>
                <a:t>.</a:t>
              </a:r>
            </a:p>
            <a:p>
              <a:pPr marL="914400" algn="r">
                <a:lnSpc>
                  <a:spcPct val="115000"/>
                </a:lnSpc>
              </a:pPr>
              <a:r>
                <a:rPr lang="en-US" sz="1050" dirty="0">
                  <a:latin typeface="Tahoma" panose="020B0604030504040204" pitchFamily="34" charset="0"/>
                  <a:ea typeface="Tahoma" panose="020B0604030504040204" pitchFamily="34" charset="0"/>
                  <a:cs typeface="Tahoma" panose="020B0604030504040204" pitchFamily="34" charset="0"/>
                </a:rPr>
                <a:t> </a:t>
              </a:r>
            </a:p>
            <a:p>
              <a:pPr algn="r"/>
              <a:endParaRPr lang="en-US" sz="105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23" name="Grup 18">
            <a:extLst>
              <a:ext uri="{FF2B5EF4-FFF2-40B4-BE49-F238E27FC236}">
                <a16:creationId xmlns:a16="http://schemas.microsoft.com/office/drawing/2014/main" id="{582ABA0D-0A0F-4438-B720-DD65D68D0404}"/>
              </a:ext>
            </a:extLst>
          </p:cNvPr>
          <p:cNvGrpSpPr/>
          <p:nvPr/>
        </p:nvGrpSpPr>
        <p:grpSpPr>
          <a:xfrm>
            <a:off x="6744072" y="3933057"/>
            <a:ext cx="3168352" cy="1295420"/>
            <a:chOff x="5187529" y="3933057"/>
            <a:chExt cx="3168352" cy="1295420"/>
          </a:xfrm>
        </p:grpSpPr>
        <p:cxnSp>
          <p:nvCxnSpPr>
            <p:cNvPr id="24" name="Elbow Connector 30">
              <a:extLst>
                <a:ext uri="{FF2B5EF4-FFF2-40B4-BE49-F238E27FC236}">
                  <a16:creationId xmlns:a16="http://schemas.microsoft.com/office/drawing/2014/main" id="{437D01E2-B3D6-4781-AD62-3DF462EF70D2}"/>
                </a:ext>
              </a:extLst>
            </p:cNvPr>
            <p:cNvCxnSpPr>
              <a:cxnSpLocks/>
            </p:cNvCxnSpPr>
            <p:nvPr/>
          </p:nvCxnSpPr>
          <p:spPr>
            <a:xfrm flipV="1">
              <a:off x="5187529" y="3933057"/>
              <a:ext cx="1073447" cy="418835"/>
            </a:xfrm>
            <a:prstGeom prst="bentConnector3">
              <a:avLst>
                <a:gd name="adj1" fmla="val -15731"/>
              </a:avLst>
            </a:prstGeom>
            <a:ln w="25400">
              <a:solidFill>
                <a:schemeClr val="accent3">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B99239F-6C96-4229-A722-89A56315F1A8}"/>
                </a:ext>
              </a:extLst>
            </p:cNvPr>
            <p:cNvSpPr txBox="1"/>
            <p:nvPr/>
          </p:nvSpPr>
          <p:spPr>
            <a:xfrm>
              <a:off x="5330341" y="4005065"/>
              <a:ext cx="3025540" cy="1223412"/>
            </a:xfrm>
            <a:prstGeom prst="rect">
              <a:avLst/>
            </a:prstGeom>
            <a:noFill/>
          </p:spPr>
          <p:txBody>
            <a:bodyPr wrap="square" rtlCol="0">
              <a:spAutoFit/>
            </a:bodyPr>
            <a:lstStyle/>
            <a:p>
              <a:pPr algn="just"/>
              <a:r>
                <a:rPr lang="en-US" sz="1050" dirty="0" err="1">
                  <a:latin typeface="Tahoma" panose="020B0604030504040204" pitchFamily="34" charset="0"/>
                  <a:ea typeface="Tahoma" panose="020B0604030504040204" pitchFamily="34" charset="0"/>
                  <a:cs typeface="Tahoma" panose="020B0604030504040204" pitchFamily="34" charset="0"/>
                </a:rPr>
                <a:t>Peyediaan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peralatan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kerja</a:t>
              </a:r>
              <a:r>
                <a:rPr lang="en-US" sz="1050" dirty="0">
                  <a:latin typeface="Tahoma" panose="020B0604030504040204" pitchFamily="34" charset="0"/>
                  <a:ea typeface="Tahoma" panose="020B0604030504040204" pitchFamily="34" charset="0"/>
                  <a:cs typeface="Tahoma" panose="020B0604030504040204" pitchFamily="34" charset="0"/>
                </a:rPr>
                <a:t> dan </a:t>
              </a:r>
              <a:r>
                <a:rPr lang="en-US" sz="1050" dirty="0" err="1">
                  <a:latin typeface="Tahoma" panose="020B0604030504040204" pitchFamily="34" charset="0"/>
                  <a:ea typeface="Tahoma" panose="020B0604030504040204" pitchFamily="34" charset="0"/>
                  <a:cs typeface="Tahoma" panose="020B0604030504040204" pitchFamily="34" charset="0"/>
                </a:rPr>
                <a:t>Sarfas</a:t>
              </a:r>
              <a:r>
                <a:rPr lang="en-US" sz="1050" dirty="0">
                  <a:latin typeface="Tahoma" panose="020B0604030504040204" pitchFamily="34" charset="0"/>
                  <a:ea typeface="Tahoma" panose="020B0604030504040204" pitchFamily="34" charset="0"/>
                  <a:cs typeface="Tahoma" panose="020B0604030504040204" pitchFamily="34" charset="0"/>
                </a:rPr>
                <a:t> HSSE </a:t>
              </a:r>
              <a:r>
                <a:rPr lang="en-US" sz="1050" dirty="0" err="1">
                  <a:latin typeface="Tahoma" panose="020B0604030504040204" pitchFamily="34" charset="0"/>
                  <a:ea typeface="Tahoma" panose="020B0604030504040204" pitchFamily="34" charset="0"/>
                  <a:cs typeface="Tahoma" panose="020B0604030504040204" pitchFamily="34" charset="0"/>
                </a:rPr>
                <a:t>akan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disiapkan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sebelum</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pekerjaan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dimulai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Untuk</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pekerjaan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ini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dibutuhkan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peralatan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seperti</a:t>
              </a:r>
              <a:r>
                <a:rPr lang="en-US" sz="1050" dirty="0">
                  <a:latin typeface="Tahoma" panose="020B0604030504040204" pitchFamily="34" charset="0"/>
                  <a:ea typeface="Tahoma" panose="020B0604030504040204" pitchFamily="34" charset="0"/>
                  <a:cs typeface="Tahoma" panose="020B0604030504040204" pitchFamily="34" charset="0"/>
                </a:rPr>
                <a:t> : Genset, </a:t>
              </a:r>
              <a:r>
                <a:rPr lang="en-US" sz="1050" dirty="0" err="1">
                  <a:latin typeface="Tahoma" panose="020B0604030504040204" pitchFamily="34" charset="0"/>
                  <a:ea typeface="Tahoma" panose="020B0604030504040204" pitchFamily="34" charset="0"/>
                  <a:cs typeface="Tahoma" panose="020B0604030504040204" pitchFamily="34" charset="0"/>
                </a:rPr>
                <a:t>Pompa</a:t>
              </a:r>
              <a:r>
                <a:rPr lang="en-US" sz="1050" dirty="0">
                  <a:latin typeface="Tahoma" panose="020B0604030504040204" pitchFamily="34" charset="0"/>
                  <a:ea typeface="Tahoma" panose="020B0604030504040204" pitchFamily="34" charset="0"/>
                  <a:cs typeface="Tahoma" panose="020B0604030504040204" pitchFamily="34" charset="0"/>
                </a:rPr>
                <a:t> Air, APAR, dan set wind barrier.</a:t>
              </a:r>
            </a:p>
            <a:p>
              <a:pPr algn="just"/>
              <a:r>
                <a:rPr lang="en-US" sz="1050" dirty="0" err="1">
                  <a:latin typeface="Tahoma" panose="020B0604030504040204" pitchFamily="34" charset="0"/>
                  <a:ea typeface="Tahoma" panose="020B0604030504040204" pitchFamily="34" charset="0"/>
                  <a:cs typeface="Tahoma" panose="020B0604030504040204" pitchFamily="34" charset="0"/>
                </a:rPr>
                <a:t>Sedangkan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peralatan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pendukungnya</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yaitu</a:t>
              </a:r>
              <a:r>
                <a:rPr lang="en-US" sz="1050" dirty="0">
                  <a:latin typeface="Tahoma" panose="020B0604030504040204" pitchFamily="34" charset="0"/>
                  <a:ea typeface="Tahoma" panose="020B0604030504040204" pitchFamily="34" charset="0"/>
                  <a:cs typeface="Tahoma" panose="020B0604030504040204" pitchFamily="34" charset="0"/>
                </a:rPr>
                <a:t> scaffolding.</a:t>
              </a:r>
            </a:p>
          </p:txBody>
        </p:sp>
      </p:grpSp>
      <p:grpSp>
        <p:nvGrpSpPr>
          <p:cNvPr id="26" name="Group 25">
            <a:extLst>
              <a:ext uri="{FF2B5EF4-FFF2-40B4-BE49-F238E27FC236}">
                <a16:creationId xmlns:a16="http://schemas.microsoft.com/office/drawing/2014/main" id="{65393067-DDC0-423C-A187-0C33ACE6BCEC}"/>
              </a:ext>
            </a:extLst>
          </p:cNvPr>
          <p:cNvGrpSpPr/>
          <p:nvPr/>
        </p:nvGrpSpPr>
        <p:grpSpPr>
          <a:xfrm>
            <a:off x="1115414" y="2060849"/>
            <a:ext cx="444082" cy="2355167"/>
            <a:chOff x="360234" y="-1"/>
            <a:chExt cx="875221" cy="4606429"/>
          </a:xfrm>
          <a:solidFill>
            <a:srgbClr val="0070C0"/>
          </a:solidFill>
        </p:grpSpPr>
        <p:sp>
          <p:nvSpPr>
            <p:cNvPr id="27" name="Rectangle 26">
              <a:extLst>
                <a:ext uri="{FF2B5EF4-FFF2-40B4-BE49-F238E27FC236}">
                  <a16:creationId xmlns:a16="http://schemas.microsoft.com/office/drawing/2014/main" id="{A9911480-FD04-4C84-9D50-EA8CC4A0BB8C}"/>
                </a:ext>
              </a:extLst>
            </p:cNvPr>
            <p:cNvSpPr/>
            <p:nvPr/>
          </p:nvSpPr>
          <p:spPr>
            <a:xfrm rot="16200000">
              <a:off x="-1505370" y="1865603"/>
              <a:ext cx="4606429" cy="875221"/>
            </a:xfrm>
            <a:prstGeom prst="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8" name="TextBox 27">
              <a:extLst>
                <a:ext uri="{FF2B5EF4-FFF2-40B4-BE49-F238E27FC236}">
                  <a16:creationId xmlns:a16="http://schemas.microsoft.com/office/drawing/2014/main" id="{A22BAEDA-C73B-464F-AEEA-4975F3EEE804}"/>
                </a:ext>
              </a:extLst>
            </p:cNvPr>
            <p:cNvSpPr txBox="1"/>
            <p:nvPr/>
          </p:nvSpPr>
          <p:spPr>
            <a:xfrm rot="16200000">
              <a:off x="-1505370" y="1865603"/>
              <a:ext cx="4606429" cy="87522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25400" tIns="25400" rIns="25400" bIns="25400" numCol="1" spcCol="1270" anchor="ctr" anchorCtr="0">
              <a:noAutofit/>
            </a:bodyPr>
            <a:lstStyle/>
            <a:p>
              <a:pPr algn="ctr" defTabSz="1778000">
                <a:lnSpc>
                  <a:spcPct val="90000"/>
                </a:lnSpc>
                <a:spcBef>
                  <a:spcPct val="0"/>
                </a:spcBef>
                <a:spcAft>
                  <a:spcPct val="35000"/>
                </a:spcAft>
              </a:pPr>
              <a:r>
                <a:rPr lang="en-US" sz="2000" b="1" dirty="0">
                  <a:solidFill>
                    <a:srgbClr val="F5F7F6"/>
                  </a:solidFill>
                </a:rPr>
                <a:t>Pekerjaan </a:t>
              </a:r>
              <a:r>
                <a:rPr lang="en-US" sz="2000" b="1" dirty="0" err="1">
                  <a:solidFill>
                    <a:srgbClr val="F5F7F6"/>
                  </a:solidFill>
                </a:rPr>
                <a:t>Persiapan</a:t>
              </a:r>
              <a:endParaRPr lang="en-US" sz="2000" b="1" dirty="0">
                <a:solidFill>
                  <a:srgbClr val="F5F7F6"/>
                </a:solidFill>
              </a:endParaRPr>
            </a:p>
          </p:txBody>
        </p:sp>
      </p:grpSp>
      <p:grpSp>
        <p:nvGrpSpPr>
          <p:cNvPr id="55" name="Grup 10">
            <a:extLst>
              <a:ext uri="{FF2B5EF4-FFF2-40B4-BE49-F238E27FC236}">
                <a16:creationId xmlns:a16="http://schemas.microsoft.com/office/drawing/2014/main" id="{35728276-09D8-4266-A057-0267D7AFE9B8}"/>
              </a:ext>
            </a:extLst>
          </p:cNvPr>
          <p:cNvGrpSpPr/>
          <p:nvPr/>
        </p:nvGrpSpPr>
        <p:grpSpPr>
          <a:xfrm>
            <a:off x="2091135" y="3902420"/>
            <a:ext cx="3716833" cy="1972387"/>
            <a:chOff x="2423593" y="3902420"/>
            <a:chExt cx="3716833" cy="1972387"/>
          </a:xfrm>
        </p:grpSpPr>
        <p:cxnSp>
          <p:nvCxnSpPr>
            <p:cNvPr id="56" name="Elbow Connector 14">
              <a:extLst>
                <a:ext uri="{FF2B5EF4-FFF2-40B4-BE49-F238E27FC236}">
                  <a16:creationId xmlns:a16="http://schemas.microsoft.com/office/drawing/2014/main" id="{76AF46EE-3BEE-47BC-BAC3-0D60C3B29640}"/>
                </a:ext>
              </a:extLst>
            </p:cNvPr>
            <p:cNvCxnSpPr>
              <a:cxnSpLocks/>
            </p:cNvCxnSpPr>
            <p:nvPr/>
          </p:nvCxnSpPr>
          <p:spPr>
            <a:xfrm flipV="1">
              <a:off x="2423593" y="3902420"/>
              <a:ext cx="1146811" cy="390677"/>
            </a:xfrm>
            <a:prstGeom prst="bentConnector3">
              <a:avLst>
                <a:gd name="adj1" fmla="val -21013"/>
              </a:avLst>
            </a:prstGeom>
            <a:ln w="25400">
              <a:solidFill>
                <a:schemeClr val="accent1">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0EA6A16-4974-4FDE-AE0D-F7E1D09E8BA6}"/>
                </a:ext>
              </a:extLst>
            </p:cNvPr>
            <p:cNvSpPr txBox="1"/>
            <p:nvPr/>
          </p:nvSpPr>
          <p:spPr>
            <a:xfrm>
              <a:off x="2511237" y="4005064"/>
              <a:ext cx="3629189" cy="1869743"/>
            </a:xfrm>
            <a:prstGeom prst="rect">
              <a:avLst/>
            </a:prstGeom>
            <a:noFill/>
          </p:spPr>
          <p:txBody>
            <a:bodyPr wrap="square" rtlCol="0">
              <a:spAutoFit/>
            </a:bodyPr>
            <a:lstStyle/>
            <a:p>
              <a:pPr algn="just"/>
              <a:r>
                <a:rPr lang="id-ID" sz="1050" dirty="0">
                  <a:latin typeface="Tahoma" panose="020B0604030504040204" pitchFamily="34" charset="0"/>
                  <a:ea typeface="Tahoma" panose="020B0604030504040204" pitchFamily="34" charset="0"/>
                  <a:cs typeface="Tahoma" panose="020B0604030504040204" pitchFamily="34" charset="0"/>
                </a:rPr>
                <a:t>Kami akan mempersiapkan peralatan, tenaga kerja dan kelengkapan kerja di lapangan sesuai dengan kebutuhan dan petunjuk Pengawas. Waktu kedatangan maupun pengambilan kembali peralatan, tenaga kerja dan kelengkapan kerja tersebut harus mendapat ijin dan persetujuan Pengawas. Kami bertanggung jawab terhadap segala kerusakan yang terjadi, terjaganya kebersihan maupun hal-hal lain yang diakibatkan dalam pelaksanaan mobilisasi dan demobilisasi serta pelaksanaan pekerjaan secara keseluruhan.</a:t>
              </a:r>
              <a:endParaRPr lang="en-US" sz="1050" dirty="0">
                <a:latin typeface="Tahoma" panose="020B0604030504040204" pitchFamily="34" charset="0"/>
                <a:ea typeface="Tahoma" panose="020B0604030504040204" pitchFamily="34" charset="0"/>
                <a:cs typeface="Tahoma" panose="020B0604030504040204" pitchFamily="34" charset="0"/>
              </a:endParaRPr>
            </a:p>
            <a:p>
              <a:pPr algn="just"/>
              <a:endParaRPr lang="en-US" sz="105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33" name="Group 32">
            <a:extLst>
              <a:ext uri="{FF2B5EF4-FFF2-40B4-BE49-F238E27FC236}">
                <a16:creationId xmlns:a16="http://schemas.microsoft.com/office/drawing/2014/main" id="{D97A4F3F-DD3A-43E1-A0D9-8C10DF2F2BE2}"/>
              </a:ext>
            </a:extLst>
          </p:cNvPr>
          <p:cNvGrpSpPr/>
          <p:nvPr/>
        </p:nvGrpSpPr>
        <p:grpSpPr>
          <a:xfrm>
            <a:off x="438122" y="221567"/>
            <a:ext cx="5297838" cy="687155"/>
            <a:chOff x="1544574" y="576718"/>
            <a:chExt cx="5297838" cy="687155"/>
          </a:xfrm>
        </p:grpSpPr>
        <p:sp>
          <p:nvSpPr>
            <p:cNvPr id="34" name="Rectangle: Rounded Corners 33">
              <a:extLst>
                <a:ext uri="{FF2B5EF4-FFF2-40B4-BE49-F238E27FC236}">
                  <a16:creationId xmlns:a16="http://schemas.microsoft.com/office/drawing/2014/main" id="{E9AE3EDF-BC6C-4E1C-A112-B80E4ECEE384}"/>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780E6E14-1395-4EA8-9CF6-DA15DEB5594B}"/>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6" name="Straight Connector 35">
              <a:extLst>
                <a:ext uri="{FF2B5EF4-FFF2-40B4-BE49-F238E27FC236}">
                  <a16:creationId xmlns:a16="http://schemas.microsoft.com/office/drawing/2014/main" id="{C3AAEF0D-478C-4839-AE9D-D55AE2929ACF}"/>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37D3AE21-4D04-41BC-B1CF-41E83897645D}"/>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PROSEDURE</a:t>
              </a:r>
              <a:endParaRPr lang="en-US" sz="2000" b="1" dirty="0">
                <a:solidFill>
                  <a:schemeClr val="bg1"/>
                </a:solidFill>
              </a:endParaRPr>
            </a:p>
          </p:txBody>
        </p:sp>
        <p:sp>
          <p:nvSpPr>
            <p:cNvPr id="39" name="TextBox 38">
              <a:extLst>
                <a:ext uri="{FF2B5EF4-FFF2-40B4-BE49-F238E27FC236}">
                  <a16:creationId xmlns:a16="http://schemas.microsoft.com/office/drawing/2014/main" id="{3DE55FE8-2F29-4682-9038-CC6361DF1271}"/>
                </a:ext>
              </a:extLst>
            </p:cNvPr>
            <p:cNvSpPr txBox="1"/>
            <p:nvPr/>
          </p:nvSpPr>
          <p:spPr>
            <a:xfrm>
              <a:off x="6097067" y="612065"/>
              <a:ext cx="731520" cy="584775"/>
            </a:xfrm>
            <a:prstGeom prst="rect">
              <a:avLst/>
            </a:prstGeom>
            <a:noFill/>
          </p:spPr>
          <p:txBody>
            <a:bodyPr wrap="square" rtlCol="0">
              <a:spAutoFit/>
            </a:bodyPr>
            <a:lstStyle/>
            <a:p>
              <a:endParaRPr lang="en-US" sz="3200" dirty="0">
                <a:solidFill>
                  <a:schemeClr val="accent2">
                    <a:lumMod val="50000"/>
                  </a:schemeClr>
                </a:solidFill>
              </a:endParaRPr>
            </a:p>
          </p:txBody>
        </p:sp>
      </p:grpSp>
    </p:spTree>
    <p:extLst>
      <p:ext uri="{BB962C8B-B14F-4D97-AF65-F5344CB8AC3E}">
        <p14:creationId xmlns:p14="http://schemas.microsoft.com/office/powerpoint/2010/main" val="1012567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B2D66-FD85-42EC-8216-F790BFC286F6}"/>
              </a:ext>
            </a:extLst>
          </p:cNvPr>
          <p:cNvSpPr>
            <a:spLocks noGrp="1"/>
          </p:cNvSpPr>
          <p:nvPr>
            <p:ph type="title"/>
          </p:nvPr>
        </p:nvSpPr>
        <p:spPr/>
        <p:txBody>
          <a:bodyPr>
            <a:normAutofit fontScale="90000"/>
          </a:bodyPr>
          <a:lstStyle/>
          <a:p>
            <a:r>
              <a:rPr lang="en-US" dirty="0"/>
              <a:t> </a:t>
            </a:r>
            <a:endParaRPr lang="en-ID" dirty="0"/>
          </a:p>
        </p:txBody>
      </p:sp>
      <p:grpSp>
        <p:nvGrpSpPr>
          <p:cNvPr id="23" name="Group 61">
            <a:extLst>
              <a:ext uri="{FF2B5EF4-FFF2-40B4-BE49-F238E27FC236}">
                <a16:creationId xmlns:a16="http://schemas.microsoft.com/office/drawing/2014/main" id="{E40F2B3B-CC3A-4BE3-94F5-843EE1A72C5B}"/>
              </a:ext>
            </a:extLst>
          </p:cNvPr>
          <p:cNvGrpSpPr/>
          <p:nvPr/>
        </p:nvGrpSpPr>
        <p:grpSpPr>
          <a:xfrm>
            <a:off x="3503712" y="4503405"/>
            <a:ext cx="7416824" cy="1805915"/>
            <a:chOff x="5436655" y="1804562"/>
            <a:chExt cx="6134272" cy="2407888"/>
          </a:xfrm>
        </p:grpSpPr>
        <p:grpSp>
          <p:nvGrpSpPr>
            <p:cNvPr id="24" name="Group 72">
              <a:extLst>
                <a:ext uri="{FF2B5EF4-FFF2-40B4-BE49-F238E27FC236}">
                  <a16:creationId xmlns:a16="http://schemas.microsoft.com/office/drawing/2014/main" id="{245251EB-9A2D-4111-A91E-7E8013F3DF8E}"/>
                </a:ext>
              </a:extLst>
            </p:cNvPr>
            <p:cNvGrpSpPr/>
            <p:nvPr/>
          </p:nvGrpSpPr>
          <p:grpSpPr>
            <a:xfrm>
              <a:off x="5436655" y="1949949"/>
              <a:ext cx="6134272" cy="2262501"/>
              <a:chOff x="3591157" y="2119993"/>
              <a:chExt cx="6134272" cy="2262501"/>
            </a:xfrm>
          </p:grpSpPr>
          <p:sp>
            <p:nvSpPr>
              <p:cNvPr id="26" name="TextBox 74">
                <a:extLst>
                  <a:ext uri="{FF2B5EF4-FFF2-40B4-BE49-F238E27FC236}">
                    <a16:creationId xmlns:a16="http://schemas.microsoft.com/office/drawing/2014/main" id="{46F4BF92-A9F9-4875-BF2E-1E510DD0C60E}"/>
                  </a:ext>
                </a:extLst>
              </p:cNvPr>
              <p:cNvSpPr txBox="1"/>
              <p:nvPr/>
            </p:nvSpPr>
            <p:spPr>
              <a:xfrm>
                <a:off x="3704045" y="2305941"/>
                <a:ext cx="6021384" cy="2076553"/>
              </a:xfrm>
              <a:prstGeom prst="rect">
                <a:avLst/>
              </a:prstGeom>
              <a:noFill/>
            </p:spPr>
            <p:txBody>
              <a:bodyPr wrap="square" rtlCol="0">
                <a:spAutoFit/>
              </a:bodyPr>
              <a:lstStyle/>
              <a:p>
                <a:pPr marL="171450" indent="-171450">
                  <a:lnSpc>
                    <a:spcPct val="115000"/>
                  </a:lnSpc>
                  <a:buSzPts val="1400"/>
                  <a:buFontTx/>
                  <a:buChar char="-"/>
                </a:pP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P</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engecatan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mengunakan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metode</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airless spray</a:t>
                </a:r>
              </a:p>
              <a:p>
                <a:pPr marL="171450" indent="-171450">
                  <a:lnSpc>
                    <a:spcPct val="115000"/>
                  </a:lnSpc>
                  <a:buSzPts val="1400"/>
                  <a:buFontTx/>
                  <a:buChar char="-"/>
                </a:pP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Ketentuan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pengecatan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Total DFT 250 Micron,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dengan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rincian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p>
              <a:p>
                <a:pPr marL="685800" lvl="1" indent="-228600">
                  <a:lnSpc>
                    <a:spcPct val="115000"/>
                  </a:lnSpc>
                  <a:buSzPts val="1400"/>
                  <a:buAutoNum type="alphaLcPeriod"/>
                </a:pP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Primer Coat ( Anti corrosion surface tolerant epoxy + thinner ) DFT 100 Micron</a:t>
                </a:r>
              </a:p>
              <a:p>
                <a:pPr marL="685800" lvl="1" indent="-228600">
                  <a:lnSpc>
                    <a:spcPct val="115000"/>
                  </a:lnSpc>
                  <a:buSzPts val="1400"/>
                  <a:buFontTx/>
                  <a:buAutoNum type="alphaLcPeriod"/>
                </a:pP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Intermediate Coat ( High Build – High solid epoxy + thinner ) DFT 100 Micron</a:t>
                </a:r>
              </a:p>
              <a:p>
                <a:pPr marL="685800" lvl="1" indent="-228600">
                  <a:lnSpc>
                    <a:spcPct val="115000"/>
                  </a:lnSpc>
                  <a:buSzPts val="1400"/>
                  <a:buFontTx/>
                  <a:buAutoNum type="alphaLcPeriod"/>
                </a:pP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Finish Coat ( Polyurethane + thinner ) DFT 50 Micron</a:t>
                </a:r>
              </a:p>
              <a:p>
                <a:pPr marL="685800" lvl="1" indent="-228600">
                  <a:lnSpc>
                    <a:spcPct val="115000"/>
                  </a:lnSpc>
                  <a:buSzPts val="1400"/>
                  <a:buFontTx/>
                  <a:buAutoNum type="alphaLcPeriod"/>
                </a:pPr>
                <a:endPar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a:p>
                <a:pPr marL="685800" lvl="1" indent="-228600">
                  <a:lnSpc>
                    <a:spcPct val="115000"/>
                  </a:lnSpc>
                  <a:buSzPts val="1400"/>
                  <a:buAutoNum type="alphaLcPeriod"/>
                </a:pPr>
                <a:endPar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p:txBody>
          </p:sp>
          <p:sp>
            <p:nvSpPr>
              <p:cNvPr id="27" name="Oval 26">
                <a:extLst>
                  <a:ext uri="{FF2B5EF4-FFF2-40B4-BE49-F238E27FC236}">
                    <a16:creationId xmlns:a16="http://schemas.microsoft.com/office/drawing/2014/main" id="{F9922144-8FA3-4F26-AAF7-13C211CD9B07}"/>
                  </a:ext>
                </a:extLst>
              </p:cNvPr>
              <p:cNvSpPr/>
              <p:nvPr/>
            </p:nvSpPr>
            <p:spPr>
              <a:xfrm>
                <a:off x="3591157" y="2119993"/>
                <a:ext cx="123512" cy="182133"/>
              </a:xfrm>
              <a:prstGeom prst="ellipse">
                <a:avLst/>
              </a:prstGeom>
              <a:solidFill>
                <a:srgbClr val="92D05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a:solidFill>
                    <a:schemeClr val="tx1"/>
                  </a:solidFill>
                  <a:latin typeface="Calibri" panose="020F0502020204030204"/>
                </a:endParaRPr>
              </a:p>
            </p:txBody>
          </p:sp>
        </p:grpSp>
        <p:sp>
          <p:nvSpPr>
            <p:cNvPr id="25" name="TextBox 73">
              <a:extLst>
                <a:ext uri="{FF2B5EF4-FFF2-40B4-BE49-F238E27FC236}">
                  <a16:creationId xmlns:a16="http://schemas.microsoft.com/office/drawing/2014/main" id="{2D64CE69-9457-48ED-BFC4-1ADB1508E6ED}"/>
                </a:ext>
              </a:extLst>
            </p:cNvPr>
            <p:cNvSpPr txBox="1"/>
            <p:nvPr/>
          </p:nvSpPr>
          <p:spPr>
            <a:xfrm>
              <a:off x="5549545" y="1804562"/>
              <a:ext cx="728131" cy="410369"/>
            </a:xfrm>
            <a:prstGeom prst="rect">
              <a:avLst/>
            </a:prstGeom>
            <a:noFill/>
          </p:spPr>
          <p:txBody>
            <a:bodyPr wrap="none" rtlCol="0">
              <a:spAutoFit/>
            </a:bodyPr>
            <a:lstStyle/>
            <a:p>
              <a:pPr defTabSz="685800"/>
              <a:r>
                <a:rPr lang="en-US" sz="1400" b="1" dirty="0">
                  <a:latin typeface="Tahoma" panose="020B0604030504040204" pitchFamily="34" charset="0"/>
                  <a:ea typeface="Tahoma" panose="020B0604030504040204" pitchFamily="34" charset="0"/>
                  <a:cs typeface="Tahoma" panose="020B0604030504040204" pitchFamily="34" charset="0"/>
                </a:rPr>
                <a:t>Coating</a:t>
              </a:r>
            </a:p>
          </p:txBody>
        </p:sp>
      </p:grpSp>
      <p:grpSp>
        <p:nvGrpSpPr>
          <p:cNvPr id="28" name="Grup 60">
            <a:extLst>
              <a:ext uri="{FF2B5EF4-FFF2-40B4-BE49-F238E27FC236}">
                <a16:creationId xmlns:a16="http://schemas.microsoft.com/office/drawing/2014/main" id="{FCC82BAA-2734-4C4B-951D-21316938CD56}"/>
              </a:ext>
            </a:extLst>
          </p:cNvPr>
          <p:cNvGrpSpPr/>
          <p:nvPr/>
        </p:nvGrpSpPr>
        <p:grpSpPr>
          <a:xfrm>
            <a:off x="3326056" y="1085115"/>
            <a:ext cx="7130174" cy="653672"/>
            <a:chOff x="3682627" y="908720"/>
            <a:chExt cx="4690582" cy="653672"/>
          </a:xfrm>
        </p:grpSpPr>
        <p:grpSp>
          <p:nvGrpSpPr>
            <p:cNvPr id="29" name="Grup 59">
              <a:extLst>
                <a:ext uri="{FF2B5EF4-FFF2-40B4-BE49-F238E27FC236}">
                  <a16:creationId xmlns:a16="http://schemas.microsoft.com/office/drawing/2014/main" id="{CED64874-5D89-4771-A228-CB88F07FAB9B}"/>
                </a:ext>
              </a:extLst>
            </p:cNvPr>
            <p:cNvGrpSpPr/>
            <p:nvPr/>
          </p:nvGrpSpPr>
          <p:grpSpPr>
            <a:xfrm>
              <a:off x="3682627" y="908720"/>
              <a:ext cx="940986" cy="307777"/>
              <a:chOff x="3682627" y="908720"/>
              <a:chExt cx="940986" cy="307777"/>
            </a:xfrm>
          </p:grpSpPr>
          <p:sp>
            <p:nvSpPr>
              <p:cNvPr id="31" name="Oval 30">
                <a:extLst>
                  <a:ext uri="{FF2B5EF4-FFF2-40B4-BE49-F238E27FC236}">
                    <a16:creationId xmlns:a16="http://schemas.microsoft.com/office/drawing/2014/main" id="{6D8832B1-3ED4-412D-B70E-9FA4B4881672}"/>
                  </a:ext>
                </a:extLst>
              </p:cNvPr>
              <p:cNvSpPr/>
              <p:nvPr/>
            </p:nvSpPr>
            <p:spPr>
              <a:xfrm>
                <a:off x="3682627" y="996332"/>
                <a:ext cx="97286" cy="144635"/>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a:solidFill>
                    <a:schemeClr val="tx1"/>
                  </a:solidFill>
                  <a:latin typeface="Calibri" panose="020F0502020204030204"/>
                </a:endParaRPr>
              </a:p>
            </p:txBody>
          </p:sp>
          <p:sp>
            <p:nvSpPr>
              <p:cNvPr id="32" name="TextBox 81">
                <a:extLst>
                  <a:ext uri="{FF2B5EF4-FFF2-40B4-BE49-F238E27FC236}">
                    <a16:creationId xmlns:a16="http://schemas.microsoft.com/office/drawing/2014/main" id="{E8E1DFC8-6FD8-4151-8AAA-C6DD8320CD94}"/>
                  </a:ext>
                </a:extLst>
              </p:cNvPr>
              <p:cNvSpPr txBox="1"/>
              <p:nvPr/>
            </p:nvSpPr>
            <p:spPr>
              <a:xfrm>
                <a:off x="3850428" y="908720"/>
                <a:ext cx="773185" cy="307777"/>
              </a:xfrm>
              <a:prstGeom prst="rect">
                <a:avLst/>
              </a:prstGeom>
              <a:noFill/>
            </p:spPr>
            <p:txBody>
              <a:bodyPr wrap="none" rtlCol="0">
                <a:spAutoFit/>
              </a:bodyPr>
              <a:lstStyle/>
              <a:p>
                <a:pPr defTabSz="685800"/>
                <a:r>
                  <a:rPr lang="en-US" sz="1400" b="1" dirty="0">
                    <a:latin typeface="Tahoma" panose="020B0604030504040204" pitchFamily="34" charset="0"/>
                    <a:ea typeface="Tahoma" panose="020B0604030504040204" pitchFamily="34" charset="0"/>
                    <a:cs typeface="Tahoma" panose="020B0604030504040204" pitchFamily="34" charset="0"/>
                  </a:rPr>
                  <a:t>Cover Area</a:t>
                </a:r>
              </a:p>
            </p:txBody>
          </p:sp>
        </p:grpSp>
        <p:sp>
          <p:nvSpPr>
            <p:cNvPr id="30" name="TextBox 109">
              <a:extLst>
                <a:ext uri="{FF2B5EF4-FFF2-40B4-BE49-F238E27FC236}">
                  <a16:creationId xmlns:a16="http://schemas.microsoft.com/office/drawing/2014/main" id="{D3161CA7-9C92-4D90-AB2B-F053A55982BF}"/>
                </a:ext>
              </a:extLst>
            </p:cNvPr>
            <p:cNvSpPr txBox="1"/>
            <p:nvPr/>
          </p:nvSpPr>
          <p:spPr>
            <a:xfrm>
              <a:off x="3758690" y="1279173"/>
              <a:ext cx="4614519" cy="283219"/>
            </a:xfrm>
            <a:prstGeom prst="rect">
              <a:avLst/>
            </a:prstGeom>
            <a:noFill/>
          </p:spPr>
          <p:txBody>
            <a:bodyPr wrap="square" rtlCol="0">
              <a:spAutoFit/>
            </a:bodyPr>
            <a:lstStyle/>
            <a:p>
              <a:pPr marL="171450" indent="-171450" fontAlgn="base">
                <a:lnSpc>
                  <a:spcPct val="115000"/>
                </a:lnSpc>
                <a:buSzPts val="1400"/>
                <a:buFontTx/>
                <a:buChar char="-"/>
              </a:pPr>
              <a:r>
                <a:rPr lang="en-US" sz="1200" dirty="0">
                  <a:latin typeface="Tahoma" panose="020B0604030504040204" pitchFamily="34" charset="0"/>
                  <a:ea typeface="Tahoma" panose="020B0604030504040204" pitchFamily="34" charset="0"/>
                  <a:cs typeface="Tahoma" panose="020B0604030504040204" pitchFamily="34" charset="0"/>
                </a:rPr>
                <a:t>Coating external </a:t>
              </a:r>
              <a:r>
                <a:rPr lang="en-US" sz="1200" dirty="0" err="1">
                  <a:latin typeface="Tahoma" panose="020B0604030504040204" pitchFamily="34" charset="0"/>
                  <a:ea typeface="Tahoma" panose="020B0604030504040204" pitchFamily="34" charset="0"/>
                  <a:cs typeface="Tahoma" panose="020B0604030504040204" pitchFamily="34" charset="0"/>
                </a:rPr>
                <a:t>tangki</a:t>
              </a:r>
              <a:r>
                <a:rPr lang="en-US" sz="1200" dirty="0">
                  <a:latin typeface="Tahoma" panose="020B0604030504040204" pitchFamily="34" charset="0"/>
                  <a:ea typeface="Tahoma" panose="020B0604030504040204" pitchFamily="34" charset="0"/>
                  <a:cs typeface="Tahoma" panose="020B0604030504040204" pitchFamily="34" charset="0"/>
                </a:rPr>
                <a:t> 06, </a:t>
              </a:r>
              <a:r>
                <a:rPr lang="en-US" sz="1200" dirty="0" err="1">
                  <a:latin typeface="Tahoma" panose="020B0604030504040204" pitchFamily="34" charset="0"/>
                  <a:ea typeface="Tahoma" panose="020B0604030504040204" pitchFamily="34" charset="0"/>
                  <a:cs typeface="Tahoma" panose="020B0604030504040204" pitchFamily="34" charset="0"/>
                </a:rPr>
                <a:t>meliputi</a:t>
              </a:r>
              <a:r>
                <a:rPr lang="en-US" sz="1200" dirty="0">
                  <a:latin typeface="Tahoma" panose="020B0604030504040204" pitchFamily="34" charset="0"/>
                  <a:ea typeface="Tahoma" panose="020B0604030504040204" pitchFamily="34" charset="0"/>
                  <a:cs typeface="Tahoma" panose="020B0604030504040204" pitchFamily="34" charset="0"/>
                </a:rPr>
                <a:t> : shell, roof, dan </a:t>
              </a:r>
              <a:r>
                <a:rPr lang="en-US" sz="1200" dirty="0" err="1">
                  <a:latin typeface="Tahoma" panose="020B0604030504040204" pitchFamily="34" charset="0"/>
                  <a:ea typeface="Tahoma" panose="020B0604030504040204" pitchFamily="34" charset="0"/>
                  <a:cs typeface="Tahoma" panose="020B0604030504040204" pitchFamily="34" charset="0"/>
                </a:rPr>
                <a:t>aksesoris</a:t>
              </a:r>
              <a:r>
                <a:rPr lang="en-US" sz="1200" dirty="0">
                  <a:latin typeface="Tahoma" panose="020B0604030504040204" pitchFamily="34" charset="0"/>
                  <a:ea typeface="Tahoma" panose="020B0604030504040204" pitchFamily="34" charset="0"/>
                  <a:cs typeface="Tahoma" panose="020B0604030504040204" pitchFamily="34" charset="0"/>
                </a:rPr>
                <a:t>.</a:t>
              </a:r>
            </a:p>
          </p:txBody>
        </p:sp>
      </p:grpSp>
      <p:grpSp>
        <p:nvGrpSpPr>
          <p:cNvPr id="33" name="Grup 61">
            <a:extLst>
              <a:ext uri="{FF2B5EF4-FFF2-40B4-BE49-F238E27FC236}">
                <a16:creationId xmlns:a16="http://schemas.microsoft.com/office/drawing/2014/main" id="{FD07D88A-B199-44D3-80D9-13BB0A4D33E7}"/>
              </a:ext>
            </a:extLst>
          </p:cNvPr>
          <p:cNvGrpSpPr/>
          <p:nvPr/>
        </p:nvGrpSpPr>
        <p:grpSpPr>
          <a:xfrm>
            <a:off x="4583844" y="2847220"/>
            <a:ext cx="5688621" cy="583381"/>
            <a:chOff x="3682635" y="3001003"/>
            <a:chExt cx="4397834" cy="583381"/>
          </a:xfrm>
        </p:grpSpPr>
        <p:grpSp>
          <p:nvGrpSpPr>
            <p:cNvPr id="34" name="Group 60">
              <a:extLst>
                <a:ext uri="{FF2B5EF4-FFF2-40B4-BE49-F238E27FC236}">
                  <a16:creationId xmlns:a16="http://schemas.microsoft.com/office/drawing/2014/main" id="{C997B658-7A48-41CC-AF52-B3153190F21F}"/>
                </a:ext>
              </a:extLst>
            </p:cNvPr>
            <p:cNvGrpSpPr/>
            <p:nvPr/>
          </p:nvGrpSpPr>
          <p:grpSpPr>
            <a:xfrm>
              <a:off x="3682635" y="3001003"/>
              <a:ext cx="1705985" cy="307777"/>
              <a:chOff x="5436656" y="998461"/>
              <a:chExt cx="2274643" cy="410369"/>
            </a:xfrm>
          </p:grpSpPr>
          <p:sp>
            <p:nvSpPr>
              <p:cNvPr id="36" name="Oval 35">
                <a:extLst>
                  <a:ext uri="{FF2B5EF4-FFF2-40B4-BE49-F238E27FC236}">
                    <a16:creationId xmlns:a16="http://schemas.microsoft.com/office/drawing/2014/main" id="{C536E87E-16B7-4AC0-B31F-E15F5D61260B}"/>
                  </a:ext>
                </a:extLst>
              </p:cNvPr>
              <p:cNvSpPr/>
              <p:nvPr/>
            </p:nvSpPr>
            <p:spPr>
              <a:xfrm>
                <a:off x="5436656" y="1087502"/>
                <a:ext cx="143185" cy="184280"/>
              </a:xfrm>
              <a:prstGeom prst="ellipse">
                <a:avLst/>
              </a:prstGeom>
              <a:solidFill>
                <a:schemeClr val="accent1">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dirty="0">
                  <a:solidFill>
                    <a:schemeClr val="tx1"/>
                  </a:solidFill>
                  <a:latin typeface="Calibri" panose="020F0502020204030204"/>
                </a:endParaRPr>
              </a:p>
            </p:txBody>
          </p:sp>
          <p:sp>
            <p:nvSpPr>
              <p:cNvPr id="37" name="TextBox 77">
                <a:extLst>
                  <a:ext uri="{FF2B5EF4-FFF2-40B4-BE49-F238E27FC236}">
                    <a16:creationId xmlns:a16="http://schemas.microsoft.com/office/drawing/2014/main" id="{FFA50ACD-2953-4CC3-A390-7FB42C2FAA4F}"/>
                  </a:ext>
                </a:extLst>
              </p:cNvPr>
              <p:cNvSpPr txBox="1"/>
              <p:nvPr/>
            </p:nvSpPr>
            <p:spPr>
              <a:xfrm>
                <a:off x="5660392" y="998461"/>
                <a:ext cx="2050907" cy="410369"/>
              </a:xfrm>
              <a:prstGeom prst="rect">
                <a:avLst/>
              </a:prstGeom>
              <a:noFill/>
            </p:spPr>
            <p:txBody>
              <a:bodyPr wrap="none" rtlCol="0">
                <a:spAutoFit/>
              </a:bodyPr>
              <a:lstStyle/>
              <a:p>
                <a:pPr defTabSz="685800"/>
                <a:r>
                  <a:rPr lang="en-US" sz="1400" b="1" dirty="0">
                    <a:latin typeface="Tahoma" panose="020B0604030504040204" pitchFamily="34" charset="0"/>
                    <a:ea typeface="Tahoma" panose="020B0604030504040204" pitchFamily="34" charset="0"/>
                    <a:cs typeface="Tahoma" panose="020B0604030504040204" pitchFamily="34" charset="0"/>
                  </a:rPr>
                  <a:t>Surface Preparation</a:t>
                </a:r>
              </a:p>
            </p:txBody>
          </p:sp>
        </p:grpSp>
        <p:sp>
          <p:nvSpPr>
            <p:cNvPr id="35" name="TextBox 111">
              <a:extLst>
                <a:ext uri="{FF2B5EF4-FFF2-40B4-BE49-F238E27FC236}">
                  <a16:creationId xmlns:a16="http://schemas.microsoft.com/office/drawing/2014/main" id="{72490990-5751-49AD-89D0-2A1BCF0602A2}"/>
                </a:ext>
              </a:extLst>
            </p:cNvPr>
            <p:cNvSpPr txBox="1"/>
            <p:nvPr/>
          </p:nvSpPr>
          <p:spPr>
            <a:xfrm>
              <a:off x="3790014" y="3301165"/>
              <a:ext cx="4290455" cy="283219"/>
            </a:xfrm>
            <a:prstGeom prst="rect">
              <a:avLst/>
            </a:prstGeom>
            <a:noFill/>
          </p:spPr>
          <p:txBody>
            <a:bodyPr wrap="square" rtlCol="0">
              <a:spAutoFit/>
            </a:bodyPr>
            <a:lstStyle/>
            <a:p>
              <a:pPr marL="171450" indent="-171450">
                <a:lnSpc>
                  <a:spcPct val="115000"/>
                </a:lnSpc>
                <a:buSzPts val="1400"/>
                <a:buFontTx/>
                <a:buChar char="-"/>
              </a:pPr>
              <a:r>
                <a:rPr lang="en-US" sz="1200" dirty="0" err="1">
                  <a:latin typeface="Tahoma" panose="020B0604030504040204" pitchFamily="34" charset="0"/>
                  <a:ea typeface="Tahoma" panose="020B0604030504040204" pitchFamily="34" charset="0"/>
                  <a:cs typeface="Tahoma" panose="020B0604030504040204" pitchFamily="34" charset="0"/>
                </a:rPr>
                <a:t>Menggunakan</a:t>
              </a:r>
              <a:r>
                <a:rPr lang="en-US" sz="1200" dirty="0">
                  <a:latin typeface="Tahoma" panose="020B0604030504040204" pitchFamily="34" charset="0"/>
                  <a:ea typeface="Tahoma" panose="020B0604030504040204" pitchFamily="34" charset="0"/>
                  <a:cs typeface="Tahoma" panose="020B0604030504040204" pitchFamily="34" charset="0"/>
                </a:rPr>
                <a:t> power tool SSPC – SP - 3</a:t>
              </a:r>
              <a:endParaRPr lang="id-ID" sz="120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38" name="Grup 73">
            <a:extLst>
              <a:ext uri="{FF2B5EF4-FFF2-40B4-BE49-F238E27FC236}">
                <a16:creationId xmlns:a16="http://schemas.microsoft.com/office/drawing/2014/main" id="{C0F6DCCC-EB8C-49B4-9C66-8E9365BCA089}"/>
              </a:ext>
            </a:extLst>
          </p:cNvPr>
          <p:cNvGrpSpPr/>
          <p:nvPr/>
        </p:nvGrpSpPr>
        <p:grpSpPr>
          <a:xfrm>
            <a:off x="239206" y="6309321"/>
            <a:ext cx="2832458" cy="354841"/>
            <a:chOff x="114776" y="6421683"/>
            <a:chExt cx="2832458" cy="354841"/>
          </a:xfrm>
        </p:grpSpPr>
        <p:sp>
          <p:nvSpPr>
            <p:cNvPr id="39" name="TextBox 14">
              <a:extLst>
                <a:ext uri="{FF2B5EF4-FFF2-40B4-BE49-F238E27FC236}">
                  <a16:creationId xmlns:a16="http://schemas.microsoft.com/office/drawing/2014/main" id="{894F2DAE-2634-4C65-B6E0-F4A6CE6E488C}"/>
                </a:ext>
              </a:extLst>
            </p:cNvPr>
            <p:cNvSpPr txBox="1"/>
            <p:nvPr/>
          </p:nvSpPr>
          <p:spPr>
            <a:xfrm>
              <a:off x="271269" y="6473331"/>
              <a:ext cx="2675965" cy="261610"/>
            </a:xfrm>
            <a:prstGeom prst="rect">
              <a:avLst/>
            </a:prstGeom>
            <a:noFill/>
          </p:spPr>
          <p:txBody>
            <a:bodyPr wrap="square" rtlCol="0">
              <a:spAutoFit/>
            </a:bodyPr>
            <a:lstStyle/>
            <a:p>
              <a:r>
                <a:rPr lang="id-ID" sz="1100" b="1" dirty="0">
                  <a:solidFill>
                    <a:srgbClr val="FF0000"/>
                  </a:solidFill>
                </a:rPr>
                <a:t>   </a:t>
              </a:r>
              <a:r>
                <a:rPr lang="en-US" sz="1000" b="1" dirty="0">
                  <a:solidFill>
                    <a:srgbClr val="FF0000"/>
                  </a:solidFill>
                </a:rPr>
                <a:t>PT. </a:t>
              </a:r>
              <a:r>
                <a:rPr lang="id-ID" sz="1000" b="1" dirty="0">
                  <a:solidFill>
                    <a:srgbClr val="FF0000"/>
                  </a:solidFill>
                </a:rPr>
                <a:t>PANGESTU ANUGERAH ABADI</a:t>
              </a:r>
              <a:endParaRPr lang="id-ID" sz="1100" dirty="0">
                <a:solidFill>
                  <a:srgbClr val="FF0000"/>
                </a:solidFill>
              </a:endParaRPr>
            </a:p>
          </p:txBody>
        </p:sp>
        <p:sp>
          <p:nvSpPr>
            <p:cNvPr id="40" name="Parallelogram 15">
              <a:extLst>
                <a:ext uri="{FF2B5EF4-FFF2-40B4-BE49-F238E27FC236}">
                  <a16:creationId xmlns:a16="http://schemas.microsoft.com/office/drawing/2014/main" id="{729BF30D-A36E-46F6-9B73-1A3ED7C22463}"/>
                </a:ext>
              </a:extLst>
            </p:cNvPr>
            <p:cNvSpPr/>
            <p:nvPr/>
          </p:nvSpPr>
          <p:spPr>
            <a:xfrm>
              <a:off x="114776" y="6421683"/>
              <a:ext cx="324023" cy="354841"/>
            </a:xfrm>
            <a:prstGeom prst="parallelogram">
              <a:avLst>
                <a:gd name="adj" fmla="val 64317"/>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48" name="Group 47">
            <a:extLst>
              <a:ext uri="{FF2B5EF4-FFF2-40B4-BE49-F238E27FC236}">
                <a16:creationId xmlns:a16="http://schemas.microsoft.com/office/drawing/2014/main" id="{71C38777-DD39-450D-BD23-FE557E72E5EC}"/>
              </a:ext>
            </a:extLst>
          </p:cNvPr>
          <p:cNvGrpSpPr/>
          <p:nvPr/>
        </p:nvGrpSpPr>
        <p:grpSpPr>
          <a:xfrm>
            <a:off x="-28280" y="564125"/>
            <a:ext cx="11421639" cy="5741470"/>
            <a:chOff x="-25810" y="558265"/>
            <a:chExt cx="11421639" cy="5741470"/>
          </a:xfrm>
        </p:grpSpPr>
        <p:sp>
          <p:nvSpPr>
            <p:cNvPr id="49" name="Rectangle 48">
              <a:extLst>
                <a:ext uri="{FF2B5EF4-FFF2-40B4-BE49-F238E27FC236}">
                  <a16:creationId xmlns:a16="http://schemas.microsoft.com/office/drawing/2014/main" id="{C6FF362F-5A0D-4462-83D2-D78B80F9D9D8}"/>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B8608E7C-AD27-450B-B08D-6DED15091485}"/>
                </a:ext>
              </a:extLst>
            </p:cNvPr>
            <p:cNvGrpSpPr/>
            <p:nvPr/>
          </p:nvGrpSpPr>
          <p:grpSpPr>
            <a:xfrm>
              <a:off x="-25810" y="567070"/>
              <a:ext cx="543980" cy="5732665"/>
              <a:chOff x="-62386" y="567070"/>
              <a:chExt cx="543980" cy="5732665"/>
            </a:xfrm>
          </p:grpSpPr>
          <p:sp>
            <p:nvSpPr>
              <p:cNvPr id="52" name="Oval 51">
                <a:extLst>
                  <a:ext uri="{FF2B5EF4-FFF2-40B4-BE49-F238E27FC236}">
                    <a16:creationId xmlns:a16="http://schemas.microsoft.com/office/drawing/2014/main" id="{99C50BDD-18B5-47E7-AA6E-F7CED87D3140}"/>
                  </a:ext>
                </a:extLst>
              </p:cNvPr>
              <p:cNvSpPr/>
              <p:nvPr/>
            </p:nvSpPr>
            <p:spPr>
              <a:xfrm>
                <a:off x="-15044" y="2864718"/>
                <a:ext cx="496638" cy="114300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Top Corners Snipped 52">
                <a:extLst>
                  <a:ext uri="{FF2B5EF4-FFF2-40B4-BE49-F238E27FC236}">
                    <a16:creationId xmlns:a16="http://schemas.microsoft.com/office/drawing/2014/main" id="{F79971E0-2F2D-4918-AD20-607E037DB8D6}"/>
                  </a:ext>
                </a:extLst>
              </p:cNvPr>
              <p:cNvSpPr/>
              <p:nvPr/>
            </p:nvSpPr>
            <p:spPr>
              <a:xfrm rot="5400000">
                <a:off x="-1743908" y="3275527"/>
                <a:ext cx="3794762" cy="306946"/>
              </a:xfrm>
              <a:prstGeom prst="snip2SameRect">
                <a:avLst/>
              </a:prstGeom>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extBox 53">
                <a:extLst>
                  <a:ext uri="{FF2B5EF4-FFF2-40B4-BE49-F238E27FC236}">
                    <a16:creationId xmlns:a16="http://schemas.microsoft.com/office/drawing/2014/main" id="{2B810720-1E64-4E58-8C9A-32BB2EA2EF11}"/>
                  </a:ext>
                </a:extLst>
              </p:cNvPr>
              <p:cNvSpPr txBox="1"/>
              <p:nvPr/>
            </p:nvSpPr>
            <p:spPr>
              <a:xfrm rot="16200000">
                <a:off x="-947568" y="3251856"/>
                <a:ext cx="2139696" cy="369332"/>
              </a:xfrm>
              <a:prstGeom prst="rect">
                <a:avLst/>
              </a:prstGeom>
              <a:noFill/>
              <a:ln>
                <a:noFill/>
              </a:ln>
            </p:spPr>
            <p:txBody>
              <a:bodyPr wrap="square" rtlCol="0" anchor="ctr">
                <a:spAutoFit/>
              </a:bodyPr>
              <a:lstStyle/>
              <a:p>
                <a:pPr algn="ctr"/>
                <a:r>
                  <a:rPr lang="en-US" dirty="0">
                    <a:solidFill>
                      <a:schemeClr val="bg1"/>
                    </a:solidFill>
                  </a:rPr>
                  <a:t>OVERVIEW PROJECT</a:t>
                </a:r>
              </a:p>
            </p:txBody>
          </p:sp>
          <p:cxnSp>
            <p:nvCxnSpPr>
              <p:cNvPr id="55" name="Straight Connector 54">
                <a:extLst>
                  <a:ext uri="{FF2B5EF4-FFF2-40B4-BE49-F238E27FC236}">
                    <a16:creationId xmlns:a16="http://schemas.microsoft.com/office/drawing/2014/main" id="{B7B42AF0-BA5A-416C-B1B1-075BE094C483}"/>
                  </a:ext>
                </a:extLst>
              </p:cNvPr>
              <p:cNvCxnSpPr>
                <a:cxnSpLocks/>
              </p:cNvCxnSpPr>
              <p:nvPr/>
            </p:nvCxnSpPr>
            <p:spPr>
              <a:xfrm>
                <a:off x="-7088" y="567070"/>
                <a:ext cx="7088" cy="5732665"/>
              </a:xfrm>
              <a:prstGeom prst="line">
                <a:avLst/>
              </a:prstGeom>
              <a:ln w="50800"/>
            </p:spPr>
            <p:style>
              <a:lnRef idx="1">
                <a:schemeClr val="accent1"/>
              </a:lnRef>
              <a:fillRef idx="0">
                <a:schemeClr val="accent1"/>
              </a:fillRef>
              <a:effectRef idx="0">
                <a:schemeClr val="accent1"/>
              </a:effectRef>
              <a:fontRef idx="minor">
                <a:schemeClr val="tx1"/>
              </a:fontRef>
            </p:style>
          </p:cxnSp>
        </p:grpSp>
        <p:sp>
          <p:nvSpPr>
            <p:cNvPr id="51" name="Rectangle 50">
              <a:extLst>
                <a:ext uri="{FF2B5EF4-FFF2-40B4-BE49-F238E27FC236}">
                  <a16:creationId xmlns:a16="http://schemas.microsoft.com/office/drawing/2014/main" id="{C6115771-0A48-4B8E-93A7-978671803BEF}"/>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6" name="Group 55">
            <a:extLst>
              <a:ext uri="{FF2B5EF4-FFF2-40B4-BE49-F238E27FC236}">
                <a16:creationId xmlns:a16="http://schemas.microsoft.com/office/drawing/2014/main" id="{B5263C60-50C6-42DB-B774-427B8FC18132}"/>
              </a:ext>
            </a:extLst>
          </p:cNvPr>
          <p:cNvGrpSpPr/>
          <p:nvPr/>
        </p:nvGrpSpPr>
        <p:grpSpPr>
          <a:xfrm>
            <a:off x="269614" y="574040"/>
            <a:ext cx="11421639" cy="5741470"/>
            <a:chOff x="-25810" y="558265"/>
            <a:chExt cx="11421639" cy="5741470"/>
          </a:xfrm>
        </p:grpSpPr>
        <p:sp>
          <p:nvSpPr>
            <p:cNvPr id="57" name="Rectangle 56">
              <a:extLst>
                <a:ext uri="{FF2B5EF4-FFF2-40B4-BE49-F238E27FC236}">
                  <a16:creationId xmlns:a16="http://schemas.microsoft.com/office/drawing/2014/main" id="{E228F746-9671-4856-823C-43AD740C1C68}"/>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F65BA7F7-1A63-47DD-901D-B7B9D1E71B7B}"/>
                </a:ext>
              </a:extLst>
            </p:cNvPr>
            <p:cNvGrpSpPr/>
            <p:nvPr/>
          </p:nvGrpSpPr>
          <p:grpSpPr>
            <a:xfrm>
              <a:off x="-25810" y="567070"/>
              <a:ext cx="543980" cy="5732665"/>
              <a:chOff x="-62386" y="567070"/>
              <a:chExt cx="543980" cy="5732665"/>
            </a:xfrm>
          </p:grpSpPr>
          <p:sp>
            <p:nvSpPr>
              <p:cNvPr id="60" name="Oval 59">
                <a:extLst>
                  <a:ext uri="{FF2B5EF4-FFF2-40B4-BE49-F238E27FC236}">
                    <a16:creationId xmlns:a16="http://schemas.microsoft.com/office/drawing/2014/main" id="{33E2ECA8-8CF1-47E1-BB9B-30B5C141B07B}"/>
                  </a:ext>
                </a:extLst>
              </p:cNvPr>
              <p:cNvSpPr/>
              <p:nvPr/>
            </p:nvSpPr>
            <p:spPr>
              <a:xfrm>
                <a:off x="-15044" y="2864718"/>
                <a:ext cx="496638" cy="114300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Top Corners Snipped 60">
                <a:extLst>
                  <a:ext uri="{FF2B5EF4-FFF2-40B4-BE49-F238E27FC236}">
                    <a16:creationId xmlns:a16="http://schemas.microsoft.com/office/drawing/2014/main" id="{B88184F1-B309-4674-91F0-C549F256FBC2}"/>
                  </a:ext>
                </a:extLst>
              </p:cNvPr>
              <p:cNvSpPr/>
              <p:nvPr/>
            </p:nvSpPr>
            <p:spPr>
              <a:xfrm rot="5400000">
                <a:off x="-1743908" y="3275527"/>
                <a:ext cx="3794762" cy="306946"/>
              </a:xfrm>
              <a:prstGeom prst="snip2SameRect">
                <a:avLst/>
              </a:prstGeom>
              <a:solidFill>
                <a:schemeClr val="accent2">
                  <a:lumMod val="60000"/>
                  <a:lumOff val="4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TextBox 61">
                <a:extLst>
                  <a:ext uri="{FF2B5EF4-FFF2-40B4-BE49-F238E27FC236}">
                    <a16:creationId xmlns:a16="http://schemas.microsoft.com/office/drawing/2014/main" id="{510F2F3F-20D3-44C1-93D5-F7FD9EA42CEF}"/>
                  </a:ext>
                </a:extLst>
              </p:cNvPr>
              <p:cNvSpPr txBox="1"/>
              <p:nvPr/>
            </p:nvSpPr>
            <p:spPr>
              <a:xfrm rot="16200000">
                <a:off x="-947568" y="3251856"/>
                <a:ext cx="2139696" cy="369332"/>
              </a:xfrm>
              <a:prstGeom prst="rect">
                <a:avLst/>
              </a:prstGeom>
              <a:noFill/>
              <a:ln>
                <a:noFill/>
              </a:ln>
            </p:spPr>
            <p:txBody>
              <a:bodyPr wrap="square" rtlCol="0" anchor="ctr">
                <a:spAutoFit/>
              </a:bodyPr>
              <a:lstStyle/>
              <a:p>
                <a:pPr algn="ctr"/>
                <a:r>
                  <a:rPr lang="en-US" dirty="0">
                    <a:solidFill>
                      <a:schemeClr val="bg1"/>
                    </a:solidFill>
                  </a:rPr>
                  <a:t>PROGRESS</a:t>
                </a:r>
              </a:p>
            </p:txBody>
          </p:sp>
          <p:cxnSp>
            <p:nvCxnSpPr>
              <p:cNvPr id="63" name="Straight Connector 62">
                <a:extLst>
                  <a:ext uri="{FF2B5EF4-FFF2-40B4-BE49-F238E27FC236}">
                    <a16:creationId xmlns:a16="http://schemas.microsoft.com/office/drawing/2014/main" id="{64615A5F-6449-4AB6-B271-3C49557CD246}"/>
                  </a:ext>
                </a:extLst>
              </p:cNvPr>
              <p:cNvCxnSpPr>
                <a:cxnSpLocks/>
              </p:cNvCxnSpPr>
              <p:nvPr/>
            </p:nvCxnSpPr>
            <p:spPr>
              <a:xfrm>
                <a:off x="-7088" y="567070"/>
                <a:ext cx="7088" cy="5732665"/>
              </a:xfrm>
              <a:prstGeom prst="line">
                <a:avLst/>
              </a:prstGeom>
              <a:ln w="508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59" name="Rectangle 58">
              <a:extLst>
                <a:ext uri="{FF2B5EF4-FFF2-40B4-BE49-F238E27FC236}">
                  <a16:creationId xmlns:a16="http://schemas.microsoft.com/office/drawing/2014/main" id="{E61954F6-20C5-4163-881E-EAE63423E3DE}"/>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5" name="Picture 64">
            <a:extLst>
              <a:ext uri="{FF2B5EF4-FFF2-40B4-BE49-F238E27FC236}">
                <a16:creationId xmlns:a16="http://schemas.microsoft.com/office/drawing/2014/main" id="{6E4F8254-F0AE-4C4A-957F-E269A205D2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4756" y="27198"/>
            <a:ext cx="1928572" cy="849085"/>
          </a:xfrm>
          <a:prstGeom prst="rect">
            <a:avLst/>
          </a:prstGeom>
        </p:spPr>
      </p:pic>
      <p:grpSp>
        <p:nvGrpSpPr>
          <p:cNvPr id="3" name="Grup 70">
            <a:extLst>
              <a:ext uri="{FF2B5EF4-FFF2-40B4-BE49-F238E27FC236}">
                <a16:creationId xmlns:a16="http://schemas.microsoft.com/office/drawing/2014/main" id="{183A9CB0-B00C-4E64-B1B8-FFE0C0F41412}"/>
              </a:ext>
            </a:extLst>
          </p:cNvPr>
          <p:cNvGrpSpPr/>
          <p:nvPr/>
        </p:nvGrpSpPr>
        <p:grpSpPr>
          <a:xfrm>
            <a:off x="1415480" y="1407061"/>
            <a:ext cx="3045977" cy="3930991"/>
            <a:chOff x="573188" y="1559320"/>
            <a:chExt cx="3045977" cy="3930991"/>
          </a:xfrm>
        </p:grpSpPr>
        <p:cxnSp>
          <p:nvCxnSpPr>
            <p:cNvPr id="4" name="Straight Connector 88">
              <a:extLst>
                <a:ext uri="{FF2B5EF4-FFF2-40B4-BE49-F238E27FC236}">
                  <a16:creationId xmlns:a16="http://schemas.microsoft.com/office/drawing/2014/main" id="{3B87C06C-B124-40A9-9AB3-56123F1FE2B6}"/>
                </a:ext>
              </a:extLst>
            </p:cNvPr>
            <p:cNvCxnSpPr>
              <a:cxnSpLocks/>
              <a:stCxn id="5" idx="3"/>
            </p:cNvCxnSpPr>
            <p:nvPr/>
          </p:nvCxnSpPr>
          <p:spPr>
            <a:xfrm flipV="1">
              <a:off x="1726886" y="1972732"/>
              <a:ext cx="202819" cy="54968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5" name="Freeform: Shape 93">
              <a:extLst>
                <a:ext uri="{FF2B5EF4-FFF2-40B4-BE49-F238E27FC236}">
                  <a16:creationId xmlns:a16="http://schemas.microsoft.com/office/drawing/2014/main" id="{3EBF0BE9-C714-4D3F-A555-746EB1455630}"/>
                </a:ext>
              </a:extLst>
            </p:cNvPr>
            <p:cNvSpPr/>
            <p:nvPr/>
          </p:nvSpPr>
          <p:spPr>
            <a:xfrm rot="1242827">
              <a:off x="1631728" y="2517869"/>
              <a:ext cx="140589" cy="140589"/>
            </a:xfrm>
            <a:custGeom>
              <a:avLst/>
              <a:gdLst>
                <a:gd name="connsiteX0" fmla="*/ 187452 w 187452"/>
                <a:gd name="connsiteY0" fmla="*/ 93726 h 187452"/>
                <a:gd name="connsiteX1" fmla="*/ 93726 w 187452"/>
                <a:gd name="connsiteY1" fmla="*/ 187452 h 187452"/>
                <a:gd name="connsiteX2" fmla="*/ 0 w 187452"/>
                <a:gd name="connsiteY2" fmla="*/ 93726 h 187452"/>
                <a:gd name="connsiteX3" fmla="*/ 93726 w 187452"/>
                <a:gd name="connsiteY3" fmla="*/ 0 h 187452"/>
                <a:gd name="connsiteX4" fmla="*/ 187452 w 187452"/>
                <a:gd name="connsiteY4" fmla="*/ 93726 h 187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2" h="187452">
                  <a:moveTo>
                    <a:pt x="187452" y="93726"/>
                  </a:moveTo>
                  <a:cubicBezTo>
                    <a:pt x="187452" y="145489"/>
                    <a:pt x="145489" y="187452"/>
                    <a:pt x="93726" y="187452"/>
                  </a:cubicBezTo>
                  <a:cubicBezTo>
                    <a:pt x="41963" y="187452"/>
                    <a:pt x="0" y="145489"/>
                    <a:pt x="0" y="93726"/>
                  </a:cubicBezTo>
                  <a:cubicBezTo>
                    <a:pt x="0" y="41963"/>
                    <a:pt x="41963" y="0"/>
                    <a:pt x="93726" y="0"/>
                  </a:cubicBezTo>
                  <a:cubicBezTo>
                    <a:pt x="145489" y="0"/>
                    <a:pt x="187452" y="41963"/>
                    <a:pt x="187452" y="93726"/>
                  </a:cubicBezTo>
                  <a:close/>
                </a:path>
              </a:pathLst>
            </a:custGeom>
            <a:solidFill>
              <a:schemeClr val="accent2"/>
            </a:solidFill>
            <a:ln w="9525" cap="flat">
              <a:noFill/>
              <a:prstDash val="solid"/>
              <a:miter/>
            </a:ln>
          </p:spPr>
          <p:txBody>
            <a:bodyPr rtlCol="0" anchor="ctr"/>
            <a:lstStyle/>
            <a:p>
              <a:pPr defTabSz="685800"/>
              <a:endParaRPr lang="en-US" sz="1350">
                <a:latin typeface="Calibri" panose="020F0502020204030204"/>
              </a:endParaRPr>
            </a:p>
          </p:txBody>
        </p:sp>
        <p:grpSp>
          <p:nvGrpSpPr>
            <p:cNvPr id="6" name="Grup 69">
              <a:extLst>
                <a:ext uri="{FF2B5EF4-FFF2-40B4-BE49-F238E27FC236}">
                  <a16:creationId xmlns:a16="http://schemas.microsoft.com/office/drawing/2014/main" id="{F79D0D1F-A2F1-4CB1-ADF3-0095337251F8}"/>
                </a:ext>
              </a:extLst>
            </p:cNvPr>
            <p:cNvGrpSpPr/>
            <p:nvPr/>
          </p:nvGrpSpPr>
          <p:grpSpPr>
            <a:xfrm>
              <a:off x="573188" y="1559320"/>
              <a:ext cx="3045977" cy="3930991"/>
              <a:chOff x="573188" y="1559320"/>
              <a:chExt cx="3045977" cy="3930991"/>
            </a:xfrm>
          </p:grpSpPr>
          <p:sp>
            <p:nvSpPr>
              <p:cNvPr id="7" name="Freeform: Shape 114">
                <a:extLst>
                  <a:ext uri="{FF2B5EF4-FFF2-40B4-BE49-F238E27FC236}">
                    <a16:creationId xmlns:a16="http://schemas.microsoft.com/office/drawing/2014/main" id="{58AD0C03-2E06-4ABA-BE92-AB2F160BB47C}"/>
                  </a:ext>
                </a:extLst>
              </p:cNvPr>
              <p:cNvSpPr/>
              <p:nvPr/>
            </p:nvSpPr>
            <p:spPr>
              <a:xfrm>
                <a:off x="1497354" y="1559320"/>
                <a:ext cx="844820" cy="844820"/>
              </a:xfrm>
              <a:custGeom>
                <a:avLst/>
                <a:gdLst>
                  <a:gd name="connsiteX0" fmla="*/ 1126427 w 1126426"/>
                  <a:gd name="connsiteY0" fmla="*/ 563213 h 1126426"/>
                  <a:gd name="connsiteX1" fmla="*/ 563213 w 1126426"/>
                  <a:gd name="connsiteY1" fmla="*/ 1126427 h 1126426"/>
                  <a:gd name="connsiteX2" fmla="*/ 0 w 1126426"/>
                  <a:gd name="connsiteY2" fmla="*/ 563213 h 1126426"/>
                  <a:gd name="connsiteX3" fmla="*/ 563213 w 1126426"/>
                  <a:gd name="connsiteY3" fmla="*/ 0 h 1126426"/>
                  <a:gd name="connsiteX4" fmla="*/ 1126427 w 1126426"/>
                  <a:gd name="connsiteY4" fmla="*/ 563213 h 1126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426" h="1126426">
                    <a:moveTo>
                      <a:pt x="1126427" y="563213"/>
                    </a:moveTo>
                    <a:cubicBezTo>
                      <a:pt x="1126427" y="874267"/>
                      <a:pt x="874268" y="1126427"/>
                      <a:pt x="563213" y="1126427"/>
                    </a:cubicBezTo>
                    <a:cubicBezTo>
                      <a:pt x="252159" y="1126427"/>
                      <a:pt x="0" y="874267"/>
                      <a:pt x="0" y="563213"/>
                    </a:cubicBezTo>
                    <a:cubicBezTo>
                      <a:pt x="0" y="252159"/>
                      <a:pt x="252159" y="0"/>
                      <a:pt x="563213" y="0"/>
                    </a:cubicBezTo>
                    <a:cubicBezTo>
                      <a:pt x="874267" y="0"/>
                      <a:pt x="1126427" y="252159"/>
                      <a:pt x="1126427" y="563213"/>
                    </a:cubicBezTo>
                    <a:close/>
                  </a:path>
                </a:pathLst>
              </a:custGeom>
              <a:noFill/>
              <a:ln w="66590" cap="flat">
                <a:gradFill flip="none" rotWithShape="1">
                  <a:gsLst>
                    <a:gs pos="16000">
                      <a:srgbClr val="484848"/>
                    </a:gs>
                    <a:gs pos="86000">
                      <a:schemeClr val="accent2"/>
                    </a:gs>
                  </a:gsLst>
                  <a:lin ang="18900000" scaled="1"/>
                  <a:tileRect/>
                </a:gradFill>
                <a:prstDash val="solid"/>
                <a:miter/>
              </a:ln>
            </p:spPr>
            <p:txBody>
              <a:bodyPr rtlCol="0" anchor="ctr"/>
              <a:lstStyle/>
              <a:p>
                <a:pPr defTabSz="685800"/>
                <a:endParaRPr lang="en-US" sz="1350" dirty="0">
                  <a:latin typeface="Calibri" panose="020F0502020204030204"/>
                </a:endParaRPr>
              </a:p>
            </p:txBody>
          </p:sp>
          <p:sp>
            <p:nvSpPr>
              <p:cNvPr id="8" name="Freeform: Shape 112">
                <a:extLst>
                  <a:ext uri="{FF2B5EF4-FFF2-40B4-BE49-F238E27FC236}">
                    <a16:creationId xmlns:a16="http://schemas.microsoft.com/office/drawing/2014/main" id="{D1B3C52E-CD55-4D5A-B1E6-C496AEA44C8A}"/>
                  </a:ext>
                </a:extLst>
              </p:cNvPr>
              <p:cNvSpPr/>
              <p:nvPr/>
            </p:nvSpPr>
            <p:spPr>
              <a:xfrm>
                <a:off x="1638944" y="1700909"/>
                <a:ext cx="561641" cy="561641"/>
              </a:xfrm>
              <a:custGeom>
                <a:avLst/>
                <a:gdLst>
                  <a:gd name="connsiteX0" fmla="*/ 748855 w 748855"/>
                  <a:gd name="connsiteY0" fmla="*/ 374428 h 748855"/>
                  <a:gd name="connsiteX1" fmla="*/ 374428 w 748855"/>
                  <a:gd name="connsiteY1" fmla="*/ 748856 h 748855"/>
                  <a:gd name="connsiteX2" fmla="*/ 0 w 748855"/>
                  <a:gd name="connsiteY2" fmla="*/ 374428 h 748855"/>
                  <a:gd name="connsiteX3" fmla="*/ 374428 w 748855"/>
                  <a:gd name="connsiteY3" fmla="*/ 0 h 748855"/>
                  <a:gd name="connsiteX4" fmla="*/ 748855 w 748855"/>
                  <a:gd name="connsiteY4" fmla="*/ 374428 h 748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855" h="748855">
                    <a:moveTo>
                      <a:pt x="748855" y="374428"/>
                    </a:moveTo>
                    <a:cubicBezTo>
                      <a:pt x="748855" y="581219"/>
                      <a:pt x="581218" y="748856"/>
                      <a:pt x="374428" y="748856"/>
                    </a:cubicBezTo>
                    <a:cubicBezTo>
                      <a:pt x="167637" y="748856"/>
                      <a:pt x="0" y="581219"/>
                      <a:pt x="0" y="374428"/>
                    </a:cubicBezTo>
                    <a:cubicBezTo>
                      <a:pt x="0" y="167637"/>
                      <a:pt x="167637" y="0"/>
                      <a:pt x="374428" y="0"/>
                    </a:cubicBezTo>
                    <a:cubicBezTo>
                      <a:pt x="581219" y="0"/>
                      <a:pt x="748855" y="167637"/>
                      <a:pt x="748855" y="374428"/>
                    </a:cubicBezTo>
                    <a:close/>
                  </a:path>
                </a:pathLst>
              </a:custGeom>
              <a:gradFill>
                <a:gsLst>
                  <a:gs pos="0">
                    <a:schemeClr val="accent2"/>
                  </a:gs>
                  <a:gs pos="100000">
                    <a:schemeClr val="accent2">
                      <a:lumMod val="75000"/>
                    </a:schemeClr>
                  </a:gs>
                </a:gsLst>
                <a:lin ang="0" scaled="0"/>
              </a:gradFill>
              <a:ln w="9525" cap="flat">
                <a:noFill/>
                <a:prstDash val="solid"/>
                <a:miter/>
              </a:ln>
              <a:effectLst>
                <a:outerShdw blurRad="50800" dist="38100" dir="2700000" algn="tl" rotWithShape="0">
                  <a:prstClr val="black">
                    <a:alpha val="40000"/>
                  </a:prstClr>
                </a:outerShdw>
              </a:effectLst>
            </p:spPr>
            <p:txBody>
              <a:bodyPr rtlCol="0" anchor="ctr"/>
              <a:lstStyle/>
              <a:p>
                <a:pPr algn="ctr" defTabSz="685800"/>
                <a:r>
                  <a:rPr lang="en-US" sz="1350" b="1" dirty="0">
                    <a:latin typeface="Calibri" panose="020F0502020204030204"/>
                  </a:rPr>
                  <a:t>01</a:t>
                </a:r>
              </a:p>
            </p:txBody>
          </p:sp>
          <p:grpSp>
            <p:nvGrpSpPr>
              <p:cNvPr id="9" name="Grup 58">
                <a:extLst>
                  <a:ext uri="{FF2B5EF4-FFF2-40B4-BE49-F238E27FC236}">
                    <a16:creationId xmlns:a16="http://schemas.microsoft.com/office/drawing/2014/main" id="{ED4C3B30-499C-4888-BE39-4A490AA6FB03}"/>
                  </a:ext>
                </a:extLst>
              </p:cNvPr>
              <p:cNvGrpSpPr/>
              <p:nvPr/>
            </p:nvGrpSpPr>
            <p:grpSpPr>
              <a:xfrm rot="2168860">
                <a:off x="2595680" y="2975617"/>
                <a:ext cx="1023485" cy="879038"/>
                <a:chOff x="2187798" y="2080457"/>
                <a:chExt cx="1023485" cy="879038"/>
              </a:xfrm>
            </p:grpSpPr>
            <p:sp>
              <p:nvSpPr>
                <p:cNvPr id="19" name="Freeform: Shape 115">
                  <a:extLst>
                    <a:ext uri="{FF2B5EF4-FFF2-40B4-BE49-F238E27FC236}">
                      <a16:creationId xmlns:a16="http://schemas.microsoft.com/office/drawing/2014/main" id="{DBC41694-0773-44C4-8406-D835575A90F4}"/>
                    </a:ext>
                  </a:extLst>
                </p:cNvPr>
                <p:cNvSpPr/>
                <p:nvPr/>
              </p:nvSpPr>
              <p:spPr>
                <a:xfrm>
                  <a:off x="2366463" y="2080457"/>
                  <a:ext cx="844820" cy="844820"/>
                </a:xfrm>
                <a:custGeom>
                  <a:avLst/>
                  <a:gdLst>
                    <a:gd name="connsiteX0" fmla="*/ 1126427 w 1126426"/>
                    <a:gd name="connsiteY0" fmla="*/ 563213 h 1126426"/>
                    <a:gd name="connsiteX1" fmla="*/ 563213 w 1126426"/>
                    <a:gd name="connsiteY1" fmla="*/ 1126427 h 1126426"/>
                    <a:gd name="connsiteX2" fmla="*/ 0 w 1126426"/>
                    <a:gd name="connsiteY2" fmla="*/ 563213 h 1126426"/>
                    <a:gd name="connsiteX3" fmla="*/ 563213 w 1126426"/>
                    <a:gd name="connsiteY3" fmla="*/ 0 h 1126426"/>
                    <a:gd name="connsiteX4" fmla="*/ 1126427 w 1126426"/>
                    <a:gd name="connsiteY4" fmla="*/ 563213 h 1126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426" h="1126426">
                      <a:moveTo>
                        <a:pt x="1126427" y="563213"/>
                      </a:moveTo>
                      <a:cubicBezTo>
                        <a:pt x="1126427" y="874267"/>
                        <a:pt x="874268" y="1126427"/>
                        <a:pt x="563213" y="1126427"/>
                      </a:cubicBezTo>
                      <a:cubicBezTo>
                        <a:pt x="252159" y="1126427"/>
                        <a:pt x="0" y="874267"/>
                        <a:pt x="0" y="563213"/>
                      </a:cubicBezTo>
                      <a:cubicBezTo>
                        <a:pt x="0" y="252159"/>
                        <a:pt x="252159" y="0"/>
                        <a:pt x="563213" y="0"/>
                      </a:cubicBezTo>
                      <a:cubicBezTo>
                        <a:pt x="874267" y="0"/>
                        <a:pt x="1126427" y="252159"/>
                        <a:pt x="1126427" y="563213"/>
                      </a:cubicBezTo>
                      <a:close/>
                    </a:path>
                  </a:pathLst>
                </a:custGeom>
                <a:noFill/>
                <a:ln w="66590" cap="flat">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prstDash val="solid"/>
                  <a:miter/>
                </a:ln>
              </p:spPr>
              <p:txBody>
                <a:bodyPr rtlCol="0" anchor="ctr"/>
                <a:lstStyle/>
                <a:p>
                  <a:pPr defTabSz="685800"/>
                  <a:endParaRPr lang="en-US" sz="1350">
                    <a:latin typeface="Calibri" panose="020F0502020204030204"/>
                  </a:endParaRPr>
                </a:p>
              </p:txBody>
            </p:sp>
            <p:cxnSp>
              <p:nvCxnSpPr>
                <p:cNvPr id="20" name="Straight Connector 87">
                  <a:extLst>
                    <a:ext uri="{FF2B5EF4-FFF2-40B4-BE49-F238E27FC236}">
                      <a16:creationId xmlns:a16="http://schemas.microsoft.com/office/drawing/2014/main" id="{2337925F-4BD3-49DB-A095-2301D6F4EA5C}"/>
                    </a:ext>
                  </a:extLst>
                </p:cNvPr>
                <p:cNvCxnSpPr>
                  <a:cxnSpLocks/>
                  <a:stCxn id="21" idx="0"/>
                </p:cNvCxnSpPr>
                <p:nvPr/>
              </p:nvCxnSpPr>
              <p:spPr>
                <a:xfrm flipV="1">
                  <a:off x="2320822" y="2504638"/>
                  <a:ext cx="472927" cy="352841"/>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21" name="Freeform: Shape 95">
                  <a:extLst>
                    <a:ext uri="{FF2B5EF4-FFF2-40B4-BE49-F238E27FC236}">
                      <a16:creationId xmlns:a16="http://schemas.microsoft.com/office/drawing/2014/main" id="{0B8C07BE-A70C-424B-AFEA-91BB06D73C2E}"/>
                    </a:ext>
                  </a:extLst>
                </p:cNvPr>
                <p:cNvSpPr/>
                <p:nvPr/>
              </p:nvSpPr>
              <p:spPr>
                <a:xfrm rot="19990472">
                  <a:off x="2187798" y="2818906"/>
                  <a:ext cx="140588" cy="140589"/>
                </a:xfrm>
                <a:custGeom>
                  <a:avLst/>
                  <a:gdLst>
                    <a:gd name="connsiteX0" fmla="*/ 187452 w 187451"/>
                    <a:gd name="connsiteY0" fmla="*/ 93726 h 187452"/>
                    <a:gd name="connsiteX1" fmla="*/ 93726 w 187451"/>
                    <a:gd name="connsiteY1" fmla="*/ 187452 h 187452"/>
                    <a:gd name="connsiteX2" fmla="*/ 0 w 187451"/>
                    <a:gd name="connsiteY2" fmla="*/ 93726 h 187452"/>
                    <a:gd name="connsiteX3" fmla="*/ 93726 w 187451"/>
                    <a:gd name="connsiteY3" fmla="*/ 0 h 187452"/>
                    <a:gd name="connsiteX4" fmla="*/ 187452 w 187451"/>
                    <a:gd name="connsiteY4" fmla="*/ 93726 h 187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1" h="187452">
                      <a:moveTo>
                        <a:pt x="187452" y="93726"/>
                      </a:moveTo>
                      <a:cubicBezTo>
                        <a:pt x="187452" y="145489"/>
                        <a:pt x="145490" y="187452"/>
                        <a:pt x="93726" y="187452"/>
                      </a:cubicBezTo>
                      <a:cubicBezTo>
                        <a:pt x="41963" y="187452"/>
                        <a:pt x="0" y="145489"/>
                        <a:pt x="0" y="93726"/>
                      </a:cubicBezTo>
                      <a:cubicBezTo>
                        <a:pt x="0" y="41963"/>
                        <a:pt x="41963" y="0"/>
                        <a:pt x="93726" y="0"/>
                      </a:cubicBezTo>
                      <a:cubicBezTo>
                        <a:pt x="145490" y="0"/>
                        <a:pt x="187452" y="41963"/>
                        <a:pt x="187452" y="93726"/>
                      </a:cubicBezTo>
                      <a:close/>
                    </a:path>
                  </a:pathLst>
                </a:custGeom>
                <a:solidFill>
                  <a:schemeClr val="accent4"/>
                </a:solidFill>
                <a:ln w="9525" cap="flat">
                  <a:noFill/>
                  <a:prstDash val="solid"/>
                  <a:miter/>
                </a:ln>
              </p:spPr>
              <p:txBody>
                <a:bodyPr rtlCol="0" anchor="ctr"/>
                <a:lstStyle/>
                <a:p>
                  <a:pPr defTabSz="685800"/>
                  <a:endParaRPr lang="en-US" sz="1350">
                    <a:latin typeface="Calibri" panose="020F0502020204030204"/>
                  </a:endParaRPr>
                </a:p>
              </p:txBody>
            </p:sp>
            <p:sp>
              <p:nvSpPr>
                <p:cNvPr id="22" name="Freeform: Shape 110">
                  <a:extLst>
                    <a:ext uri="{FF2B5EF4-FFF2-40B4-BE49-F238E27FC236}">
                      <a16:creationId xmlns:a16="http://schemas.microsoft.com/office/drawing/2014/main" id="{5E63568C-CEBF-46C5-998D-5510421A1439}"/>
                    </a:ext>
                  </a:extLst>
                </p:cNvPr>
                <p:cNvSpPr/>
                <p:nvPr/>
              </p:nvSpPr>
              <p:spPr>
                <a:xfrm rot="19431140">
                  <a:off x="2508052" y="2222045"/>
                  <a:ext cx="561641" cy="561641"/>
                </a:xfrm>
                <a:custGeom>
                  <a:avLst/>
                  <a:gdLst>
                    <a:gd name="connsiteX0" fmla="*/ 748855 w 748855"/>
                    <a:gd name="connsiteY0" fmla="*/ 374428 h 748855"/>
                    <a:gd name="connsiteX1" fmla="*/ 374428 w 748855"/>
                    <a:gd name="connsiteY1" fmla="*/ 748856 h 748855"/>
                    <a:gd name="connsiteX2" fmla="*/ 0 w 748855"/>
                    <a:gd name="connsiteY2" fmla="*/ 374428 h 748855"/>
                    <a:gd name="connsiteX3" fmla="*/ 374428 w 748855"/>
                    <a:gd name="connsiteY3" fmla="*/ 0 h 748855"/>
                    <a:gd name="connsiteX4" fmla="*/ 748855 w 748855"/>
                    <a:gd name="connsiteY4" fmla="*/ 374428 h 748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855" h="748855">
                      <a:moveTo>
                        <a:pt x="748855" y="374428"/>
                      </a:moveTo>
                      <a:cubicBezTo>
                        <a:pt x="748855" y="581219"/>
                        <a:pt x="581218" y="748856"/>
                        <a:pt x="374428" y="748856"/>
                      </a:cubicBezTo>
                      <a:cubicBezTo>
                        <a:pt x="167637" y="748856"/>
                        <a:pt x="0" y="581219"/>
                        <a:pt x="0" y="374428"/>
                      </a:cubicBezTo>
                      <a:cubicBezTo>
                        <a:pt x="0" y="167637"/>
                        <a:pt x="167637" y="0"/>
                        <a:pt x="374428" y="0"/>
                      </a:cubicBezTo>
                      <a:cubicBezTo>
                        <a:pt x="581219" y="0"/>
                        <a:pt x="748855" y="167637"/>
                        <a:pt x="748855" y="374428"/>
                      </a:cubicBezTo>
                      <a:close/>
                    </a:path>
                  </a:pathLst>
                </a:custGeom>
                <a:gradFill flip="none" rotWithShape="1">
                  <a:gsLst>
                    <a:gs pos="0">
                      <a:schemeClr val="accent1">
                        <a:lumMod val="40000"/>
                        <a:lumOff val="60000"/>
                      </a:schemeClr>
                    </a:gs>
                    <a:gs pos="23000">
                      <a:schemeClr val="accent1">
                        <a:lumMod val="95000"/>
                        <a:lumOff val="5000"/>
                      </a:schemeClr>
                    </a:gs>
                    <a:gs pos="100000">
                      <a:schemeClr val="accent1">
                        <a:lumMod val="60000"/>
                      </a:schemeClr>
                    </a:gs>
                  </a:gsLst>
                  <a:path path="circle">
                    <a:fillToRect l="50000" t="130000" r="50000" b="-30000"/>
                  </a:path>
                  <a:tileRect/>
                </a:gradFill>
                <a:ln w="9525" cap="flat">
                  <a:noFill/>
                  <a:prstDash val="solid"/>
                  <a:miter/>
                </a:ln>
                <a:effectLst>
                  <a:outerShdw blurRad="50800" dist="38100" dir="2700000" algn="tl" rotWithShape="0">
                    <a:prstClr val="black">
                      <a:alpha val="40000"/>
                    </a:prstClr>
                  </a:outerShdw>
                </a:effectLst>
              </p:spPr>
              <p:txBody>
                <a:bodyPr rtlCol="0" anchor="ctr"/>
                <a:lstStyle/>
                <a:p>
                  <a:pPr algn="ctr" defTabSz="685800"/>
                  <a:r>
                    <a:rPr lang="en-US" sz="1350" b="1" dirty="0">
                      <a:solidFill>
                        <a:schemeClr val="bg1"/>
                      </a:solidFill>
                      <a:latin typeface="Calibri" panose="020F0502020204030204"/>
                    </a:rPr>
                    <a:t>02</a:t>
                  </a:r>
                </a:p>
              </p:txBody>
            </p:sp>
          </p:grpSp>
          <p:grpSp>
            <p:nvGrpSpPr>
              <p:cNvPr id="10" name="Grup 57">
                <a:extLst>
                  <a:ext uri="{FF2B5EF4-FFF2-40B4-BE49-F238E27FC236}">
                    <a16:creationId xmlns:a16="http://schemas.microsoft.com/office/drawing/2014/main" id="{D4FAE8FF-4A5B-4DC7-980C-64F0A6FEDACF}"/>
                  </a:ext>
                </a:extLst>
              </p:cNvPr>
              <p:cNvGrpSpPr/>
              <p:nvPr/>
            </p:nvGrpSpPr>
            <p:grpSpPr>
              <a:xfrm rot="3183767">
                <a:off x="1431921" y="4487507"/>
                <a:ext cx="1160788" cy="844820"/>
                <a:chOff x="1784771" y="4043979"/>
                <a:chExt cx="1160788" cy="844820"/>
              </a:xfrm>
            </p:grpSpPr>
            <p:sp>
              <p:nvSpPr>
                <p:cNvPr id="15" name="Freeform: Shape 116">
                  <a:extLst>
                    <a:ext uri="{FF2B5EF4-FFF2-40B4-BE49-F238E27FC236}">
                      <a16:creationId xmlns:a16="http://schemas.microsoft.com/office/drawing/2014/main" id="{80C2B058-0CB0-4C60-855D-9B0546D97D92}"/>
                    </a:ext>
                  </a:extLst>
                </p:cNvPr>
                <p:cNvSpPr/>
                <p:nvPr/>
              </p:nvSpPr>
              <p:spPr>
                <a:xfrm>
                  <a:off x="2100739" y="4043979"/>
                  <a:ext cx="844820" cy="844820"/>
                </a:xfrm>
                <a:custGeom>
                  <a:avLst/>
                  <a:gdLst>
                    <a:gd name="connsiteX0" fmla="*/ 1126427 w 1126426"/>
                    <a:gd name="connsiteY0" fmla="*/ 563213 h 1126426"/>
                    <a:gd name="connsiteX1" fmla="*/ 563213 w 1126426"/>
                    <a:gd name="connsiteY1" fmla="*/ 1126427 h 1126426"/>
                    <a:gd name="connsiteX2" fmla="*/ 0 w 1126426"/>
                    <a:gd name="connsiteY2" fmla="*/ 563213 h 1126426"/>
                    <a:gd name="connsiteX3" fmla="*/ 563213 w 1126426"/>
                    <a:gd name="connsiteY3" fmla="*/ 0 h 1126426"/>
                    <a:gd name="connsiteX4" fmla="*/ 1126427 w 1126426"/>
                    <a:gd name="connsiteY4" fmla="*/ 563213 h 1126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426" h="1126426">
                      <a:moveTo>
                        <a:pt x="1126427" y="563213"/>
                      </a:moveTo>
                      <a:cubicBezTo>
                        <a:pt x="1126427" y="874267"/>
                        <a:pt x="874268" y="1126427"/>
                        <a:pt x="563213" y="1126427"/>
                      </a:cubicBezTo>
                      <a:cubicBezTo>
                        <a:pt x="252159" y="1126427"/>
                        <a:pt x="0" y="874268"/>
                        <a:pt x="0" y="563213"/>
                      </a:cubicBezTo>
                      <a:cubicBezTo>
                        <a:pt x="0" y="252159"/>
                        <a:pt x="252159" y="0"/>
                        <a:pt x="563213" y="0"/>
                      </a:cubicBezTo>
                      <a:cubicBezTo>
                        <a:pt x="874267" y="0"/>
                        <a:pt x="1126427" y="252159"/>
                        <a:pt x="1126427" y="563213"/>
                      </a:cubicBezTo>
                      <a:close/>
                    </a:path>
                  </a:pathLst>
                </a:custGeom>
                <a:noFill/>
                <a:ln w="66590" cap="flat">
                  <a:gradFill>
                    <a:gsLst>
                      <a:gs pos="15000">
                        <a:srgbClr val="484848"/>
                      </a:gs>
                      <a:gs pos="86000">
                        <a:schemeClr val="accent6"/>
                      </a:gs>
                    </a:gsLst>
                    <a:lin ang="600000" scaled="0"/>
                  </a:gradFill>
                  <a:prstDash val="solid"/>
                  <a:miter/>
                </a:ln>
              </p:spPr>
              <p:txBody>
                <a:bodyPr rtlCol="0" anchor="ctr"/>
                <a:lstStyle/>
                <a:p>
                  <a:pPr defTabSz="685800"/>
                  <a:endParaRPr lang="en-US" sz="1350">
                    <a:latin typeface="Calibri" panose="020F0502020204030204"/>
                  </a:endParaRPr>
                </a:p>
              </p:txBody>
            </p:sp>
            <p:cxnSp>
              <p:nvCxnSpPr>
                <p:cNvPr id="16" name="Straight Connector 86">
                  <a:extLst>
                    <a:ext uri="{FF2B5EF4-FFF2-40B4-BE49-F238E27FC236}">
                      <a16:creationId xmlns:a16="http://schemas.microsoft.com/office/drawing/2014/main" id="{D2082395-EDFF-4167-AC0C-849CA17FB75C}"/>
                    </a:ext>
                  </a:extLst>
                </p:cNvPr>
                <p:cNvCxnSpPr>
                  <a:cxnSpLocks/>
                  <a:stCxn id="17" idx="0"/>
                </p:cNvCxnSpPr>
                <p:nvPr/>
              </p:nvCxnSpPr>
              <p:spPr>
                <a:xfrm>
                  <a:off x="1925360" y="4466388"/>
                  <a:ext cx="604109" cy="7429"/>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7" name="Freeform: Shape 96">
                  <a:extLst>
                    <a:ext uri="{FF2B5EF4-FFF2-40B4-BE49-F238E27FC236}">
                      <a16:creationId xmlns:a16="http://schemas.microsoft.com/office/drawing/2014/main" id="{27EE2510-9FEF-41B6-B7EF-70E353091DA4}"/>
                    </a:ext>
                  </a:extLst>
                </p:cNvPr>
                <p:cNvSpPr/>
                <p:nvPr/>
              </p:nvSpPr>
              <p:spPr>
                <a:xfrm>
                  <a:off x="1784771" y="4396094"/>
                  <a:ext cx="140588" cy="140588"/>
                </a:xfrm>
                <a:custGeom>
                  <a:avLst/>
                  <a:gdLst>
                    <a:gd name="connsiteX0" fmla="*/ 187452 w 187451"/>
                    <a:gd name="connsiteY0" fmla="*/ 93726 h 187451"/>
                    <a:gd name="connsiteX1" fmla="*/ 93726 w 187451"/>
                    <a:gd name="connsiteY1" fmla="*/ 187452 h 187451"/>
                    <a:gd name="connsiteX2" fmla="*/ 0 w 187451"/>
                    <a:gd name="connsiteY2" fmla="*/ 93726 h 187451"/>
                    <a:gd name="connsiteX3" fmla="*/ 93726 w 187451"/>
                    <a:gd name="connsiteY3" fmla="*/ 0 h 187451"/>
                    <a:gd name="connsiteX4" fmla="*/ 187452 w 187451"/>
                    <a:gd name="connsiteY4" fmla="*/ 93726 h 187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1" h="187451">
                      <a:moveTo>
                        <a:pt x="187452" y="93726"/>
                      </a:moveTo>
                      <a:cubicBezTo>
                        <a:pt x="187452" y="145489"/>
                        <a:pt x="145490" y="187452"/>
                        <a:pt x="93726" y="187452"/>
                      </a:cubicBezTo>
                      <a:cubicBezTo>
                        <a:pt x="41963" y="187452"/>
                        <a:pt x="0" y="145489"/>
                        <a:pt x="0" y="93726"/>
                      </a:cubicBezTo>
                      <a:cubicBezTo>
                        <a:pt x="0" y="41963"/>
                        <a:pt x="41963" y="0"/>
                        <a:pt x="93726" y="0"/>
                      </a:cubicBezTo>
                      <a:cubicBezTo>
                        <a:pt x="145490" y="0"/>
                        <a:pt x="187452" y="41963"/>
                        <a:pt x="187452" y="93726"/>
                      </a:cubicBezTo>
                      <a:close/>
                    </a:path>
                  </a:pathLst>
                </a:custGeom>
                <a:solidFill>
                  <a:schemeClr val="accent6"/>
                </a:solidFill>
                <a:ln w="9525" cap="flat">
                  <a:noFill/>
                  <a:prstDash val="solid"/>
                  <a:miter/>
                </a:ln>
              </p:spPr>
              <p:txBody>
                <a:bodyPr rtlCol="0" anchor="ctr"/>
                <a:lstStyle/>
                <a:p>
                  <a:pPr defTabSz="685800"/>
                  <a:endParaRPr lang="en-US" sz="1350">
                    <a:latin typeface="Calibri" panose="020F0502020204030204"/>
                  </a:endParaRPr>
                </a:p>
              </p:txBody>
            </p:sp>
            <p:sp>
              <p:nvSpPr>
                <p:cNvPr id="18" name="Freeform: Shape 108">
                  <a:extLst>
                    <a:ext uri="{FF2B5EF4-FFF2-40B4-BE49-F238E27FC236}">
                      <a16:creationId xmlns:a16="http://schemas.microsoft.com/office/drawing/2014/main" id="{F3DC46A9-CD92-490B-BAF4-A24E7871DFE9}"/>
                    </a:ext>
                  </a:extLst>
                </p:cNvPr>
                <p:cNvSpPr/>
                <p:nvPr/>
              </p:nvSpPr>
              <p:spPr>
                <a:xfrm rot="18596686">
                  <a:off x="2242329" y="4185567"/>
                  <a:ext cx="561641" cy="561641"/>
                </a:xfrm>
                <a:custGeom>
                  <a:avLst/>
                  <a:gdLst>
                    <a:gd name="connsiteX0" fmla="*/ 748856 w 748855"/>
                    <a:gd name="connsiteY0" fmla="*/ 374428 h 748855"/>
                    <a:gd name="connsiteX1" fmla="*/ 374428 w 748855"/>
                    <a:gd name="connsiteY1" fmla="*/ 748856 h 748855"/>
                    <a:gd name="connsiteX2" fmla="*/ 0 w 748855"/>
                    <a:gd name="connsiteY2" fmla="*/ 374428 h 748855"/>
                    <a:gd name="connsiteX3" fmla="*/ 374428 w 748855"/>
                    <a:gd name="connsiteY3" fmla="*/ 0 h 748855"/>
                    <a:gd name="connsiteX4" fmla="*/ 748856 w 748855"/>
                    <a:gd name="connsiteY4" fmla="*/ 374428 h 748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855" h="748855">
                      <a:moveTo>
                        <a:pt x="748856" y="374428"/>
                      </a:moveTo>
                      <a:cubicBezTo>
                        <a:pt x="748856" y="581219"/>
                        <a:pt x="581218" y="748856"/>
                        <a:pt x="374428" y="748856"/>
                      </a:cubicBezTo>
                      <a:cubicBezTo>
                        <a:pt x="167637" y="748856"/>
                        <a:pt x="0" y="581218"/>
                        <a:pt x="0" y="374428"/>
                      </a:cubicBezTo>
                      <a:cubicBezTo>
                        <a:pt x="0" y="167637"/>
                        <a:pt x="167637" y="0"/>
                        <a:pt x="374428" y="0"/>
                      </a:cubicBezTo>
                      <a:cubicBezTo>
                        <a:pt x="581219" y="0"/>
                        <a:pt x="748856" y="167637"/>
                        <a:pt x="748856" y="374428"/>
                      </a:cubicBezTo>
                      <a:close/>
                    </a:path>
                  </a:pathLst>
                </a:cu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9525" cap="flat">
                  <a:noFill/>
                  <a:prstDash val="solid"/>
                  <a:miter/>
                </a:ln>
                <a:effectLst>
                  <a:outerShdw blurRad="50800" dist="38100" dir="2700000" algn="tl" rotWithShape="0">
                    <a:prstClr val="black">
                      <a:alpha val="40000"/>
                    </a:prstClr>
                  </a:outerShdw>
                </a:effectLst>
              </p:spPr>
              <p:txBody>
                <a:bodyPr rtlCol="0" anchor="ctr"/>
                <a:lstStyle/>
                <a:p>
                  <a:pPr algn="ctr" defTabSz="685800"/>
                  <a:r>
                    <a:rPr lang="en-US" sz="1350" b="1" dirty="0">
                      <a:latin typeface="Calibri" panose="020F0502020204030204"/>
                    </a:rPr>
                    <a:t>03</a:t>
                  </a:r>
                </a:p>
              </p:txBody>
            </p:sp>
          </p:grpSp>
          <p:grpSp>
            <p:nvGrpSpPr>
              <p:cNvPr id="11" name="Grup 68">
                <a:extLst>
                  <a:ext uri="{FF2B5EF4-FFF2-40B4-BE49-F238E27FC236}">
                    <a16:creationId xmlns:a16="http://schemas.microsoft.com/office/drawing/2014/main" id="{182D417B-6797-49FA-8661-3B39C6C1C0E3}"/>
                  </a:ext>
                </a:extLst>
              </p:cNvPr>
              <p:cNvGrpSpPr/>
              <p:nvPr/>
            </p:nvGrpSpPr>
            <p:grpSpPr>
              <a:xfrm>
                <a:off x="573188" y="2563741"/>
                <a:ext cx="1933956" cy="1933957"/>
                <a:chOff x="573188" y="2563741"/>
                <a:chExt cx="1933956" cy="1933957"/>
              </a:xfrm>
            </p:grpSpPr>
            <p:sp>
              <p:nvSpPr>
                <p:cNvPr id="12" name="Arc 89">
                  <a:extLst>
                    <a:ext uri="{FF2B5EF4-FFF2-40B4-BE49-F238E27FC236}">
                      <a16:creationId xmlns:a16="http://schemas.microsoft.com/office/drawing/2014/main" id="{C8845D7C-BD4A-4896-BB3B-32CCA1F75E78}"/>
                    </a:ext>
                  </a:extLst>
                </p:cNvPr>
                <p:cNvSpPr/>
                <p:nvPr/>
              </p:nvSpPr>
              <p:spPr>
                <a:xfrm flipH="1">
                  <a:off x="573188" y="2563741"/>
                  <a:ext cx="1933956" cy="1933957"/>
                </a:xfrm>
                <a:prstGeom prst="arc">
                  <a:avLst>
                    <a:gd name="adj1" fmla="val 3397586"/>
                    <a:gd name="adj2" fmla="val 18544872"/>
                  </a:avLst>
                </a:prstGeom>
                <a:ln w="19050">
                  <a:gradFill flip="none" rotWithShape="1">
                    <a:gsLst>
                      <a:gs pos="0">
                        <a:srgbClr val="484848"/>
                      </a:gs>
                      <a:gs pos="38000">
                        <a:schemeClr val="accent3">
                          <a:lumMod val="50000"/>
                        </a:schemeClr>
                      </a:gs>
                      <a:gs pos="59000">
                        <a:schemeClr val="accent3">
                          <a:lumMod val="75000"/>
                        </a:schemeClr>
                      </a:gs>
                      <a:gs pos="97345">
                        <a:schemeClr val="accent3"/>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dirty="0">
                    <a:latin typeface="Calibri" panose="020F0502020204030204"/>
                  </a:endParaRPr>
                </a:p>
              </p:txBody>
            </p:sp>
            <p:sp>
              <p:nvSpPr>
                <p:cNvPr id="13" name="Freeform: Shape 92">
                  <a:extLst>
                    <a:ext uri="{FF2B5EF4-FFF2-40B4-BE49-F238E27FC236}">
                      <a16:creationId xmlns:a16="http://schemas.microsoft.com/office/drawing/2014/main" id="{4E88E1FA-0F6F-42BC-A186-1A72C6C7108A}"/>
                    </a:ext>
                  </a:extLst>
                </p:cNvPr>
                <p:cNvSpPr/>
                <p:nvPr/>
              </p:nvSpPr>
              <p:spPr>
                <a:xfrm>
                  <a:off x="879634" y="2878842"/>
                  <a:ext cx="1322450" cy="1322452"/>
                </a:xfrm>
                <a:custGeom>
                  <a:avLst/>
                  <a:gdLst>
                    <a:gd name="connsiteX0" fmla="*/ 1763268 w 1763267"/>
                    <a:gd name="connsiteY0" fmla="*/ 881634 h 1763268"/>
                    <a:gd name="connsiteX1" fmla="*/ 881634 w 1763267"/>
                    <a:gd name="connsiteY1" fmla="*/ 1763268 h 1763268"/>
                    <a:gd name="connsiteX2" fmla="*/ 0 w 1763267"/>
                    <a:gd name="connsiteY2" fmla="*/ 881634 h 1763268"/>
                    <a:gd name="connsiteX3" fmla="*/ 881634 w 1763267"/>
                    <a:gd name="connsiteY3" fmla="*/ 0 h 1763268"/>
                    <a:gd name="connsiteX4" fmla="*/ 1763268 w 1763267"/>
                    <a:gd name="connsiteY4" fmla="*/ 881634 h 1763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3267" h="1763268">
                      <a:moveTo>
                        <a:pt x="1763268" y="881634"/>
                      </a:moveTo>
                      <a:cubicBezTo>
                        <a:pt x="1763268" y="1368547"/>
                        <a:pt x="1368547" y="1763268"/>
                        <a:pt x="881634" y="1763268"/>
                      </a:cubicBezTo>
                      <a:cubicBezTo>
                        <a:pt x="394721" y="1763268"/>
                        <a:pt x="0" y="1368547"/>
                        <a:pt x="0" y="881634"/>
                      </a:cubicBezTo>
                      <a:cubicBezTo>
                        <a:pt x="0" y="394721"/>
                        <a:pt x="394721" y="0"/>
                        <a:pt x="881634" y="0"/>
                      </a:cubicBezTo>
                      <a:cubicBezTo>
                        <a:pt x="1368547" y="0"/>
                        <a:pt x="1763268" y="394721"/>
                        <a:pt x="1763268" y="881634"/>
                      </a:cubicBezTo>
                      <a:close/>
                    </a:path>
                  </a:pathLst>
                </a:custGeom>
                <a:solidFill>
                  <a:srgbClr val="484848"/>
                </a:solidFill>
                <a:ln w="9525" cap="flat">
                  <a:noFill/>
                  <a:prstDash val="solid"/>
                  <a:miter/>
                </a:ln>
                <a:effectLst>
                  <a:outerShdw blurRad="152400" dist="101600" dir="2700000" algn="tl" rotWithShape="0">
                    <a:prstClr val="black">
                      <a:alpha val="40000"/>
                    </a:prstClr>
                  </a:outerShdw>
                </a:effectLst>
              </p:spPr>
              <p:txBody>
                <a:bodyPr rtlCol="0" anchor="ctr"/>
                <a:lstStyle/>
                <a:p>
                  <a:pPr algn="ctr"/>
                  <a:r>
                    <a:rPr lang="en-US" dirty="0">
                      <a:solidFill>
                        <a:schemeClr val="bg1"/>
                      </a:solidFill>
                    </a:rPr>
                    <a:t>Coating </a:t>
                  </a:r>
                  <a:r>
                    <a:rPr lang="en-US" dirty="0" err="1">
                      <a:solidFill>
                        <a:schemeClr val="bg1"/>
                      </a:solidFill>
                    </a:rPr>
                    <a:t>Tangki</a:t>
                  </a:r>
                  <a:r>
                    <a:rPr lang="en-US" dirty="0">
                      <a:solidFill>
                        <a:schemeClr val="bg1"/>
                      </a:solidFill>
                    </a:rPr>
                    <a:t> 06</a:t>
                  </a:r>
                </a:p>
              </p:txBody>
            </p:sp>
            <p:sp>
              <p:nvSpPr>
                <p:cNvPr id="14" name="Freeform: Shape 103">
                  <a:extLst>
                    <a:ext uri="{FF2B5EF4-FFF2-40B4-BE49-F238E27FC236}">
                      <a16:creationId xmlns:a16="http://schemas.microsoft.com/office/drawing/2014/main" id="{9BA92924-04E3-4238-9C4A-0F20AE574358}"/>
                    </a:ext>
                  </a:extLst>
                </p:cNvPr>
                <p:cNvSpPr/>
                <p:nvPr/>
              </p:nvSpPr>
              <p:spPr>
                <a:xfrm rot="2700000">
                  <a:off x="707756" y="2706963"/>
                  <a:ext cx="1666209" cy="1666208"/>
                </a:xfrm>
                <a:custGeom>
                  <a:avLst/>
                  <a:gdLst>
                    <a:gd name="connsiteX0" fmla="*/ 2221611 w 2221611"/>
                    <a:gd name="connsiteY0" fmla="*/ 1110805 h 2221611"/>
                    <a:gd name="connsiteX1" fmla="*/ 1110806 w 2221611"/>
                    <a:gd name="connsiteY1" fmla="*/ 2221611 h 2221611"/>
                    <a:gd name="connsiteX2" fmla="*/ 0 w 2221611"/>
                    <a:gd name="connsiteY2" fmla="*/ 1110805 h 2221611"/>
                    <a:gd name="connsiteX3" fmla="*/ 1110806 w 2221611"/>
                    <a:gd name="connsiteY3" fmla="*/ 0 h 2221611"/>
                    <a:gd name="connsiteX4" fmla="*/ 2221611 w 2221611"/>
                    <a:gd name="connsiteY4" fmla="*/ 1110805 h 2221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611" h="2221611">
                      <a:moveTo>
                        <a:pt x="2221611" y="1110805"/>
                      </a:moveTo>
                      <a:cubicBezTo>
                        <a:pt x="2221611" y="1724286"/>
                        <a:pt x="1724287" y="2221611"/>
                        <a:pt x="1110806" y="2221611"/>
                      </a:cubicBezTo>
                      <a:cubicBezTo>
                        <a:pt x="497325" y="2221611"/>
                        <a:pt x="0" y="1724286"/>
                        <a:pt x="0" y="1110805"/>
                      </a:cubicBezTo>
                      <a:cubicBezTo>
                        <a:pt x="0" y="497325"/>
                        <a:pt x="497325" y="0"/>
                        <a:pt x="1110806" y="0"/>
                      </a:cubicBezTo>
                      <a:cubicBezTo>
                        <a:pt x="1724287" y="0"/>
                        <a:pt x="2221611" y="497325"/>
                        <a:pt x="2221611" y="1110805"/>
                      </a:cubicBezTo>
                      <a:close/>
                    </a:path>
                  </a:pathLst>
                </a:custGeom>
                <a:noFill/>
                <a:ln w="66590" cap="flat">
                  <a:gradFill flip="none" rotWithShape="1">
                    <a:gsLst>
                      <a:gs pos="35000">
                        <a:schemeClr val="accent2"/>
                      </a:gs>
                      <a:gs pos="65000">
                        <a:schemeClr val="accent6"/>
                      </a:gs>
                      <a:gs pos="50000">
                        <a:schemeClr val="accent4"/>
                      </a:gs>
                      <a:gs pos="20000">
                        <a:srgbClr val="484848"/>
                      </a:gs>
                      <a:gs pos="80000">
                        <a:schemeClr val="accent5"/>
                      </a:gs>
                      <a:gs pos="95000">
                        <a:schemeClr val="accent1"/>
                      </a:gs>
                    </a:gsLst>
                    <a:path path="circle">
                      <a:fillToRect l="100000" b="100000"/>
                    </a:path>
                    <a:tileRect t="-100000" r="-100000"/>
                  </a:gradFill>
                  <a:prstDash val="solid"/>
                  <a:miter/>
                </a:ln>
              </p:spPr>
              <p:txBody>
                <a:bodyPr rtlCol="0" anchor="ctr"/>
                <a:lstStyle/>
                <a:p>
                  <a:pPr defTabSz="685800"/>
                  <a:endParaRPr lang="en-US" sz="1350" dirty="0">
                    <a:latin typeface="Calibri" panose="020F0502020204030204"/>
                  </a:endParaRPr>
                </a:p>
              </p:txBody>
            </p:sp>
          </p:grpSp>
        </p:grpSp>
      </p:grpSp>
      <p:grpSp>
        <p:nvGrpSpPr>
          <p:cNvPr id="66" name="Group 65">
            <a:extLst>
              <a:ext uri="{FF2B5EF4-FFF2-40B4-BE49-F238E27FC236}">
                <a16:creationId xmlns:a16="http://schemas.microsoft.com/office/drawing/2014/main" id="{66A15CBE-A50F-4935-99D5-82F7906359B5}"/>
              </a:ext>
            </a:extLst>
          </p:cNvPr>
          <p:cNvGrpSpPr/>
          <p:nvPr/>
        </p:nvGrpSpPr>
        <p:grpSpPr>
          <a:xfrm>
            <a:off x="438122" y="221567"/>
            <a:ext cx="5297838" cy="687155"/>
            <a:chOff x="1544574" y="576718"/>
            <a:chExt cx="5297838" cy="687155"/>
          </a:xfrm>
        </p:grpSpPr>
        <p:sp>
          <p:nvSpPr>
            <p:cNvPr id="67" name="Rectangle: Rounded Corners 66">
              <a:extLst>
                <a:ext uri="{FF2B5EF4-FFF2-40B4-BE49-F238E27FC236}">
                  <a16:creationId xmlns:a16="http://schemas.microsoft.com/office/drawing/2014/main" id="{34457A8B-3B68-46EA-B048-C86AEA1E6994}"/>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80BAE531-F442-404F-A6BD-143F41F816A9}"/>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9" name="Straight Connector 68">
              <a:extLst>
                <a:ext uri="{FF2B5EF4-FFF2-40B4-BE49-F238E27FC236}">
                  <a16:creationId xmlns:a16="http://schemas.microsoft.com/office/drawing/2014/main" id="{1407A2CB-DFE4-4983-83CD-D3114DB560B0}"/>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00AB50AA-20DE-4864-A569-BF6C6DDEFD02}"/>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PROSEDURE</a:t>
              </a:r>
              <a:endParaRPr lang="en-US" sz="2000" b="1" dirty="0">
                <a:solidFill>
                  <a:schemeClr val="bg1"/>
                </a:solidFill>
              </a:endParaRPr>
            </a:p>
          </p:txBody>
        </p:sp>
        <p:sp>
          <p:nvSpPr>
            <p:cNvPr id="71" name="TextBox 70">
              <a:extLst>
                <a:ext uri="{FF2B5EF4-FFF2-40B4-BE49-F238E27FC236}">
                  <a16:creationId xmlns:a16="http://schemas.microsoft.com/office/drawing/2014/main" id="{AD89FBC8-565C-4A42-9300-55B8069E1C35}"/>
                </a:ext>
              </a:extLst>
            </p:cNvPr>
            <p:cNvSpPr txBox="1"/>
            <p:nvPr/>
          </p:nvSpPr>
          <p:spPr>
            <a:xfrm>
              <a:off x="6097067" y="612065"/>
              <a:ext cx="731520" cy="584775"/>
            </a:xfrm>
            <a:prstGeom prst="rect">
              <a:avLst/>
            </a:prstGeom>
            <a:noFill/>
          </p:spPr>
          <p:txBody>
            <a:bodyPr wrap="square" rtlCol="0">
              <a:spAutoFit/>
            </a:bodyPr>
            <a:lstStyle/>
            <a:p>
              <a:endParaRPr lang="en-US" sz="3200" dirty="0">
                <a:solidFill>
                  <a:schemeClr val="accent2">
                    <a:lumMod val="50000"/>
                  </a:schemeClr>
                </a:solidFill>
              </a:endParaRPr>
            </a:p>
          </p:txBody>
        </p:sp>
      </p:grpSp>
    </p:spTree>
    <p:extLst>
      <p:ext uri="{BB962C8B-B14F-4D97-AF65-F5344CB8AC3E}">
        <p14:creationId xmlns:p14="http://schemas.microsoft.com/office/powerpoint/2010/main" val="3066833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82FBDBF-106E-4B1D-94DC-0017A8BCFFA8}"/>
              </a:ext>
            </a:extLst>
          </p:cNvPr>
          <p:cNvGrpSpPr/>
          <p:nvPr/>
        </p:nvGrpSpPr>
        <p:grpSpPr>
          <a:xfrm>
            <a:off x="438122" y="221567"/>
            <a:ext cx="5297838" cy="687155"/>
            <a:chOff x="1544574" y="576718"/>
            <a:chExt cx="5297838" cy="687155"/>
          </a:xfrm>
        </p:grpSpPr>
        <p:sp>
          <p:nvSpPr>
            <p:cNvPr id="4" name="Rectangle: Rounded Corners 3">
              <a:extLst>
                <a:ext uri="{FF2B5EF4-FFF2-40B4-BE49-F238E27FC236}">
                  <a16:creationId xmlns:a16="http://schemas.microsoft.com/office/drawing/2014/main" id="{8A8EC1A3-325D-4166-8299-3F832E1E6E71}"/>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F934E3B6-B2B9-4550-B10B-0541C6671180}"/>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A45AF8BD-80BA-4EBB-BD17-BFDF1EB99C83}"/>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46D2EA6-824D-4341-B7FF-797222EAB4FA}"/>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PROSEDURE</a:t>
              </a:r>
              <a:endParaRPr lang="en-US" sz="2000" b="1" dirty="0">
                <a:solidFill>
                  <a:schemeClr val="bg1"/>
                </a:solidFill>
              </a:endParaRPr>
            </a:p>
          </p:txBody>
        </p:sp>
        <p:sp>
          <p:nvSpPr>
            <p:cNvPr id="8" name="TextBox 7">
              <a:extLst>
                <a:ext uri="{FF2B5EF4-FFF2-40B4-BE49-F238E27FC236}">
                  <a16:creationId xmlns:a16="http://schemas.microsoft.com/office/drawing/2014/main" id="{66227762-89DB-4814-85D9-75C159338420}"/>
                </a:ext>
              </a:extLst>
            </p:cNvPr>
            <p:cNvSpPr txBox="1"/>
            <p:nvPr/>
          </p:nvSpPr>
          <p:spPr>
            <a:xfrm>
              <a:off x="6097067" y="612065"/>
              <a:ext cx="731520" cy="584775"/>
            </a:xfrm>
            <a:prstGeom prst="rect">
              <a:avLst/>
            </a:prstGeom>
            <a:noFill/>
          </p:spPr>
          <p:txBody>
            <a:bodyPr wrap="square" rtlCol="0">
              <a:spAutoFit/>
            </a:bodyPr>
            <a:lstStyle/>
            <a:p>
              <a:endParaRPr lang="en-US" sz="3200" dirty="0">
                <a:solidFill>
                  <a:schemeClr val="accent2">
                    <a:lumMod val="50000"/>
                  </a:schemeClr>
                </a:solidFill>
              </a:endParaRPr>
            </a:p>
          </p:txBody>
        </p:sp>
      </p:grpSp>
      <p:pic>
        <p:nvPicPr>
          <p:cNvPr id="10" name="Picture 9">
            <a:extLst>
              <a:ext uri="{FF2B5EF4-FFF2-40B4-BE49-F238E27FC236}">
                <a16:creationId xmlns:a16="http://schemas.microsoft.com/office/drawing/2014/main" id="{99A84AE0-5F13-40A1-B5BD-4CA48472DCAF}"/>
              </a:ext>
            </a:extLst>
          </p:cNvPr>
          <p:cNvPicPr>
            <a:picLocks noChangeAspect="1"/>
          </p:cNvPicPr>
          <p:nvPr/>
        </p:nvPicPr>
        <p:blipFill>
          <a:blip r:embed="rId2"/>
          <a:stretch>
            <a:fillRect/>
          </a:stretch>
        </p:blipFill>
        <p:spPr>
          <a:xfrm>
            <a:off x="1145198" y="1038554"/>
            <a:ext cx="9897940" cy="4916769"/>
          </a:xfrm>
          <a:prstGeom prst="rect">
            <a:avLst/>
          </a:prstGeom>
        </p:spPr>
      </p:pic>
    </p:spTree>
    <p:extLst>
      <p:ext uri="{BB962C8B-B14F-4D97-AF65-F5344CB8AC3E}">
        <p14:creationId xmlns:p14="http://schemas.microsoft.com/office/powerpoint/2010/main" val="258489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8B3739D-CDB2-4760-A27B-54716DE8C02F}"/>
              </a:ext>
            </a:extLst>
          </p:cNvPr>
          <p:cNvPicPr>
            <a:picLocks noChangeAspect="1"/>
          </p:cNvPicPr>
          <p:nvPr/>
        </p:nvPicPr>
        <p:blipFill>
          <a:blip r:embed="rId2"/>
          <a:stretch>
            <a:fillRect/>
          </a:stretch>
        </p:blipFill>
        <p:spPr>
          <a:xfrm>
            <a:off x="867508" y="797169"/>
            <a:ext cx="10410092" cy="5486399"/>
          </a:xfrm>
          <a:prstGeom prst="rect">
            <a:avLst/>
          </a:prstGeom>
        </p:spPr>
      </p:pic>
    </p:spTree>
    <p:extLst>
      <p:ext uri="{BB962C8B-B14F-4D97-AF65-F5344CB8AC3E}">
        <p14:creationId xmlns:p14="http://schemas.microsoft.com/office/powerpoint/2010/main" val="2773418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88">
            <a:extLst>
              <a:ext uri="{FF2B5EF4-FFF2-40B4-BE49-F238E27FC236}">
                <a16:creationId xmlns:a16="http://schemas.microsoft.com/office/drawing/2014/main" id="{E0DFA92D-CFB8-4FCF-A543-4A7DAC1DE4EA}"/>
              </a:ext>
            </a:extLst>
          </p:cNvPr>
          <p:cNvCxnSpPr>
            <a:cxnSpLocks/>
            <a:stCxn id="6" idx="3"/>
          </p:cNvCxnSpPr>
          <p:nvPr/>
        </p:nvCxnSpPr>
        <p:spPr>
          <a:xfrm flipV="1">
            <a:off x="2569178" y="1820473"/>
            <a:ext cx="202819" cy="54968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6" name="Freeform: Shape 93">
            <a:extLst>
              <a:ext uri="{FF2B5EF4-FFF2-40B4-BE49-F238E27FC236}">
                <a16:creationId xmlns:a16="http://schemas.microsoft.com/office/drawing/2014/main" id="{E5984846-F7BE-4E96-B8E3-4566041B04E8}"/>
              </a:ext>
            </a:extLst>
          </p:cNvPr>
          <p:cNvSpPr/>
          <p:nvPr/>
        </p:nvSpPr>
        <p:spPr>
          <a:xfrm rot="1242827">
            <a:off x="2474020" y="2365610"/>
            <a:ext cx="140589" cy="140589"/>
          </a:xfrm>
          <a:custGeom>
            <a:avLst/>
            <a:gdLst>
              <a:gd name="connsiteX0" fmla="*/ 187452 w 187452"/>
              <a:gd name="connsiteY0" fmla="*/ 93726 h 187452"/>
              <a:gd name="connsiteX1" fmla="*/ 93726 w 187452"/>
              <a:gd name="connsiteY1" fmla="*/ 187452 h 187452"/>
              <a:gd name="connsiteX2" fmla="*/ 0 w 187452"/>
              <a:gd name="connsiteY2" fmla="*/ 93726 h 187452"/>
              <a:gd name="connsiteX3" fmla="*/ 93726 w 187452"/>
              <a:gd name="connsiteY3" fmla="*/ 0 h 187452"/>
              <a:gd name="connsiteX4" fmla="*/ 187452 w 187452"/>
              <a:gd name="connsiteY4" fmla="*/ 93726 h 187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2" h="187452">
                <a:moveTo>
                  <a:pt x="187452" y="93726"/>
                </a:moveTo>
                <a:cubicBezTo>
                  <a:pt x="187452" y="145489"/>
                  <a:pt x="145489" y="187452"/>
                  <a:pt x="93726" y="187452"/>
                </a:cubicBezTo>
                <a:cubicBezTo>
                  <a:pt x="41963" y="187452"/>
                  <a:pt x="0" y="145489"/>
                  <a:pt x="0" y="93726"/>
                </a:cubicBezTo>
                <a:cubicBezTo>
                  <a:pt x="0" y="41963"/>
                  <a:pt x="41963" y="0"/>
                  <a:pt x="93726" y="0"/>
                </a:cubicBezTo>
                <a:cubicBezTo>
                  <a:pt x="145489" y="0"/>
                  <a:pt x="187452" y="41963"/>
                  <a:pt x="187452" y="93726"/>
                </a:cubicBezTo>
                <a:close/>
              </a:path>
            </a:pathLst>
          </a:custGeom>
          <a:solidFill>
            <a:schemeClr val="accent2"/>
          </a:solidFill>
          <a:ln w="9525" cap="flat">
            <a:noFill/>
            <a:prstDash val="solid"/>
            <a:miter/>
          </a:ln>
        </p:spPr>
        <p:txBody>
          <a:bodyPr rtlCol="0" anchor="ctr"/>
          <a:lstStyle/>
          <a:p>
            <a:pPr defTabSz="685800"/>
            <a:endParaRPr lang="en-US" sz="1350">
              <a:latin typeface="Calibri" panose="020F0502020204030204"/>
            </a:endParaRPr>
          </a:p>
        </p:txBody>
      </p:sp>
      <p:grpSp>
        <p:nvGrpSpPr>
          <p:cNvPr id="24" name="Group 61">
            <a:extLst>
              <a:ext uri="{FF2B5EF4-FFF2-40B4-BE49-F238E27FC236}">
                <a16:creationId xmlns:a16="http://schemas.microsoft.com/office/drawing/2014/main" id="{4C178650-6C46-4D44-AE93-2B651B43D8CA}"/>
              </a:ext>
            </a:extLst>
          </p:cNvPr>
          <p:cNvGrpSpPr/>
          <p:nvPr/>
        </p:nvGrpSpPr>
        <p:grpSpPr>
          <a:xfrm>
            <a:off x="4492220" y="3995243"/>
            <a:ext cx="7416824" cy="2230647"/>
            <a:chOff x="5436655" y="1804562"/>
            <a:chExt cx="6134272" cy="2974197"/>
          </a:xfrm>
        </p:grpSpPr>
        <p:grpSp>
          <p:nvGrpSpPr>
            <p:cNvPr id="25" name="Group 72">
              <a:extLst>
                <a:ext uri="{FF2B5EF4-FFF2-40B4-BE49-F238E27FC236}">
                  <a16:creationId xmlns:a16="http://schemas.microsoft.com/office/drawing/2014/main" id="{D98C0035-4BF8-4DEF-BFC2-4EFC5EF2A2E1}"/>
                </a:ext>
              </a:extLst>
            </p:cNvPr>
            <p:cNvGrpSpPr/>
            <p:nvPr/>
          </p:nvGrpSpPr>
          <p:grpSpPr>
            <a:xfrm>
              <a:off x="5436655" y="1949949"/>
              <a:ext cx="6134272" cy="2828810"/>
              <a:chOff x="3591157" y="2119993"/>
              <a:chExt cx="6134272" cy="2828810"/>
            </a:xfrm>
          </p:grpSpPr>
          <p:sp>
            <p:nvSpPr>
              <p:cNvPr id="27" name="TextBox 74">
                <a:extLst>
                  <a:ext uri="{FF2B5EF4-FFF2-40B4-BE49-F238E27FC236}">
                    <a16:creationId xmlns:a16="http://schemas.microsoft.com/office/drawing/2014/main" id="{08A2C60B-8F80-4ED8-8B17-7EFCEB1127E8}"/>
                  </a:ext>
                </a:extLst>
              </p:cNvPr>
              <p:cNvSpPr txBox="1"/>
              <p:nvPr/>
            </p:nvSpPr>
            <p:spPr>
              <a:xfrm>
                <a:off x="3704045" y="2305941"/>
                <a:ext cx="6021384" cy="2642862"/>
              </a:xfrm>
              <a:prstGeom prst="rect">
                <a:avLst/>
              </a:prstGeom>
              <a:noFill/>
            </p:spPr>
            <p:txBody>
              <a:bodyPr wrap="square" rtlCol="0">
                <a:spAutoFit/>
              </a:bodyPr>
              <a:lstStyle/>
              <a:p>
                <a:pPr marL="171450" indent="-171450">
                  <a:lnSpc>
                    <a:spcPct val="115000"/>
                  </a:lnSpc>
                  <a:buSzPts val="1400"/>
                  <a:buFontTx/>
                  <a:buChar char="-"/>
                </a:pP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Untuk</a:t>
                </a: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 output </a:t>
                </a: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dari</a:t>
                </a: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bak</a:t>
                </a: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 intermediate </a:t>
                </a: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menggunakan</a:t>
                </a: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 pipa 12 inch </a:t>
                </a: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serta</a:t>
                </a: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 gate  valve 12 inch</a:t>
                </a:r>
              </a:p>
              <a:p>
                <a:pPr marL="171450" indent="-171450">
                  <a:lnSpc>
                    <a:spcPct val="115000"/>
                  </a:lnSpc>
                  <a:buSzPts val="1400"/>
                  <a:buFontTx/>
                  <a:buChar char="-"/>
                </a:pP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Pengecatan</a:t>
                </a: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 pipa </a:t>
                </a: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menggunakan</a:t>
                </a: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metode</a:t>
                </a: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 roller brush</a:t>
                </a:r>
              </a:p>
              <a:p>
                <a:pPr marL="171450" indent="-171450">
                  <a:lnSpc>
                    <a:spcPct val="115000"/>
                  </a:lnSpc>
                  <a:buSzPts val="1400"/>
                  <a:buFontTx/>
                  <a:buChar char="-"/>
                </a:pP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Ketentuan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pengecatan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Total DFT 250 Micron,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dengan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rincian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p>
              <a:p>
                <a:pPr marL="685800" lvl="1" indent="-228600">
                  <a:lnSpc>
                    <a:spcPct val="115000"/>
                  </a:lnSpc>
                  <a:buSzPts val="1400"/>
                  <a:buAutoNum type="alphaLcPeriod"/>
                </a:pP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Primer Coat ( Anti corrosion surface tolerant epoxy + thinner ) DFT 100 Micron</a:t>
                </a:r>
              </a:p>
              <a:p>
                <a:pPr marL="685800" lvl="1" indent="-228600">
                  <a:lnSpc>
                    <a:spcPct val="115000"/>
                  </a:lnSpc>
                  <a:buSzPts val="1400"/>
                  <a:buFontTx/>
                  <a:buAutoNum type="alphaLcPeriod"/>
                </a:pP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Intermediate Coat ( High Build – High solid epoxy + thinner ) DFT 100 Micron</a:t>
                </a:r>
              </a:p>
              <a:p>
                <a:pPr marL="685800" lvl="1" indent="-228600">
                  <a:lnSpc>
                    <a:spcPct val="115000"/>
                  </a:lnSpc>
                  <a:buSzPts val="1400"/>
                  <a:buFontTx/>
                  <a:buAutoNum type="alphaLcPeriod"/>
                </a:pP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Finish Coat ( Polyurethane + thinner ) DFT 50 Micron</a:t>
                </a:r>
                <a:endPar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a:p>
                <a:pPr marL="171450" indent="-171450">
                  <a:lnSpc>
                    <a:spcPct val="115000"/>
                  </a:lnSpc>
                  <a:buSzPts val="1400"/>
                  <a:buFontTx/>
                  <a:buChar char="-"/>
                </a:pP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Setelah pipa </a:t>
                </a: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sudah</a:t>
                </a: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dilakukan</a:t>
                </a: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pengecatan</a:t>
                </a: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selanjutnya</a:t>
                </a: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harus</a:t>
                </a: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melalui</a:t>
                </a: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tahapan</a:t>
                </a:r>
                <a:r>
                  <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rPr>
                  <a:t> wrapping </a:t>
                </a:r>
                <a:r>
                  <a:rPr lang="en-US" sz="1200" dirty="0" err="1">
                    <a:highlight>
                      <a:srgbClr val="FFFFFF"/>
                    </a:highlight>
                    <a:latin typeface="Tahoma" panose="020B0604030504040204" pitchFamily="34" charset="0"/>
                    <a:ea typeface="Tahoma" panose="020B0604030504040204" pitchFamily="34" charset="0"/>
                    <a:cs typeface="Tahoma" panose="020B0604030504040204" pitchFamily="34" charset="0"/>
                  </a:rPr>
                  <a:t>dahulu</a:t>
                </a:r>
                <a:endParaRPr lang="en-US"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a:p>
                <a:pPr marL="171450" indent="-171450">
                  <a:lnSpc>
                    <a:spcPct val="115000"/>
                  </a:lnSpc>
                  <a:buSzPts val="1400"/>
                  <a:buFontTx/>
                  <a:buChar char="-"/>
                </a:pPr>
                <a:endPar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a:p>
                <a:pPr marL="685800" lvl="1" indent="-228600">
                  <a:lnSpc>
                    <a:spcPct val="115000"/>
                  </a:lnSpc>
                  <a:buSzPts val="1400"/>
                  <a:buAutoNum type="alphaLcPeriod"/>
                </a:pPr>
                <a:endPar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p:txBody>
          </p:sp>
          <p:sp>
            <p:nvSpPr>
              <p:cNvPr id="28" name="Oval 27">
                <a:extLst>
                  <a:ext uri="{FF2B5EF4-FFF2-40B4-BE49-F238E27FC236}">
                    <a16:creationId xmlns:a16="http://schemas.microsoft.com/office/drawing/2014/main" id="{8E16AD87-02F4-4DE4-8557-9D6B5C35E4D1}"/>
                  </a:ext>
                </a:extLst>
              </p:cNvPr>
              <p:cNvSpPr/>
              <p:nvPr/>
            </p:nvSpPr>
            <p:spPr>
              <a:xfrm>
                <a:off x="3591157" y="2119993"/>
                <a:ext cx="123512" cy="182133"/>
              </a:xfrm>
              <a:prstGeom prst="ellipse">
                <a:avLst/>
              </a:prstGeom>
              <a:solidFill>
                <a:srgbClr val="92D05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a:solidFill>
                    <a:schemeClr val="tx1"/>
                  </a:solidFill>
                  <a:latin typeface="Calibri" panose="020F0502020204030204"/>
                </a:endParaRPr>
              </a:p>
            </p:txBody>
          </p:sp>
        </p:grpSp>
        <p:sp>
          <p:nvSpPr>
            <p:cNvPr id="26" name="TextBox 73">
              <a:extLst>
                <a:ext uri="{FF2B5EF4-FFF2-40B4-BE49-F238E27FC236}">
                  <a16:creationId xmlns:a16="http://schemas.microsoft.com/office/drawing/2014/main" id="{7A2D2043-369C-4B6B-8316-2D3CF280ECA8}"/>
                </a:ext>
              </a:extLst>
            </p:cNvPr>
            <p:cNvSpPr txBox="1"/>
            <p:nvPr/>
          </p:nvSpPr>
          <p:spPr>
            <a:xfrm>
              <a:off x="5549545" y="1804562"/>
              <a:ext cx="1709226" cy="410370"/>
            </a:xfrm>
            <a:prstGeom prst="rect">
              <a:avLst/>
            </a:prstGeom>
            <a:noFill/>
          </p:spPr>
          <p:txBody>
            <a:bodyPr wrap="none" rtlCol="0">
              <a:spAutoFit/>
            </a:bodyPr>
            <a:lstStyle/>
            <a:p>
              <a:pPr defTabSz="685800"/>
              <a:r>
                <a:rPr lang="en-US" sz="1400" b="1" dirty="0" err="1">
                  <a:latin typeface="Tahoma" panose="020B0604030504040204" pitchFamily="34" charset="0"/>
                  <a:ea typeface="Tahoma" panose="020B0604030504040204" pitchFamily="34" charset="0"/>
                  <a:cs typeface="Tahoma" panose="020B0604030504040204" pitchFamily="34" charset="0"/>
                </a:rPr>
                <a:t>Pekerjaan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b="1" dirty="0" err="1">
                  <a:latin typeface="Tahoma" panose="020B0604030504040204" pitchFamily="34" charset="0"/>
                  <a:ea typeface="Tahoma" panose="020B0604030504040204" pitchFamily="34" charset="0"/>
                  <a:cs typeface="Tahoma" panose="020B0604030504040204" pitchFamily="34" charset="0"/>
                </a:rPr>
                <a:t>Perpipaan</a:t>
              </a:r>
              <a:endParaRPr lang="en-US" sz="1400" b="1" dirty="0">
                <a:latin typeface="Tahoma" panose="020B0604030504040204" pitchFamily="34" charset="0"/>
                <a:ea typeface="Tahoma" panose="020B0604030504040204" pitchFamily="34" charset="0"/>
                <a:cs typeface="Tahoma" panose="020B0604030504040204" pitchFamily="34" charset="0"/>
              </a:endParaRPr>
            </a:p>
          </p:txBody>
        </p:sp>
      </p:grpSp>
      <p:grpSp>
        <p:nvGrpSpPr>
          <p:cNvPr id="30" name="Grup 59">
            <a:extLst>
              <a:ext uri="{FF2B5EF4-FFF2-40B4-BE49-F238E27FC236}">
                <a16:creationId xmlns:a16="http://schemas.microsoft.com/office/drawing/2014/main" id="{8A2BEBCB-297E-407D-95C9-EF94E57378D3}"/>
              </a:ext>
            </a:extLst>
          </p:cNvPr>
          <p:cNvGrpSpPr/>
          <p:nvPr/>
        </p:nvGrpSpPr>
        <p:grpSpPr>
          <a:xfrm>
            <a:off x="3326056" y="1085115"/>
            <a:ext cx="1797485" cy="307777"/>
            <a:chOff x="3682627" y="908720"/>
            <a:chExt cx="1182475" cy="307777"/>
          </a:xfrm>
        </p:grpSpPr>
        <p:sp>
          <p:nvSpPr>
            <p:cNvPr id="32" name="Oval 31">
              <a:extLst>
                <a:ext uri="{FF2B5EF4-FFF2-40B4-BE49-F238E27FC236}">
                  <a16:creationId xmlns:a16="http://schemas.microsoft.com/office/drawing/2014/main" id="{E17BDC9B-E567-400D-B5B9-D36E7881E9B8}"/>
                </a:ext>
              </a:extLst>
            </p:cNvPr>
            <p:cNvSpPr/>
            <p:nvPr/>
          </p:nvSpPr>
          <p:spPr>
            <a:xfrm>
              <a:off x="3682627" y="996332"/>
              <a:ext cx="97286" cy="144635"/>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a:solidFill>
                  <a:schemeClr val="tx1"/>
                </a:solidFill>
                <a:latin typeface="Calibri" panose="020F0502020204030204"/>
              </a:endParaRPr>
            </a:p>
          </p:txBody>
        </p:sp>
        <p:sp>
          <p:nvSpPr>
            <p:cNvPr id="33" name="TextBox 81">
              <a:extLst>
                <a:ext uri="{FF2B5EF4-FFF2-40B4-BE49-F238E27FC236}">
                  <a16:creationId xmlns:a16="http://schemas.microsoft.com/office/drawing/2014/main" id="{27F040D7-12F2-4117-8576-77C97CC1B852}"/>
                </a:ext>
              </a:extLst>
            </p:cNvPr>
            <p:cNvSpPr txBox="1"/>
            <p:nvPr/>
          </p:nvSpPr>
          <p:spPr>
            <a:xfrm>
              <a:off x="3850428" y="908720"/>
              <a:ext cx="1014674" cy="307777"/>
            </a:xfrm>
            <a:prstGeom prst="rect">
              <a:avLst/>
            </a:prstGeom>
            <a:noFill/>
          </p:spPr>
          <p:txBody>
            <a:bodyPr wrap="none" rtlCol="0">
              <a:spAutoFit/>
            </a:bodyPr>
            <a:lstStyle/>
            <a:p>
              <a:pPr defTabSz="685800"/>
              <a:r>
                <a:rPr lang="en-US" sz="1400" b="1" dirty="0" err="1">
                  <a:latin typeface="Tahoma" panose="020B0604030504040204" pitchFamily="34" charset="0"/>
                  <a:ea typeface="Tahoma" panose="020B0604030504040204" pitchFamily="34" charset="0"/>
                  <a:cs typeface="Tahoma" panose="020B0604030504040204" pitchFamily="34" charset="0"/>
                </a:rPr>
                <a:t>Pekerjaan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b="1" dirty="0" err="1">
                  <a:latin typeface="Tahoma" panose="020B0604030504040204" pitchFamily="34" charset="0"/>
                  <a:ea typeface="Tahoma" panose="020B0604030504040204" pitchFamily="34" charset="0"/>
                  <a:cs typeface="Tahoma" panose="020B0604030504040204" pitchFamily="34" charset="0"/>
                </a:rPr>
                <a:t>Sipil</a:t>
              </a:r>
              <a:endParaRPr lang="en-US" sz="1400" b="1" dirty="0">
                <a:latin typeface="Tahoma" panose="020B0604030504040204" pitchFamily="34" charset="0"/>
                <a:ea typeface="Tahoma" panose="020B0604030504040204" pitchFamily="34" charset="0"/>
                <a:cs typeface="Tahoma" panose="020B0604030504040204" pitchFamily="34" charset="0"/>
              </a:endParaRPr>
            </a:p>
          </p:txBody>
        </p:sp>
      </p:grpSp>
      <p:sp>
        <p:nvSpPr>
          <p:cNvPr id="31" name="TextBox 109">
            <a:extLst>
              <a:ext uri="{FF2B5EF4-FFF2-40B4-BE49-F238E27FC236}">
                <a16:creationId xmlns:a16="http://schemas.microsoft.com/office/drawing/2014/main" id="{74B20635-AC91-4BD2-A644-5D06C9B92AC5}"/>
              </a:ext>
            </a:extLst>
          </p:cNvPr>
          <p:cNvSpPr txBox="1"/>
          <p:nvPr/>
        </p:nvSpPr>
        <p:spPr>
          <a:xfrm>
            <a:off x="3441680" y="1455568"/>
            <a:ext cx="7014550" cy="2406877"/>
          </a:xfrm>
          <a:prstGeom prst="rect">
            <a:avLst/>
          </a:prstGeom>
          <a:noFill/>
        </p:spPr>
        <p:txBody>
          <a:bodyPr wrap="square" rtlCol="0">
            <a:spAutoFit/>
          </a:bodyPr>
          <a:lstStyle/>
          <a:p>
            <a:pPr marL="171450" indent="-171450" fontAlgn="base">
              <a:lnSpc>
                <a:spcPct val="115000"/>
              </a:lnSpc>
              <a:buSzPts val="1400"/>
              <a:buFontTx/>
              <a:buChar char="-"/>
            </a:pPr>
            <a:r>
              <a:rPr lang="en-US" sz="1200" dirty="0" err="1">
                <a:latin typeface="Tahoma" panose="020B0604030504040204" pitchFamily="34" charset="0"/>
                <a:ea typeface="Tahoma" panose="020B0604030504040204" pitchFamily="34" charset="0"/>
                <a:cs typeface="Tahoma" panose="020B0604030504040204" pitchFamily="34" charset="0"/>
              </a:rPr>
              <a:t>Perbaikan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Drainase</a:t>
            </a:r>
            <a:r>
              <a:rPr lang="en-US" sz="1200" dirty="0">
                <a:latin typeface="Tahoma" panose="020B0604030504040204" pitchFamily="34" charset="0"/>
                <a:ea typeface="Tahoma" panose="020B0604030504040204" pitchFamily="34" charset="0"/>
                <a:cs typeface="Tahoma" panose="020B0604030504040204" pitchFamily="34" charset="0"/>
              </a:rPr>
              <a:t> Area </a:t>
            </a:r>
            <a:r>
              <a:rPr lang="en-US" sz="1200" dirty="0" err="1">
                <a:latin typeface="Tahoma" panose="020B0604030504040204" pitchFamily="34" charset="0"/>
                <a:ea typeface="Tahoma" panose="020B0604030504040204" pitchFamily="34" charset="0"/>
                <a:cs typeface="Tahoma" panose="020B0604030504040204" pitchFamily="34" charset="0"/>
              </a:rPr>
              <a:t>Tangki</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Timbun</a:t>
            </a:r>
            <a:endParaRPr lang="en-US" sz="1200" dirty="0">
              <a:latin typeface="Tahoma" panose="020B0604030504040204" pitchFamily="34" charset="0"/>
              <a:ea typeface="Tahoma" panose="020B0604030504040204" pitchFamily="34" charset="0"/>
              <a:cs typeface="Tahoma" panose="020B0604030504040204" pitchFamily="34" charset="0"/>
            </a:endParaRPr>
          </a:p>
          <a:p>
            <a:pPr marL="685800" lvl="1" indent="-228600">
              <a:lnSpc>
                <a:spcPct val="115000"/>
              </a:lnSpc>
              <a:buSzPts val="1400"/>
              <a:buAutoNum type="alphaLcPeriod"/>
            </a:pPr>
            <a:r>
              <a:rPr lang="en-US" sz="1200" dirty="0">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Pembuatan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Bak</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Intermediate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untuk</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area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sisi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timur</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dan barat</a:t>
            </a:r>
          </a:p>
          <a:p>
            <a:pPr marL="1085850" lvl="2" indent="-171450">
              <a:lnSpc>
                <a:spcPct val="115000"/>
              </a:lnSpc>
              <a:buSzPts val="1400"/>
              <a:buFont typeface="Arial" panose="020B0604020202020204" pitchFamily="34" charset="0"/>
              <a:buChar char="•"/>
            </a:pP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Bak</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Intermediate Sisi Timur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dengan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ukuran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5,34 x 3,84 x 1,50 meter</a:t>
            </a:r>
          </a:p>
          <a:p>
            <a:pPr marL="1085850" lvl="2" indent="-171450">
              <a:lnSpc>
                <a:spcPct val="115000"/>
              </a:lnSpc>
              <a:buSzPts val="1400"/>
              <a:buFont typeface="Arial" panose="020B0604020202020204" pitchFamily="34" charset="0"/>
              <a:buChar char="•"/>
            </a:pP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Bak</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Intermediate Sisi Barat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dengan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ukuran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3,00 x 2,40 x 1,50 meter</a:t>
            </a:r>
          </a:p>
          <a:p>
            <a:pPr marL="1085850" lvl="2" indent="-171450">
              <a:lnSpc>
                <a:spcPct val="115000"/>
              </a:lnSpc>
              <a:buSzPts val="1400"/>
              <a:buFont typeface="Arial" panose="020B0604020202020204" pitchFamily="34" charset="0"/>
              <a:buChar char="•"/>
            </a:pP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Bak</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menggunakan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konstruksi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cor</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beton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bertulang</a:t>
            </a:r>
            <a:endPar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a:p>
            <a:pPr marL="1085850" lvl="2" indent="-171450">
              <a:lnSpc>
                <a:spcPct val="115000"/>
              </a:lnSpc>
              <a:buSzPts val="1400"/>
              <a:buFont typeface="Arial" panose="020B0604020202020204" pitchFamily="34" charset="0"/>
              <a:buChar char="•"/>
            </a:pP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Penutup</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Bak</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menggunakan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steel grating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rangka</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siku 40x40	</a:t>
            </a:r>
          </a:p>
          <a:p>
            <a:pPr marL="685800" lvl="1" indent="-228600">
              <a:lnSpc>
                <a:spcPct val="115000"/>
              </a:lnSpc>
              <a:buSzPts val="1400"/>
              <a:buFontTx/>
              <a:buAutoNum type="alphaLcPeriod"/>
            </a:pP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Perbaikan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drainase</a:t>
            </a:r>
            <a:endPar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a:p>
            <a:pPr marL="1085850" lvl="2" indent="-171450">
              <a:lnSpc>
                <a:spcPct val="115000"/>
              </a:lnSpc>
              <a:buSzPts val="1400"/>
              <a:buFont typeface="Arial" panose="020B0604020202020204" pitchFamily="34" charset="0"/>
              <a:buChar char="•"/>
            </a:pP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Penyesuaian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elevasi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untuk</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mengalirnya</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air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dari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sisi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barat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mengarah</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ke</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sisi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timur</a:t>
            </a:r>
            <a:endPar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a:p>
            <a:pPr marL="1085850" lvl="2" indent="-171450">
              <a:lnSpc>
                <a:spcPct val="115000"/>
              </a:lnSpc>
              <a:buSzPts val="1400"/>
              <a:buFont typeface="Arial" panose="020B0604020202020204" pitchFamily="34" charset="0"/>
              <a:buChar char="•"/>
            </a:pP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Jarak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elevasi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dari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ujung</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sisi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timur</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dan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sisi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barat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tidak</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selisih</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terlalu</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jauh</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hanya</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berkisar</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15-20 cm</a:t>
            </a:r>
          </a:p>
          <a:p>
            <a:pPr fontAlgn="base">
              <a:lnSpc>
                <a:spcPct val="115000"/>
              </a:lnSpc>
              <a:buSzPts val="1400"/>
            </a:pPr>
            <a:endParaRPr lang="en-US" sz="1200" dirty="0">
              <a:latin typeface="Tahoma" panose="020B0604030504040204" pitchFamily="34" charset="0"/>
              <a:ea typeface="Tahoma" panose="020B0604030504040204" pitchFamily="34" charset="0"/>
              <a:cs typeface="Tahoma" panose="020B0604030504040204" pitchFamily="34" charset="0"/>
            </a:endParaRPr>
          </a:p>
        </p:txBody>
      </p:sp>
      <p:grpSp>
        <p:nvGrpSpPr>
          <p:cNvPr id="39" name="Grup 73">
            <a:extLst>
              <a:ext uri="{FF2B5EF4-FFF2-40B4-BE49-F238E27FC236}">
                <a16:creationId xmlns:a16="http://schemas.microsoft.com/office/drawing/2014/main" id="{6FF64852-FDE5-4672-9A38-36B4331E1310}"/>
              </a:ext>
            </a:extLst>
          </p:cNvPr>
          <p:cNvGrpSpPr/>
          <p:nvPr/>
        </p:nvGrpSpPr>
        <p:grpSpPr>
          <a:xfrm>
            <a:off x="239206" y="6309321"/>
            <a:ext cx="2832458" cy="354841"/>
            <a:chOff x="114776" y="6421683"/>
            <a:chExt cx="2832458" cy="354841"/>
          </a:xfrm>
        </p:grpSpPr>
        <p:sp>
          <p:nvSpPr>
            <p:cNvPr id="40" name="TextBox 14">
              <a:extLst>
                <a:ext uri="{FF2B5EF4-FFF2-40B4-BE49-F238E27FC236}">
                  <a16:creationId xmlns:a16="http://schemas.microsoft.com/office/drawing/2014/main" id="{30F592CA-B8F5-4FE4-BE99-0C9F8B0C5903}"/>
                </a:ext>
              </a:extLst>
            </p:cNvPr>
            <p:cNvSpPr txBox="1"/>
            <p:nvPr/>
          </p:nvSpPr>
          <p:spPr>
            <a:xfrm>
              <a:off x="271269" y="6473331"/>
              <a:ext cx="2675965" cy="261610"/>
            </a:xfrm>
            <a:prstGeom prst="rect">
              <a:avLst/>
            </a:prstGeom>
            <a:noFill/>
          </p:spPr>
          <p:txBody>
            <a:bodyPr wrap="square" rtlCol="0">
              <a:spAutoFit/>
            </a:bodyPr>
            <a:lstStyle/>
            <a:p>
              <a:r>
                <a:rPr lang="id-ID" sz="1100" b="1" dirty="0">
                  <a:solidFill>
                    <a:srgbClr val="FF0000"/>
                  </a:solidFill>
                </a:rPr>
                <a:t>   </a:t>
              </a:r>
              <a:r>
                <a:rPr lang="en-US" sz="1000" b="1" dirty="0">
                  <a:solidFill>
                    <a:srgbClr val="FF0000"/>
                  </a:solidFill>
                </a:rPr>
                <a:t>PT. </a:t>
              </a:r>
              <a:r>
                <a:rPr lang="id-ID" sz="1000" b="1" dirty="0">
                  <a:solidFill>
                    <a:srgbClr val="FF0000"/>
                  </a:solidFill>
                </a:rPr>
                <a:t>PANGESTU ANUGERAH ABADI</a:t>
              </a:r>
              <a:endParaRPr lang="id-ID" sz="1100" dirty="0">
                <a:solidFill>
                  <a:srgbClr val="FF0000"/>
                </a:solidFill>
              </a:endParaRPr>
            </a:p>
          </p:txBody>
        </p:sp>
        <p:sp>
          <p:nvSpPr>
            <p:cNvPr id="41" name="Parallelogram 15">
              <a:extLst>
                <a:ext uri="{FF2B5EF4-FFF2-40B4-BE49-F238E27FC236}">
                  <a16:creationId xmlns:a16="http://schemas.microsoft.com/office/drawing/2014/main" id="{E856C410-CF4F-45E7-B63A-5D1827D563E8}"/>
                </a:ext>
              </a:extLst>
            </p:cNvPr>
            <p:cNvSpPr/>
            <p:nvPr/>
          </p:nvSpPr>
          <p:spPr>
            <a:xfrm>
              <a:off x="114776" y="6421683"/>
              <a:ext cx="324023" cy="354841"/>
            </a:xfrm>
            <a:prstGeom prst="parallelogram">
              <a:avLst>
                <a:gd name="adj" fmla="val 64317"/>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49" name="Group 48">
            <a:extLst>
              <a:ext uri="{FF2B5EF4-FFF2-40B4-BE49-F238E27FC236}">
                <a16:creationId xmlns:a16="http://schemas.microsoft.com/office/drawing/2014/main" id="{A54736DC-90E9-4E08-A831-6793398E8562}"/>
              </a:ext>
            </a:extLst>
          </p:cNvPr>
          <p:cNvGrpSpPr/>
          <p:nvPr/>
        </p:nvGrpSpPr>
        <p:grpSpPr>
          <a:xfrm>
            <a:off x="-28280" y="564125"/>
            <a:ext cx="11421639" cy="5741470"/>
            <a:chOff x="-25810" y="558265"/>
            <a:chExt cx="11421639" cy="5741470"/>
          </a:xfrm>
        </p:grpSpPr>
        <p:sp>
          <p:nvSpPr>
            <p:cNvPr id="50" name="Rectangle 49">
              <a:extLst>
                <a:ext uri="{FF2B5EF4-FFF2-40B4-BE49-F238E27FC236}">
                  <a16:creationId xmlns:a16="http://schemas.microsoft.com/office/drawing/2014/main" id="{9A9BC326-8C62-4A2F-B052-D0078E3E7F04}"/>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747AFD5D-10CB-47DF-A3DE-098DB2F07DD0}"/>
                </a:ext>
              </a:extLst>
            </p:cNvPr>
            <p:cNvGrpSpPr/>
            <p:nvPr/>
          </p:nvGrpSpPr>
          <p:grpSpPr>
            <a:xfrm>
              <a:off x="-25810" y="567070"/>
              <a:ext cx="543980" cy="5732665"/>
              <a:chOff x="-62386" y="567070"/>
              <a:chExt cx="543980" cy="5732665"/>
            </a:xfrm>
          </p:grpSpPr>
          <p:sp>
            <p:nvSpPr>
              <p:cNvPr id="53" name="Oval 52">
                <a:extLst>
                  <a:ext uri="{FF2B5EF4-FFF2-40B4-BE49-F238E27FC236}">
                    <a16:creationId xmlns:a16="http://schemas.microsoft.com/office/drawing/2014/main" id="{8B23543B-8394-45B7-B845-64A5A73268C4}"/>
                  </a:ext>
                </a:extLst>
              </p:cNvPr>
              <p:cNvSpPr/>
              <p:nvPr/>
            </p:nvSpPr>
            <p:spPr>
              <a:xfrm>
                <a:off x="-15044" y="2864718"/>
                <a:ext cx="496638" cy="114300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Top Corners Snipped 53">
                <a:extLst>
                  <a:ext uri="{FF2B5EF4-FFF2-40B4-BE49-F238E27FC236}">
                    <a16:creationId xmlns:a16="http://schemas.microsoft.com/office/drawing/2014/main" id="{FA7C0E7C-028F-44D9-B6C0-333B8A069B0F}"/>
                  </a:ext>
                </a:extLst>
              </p:cNvPr>
              <p:cNvSpPr/>
              <p:nvPr/>
            </p:nvSpPr>
            <p:spPr>
              <a:xfrm rot="5400000">
                <a:off x="-1743908" y="3275527"/>
                <a:ext cx="3794762" cy="306946"/>
              </a:xfrm>
              <a:prstGeom prst="snip2SameRect">
                <a:avLst/>
              </a:prstGeom>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TextBox 54">
                <a:extLst>
                  <a:ext uri="{FF2B5EF4-FFF2-40B4-BE49-F238E27FC236}">
                    <a16:creationId xmlns:a16="http://schemas.microsoft.com/office/drawing/2014/main" id="{6B3F921F-C504-41EB-A291-F36D59CE60A0}"/>
                  </a:ext>
                </a:extLst>
              </p:cNvPr>
              <p:cNvSpPr txBox="1"/>
              <p:nvPr/>
            </p:nvSpPr>
            <p:spPr>
              <a:xfrm rot="16200000">
                <a:off x="-947568" y="3251856"/>
                <a:ext cx="2139696" cy="369332"/>
              </a:xfrm>
              <a:prstGeom prst="rect">
                <a:avLst/>
              </a:prstGeom>
              <a:noFill/>
              <a:ln>
                <a:noFill/>
              </a:ln>
            </p:spPr>
            <p:txBody>
              <a:bodyPr wrap="square" rtlCol="0" anchor="ctr">
                <a:spAutoFit/>
              </a:bodyPr>
              <a:lstStyle/>
              <a:p>
                <a:pPr algn="ctr"/>
                <a:r>
                  <a:rPr lang="en-US" dirty="0">
                    <a:solidFill>
                      <a:schemeClr val="bg1"/>
                    </a:solidFill>
                  </a:rPr>
                  <a:t>OVERVIEW PROJECT</a:t>
                </a:r>
              </a:p>
            </p:txBody>
          </p:sp>
          <p:cxnSp>
            <p:nvCxnSpPr>
              <p:cNvPr id="56" name="Straight Connector 55">
                <a:extLst>
                  <a:ext uri="{FF2B5EF4-FFF2-40B4-BE49-F238E27FC236}">
                    <a16:creationId xmlns:a16="http://schemas.microsoft.com/office/drawing/2014/main" id="{047B47AC-E1DA-4014-BC2A-EEF0707DE094}"/>
                  </a:ext>
                </a:extLst>
              </p:cNvPr>
              <p:cNvCxnSpPr>
                <a:cxnSpLocks/>
              </p:cNvCxnSpPr>
              <p:nvPr/>
            </p:nvCxnSpPr>
            <p:spPr>
              <a:xfrm>
                <a:off x="-7088" y="567070"/>
                <a:ext cx="7088" cy="5732665"/>
              </a:xfrm>
              <a:prstGeom prst="line">
                <a:avLst/>
              </a:prstGeom>
              <a:ln w="50800"/>
            </p:spPr>
            <p:style>
              <a:lnRef idx="1">
                <a:schemeClr val="accent1"/>
              </a:lnRef>
              <a:fillRef idx="0">
                <a:schemeClr val="accent1"/>
              </a:fillRef>
              <a:effectRef idx="0">
                <a:schemeClr val="accent1"/>
              </a:effectRef>
              <a:fontRef idx="minor">
                <a:schemeClr val="tx1"/>
              </a:fontRef>
            </p:style>
          </p:cxnSp>
        </p:grpSp>
        <p:sp>
          <p:nvSpPr>
            <p:cNvPr id="52" name="Rectangle 51">
              <a:extLst>
                <a:ext uri="{FF2B5EF4-FFF2-40B4-BE49-F238E27FC236}">
                  <a16:creationId xmlns:a16="http://schemas.microsoft.com/office/drawing/2014/main" id="{2F8FF68E-42ED-4D0B-B100-2787654E69FE}"/>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C14D3BF9-D155-4916-B695-0639DC9C01B7}"/>
              </a:ext>
            </a:extLst>
          </p:cNvPr>
          <p:cNvGrpSpPr/>
          <p:nvPr/>
        </p:nvGrpSpPr>
        <p:grpSpPr>
          <a:xfrm>
            <a:off x="395699" y="619499"/>
            <a:ext cx="11421639" cy="5741470"/>
            <a:chOff x="-25810" y="558265"/>
            <a:chExt cx="11421639" cy="5741470"/>
          </a:xfrm>
        </p:grpSpPr>
        <p:sp>
          <p:nvSpPr>
            <p:cNvPr id="58" name="Rectangle 57">
              <a:extLst>
                <a:ext uri="{FF2B5EF4-FFF2-40B4-BE49-F238E27FC236}">
                  <a16:creationId xmlns:a16="http://schemas.microsoft.com/office/drawing/2014/main" id="{5BA4400B-9697-4234-A816-246068BC0586}"/>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7D101676-A69E-453C-9ECA-3023848F5078}"/>
                </a:ext>
              </a:extLst>
            </p:cNvPr>
            <p:cNvGrpSpPr/>
            <p:nvPr/>
          </p:nvGrpSpPr>
          <p:grpSpPr>
            <a:xfrm>
              <a:off x="-25810" y="567070"/>
              <a:ext cx="543980" cy="5732665"/>
              <a:chOff x="-62386" y="567070"/>
              <a:chExt cx="543980" cy="5732665"/>
            </a:xfrm>
          </p:grpSpPr>
          <p:sp>
            <p:nvSpPr>
              <p:cNvPr id="61" name="Oval 60">
                <a:extLst>
                  <a:ext uri="{FF2B5EF4-FFF2-40B4-BE49-F238E27FC236}">
                    <a16:creationId xmlns:a16="http://schemas.microsoft.com/office/drawing/2014/main" id="{998CAA65-A93B-4CE6-AD99-68487664B7AB}"/>
                  </a:ext>
                </a:extLst>
              </p:cNvPr>
              <p:cNvSpPr/>
              <p:nvPr/>
            </p:nvSpPr>
            <p:spPr>
              <a:xfrm>
                <a:off x="-15044" y="2864718"/>
                <a:ext cx="496638" cy="114300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Top Corners Snipped 61">
                <a:extLst>
                  <a:ext uri="{FF2B5EF4-FFF2-40B4-BE49-F238E27FC236}">
                    <a16:creationId xmlns:a16="http://schemas.microsoft.com/office/drawing/2014/main" id="{03ED874F-64EC-419B-ACC5-451790C9B01A}"/>
                  </a:ext>
                </a:extLst>
              </p:cNvPr>
              <p:cNvSpPr/>
              <p:nvPr/>
            </p:nvSpPr>
            <p:spPr>
              <a:xfrm rot="5400000">
                <a:off x="-1743908" y="3275527"/>
                <a:ext cx="3794762" cy="306946"/>
              </a:xfrm>
              <a:prstGeom prst="snip2SameRect">
                <a:avLst/>
              </a:prstGeom>
              <a:solidFill>
                <a:schemeClr val="accent2">
                  <a:lumMod val="60000"/>
                  <a:lumOff val="4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F257CA5A-C6BC-4135-9799-D80FB83C87F1}"/>
                  </a:ext>
                </a:extLst>
              </p:cNvPr>
              <p:cNvSpPr txBox="1"/>
              <p:nvPr/>
            </p:nvSpPr>
            <p:spPr>
              <a:xfrm rot="16200000">
                <a:off x="-947568" y="3251856"/>
                <a:ext cx="2139696" cy="369332"/>
              </a:xfrm>
              <a:prstGeom prst="rect">
                <a:avLst/>
              </a:prstGeom>
              <a:noFill/>
              <a:ln>
                <a:noFill/>
              </a:ln>
            </p:spPr>
            <p:txBody>
              <a:bodyPr wrap="square" rtlCol="0" anchor="ctr">
                <a:spAutoFit/>
              </a:bodyPr>
              <a:lstStyle/>
              <a:p>
                <a:pPr algn="ctr"/>
                <a:r>
                  <a:rPr lang="en-US" dirty="0">
                    <a:solidFill>
                      <a:schemeClr val="bg1"/>
                    </a:solidFill>
                  </a:rPr>
                  <a:t>PROGRESS</a:t>
                </a:r>
              </a:p>
            </p:txBody>
          </p:sp>
          <p:cxnSp>
            <p:nvCxnSpPr>
              <p:cNvPr id="64" name="Straight Connector 63">
                <a:extLst>
                  <a:ext uri="{FF2B5EF4-FFF2-40B4-BE49-F238E27FC236}">
                    <a16:creationId xmlns:a16="http://schemas.microsoft.com/office/drawing/2014/main" id="{FAAD286E-F607-482D-AEC0-B7796652DFC7}"/>
                  </a:ext>
                </a:extLst>
              </p:cNvPr>
              <p:cNvCxnSpPr>
                <a:cxnSpLocks/>
              </p:cNvCxnSpPr>
              <p:nvPr/>
            </p:nvCxnSpPr>
            <p:spPr>
              <a:xfrm>
                <a:off x="-7088" y="567070"/>
                <a:ext cx="7088" cy="5732665"/>
              </a:xfrm>
              <a:prstGeom prst="line">
                <a:avLst/>
              </a:prstGeom>
              <a:ln w="508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60" name="Rectangle 59">
              <a:extLst>
                <a:ext uri="{FF2B5EF4-FFF2-40B4-BE49-F238E27FC236}">
                  <a16:creationId xmlns:a16="http://schemas.microsoft.com/office/drawing/2014/main" id="{18A49993-2BD8-4C21-96A6-01801E683AD7}"/>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6" name="Picture 65">
            <a:extLst>
              <a:ext uri="{FF2B5EF4-FFF2-40B4-BE49-F238E27FC236}">
                <a16:creationId xmlns:a16="http://schemas.microsoft.com/office/drawing/2014/main" id="{CF6E215F-3C88-44A4-9D72-D5CB57C44B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4756" y="27198"/>
            <a:ext cx="1928572" cy="849085"/>
          </a:xfrm>
          <a:prstGeom prst="rect">
            <a:avLst/>
          </a:prstGeom>
        </p:spPr>
      </p:pic>
      <p:sp>
        <p:nvSpPr>
          <p:cNvPr id="8" name="Freeform: Shape 114">
            <a:extLst>
              <a:ext uri="{FF2B5EF4-FFF2-40B4-BE49-F238E27FC236}">
                <a16:creationId xmlns:a16="http://schemas.microsoft.com/office/drawing/2014/main" id="{ECFD2033-A0C0-41EC-AEC7-B2FD07CC820F}"/>
              </a:ext>
            </a:extLst>
          </p:cNvPr>
          <p:cNvSpPr/>
          <p:nvPr/>
        </p:nvSpPr>
        <p:spPr>
          <a:xfrm>
            <a:off x="2339646" y="1407061"/>
            <a:ext cx="844820" cy="844820"/>
          </a:xfrm>
          <a:custGeom>
            <a:avLst/>
            <a:gdLst>
              <a:gd name="connsiteX0" fmla="*/ 1126427 w 1126426"/>
              <a:gd name="connsiteY0" fmla="*/ 563213 h 1126426"/>
              <a:gd name="connsiteX1" fmla="*/ 563213 w 1126426"/>
              <a:gd name="connsiteY1" fmla="*/ 1126427 h 1126426"/>
              <a:gd name="connsiteX2" fmla="*/ 0 w 1126426"/>
              <a:gd name="connsiteY2" fmla="*/ 563213 h 1126426"/>
              <a:gd name="connsiteX3" fmla="*/ 563213 w 1126426"/>
              <a:gd name="connsiteY3" fmla="*/ 0 h 1126426"/>
              <a:gd name="connsiteX4" fmla="*/ 1126427 w 1126426"/>
              <a:gd name="connsiteY4" fmla="*/ 563213 h 1126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426" h="1126426">
                <a:moveTo>
                  <a:pt x="1126427" y="563213"/>
                </a:moveTo>
                <a:cubicBezTo>
                  <a:pt x="1126427" y="874267"/>
                  <a:pt x="874268" y="1126427"/>
                  <a:pt x="563213" y="1126427"/>
                </a:cubicBezTo>
                <a:cubicBezTo>
                  <a:pt x="252159" y="1126427"/>
                  <a:pt x="0" y="874267"/>
                  <a:pt x="0" y="563213"/>
                </a:cubicBezTo>
                <a:cubicBezTo>
                  <a:pt x="0" y="252159"/>
                  <a:pt x="252159" y="0"/>
                  <a:pt x="563213" y="0"/>
                </a:cubicBezTo>
                <a:cubicBezTo>
                  <a:pt x="874267" y="0"/>
                  <a:pt x="1126427" y="252159"/>
                  <a:pt x="1126427" y="563213"/>
                </a:cubicBezTo>
                <a:close/>
              </a:path>
            </a:pathLst>
          </a:custGeom>
          <a:noFill/>
          <a:ln w="66590" cap="flat">
            <a:gradFill flip="none" rotWithShape="1">
              <a:gsLst>
                <a:gs pos="16000">
                  <a:srgbClr val="484848"/>
                </a:gs>
                <a:gs pos="86000">
                  <a:schemeClr val="accent2"/>
                </a:gs>
              </a:gsLst>
              <a:lin ang="18900000" scaled="1"/>
              <a:tileRect/>
            </a:gradFill>
            <a:prstDash val="solid"/>
            <a:miter/>
          </a:ln>
        </p:spPr>
        <p:txBody>
          <a:bodyPr rtlCol="0" anchor="ctr"/>
          <a:lstStyle/>
          <a:p>
            <a:pPr defTabSz="685800"/>
            <a:endParaRPr lang="en-US" sz="1350" dirty="0">
              <a:latin typeface="Calibri" panose="020F0502020204030204"/>
            </a:endParaRPr>
          </a:p>
        </p:txBody>
      </p:sp>
      <p:sp>
        <p:nvSpPr>
          <p:cNvPr id="9" name="Freeform: Shape 112">
            <a:extLst>
              <a:ext uri="{FF2B5EF4-FFF2-40B4-BE49-F238E27FC236}">
                <a16:creationId xmlns:a16="http://schemas.microsoft.com/office/drawing/2014/main" id="{CF55C6AB-6E8D-42B8-8342-31F6DDCCD6F6}"/>
              </a:ext>
            </a:extLst>
          </p:cNvPr>
          <p:cNvSpPr/>
          <p:nvPr/>
        </p:nvSpPr>
        <p:spPr>
          <a:xfrm>
            <a:off x="2481236" y="1548650"/>
            <a:ext cx="561641" cy="561641"/>
          </a:xfrm>
          <a:custGeom>
            <a:avLst/>
            <a:gdLst>
              <a:gd name="connsiteX0" fmla="*/ 748855 w 748855"/>
              <a:gd name="connsiteY0" fmla="*/ 374428 h 748855"/>
              <a:gd name="connsiteX1" fmla="*/ 374428 w 748855"/>
              <a:gd name="connsiteY1" fmla="*/ 748856 h 748855"/>
              <a:gd name="connsiteX2" fmla="*/ 0 w 748855"/>
              <a:gd name="connsiteY2" fmla="*/ 374428 h 748855"/>
              <a:gd name="connsiteX3" fmla="*/ 374428 w 748855"/>
              <a:gd name="connsiteY3" fmla="*/ 0 h 748855"/>
              <a:gd name="connsiteX4" fmla="*/ 748855 w 748855"/>
              <a:gd name="connsiteY4" fmla="*/ 374428 h 748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855" h="748855">
                <a:moveTo>
                  <a:pt x="748855" y="374428"/>
                </a:moveTo>
                <a:cubicBezTo>
                  <a:pt x="748855" y="581219"/>
                  <a:pt x="581218" y="748856"/>
                  <a:pt x="374428" y="748856"/>
                </a:cubicBezTo>
                <a:cubicBezTo>
                  <a:pt x="167637" y="748856"/>
                  <a:pt x="0" y="581219"/>
                  <a:pt x="0" y="374428"/>
                </a:cubicBezTo>
                <a:cubicBezTo>
                  <a:pt x="0" y="167637"/>
                  <a:pt x="167637" y="0"/>
                  <a:pt x="374428" y="0"/>
                </a:cubicBezTo>
                <a:cubicBezTo>
                  <a:pt x="581219" y="0"/>
                  <a:pt x="748855" y="167637"/>
                  <a:pt x="748855" y="374428"/>
                </a:cubicBezTo>
                <a:close/>
              </a:path>
            </a:pathLst>
          </a:custGeom>
          <a:gradFill>
            <a:gsLst>
              <a:gs pos="0">
                <a:schemeClr val="accent2"/>
              </a:gs>
              <a:gs pos="100000">
                <a:schemeClr val="accent2">
                  <a:lumMod val="75000"/>
                </a:schemeClr>
              </a:gs>
            </a:gsLst>
            <a:lin ang="0" scaled="0"/>
          </a:gradFill>
          <a:ln w="9525" cap="flat">
            <a:noFill/>
            <a:prstDash val="solid"/>
            <a:miter/>
          </a:ln>
          <a:effectLst>
            <a:outerShdw blurRad="50800" dist="38100" dir="2700000" algn="tl" rotWithShape="0">
              <a:prstClr val="black">
                <a:alpha val="40000"/>
              </a:prstClr>
            </a:outerShdw>
          </a:effectLst>
        </p:spPr>
        <p:txBody>
          <a:bodyPr rtlCol="0" anchor="ctr"/>
          <a:lstStyle/>
          <a:p>
            <a:pPr algn="ctr" defTabSz="685800"/>
            <a:r>
              <a:rPr lang="en-US" sz="1350" b="1" dirty="0">
                <a:latin typeface="Calibri" panose="020F0502020204030204"/>
              </a:rPr>
              <a:t>01</a:t>
            </a:r>
          </a:p>
        </p:txBody>
      </p:sp>
      <p:grpSp>
        <p:nvGrpSpPr>
          <p:cNvPr id="11" name="Grup 57">
            <a:extLst>
              <a:ext uri="{FF2B5EF4-FFF2-40B4-BE49-F238E27FC236}">
                <a16:creationId xmlns:a16="http://schemas.microsoft.com/office/drawing/2014/main" id="{00E48EF3-8D40-4E89-AB0F-247F818640D0}"/>
              </a:ext>
            </a:extLst>
          </p:cNvPr>
          <p:cNvGrpSpPr/>
          <p:nvPr/>
        </p:nvGrpSpPr>
        <p:grpSpPr>
          <a:xfrm rot="3183767">
            <a:off x="3458193" y="3534077"/>
            <a:ext cx="926543" cy="887930"/>
            <a:chOff x="1919868" y="2701188"/>
            <a:chExt cx="926543" cy="887930"/>
          </a:xfrm>
        </p:grpSpPr>
        <p:sp>
          <p:nvSpPr>
            <p:cNvPr id="16" name="Freeform: Shape 116">
              <a:extLst>
                <a:ext uri="{FF2B5EF4-FFF2-40B4-BE49-F238E27FC236}">
                  <a16:creationId xmlns:a16="http://schemas.microsoft.com/office/drawing/2014/main" id="{BDF7AD13-96D4-4B2B-8035-EE320793D280}"/>
                </a:ext>
              </a:extLst>
            </p:cNvPr>
            <p:cNvSpPr/>
            <p:nvPr/>
          </p:nvSpPr>
          <p:spPr>
            <a:xfrm>
              <a:off x="2001591" y="2701188"/>
              <a:ext cx="844820" cy="844820"/>
            </a:xfrm>
            <a:custGeom>
              <a:avLst/>
              <a:gdLst>
                <a:gd name="connsiteX0" fmla="*/ 1126427 w 1126426"/>
                <a:gd name="connsiteY0" fmla="*/ 563213 h 1126426"/>
                <a:gd name="connsiteX1" fmla="*/ 563213 w 1126426"/>
                <a:gd name="connsiteY1" fmla="*/ 1126427 h 1126426"/>
                <a:gd name="connsiteX2" fmla="*/ 0 w 1126426"/>
                <a:gd name="connsiteY2" fmla="*/ 563213 h 1126426"/>
                <a:gd name="connsiteX3" fmla="*/ 563213 w 1126426"/>
                <a:gd name="connsiteY3" fmla="*/ 0 h 1126426"/>
                <a:gd name="connsiteX4" fmla="*/ 1126427 w 1126426"/>
                <a:gd name="connsiteY4" fmla="*/ 563213 h 1126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426" h="1126426">
                  <a:moveTo>
                    <a:pt x="1126427" y="563213"/>
                  </a:moveTo>
                  <a:cubicBezTo>
                    <a:pt x="1126427" y="874267"/>
                    <a:pt x="874268" y="1126427"/>
                    <a:pt x="563213" y="1126427"/>
                  </a:cubicBezTo>
                  <a:cubicBezTo>
                    <a:pt x="252159" y="1126427"/>
                    <a:pt x="0" y="874268"/>
                    <a:pt x="0" y="563213"/>
                  </a:cubicBezTo>
                  <a:cubicBezTo>
                    <a:pt x="0" y="252159"/>
                    <a:pt x="252159" y="0"/>
                    <a:pt x="563213" y="0"/>
                  </a:cubicBezTo>
                  <a:cubicBezTo>
                    <a:pt x="874267" y="0"/>
                    <a:pt x="1126427" y="252159"/>
                    <a:pt x="1126427" y="563213"/>
                  </a:cubicBezTo>
                  <a:close/>
                </a:path>
              </a:pathLst>
            </a:custGeom>
            <a:noFill/>
            <a:ln w="66590" cap="flat">
              <a:gradFill>
                <a:gsLst>
                  <a:gs pos="15000">
                    <a:srgbClr val="484848"/>
                  </a:gs>
                  <a:gs pos="86000">
                    <a:schemeClr val="accent6"/>
                  </a:gs>
                </a:gsLst>
                <a:lin ang="600000" scaled="0"/>
              </a:gradFill>
              <a:prstDash val="solid"/>
              <a:miter/>
            </a:ln>
          </p:spPr>
          <p:txBody>
            <a:bodyPr rtlCol="0" anchor="ctr"/>
            <a:lstStyle/>
            <a:p>
              <a:pPr defTabSz="685800"/>
              <a:endParaRPr lang="en-US" sz="1350">
                <a:latin typeface="Calibri" panose="020F0502020204030204"/>
              </a:endParaRPr>
            </a:p>
          </p:txBody>
        </p:sp>
        <p:cxnSp>
          <p:nvCxnSpPr>
            <p:cNvPr id="17" name="Straight Connector 86">
              <a:extLst>
                <a:ext uri="{FF2B5EF4-FFF2-40B4-BE49-F238E27FC236}">
                  <a16:creationId xmlns:a16="http://schemas.microsoft.com/office/drawing/2014/main" id="{2625BABB-265F-43A9-8558-89ABE3D405E2}"/>
                </a:ext>
              </a:extLst>
            </p:cNvPr>
            <p:cNvCxnSpPr>
              <a:cxnSpLocks/>
            </p:cNvCxnSpPr>
            <p:nvPr/>
          </p:nvCxnSpPr>
          <p:spPr>
            <a:xfrm rot="18416233">
              <a:off x="1879048" y="3374292"/>
              <a:ext cx="255646" cy="174006"/>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9" name="Freeform: Shape 108">
              <a:extLst>
                <a:ext uri="{FF2B5EF4-FFF2-40B4-BE49-F238E27FC236}">
                  <a16:creationId xmlns:a16="http://schemas.microsoft.com/office/drawing/2014/main" id="{6B4897D5-6066-43AE-936D-B3F65EB9ADE1}"/>
                </a:ext>
              </a:extLst>
            </p:cNvPr>
            <p:cNvSpPr/>
            <p:nvPr/>
          </p:nvSpPr>
          <p:spPr>
            <a:xfrm rot="18596686">
              <a:off x="2146711" y="2864241"/>
              <a:ext cx="561641" cy="561641"/>
            </a:xfrm>
            <a:custGeom>
              <a:avLst/>
              <a:gdLst>
                <a:gd name="connsiteX0" fmla="*/ 748856 w 748855"/>
                <a:gd name="connsiteY0" fmla="*/ 374428 h 748855"/>
                <a:gd name="connsiteX1" fmla="*/ 374428 w 748855"/>
                <a:gd name="connsiteY1" fmla="*/ 748856 h 748855"/>
                <a:gd name="connsiteX2" fmla="*/ 0 w 748855"/>
                <a:gd name="connsiteY2" fmla="*/ 374428 h 748855"/>
                <a:gd name="connsiteX3" fmla="*/ 374428 w 748855"/>
                <a:gd name="connsiteY3" fmla="*/ 0 h 748855"/>
                <a:gd name="connsiteX4" fmla="*/ 748856 w 748855"/>
                <a:gd name="connsiteY4" fmla="*/ 374428 h 748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855" h="748855">
                  <a:moveTo>
                    <a:pt x="748856" y="374428"/>
                  </a:moveTo>
                  <a:cubicBezTo>
                    <a:pt x="748856" y="581219"/>
                    <a:pt x="581218" y="748856"/>
                    <a:pt x="374428" y="748856"/>
                  </a:cubicBezTo>
                  <a:cubicBezTo>
                    <a:pt x="167637" y="748856"/>
                    <a:pt x="0" y="581218"/>
                    <a:pt x="0" y="374428"/>
                  </a:cubicBezTo>
                  <a:cubicBezTo>
                    <a:pt x="0" y="167637"/>
                    <a:pt x="167637" y="0"/>
                    <a:pt x="374428" y="0"/>
                  </a:cubicBezTo>
                  <a:cubicBezTo>
                    <a:pt x="581219" y="0"/>
                    <a:pt x="748856" y="167637"/>
                    <a:pt x="748856" y="374428"/>
                  </a:cubicBezTo>
                  <a:close/>
                </a:path>
              </a:pathLst>
            </a:cu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9525" cap="flat">
              <a:noFill/>
              <a:prstDash val="solid"/>
              <a:miter/>
            </a:ln>
            <a:effectLst>
              <a:outerShdw blurRad="50800" dist="38100" dir="2700000" algn="tl" rotWithShape="0">
                <a:prstClr val="black">
                  <a:alpha val="40000"/>
                </a:prstClr>
              </a:outerShdw>
            </a:effectLst>
          </p:spPr>
          <p:txBody>
            <a:bodyPr rtlCol="0" anchor="ctr"/>
            <a:lstStyle/>
            <a:p>
              <a:pPr algn="ctr" defTabSz="685800"/>
              <a:r>
                <a:rPr lang="en-US" sz="1350" b="1" dirty="0">
                  <a:latin typeface="Calibri" panose="020F0502020204030204"/>
                </a:rPr>
                <a:t>02</a:t>
              </a:r>
            </a:p>
          </p:txBody>
        </p:sp>
      </p:grpSp>
      <p:grpSp>
        <p:nvGrpSpPr>
          <p:cNvPr id="12" name="Grup 68">
            <a:extLst>
              <a:ext uri="{FF2B5EF4-FFF2-40B4-BE49-F238E27FC236}">
                <a16:creationId xmlns:a16="http://schemas.microsoft.com/office/drawing/2014/main" id="{BCFC0E8E-91C4-4EA0-8848-01793ADA877B}"/>
              </a:ext>
            </a:extLst>
          </p:cNvPr>
          <p:cNvGrpSpPr/>
          <p:nvPr/>
        </p:nvGrpSpPr>
        <p:grpSpPr>
          <a:xfrm>
            <a:off x="1550049" y="2554703"/>
            <a:ext cx="1666208" cy="1666209"/>
            <a:chOff x="707757" y="2706962"/>
            <a:chExt cx="1666208" cy="1666209"/>
          </a:xfrm>
        </p:grpSpPr>
        <p:sp>
          <p:nvSpPr>
            <p:cNvPr id="14" name="Freeform: Shape 92">
              <a:extLst>
                <a:ext uri="{FF2B5EF4-FFF2-40B4-BE49-F238E27FC236}">
                  <a16:creationId xmlns:a16="http://schemas.microsoft.com/office/drawing/2014/main" id="{BA8EAD2C-DFC9-47BC-AE18-5A77F488816B}"/>
                </a:ext>
              </a:extLst>
            </p:cNvPr>
            <p:cNvSpPr/>
            <p:nvPr/>
          </p:nvSpPr>
          <p:spPr>
            <a:xfrm>
              <a:off x="879634" y="2878842"/>
              <a:ext cx="1322450" cy="1322452"/>
            </a:xfrm>
            <a:custGeom>
              <a:avLst/>
              <a:gdLst>
                <a:gd name="connsiteX0" fmla="*/ 1763268 w 1763267"/>
                <a:gd name="connsiteY0" fmla="*/ 881634 h 1763268"/>
                <a:gd name="connsiteX1" fmla="*/ 881634 w 1763267"/>
                <a:gd name="connsiteY1" fmla="*/ 1763268 h 1763268"/>
                <a:gd name="connsiteX2" fmla="*/ 0 w 1763267"/>
                <a:gd name="connsiteY2" fmla="*/ 881634 h 1763268"/>
                <a:gd name="connsiteX3" fmla="*/ 881634 w 1763267"/>
                <a:gd name="connsiteY3" fmla="*/ 0 h 1763268"/>
                <a:gd name="connsiteX4" fmla="*/ 1763268 w 1763267"/>
                <a:gd name="connsiteY4" fmla="*/ 881634 h 1763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3267" h="1763268">
                  <a:moveTo>
                    <a:pt x="1763268" y="881634"/>
                  </a:moveTo>
                  <a:cubicBezTo>
                    <a:pt x="1763268" y="1368547"/>
                    <a:pt x="1368547" y="1763268"/>
                    <a:pt x="881634" y="1763268"/>
                  </a:cubicBezTo>
                  <a:cubicBezTo>
                    <a:pt x="394721" y="1763268"/>
                    <a:pt x="0" y="1368547"/>
                    <a:pt x="0" y="881634"/>
                  </a:cubicBezTo>
                  <a:cubicBezTo>
                    <a:pt x="0" y="394721"/>
                    <a:pt x="394721" y="0"/>
                    <a:pt x="881634" y="0"/>
                  </a:cubicBezTo>
                  <a:cubicBezTo>
                    <a:pt x="1368547" y="0"/>
                    <a:pt x="1763268" y="394721"/>
                    <a:pt x="1763268" y="881634"/>
                  </a:cubicBezTo>
                  <a:close/>
                </a:path>
              </a:pathLst>
            </a:custGeom>
            <a:solidFill>
              <a:srgbClr val="484848"/>
            </a:solidFill>
            <a:ln w="9525" cap="flat">
              <a:noFill/>
              <a:prstDash val="solid"/>
              <a:miter/>
            </a:ln>
            <a:effectLst>
              <a:outerShdw blurRad="152400" dist="101600" dir="2700000" algn="tl" rotWithShape="0">
                <a:prstClr val="black">
                  <a:alpha val="40000"/>
                </a:prstClr>
              </a:outerShdw>
            </a:effectLst>
          </p:spPr>
          <p:txBody>
            <a:bodyPr rtlCol="0" anchor="ctr"/>
            <a:lstStyle/>
            <a:p>
              <a:pPr algn="ctr"/>
              <a:r>
                <a:rPr lang="en-US" dirty="0" err="1">
                  <a:solidFill>
                    <a:schemeClr val="bg1"/>
                  </a:solidFill>
                </a:rPr>
                <a:t>Perbaikan</a:t>
              </a:r>
              <a:r>
                <a:rPr lang="en-US" dirty="0">
                  <a:solidFill>
                    <a:schemeClr val="bg1"/>
                  </a:solidFill>
                </a:rPr>
                <a:t> Pipa </a:t>
              </a:r>
              <a:r>
                <a:rPr lang="en-US" dirty="0" err="1">
                  <a:solidFill>
                    <a:schemeClr val="bg1"/>
                  </a:solidFill>
                </a:rPr>
                <a:t>Drainase</a:t>
              </a:r>
              <a:endParaRPr lang="en-US" dirty="0">
                <a:solidFill>
                  <a:schemeClr val="bg1"/>
                </a:solidFill>
              </a:endParaRPr>
            </a:p>
          </p:txBody>
        </p:sp>
        <p:sp>
          <p:nvSpPr>
            <p:cNvPr id="15" name="Freeform: Shape 103">
              <a:extLst>
                <a:ext uri="{FF2B5EF4-FFF2-40B4-BE49-F238E27FC236}">
                  <a16:creationId xmlns:a16="http://schemas.microsoft.com/office/drawing/2014/main" id="{CC7F1707-2939-4F61-BC2D-FB885CF5F9C9}"/>
                </a:ext>
              </a:extLst>
            </p:cNvPr>
            <p:cNvSpPr/>
            <p:nvPr/>
          </p:nvSpPr>
          <p:spPr>
            <a:xfrm rot="2700000">
              <a:off x="707756" y="2706963"/>
              <a:ext cx="1666209" cy="1666208"/>
            </a:xfrm>
            <a:custGeom>
              <a:avLst/>
              <a:gdLst>
                <a:gd name="connsiteX0" fmla="*/ 2221611 w 2221611"/>
                <a:gd name="connsiteY0" fmla="*/ 1110805 h 2221611"/>
                <a:gd name="connsiteX1" fmla="*/ 1110806 w 2221611"/>
                <a:gd name="connsiteY1" fmla="*/ 2221611 h 2221611"/>
                <a:gd name="connsiteX2" fmla="*/ 0 w 2221611"/>
                <a:gd name="connsiteY2" fmla="*/ 1110805 h 2221611"/>
                <a:gd name="connsiteX3" fmla="*/ 1110806 w 2221611"/>
                <a:gd name="connsiteY3" fmla="*/ 0 h 2221611"/>
                <a:gd name="connsiteX4" fmla="*/ 2221611 w 2221611"/>
                <a:gd name="connsiteY4" fmla="*/ 1110805 h 2221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611" h="2221611">
                  <a:moveTo>
                    <a:pt x="2221611" y="1110805"/>
                  </a:moveTo>
                  <a:cubicBezTo>
                    <a:pt x="2221611" y="1724286"/>
                    <a:pt x="1724287" y="2221611"/>
                    <a:pt x="1110806" y="2221611"/>
                  </a:cubicBezTo>
                  <a:cubicBezTo>
                    <a:pt x="497325" y="2221611"/>
                    <a:pt x="0" y="1724286"/>
                    <a:pt x="0" y="1110805"/>
                  </a:cubicBezTo>
                  <a:cubicBezTo>
                    <a:pt x="0" y="497325"/>
                    <a:pt x="497325" y="0"/>
                    <a:pt x="1110806" y="0"/>
                  </a:cubicBezTo>
                  <a:cubicBezTo>
                    <a:pt x="1724287" y="0"/>
                    <a:pt x="2221611" y="497325"/>
                    <a:pt x="2221611" y="1110805"/>
                  </a:cubicBezTo>
                  <a:close/>
                </a:path>
              </a:pathLst>
            </a:custGeom>
            <a:noFill/>
            <a:ln w="66590" cap="flat">
              <a:gradFill flip="none" rotWithShape="1">
                <a:gsLst>
                  <a:gs pos="35000">
                    <a:schemeClr val="accent2"/>
                  </a:gs>
                  <a:gs pos="65000">
                    <a:schemeClr val="accent6"/>
                  </a:gs>
                  <a:gs pos="50000">
                    <a:schemeClr val="accent4"/>
                  </a:gs>
                  <a:gs pos="20000">
                    <a:srgbClr val="484848"/>
                  </a:gs>
                  <a:gs pos="80000">
                    <a:schemeClr val="accent5"/>
                  </a:gs>
                  <a:gs pos="95000">
                    <a:schemeClr val="accent1"/>
                  </a:gs>
                </a:gsLst>
                <a:path path="circle">
                  <a:fillToRect l="100000" b="100000"/>
                </a:path>
                <a:tileRect t="-100000" r="-100000"/>
              </a:gradFill>
              <a:prstDash val="solid"/>
              <a:miter/>
            </a:ln>
          </p:spPr>
          <p:txBody>
            <a:bodyPr rtlCol="0" anchor="ctr"/>
            <a:lstStyle/>
            <a:p>
              <a:pPr defTabSz="685800"/>
              <a:endParaRPr lang="en-US" sz="1350" dirty="0">
                <a:latin typeface="Calibri" panose="020F0502020204030204"/>
              </a:endParaRPr>
            </a:p>
          </p:txBody>
        </p:sp>
      </p:grpSp>
      <p:sp>
        <p:nvSpPr>
          <p:cNvPr id="71" name="Arc 89">
            <a:extLst>
              <a:ext uri="{FF2B5EF4-FFF2-40B4-BE49-F238E27FC236}">
                <a16:creationId xmlns:a16="http://schemas.microsoft.com/office/drawing/2014/main" id="{5BE2C20D-555C-4C5B-B43F-F3DE47B6EF5F}"/>
              </a:ext>
            </a:extLst>
          </p:cNvPr>
          <p:cNvSpPr/>
          <p:nvPr/>
        </p:nvSpPr>
        <p:spPr>
          <a:xfrm flipH="1">
            <a:off x="1415480" y="2411482"/>
            <a:ext cx="1933956" cy="1933957"/>
          </a:xfrm>
          <a:prstGeom prst="arc">
            <a:avLst>
              <a:gd name="adj1" fmla="val 3397586"/>
              <a:gd name="adj2" fmla="val 18544872"/>
            </a:avLst>
          </a:prstGeom>
          <a:ln w="19050">
            <a:gradFill flip="none" rotWithShape="1">
              <a:gsLst>
                <a:gs pos="0">
                  <a:srgbClr val="484848"/>
                </a:gs>
                <a:gs pos="38000">
                  <a:schemeClr val="accent3">
                    <a:lumMod val="50000"/>
                  </a:schemeClr>
                </a:gs>
                <a:gs pos="59000">
                  <a:schemeClr val="accent3">
                    <a:lumMod val="75000"/>
                  </a:schemeClr>
                </a:gs>
                <a:gs pos="97345">
                  <a:schemeClr val="accent3"/>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dirty="0">
              <a:latin typeface="Calibri" panose="020F0502020204030204"/>
            </a:endParaRPr>
          </a:p>
        </p:txBody>
      </p:sp>
      <p:sp>
        <p:nvSpPr>
          <p:cNvPr id="72" name="Oval 71">
            <a:extLst>
              <a:ext uri="{FF2B5EF4-FFF2-40B4-BE49-F238E27FC236}">
                <a16:creationId xmlns:a16="http://schemas.microsoft.com/office/drawing/2014/main" id="{7601CA23-D3EE-42E3-B504-FE97A1852433}"/>
              </a:ext>
            </a:extLst>
          </p:cNvPr>
          <p:cNvSpPr/>
          <p:nvPr/>
        </p:nvSpPr>
        <p:spPr>
          <a:xfrm>
            <a:off x="3225781" y="3688743"/>
            <a:ext cx="149336" cy="136600"/>
          </a:xfrm>
          <a:prstGeom prst="ellipse">
            <a:avLst/>
          </a:prstGeom>
          <a:solidFill>
            <a:srgbClr val="92D05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a:solidFill>
                <a:schemeClr val="tx1"/>
              </a:solidFill>
              <a:latin typeface="Calibri" panose="020F0502020204030204"/>
            </a:endParaRPr>
          </a:p>
        </p:txBody>
      </p:sp>
      <p:grpSp>
        <p:nvGrpSpPr>
          <p:cNvPr id="67" name="Group 66">
            <a:extLst>
              <a:ext uri="{FF2B5EF4-FFF2-40B4-BE49-F238E27FC236}">
                <a16:creationId xmlns:a16="http://schemas.microsoft.com/office/drawing/2014/main" id="{C3FABC7F-F99E-4EE7-9701-9D2F1A753A57}"/>
              </a:ext>
            </a:extLst>
          </p:cNvPr>
          <p:cNvGrpSpPr/>
          <p:nvPr/>
        </p:nvGrpSpPr>
        <p:grpSpPr>
          <a:xfrm>
            <a:off x="438122" y="221567"/>
            <a:ext cx="5297838" cy="687155"/>
            <a:chOff x="1544574" y="576718"/>
            <a:chExt cx="5297838" cy="687155"/>
          </a:xfrm>
        </p:grpSpPr>
        <p:sp>
          <p:nvSpPr>
            <p:cNvPr id="68" name="Rectangle: Rounded Corners 67">
              <a:extLst>
                <a:ext uri="{FF2B5EF4-FFF2-40B4-BE49-F238E27FC236}">
                  <a16:creationId xmlns:a16="http://schemas.microsoft.com/office/drawing/2014/main" id="{1CD2D997-D539-4CD7-AEF0-1202CCA5A045}"/>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Oval 68">
              <a:extLst>
                <a:ext uri="{FF2B5EF4-FFF2-40B4-BE49-F238E27FC236}">
                  <a16:creationId xmlns:a16="http://schemas.microsoft.com/office/drawing/2014/main" id="{7D0A3C32-123D-47E9-9A20-C67314470E92}"/>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0" name="Straight Connector 69">
              <a:extLst>
                <a:ext uri="{FF2B5EF4-FFF2-40B4-BE49-F238E27FC236}">
                  <a16:creationId xmlns:a16="http://schemas.microsoft.com/office/drawing/2014/main" id="{E710217A-5426-471B-B70D-D95414179617}"/>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82DC6A2A-D0A9-4BDD-9910-E22300546A4D}"/>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PROSEDURE</a:t>
              </a:r>
              <a:endParaRPr lang="en-US" sz="2000" b="1" dirty="0">
                <a:solidFill>
                  <a:schemeClr val="bg1"/>
                </a:solidFill>
              </a:endParaRPr>
            </a:p>
          </p:txBody>
        </p:sp>
        <p:sp>
          <p:nvSpPr>
            <p:cNvPr id="74" name="TextBox 73">
              <a:extLst>
                <a:ext uri="{FF2B5EF4-FFF2-40B4-BE49-F238E27FC236}">
                  <a16:creationId xmlns:a16="http://schemas.microsoft.com/office/drawing/2014/main" id="{4946B445-BEC6-4E04-BB56-2C321EBA9336}"/>
                </a:ext>
              </a:extLst>
            </p:cNvPr>
            <p:cNvSpPr txBox="1"/>
            <p:nvPr/>
          </p:nvSpPr>
          <p:spPr>
            <a:xfrm>
              <a:off x="6097067" y="612065"/>
              <a:ext cx="731520" cy="584775"/>
            </a:xfrm>
            <a:prstGeom prst="rect">
              <a:avLst/>
            </a:prstGeom>
            <a:noFill/>
          </p:spPr>
          <p:txBody>
            <a:bodyPr wrap="square" rtlCol="0">
              <a:spAutoFit/>
            </a:bodyPr>
            <a:lstStyle/>
            <a:p>
              <a:endParaRPr lang="en-US" sz="3200" dirty="0">
                <a:solidFill>
                  <a:schemeClr val="accent2">
                    <a:lumMod val="50000"/>
                  </a:schemeClr>
                </a:solidFill>
              </a:endParaRPr>
            </a:p>
          </p:txBody>
        </p:sp>
      </p:grpSp>
    </p:spTree>
    <p:extLst>
      <p:ext uri="{BB962C8B-B14F-4D97-AF65-F5344CB8AC3E}">
        <p14:creationId xmlns:p14="http://schemas.microsoft.com/office/powerpoint/2010/main" val="1650263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F66772-7F02-4AE8-B725-0ADFBB96EBEA}"/>
              </a:ext>
            </a:extLst>
          </p:cNvPr>
          <p:cNvPicPr>
            <a:picLocks noChangeAspect="1"/>
          </p:cNvPicPr>
          <p:nvPr/>
        </p:nvPicPr>
        <p:blipFill rotWithShape="1">
          <a:blip r:embed="rId2"/>
          <a:srcRect t="8213"/>
          <a:stretch/>
        </p:blipFill>
        <p:spPr>
          <a:xfrm>
            <a:off x="422030" y="1125415"/>
            <a:ext cx="10621108" cy="5111261"/>
          </a:xfrm>
          <a:prstGeom prst="rect">
            <a:avLst/>
          </a:prstGeom>
        </p:spPr>
      </p:pic>
      <p:sp>
        <p:nvSpPr>
          <p:cNvPr id="7" name="TextBox 73">
            <a:extLst>
              <a:ext uri="{FF2B5EF4-FFF2-40B4-BE49-F238E27FC236}">
                <a16:creationId xmlns:a16="http://schemas.microsoft.com/office/drawing/2014/main" id="{E3031AE3-E9E5-4E50-8A57-E8B346D65D78}"/>
              </a:ext>
            </a:extLst>
          </p:cNvPr>
          <p:cNvSpPr txBox="1"/>
          <p:nvPr/>
        </p:nvSpPr>
        <p:spPr>
          <a:xfrm>
            <a:off x="736651" y="621324"/>
            <a:ext cx="3744936" cy="461665"/>
          </a:xfrm>
          <a:prstGeom prst="rect">
            <a:avLst/>
          </a:prstGeom>
          <a:noFill/>
        </p:spPr>
        <p:txBody>
          <a:bodyPr wrap="none" rtlCol="0">
            <a:spAutoFit/>
          </a:bodyPr>
          <a:lstStyle/>
          <a:p>
            <a:pPr defTabSz="685800"/>
            <a:r>
              <a:rPr lang="en-US" sz="2400" b="1" dirty="0">
                <a:latin typeface="Tahoma" panose="020B0604030504040204" pitchFamily="34" charset="0"/>
                <a:ea typeface="Tahoma" panose="020B0604030504040204" pitchFamily="34" charset="0"/>
                <a:cs typeface="Tahoma" panose="020B0604030504040204" pitchFamily="34" charset="0"/>
              </a:rPr>
              <a:t>METODE PENGECORAN</a:t>
            </a:r>
          </a:p>
        </p:txBody>
      </p:sp>
    </p:spTree>
    <p:extLst>
      <p:ext uri="{BB962C8B-B14F-4D97-AF65-F5344CB8AC3E}">
        <p14:creationId xmlns:p14="http://schemas.microsoft.com/office/powerpoint/2010/main" val="3194738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423CA5-8B7F-4F48-83AD-622641F0D3BB}"/>
              </a:ext>
            </a:extLst>
          </p:cNvPr>
          <p:cNvPicPr>
            <a:picLocks noChangeAspect="1"/>
          </p:cNvPicPr>
          <p:nvPr/>
        </p:nvPicPr>
        <p:blipFill>
          <a:blip r:embed="rId2"/>
          <a:stretch>
            <a:fillRect/>
          </a:stretch>
        </p:blipFill>
        <p:spPr>
          <a:xfrm>
            <a:off x="879230" y="844062"/>
            <a:ext cx="10433539" cy="4847858"/>
          </a:xfrm>
          <a:prstGeom prst="rect">
            <a:avLst/>
          </a:prstGeom>
        </p:spPr>
      </p:pic>
    </p:spTree>
    <p:extLst>
      <p:ext uri="{BB962C8B-B14F-4D97-AF65-F5344CB8AC3E}">
        <p14:creationId xmlns:p14="http://schemas.microsoft.com/office/powerpoint/2010/main" val="134803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73">
            <a:extLst>
              <a:ext uri="{FF2B5EF4-FFF2-40B4-BE49-F238E27FC236}">
                <a16:creationId xmlns:a16="http://schemas.microsoft.com/office/drawing/2014/main" id="{B97B568D-F6EF-4EDF-9CB2-726C70FE9974}"/>
              </a:ext>
            </a:extLst>
          </p:cNvPr>
          <p:cNvSpPr txBox="1"/>
          <p:nvPr/>
        </p:nvSpPr>
        <p:spPr>
          <a:xfrm>
            <a:off x="736651" y="621324"/>
            <a:ext cx="7201010" cy="461665"/>
          </a:xfrm>
          <a:prstGeom prst="rect">
            <a:avLst/>
          </a:prstGeom>
          <a:noFill/>
        </p:spPr>
        <p:txBody>
          <a:bodyPr wrap="none" rtlCol="0">
            <a:spAutoFit/>
          </a:bodyPr>
          <a:lstStyle/>
          <a:p>
            <a:pPr defTabSz="685800"/>
            <a:r>
              <a:rPr lang="en-US" sz="2400" b="1" dirty="0">
                <a:latin typeface="Tahoma" panose="020B0604030504040204" pitchFamily="34" charset="0"/>
                <a:ea typeface="Tahoma" panose="020B0604030504040204" pitchFamily="34" charset="0"/>
                <a:cs typeface="Tahoma" panose="020B0604030504040204" pitchFamily="34" charset="0"/>
              </a:rPr>
              <a:t>ANALISA PENGARAHAN ALAT DAN MATERIAL</a:t>
            </a:r>
          </a:p>
        </p:txBody>
      </p:sp>
      <p:pic>
        <p:nvPicPr>
          <p:cNvPr id="5" name="Picture 4">
            <a:extLst>
              <a:ext uri="{FF2B5EF4-FFF2-40B4-BE49-F238E27FC236}">
                <a16:creationId xmlns:a16="http://schemas.microsoft.com/office/drawing/2014/main" id="{6AD10953-0237-463F-898E-4993CFD7F321}"/>
              </a:ext>
            </a:extLst>
          </p:cNvPr>
          <p:cNvPicPr>
            <a:picLocks noChangeAspect="1"/>
          </p:cNvPicPr>
          <p:nvPr/>
        </p:nvPicPr>
        <p:blipFill>
          <a:blip r:embed="rId2"/>
          <a:stretch>
            <a:fillRect/>
          </a:stretch>
        </p:blipFill>
        <p:spPr>
          <a:xfrm>
            <a:off x="736651" y="1299796"/>
            <a:ext cx="8641811" cy="1866900"/>
          </a:xfrm>
          <a:prstGeom prst="rect">
            <a:avLst/>
          </a:prstGeom>
        </p:spPr>
      </p:pic>
      <p:pic>
        <p:nvPicPr>
          <p:cNvPr id="7" name="Picture 6">
            <a:extLst>
              <a:ext uri="{FF2B5EF4-FFF2-40B4-BE49-F238E27FC236}">
                <a16:creationId xmlns:a16="http://schemas.microsoft.com/office/drawing/2014/main" id="{8462F986-2F59-42A7-A270-7D570AA04960}"/>
              </a:ext>
            </a:extLst>
          </p:cNvPr>
          <p:cNvPicPr>
            <a:picLocks noChangeAspect="1"/>
          </p:cNvPicPr>
          <p:nvPr/>
        </p:nvPicPr>
        <p:blipFill>
          <a:blip r:embed="rId3"/>
          <a:stretch>
            <a:fillRect/>
          </a:stretch>
        </p:blipFill>
        <p:spPr>
          <a:xfrm>
            <a:off x="736650" y="2829659"/>
            <a:ext cx="8641811" cy="2438400"/>
          </a:xfrm>
          <a:prstGeom prst="rect">
            <a:avLst/>
          </a:prstGeom>
        </p:spPr>
      </p:pic>
    </p:spTree>
    <p:extLst>
      <p:ext uri="{BB962C8B-B14F-4D97-AF65-F5344CB8AC3E}">
        <p14:creationId xmlns:p14="http://schemas.microsoft.com/office/powerpoint/2010/main" val="317421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73">
            <a:extLst>
              <a:ext uri="{FF2B5EF4-FFF2-40B4-BE49-F238E27FC236}">
                <a16:creationId xmlns:a16="http://schemas.microsoft.com/office/drawing/2014/main" id="{CB8C92B1-25E3-47FE-9C7B-1113578D763A}"/>
              </a:ext>
            </a:extLst>
          </p:cNvPr>
          <p:cNvSpPr txBox="1"/>
          <p:nvPr/>
        </p:nvSpPr>
        <p:spPr>
          <a:xfrm>
            <a:off x="736651" y="621324"/>
            <a:ext cx="6910866" cy="461665"/>
          </a:xfrm>
          <a:prstGeom prst="rect">
            <a:avLst/>
          </a:prstGeom>
          <a:noFill/>
        </p:spPr>
        <p:txBody>
          <a:bodyPr wrap="none" rtlCol="0">
            <a:spAutoFit/>
          </a:bodyPr>
          <a:lstStyle/>
          <a:p>
            <a:pPr defTabSz="685800"/>
            <a:r>
              <a:rPr lang="en-US" sz="2400" b="1" dirty="0">
                <a:latin typeface="Tahoma" panose="020B0604030504040204" pitchFamily="34" charset="0"/>
                <a:ea typeface="Tahoma" panose="020B0604030504040204" pitchFamily="34" charset="0"/>
                <a:cs typeface="Tahoma" panose="020B0604030504040204" pitchFamily="34" charset="0"/>
              </a:rPr>
              <a:t>ANALISA PENGARAHAN PERSONEL DAN K3</a:t>
            </a:r>
          </a:p>
        </p:txBody>
      </p:sp>
      <p:pic>
        <p:nvPicPr>
          <p:cNvPr id="5" name="Picture 4">
            <a:extLst>
              <a:ext uri="{FF2B5EF4-FFF2-40B4-BE49-F238E27FC236}">
                <a16:creationId xmlns:a16="http://schemas.microsoft.com/office/drawing/2014/main" id="{AEE8451A-F204-4F79-B873-681659E219FD}"/>
              </a:ext>
            </a:extLst>
          </p:cNvPr>
          <p:cNvPicPr>
            <a:picLocks noChangeAspect="1"/>
          </p:cNvPicPr>
          <p:nvPr/>
        </p:nvPicPr>
        <p:blipFill>
          <a:blip r:embed="rId2"/>
          <a:stretch>
            <a:fillRect/>
          </a:stretch>
        </p:blipFill>
        <p:spPr>
          <a:xfrm>
            <a:off x="736651" y="1206081"/>
            <a:ext cx="9016949" cy="1981200"/>
          </a:xfrm>
          <a:prstGeom prst="rect">
            <a:avLst/>
          </a:prstGeom>
        </p:spPr>
      </p:pic>
      <p:sp>
        <p:nvSpPr>
          <p:cNvPr id="6" name="TextBox 73">
            <a:extLst>
              <a:ext uri="{FF2B5EF4-FFF2-40B4-BE49-F238E27FC236}">
                <a16:creationId xmlns:a16="http://schemas.microsoft.com/office/drawing/2014/main" id="{1CB6B008-0188-4CA8-8C2E-3EC144068024}"/>
              </a:ext>
            </a:extLst>
          </p:cNvPr>
          <p:cNvSpPr txBox="1"/>
          <p:nvPr/>
        </p:nvSpPr>
        <p:spPr>
          <a:xfrm>
            <a:off x="736651" y="3310373"/>
            <a:ext cx="3692036" cy="461665"/>
          </a:xfrm>
          <a:prstGeom prst="rect">
            <a:avLst/>
          </a:prstGeom>
          <a:noFill/>
        </p:spPr>
        <p:txBody>
          <a:bodyPr wrap="none" rtlCol="0">
            <a:spAutoFit/>
          </a:bodyPr>
          <a:lstStyle/>
          <a:p>
            <a:pPr defTabSz="685800"/>
            <a:r>
              <a:rPr lang="en-US" sz="2400" b="1" dirty="0">
                <a:latin typeface="Tahoma" panose="020B0604030504040204" pitchFamily="34" charset="0"/>
                <a:ea typeface="Tahoma" panose="020B0604030504040204" pitchFamily="34" charset="0"/>
                <a:cs typeface="Tahoma" panose="020B0604030504040204" pitchFamily="34" charset="0"/>
              </a:rPr>
              <a:t>PENGENDALIAN MUTU</a:t>
            </a:r>
          </a:p>
        </p:txBody>
      </p:sp>
      <p:pic>
        <p:nvPicPr>
          <p:cNvPr id="8" name="Picture 7">
            <a:extLst>
              <a:ext uri="{FF2B5EF4-FFF2-40B4-BE49-F238E27FC236}">
                <a16:creationId xmlns:a16="http://schemas.microsoft.com/office/drawing/2014/main" id="{0DBE8BC1-B800-42A4-B1F2-09505F889078}"/>
              </a:ext>
            </a:extLst>
          </p:cNvPr>
          <p:cNvPicPr>
            <a:picLocks noChangeAspect="1"/>
          </p:cNvPicPr>
          <p:nvPr/>
        </p:nvPicPr>
        <p:blipFill>
          <a:blip r:embed="rId3"/>
          <a:stretch>
            <a:fillRect/>
          </a:stretch>
        </p:blipFill>
        <p:spPr>
          <a:xfrm>
            <a:off x="830434" y="3741058"/>
            <a:ext cx="9016949" cy="1628775"/>
          </a:xfrm>
          <a:prstGeom prst="rect">
            <a:avLst/>
          </a:prstGeom>
        </p:spPr>
      </p:pic>
    </p:spTree>
    <p:extLst>
      <p:ext uri="{BB962C8B-B14F-4D97-AF65-F5344CB8AC3E}">
        <p14:creationId xmlns:p14="http://schemas.microsoft.com/office/powerpoint/2010/main" val="748874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88">
            <a:extLst>
              <a:ext uri="{FF2B5EF4-FFF2-40B4-BE49-F238E27FC236}">
                <a16:creationId xmlns:a16="http://schemas.microsoft.com/office/drawing/2014/main" id="{6CD3E4F0-2D22-4395-829C-CB748B29AA20}"/>
              </a:ext>
            </a:extLst>
          </p:cNvPr>
          <p:cNvCxnSpPr>
            <a:cxnSpLocks/>
            <a:stCxn id="4" idx="3"/>
          </p:cNvCxnSpPr>
          <p:nvPr/>
        </p:nvCxnSpPr>
        <p:spPr>
          <a:xfrm flipV="1">
            <a:off x="2569178" y="1820473"/>
            <a:ext cx="202819" cy="54968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4" name="Freeform: Shape 93">
            <a:extLst>
              <a:ext uri="{FF2B5EF4-FFF2-40B4-BE49-F238E27FC236}">
                <a16:creationId xmlns:a16="http://schemas.microsoft.com/office/drawing/2014/main" id="{EFEE2909-DF2E-4043-8B65-12CE2D1B2B41}"/>
              </a:ext>
            </a:extLst>
          </p:cNvPr>
          <p:cNvSpPr/>
          <p:nvPr/>
        </p:nvSpPr>
        <p:spPr>
          <a:xfrm rot="1242827">
            <a:off x="2474020" y="2365610"/>
            <a:ext cx="140589" cy="140589"/>
          </a:xfrm>
          <a:custGeom>
            <a:avLst/>
            <a:gdLst>
              <a:gd name="connsiteX0" fmla="*/ 187452 w 187452"/>
              <a:gd name="connsiteY0" fmla="*/ 93726 h 187452"/>
              <a:gd name="connsiteX1" fmla="*/ 93726 w 187452"/>
              <a:gd name="connsiteY1" fmla="*/ 187452 h 187452"/>
              <a:gd name="connsiteX2" fmla="*/ 0 w 187452"/>
              <a:gd name="connsiteY2" fmla="*/ 93726 h 187452"/>
              <a:gd name="connsiteX3" fmla="*/ 93726 w 187452"/>
              <a:gd name="connsiteY3" fmla="*/ 0 h 187452"/>
              <a:gd name="connsiteX4" fmla="*/ 187452 w 187452"/>
              <a:gd name="connsiteY4" fmla="*/ 93726 h 187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2" h="187452">
                <a:moveTo>
                  <a:pt x="187452" y="93726"/>
                </a:moveTo>
                <a:cubicBezTo>
                  <a:pt x="187452" y="145489"/>
                  <a:pt x="145489" y="187452"/>
                  <a:pt x="93726" y="187452"/>
                </a:cubicBezTo>
                <a:cubicBezTo>
                  <a:pt x="41963" y="187452"/>
                  <a:pt x="0" y="145489"/>
                  <a:pt x="0" y="93726"/>
                </a:cubicBezTo>
                <a:cubicBezTo>
                  <a:pt x="0" y="41963"/>
                  <a:pt x="41963" y="0"/>
                  <a:pt x="93726" y="0"/>
                </a:cubicBezTo>
                <a:cubicBezTo>
                  <a:pt x="145489" y="0"/>
                  <a:pt x="187452" y="41963"/>
                  <a:pt x="187452" y="93726"/>
                </a:cubicBezTo>
                <a:close/>
              </a:path>
            </a:pathLst>
          </a:custGeom>
          <a:solidFill>
            <a:schemeClr val="accent2"/>
          </a:solidFill>
          <a:ln w="9525" cap="flat">
            <a:noFill/>
            <a:prstDash val="solid"/>
            <a:miter/>
          </a:ln>
        </p:spPr>
        <p:txBody>
          <a:bodyPr rtlCol="0" anchor="ctr"/>
          <a:lstStyle/>
          <a:p>
            <a:pPr defTabSz="685800"/>
            <a:endParaRPr lang="en-US" sz="1350">
              <a:latin typeface="Calibri" panose="020F0502020204030204"/>
            </a:endParaRPr>
          </a:p>
        </p:txBody>
      </p:sp>
      <p:grpSp>
        <p:nvGrpSpPr>
          <p:cNvPr id="10" name="Grup 59">
            <a:extLst>
              <a:ext uri="{FF2B5EF4-FFF2-40B4-BE49-F238E27FC236}">
                <a16:creationId xmlns:a16="http://schemas.microsoft.com/office/drawing/2014/main" id="{37C259B2-A6A7-4D2F-BAE5-A52AD980EEF5}"/>
              </a:ext>
            </a:extLst>
          </p:cNvPr>
          <p:cNvGrpSpPr/>
          <p:nvPr/>
        </p:nvGrpSpPr>
        <p:grpSpPr>
          <a:xfrm>
            <a:off x="3326053" y="1085115"/>
            <a:ext cx="5037153" cy="307777"/>
            <a:chOff x="3682627" y="908720"/>
            <a:chExt cx="3313693" cy="307777"/>
          </a:xfrm>
        </p:grpSpPr>
        <p:sp>
          <p:nvSpPr>
            <p:cNvPr id="11" name="Oval 10">
              <a:extLst>
                <a:ext uri="{FF2B5EF4-FFF2-40B4-BE49-F238E27FC236}">
                  <a16:creationId xmlns:a16="http://schemas.microsoft.com/office/drawing/2014/main" id="{6AB1A356-39F4-4136-87C4-FDC0C8EC6D4D}"/>
                </a:ext>
              </a:extLst>
            </p:cNvPr>
            <p:cNvSpPr/>
            <p:nvPr/>
          </p:nvSpPr>
          <p:spPr>
            <a:xfrm>
              <a:off x="3682627" y="996332"/>
              <a:ext cx="97286" cy="144635"/>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a:solidFill>
                  <a:schemeClr val="tx1"/>
                </a:solidFill>
                <a:latin typeface="Calibri" panose="020F0502020204030204"/>
              </a:endParaRPr>
            </a:p>
          </p:txBody>
        </p:sp>
        <p:sp>
          <p:nvSpPr>
            <p:cNvPr id="12" name="TextBox 81">
              <a:extLst>
                <a:ext uri="{FF2B5EF4-FFF2-40B4-BE49-F238E27FC236}">
                  <a16:creationId xmlns:a16="http://schemas.microsoft.com/office/drawing/2014/main" id="{96700728-5959-42FE-944D-82D053A470FC}"/>
                </a:ext>
              </a:extLst>
            </p:cNvPr>
            <p:cNvSpPr txBox="1"/>
            <p:nvPr/>
          </p:nvSpPr>
          <p:spPr>
            <a:xfrm>
              <a:off x="3850428" y="908720"/>
              <a:ext cx="3145892" cy="307777"/>
            </a:xfrm>
            <a:prstGeom prst="rect">
              <a:avLst/>
            </a:prstGeom>
            <a:noFill/>
          </p:spPr>
          <p:txBody>
            <a:bodyPr wrap="none" rtlCol="0">
              <a:spAutoFit/>
            </a:bodyPr>
            <a:lstStyle/>
            <a:p>
              <a:pPr defTabSz="685800"/>
              <a:r>
                <a:rPr lang="en-US" sz="1400" b="1" dirty="0" err="1">
                  <a:latin typeface="Tahoma" panose="020B0604030504040204" pitchFamily="34" charset="0"/>
                  <a:ea typeface="Tahoma" panose="020B0604030504040204" pitchFamily="34" charset="0"/>
                  <a:cs typeface="Tahoma" panose="020B0604030504040204" pitchFamily="34" charset="0"/>
                </a:rPr>
                <a:t>Perbaikan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b="1" dirty="0" err="1">
                  <a:latin typeface="Tahoma" panose="020B0604030504040204" pitchFamily="34" charset="0"/>
                  <a:ea typeface="Tahoma" panose="020B0604030504040204" pitchFamily="34" charset="0"/>
                  <a:cs typeface="Tahoma" panose="020B0604030504040204" pitchFamily="34" charset="0"/>
                </a:rPr>
                <a:t>Fleksible</a:t>
              </a:r>
              <a:r>
                <a:rPr lang="en-US" sz="1400" b="1" dirty="0">
                  <a:latin typeface="Tahoma" panose="020B0604030504040204" pitchFamily="34" charset="0"/>
                  <a:ea typeface="Tahoma" panose="020B0604030504040204" pitchFamily="34" charset="0"/>
                  <a:cs typeface="Tahoma" panose="020B0604030504040204" pitchFamily="34" charset="0"/>
                </a:rPr>
                <a:t> Pipe </a:t>
              </a:r>
              <a:r>
                <a:rPr lang="en-US" sz="1400" b="1" dirty="0" err="1">
                  <a:latin typeface="Tahoma" panose="020B0604030504040204" pitchFamily="34" charset="0"/>
                  <a:ea typeface="Tahoma" panose="020B0604030504040204" pitchFamily="34" charset="0"/>
                  <a:cs typeface="Tahoma" panose="020B0604030504040204" pitchFamily="34" charset="0"/>
                </a:rPr>
                <a:t>Tangki</a:t>
              </a:r>
              <a:r>
                <a:rPr lang="en-US" sz="1400" b="1" dirty="0">
                  <a:latin typeface="Tahoma" panose="020B0604030504040204" pitchFamily="34" charset="0"/>
                  <a:ea typeface="Tahoma" panose="020B0604030504040204" pitchFamily="34" charset="0"/>
                  <a:cs typeface="Tahoma" panose="020B0604030504040204" pitchFamily="34" charset="0"/>
                </a:rPr>
                <a:t> 02 , 07, 11, dan 12</a:t>
              </a:r>
            </a:p>
          </p:txBody>
        </p:sp>
      </p:grpSp>
      <p:sp>
        <p:nvSpPr>
          <p:cNvPr id="13" name="TextBox 109">
            <a:extLst>
              <a:ext uri="{FF2B5EF4-FFF2-40B4-BE49-F238E27FC236}">
                <a16:creationId xmlns:a16="http://schemas.microsoft.com/office/drawing/2014/main" id="{6E3E5B7C-D091-4216-9635-0BD83D4E36E0}"/>
              </a:ext>
            </a:extLst>
          </p:cNvPr>
          <p:cNvSpPr txBox="1"/>
          <p:nvPr/>
        </p:nvSpPr>
        <p:spPr>
          <a:xfrm>
            <a:off x="3441680" y="1455568"/>
            <a:ext cx="7014550" cy="3043975"/>
          </a:xfrm>
          <a:prstGeom prst="rect">
            <a:avLst/>
          </a:prstGeom>
          <a:noFill/>
        </p:spPr>
        <p:txBody>
          <a:bodyPr wrap="square" rtlCol="0">
            <a:spAutoFit/>
          </a:bodyPr>
          <a:lstStyle/>
          <a:p>
            <a:pPr marL="171450" indent="-171450" fontAlgn="base">
              <a:lnSpc>
                <a:spcPct val="115000"/>
              </a:lnSpc>
              <a:buSzPts val="1400"/>
              <a:buFontTx/>
              <a:buChar char="-"/>
            </a:pPr>
            <a:r>
              <a:rPr lang="en-US" sz="1200" dirty="0" err="1">
                <a:latin typeface="Tahoma" panose="020B0604030504040204" pitchFamily="34" charset="0"/>
                <a:ea typeface="Tahoma" panose="020B0604030504040204" pitchFamily="34" charset="0"/>
                <a:cs typeface="Tahoma" panose="020B0604030504040204" pitchFamily="34" charset="0"/>
              </a:rPr>
              <a:t>Fleksible</a:t>
            </a:r>
            <a:r>
              <a:rPr lang="en-US" sz="1200" dirty="0">
                <a:latin typeface="Tahoma" panose="020B0604030504040204" pitchFamily="34" charset="0"/>
                <a:ea typeface="Tahoma" panose="020B0604030504040204" pitchFamily="34" charset="0"/>
                <a:cs typeface="Tahoma" panose="020B0604030504040204" pitchFamily="34" charset="0"/>
              </a:rPr>
              <a:t> pipe yang </a:t>
            </a:r>
            <a:r>
              <a:rPr lang="en-US" sz="1200" dirty="0" err="1">
                <a:latin typeface="Tahoma" panose="020B0604030504040204" pitchFamily="34" charset="0"/>
                <a:ea typeface="Tahoma" panose="020B0604030504040204" pitchFamily="34" charset="0"/>
                <a:cs typeface="Tahoma" panose="020B0604030504040204" pitchFamily="34" charset="0"/>
              </a:rPr>
              <a:t>sudah</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tidak</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layak</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perlu</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dilakukan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penggantian</a:t>
            </a:r>
            <a:endParaRPr lang="en-US" sz="1200" dirty="0">
              <a:latin typeface="Tahoma" panose="020B0604030504040204" pitchFamily="34" charset="0"/>
              <a:ea typeface="Tahoma" panose="020B0604030504040204" pitchFamily="34" charset="0"/>
              <a:cs typeface="Tahoma" panose="020B0604030504040204" pitchFamily="34" charset="0"/>
            </a:endParaRPr>
          </a:p>
          <a:p>
            <a:pPr marL="171450" indent="-171450" fontAlgn="base">
              <a:lnSpc>
                <a:spcPct val="115000"/>
              </a:lnSpc>
              <a:buSzPts val="1400"/>
              <a:buFontTx/>
              <a:buChar char="-"/>
            </a:pPr>
            <a:r>
              <a:rPr lang="en-US" sz="1200" dirty="0" err="1">
                <a:latin typeface="Tahoma" panose="020B0604030504040204" pitchFamily="34" charset="0"/>
                <a:ea typeface="Tahoma" panose="020B0604030504040204" pitchFamily="34" charset="0"/>
                <a:cs typeface="Tahoma" panose="020B0604030504040204" pitchFamily="34" charset="0"/>
              </a:rPr>
              <a:t>Pengggantian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fleksible</a:t>
            </a:r>
            <a:r>
              <a:rPr lang="en-US" sz="1200" dirty="0">
                <a:latin typeface="Tahoma" panose="020B0604030504040204" pitchFamily="34" charset="0"/>
                <a:ea typeface="Tahoma" panose="020B0604030504040204" pitchFamily="34" charset="0"/>
                <a:cs typeface="Tahoma" panose="020B0604030504040204" pitchFamily="34" charset="0"/>
              </a:rPr>
              <a:t> pipe </a:t>
            </a:r>
            <a:r>
              <a:rPr lang="en-US" sz="1200" dirty="0" err="1">
                <a:latin typeface="Tahoma" panose="020B0604030504040204" pitchFamily="34" charset="0"/>
                <a:ea typeface="Tahoma" panose="020B0604030504040204" pitchFamily="34" charset="0"/>
                <a:cs typeface="Tahoma" panose="020B0604030504040204" pitchFamily="34" charset="0"/>
              </a:rPr>
              <a:t>dengan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ketentuan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ukuran</a:t>
            </a:r>
            <a:r>
              <a:rPr lang="en-US" sz="1200" dirty="0">
                <a:latin typeface="Tahoma" panose="020B0604030504040204" pitchFamily="34" charset="0"/>
                <a:ea typeface="Tahoma" panose="020B0604030504040204" pitchFamily="34" charset="0"/>
                <a:cs typeface="Tahoma" panose="020B0604030504040204" pitchFamily="34" charset="0"/>
              </a:rPr>
              <a:t> yang </a:t>
            </a:r>
            <a:r>
              <a:rPr lang="en-US" sz="1200" dirty="0" err="1">
                <a:latin typeface="Tahoma" panose="020B0604030504040204" pitchFamily="34" charset="0"/>
                <a:ea typeface="Tahoma" panose="020B0604030504040204" pitchFamily="34" charset="0"/>
                <a:cs typeface="Tahoma" panose="020B0604030504040204" pitchFamily="34" charset="0"/>
              </a:rPr>
              <a:t>sudah</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ditetapkan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yaitu</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hanya</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dengan</a:t>
            </a:r>
            <a:r>
              <a:rPr lang="en-US" sz="1200" dirty="0">
                <a:latin typeface="Tahoma" panose="020B0604030504040204" pitchFamily="34" charset="0"/>
                <a:ea typeface="Tahoma" panose="020B0604030504040204" pitchFamily="34" charset="0"/>
                <a:cs typeface="Tahoma" panose="020B0604030504040204" pitchFamily="34" charset="0"/>
              </a:rPr>
              <a:t> Panjang 50 cm </a:t>
            </a:r>
            <a:r>
              <a:rPr lang="en-US" sz="1200" dirty="0" err="1">
                <a:latin typeface="Tahoma" panose="020B0604030504040204" pitchFamily="34" charset="0"/>
                <a:ea typeface="Tahoma" panose="020B0604030504040204" pitchFamily="34" charset="0"/>
                <a:cs typeface="Tahoma" panose="020B0604030504040204" pitchFamily="34" charset="0"/>
              </a:rPr>
              <a:t>atau</a:t>
            </a:r>
            <a:r>
              <a:rPr lang="en-US" sz="1200" dirty="0">
                <a:latin typeface="Tahoma" panose="020B0604030504040204" pitchFamily="34" charset="0"/>
                <a:ea typeface="Tahoma" panose="020B0604030504040204" pitchFamily="34" charset="0"/>
                <a:cs typeface="Tahoma" panose="020B0604030504040204" pitchFamily="34" charset="0"/>
              </a:rPr>
              <a:t> 100 cm</a:t>
            </a:r>
          </a:p>
          <a:p>
            <a:pPr marL="171450" indent="-171450" fontAlgn="base">
              <a:lnSpc>
                <a:spcPct val="115000"/>
              </a:lnSpc>
              <a:buSzPts val="1400"/>
              <a:buFontTx/>
              <a:buChar char="-"/>
            </a:pPr>
            <a:r>
              <a:rPr lang="en-US" sz="1200" dirty="0">
                <a:latin typeface="Tahoma" panose="020B0604030504040204" pitchFamily="34" charset="0"/>
                <a:ea typeface="Tahoma" panose="020B0604030504040204" pitchFamily="34" charset="0"/>
                <a:cs typeface="Tahoma" panose="020B0604030504040204" pitchFamily="34" charset="0"/>
              </a:rPr>
              <a:t>Adapun Langkah-Langkah </a:t>
            </a:r>
            <a:r>
              <a:rPr lang="en-US" sz="1200" dirty="0" err="1">
                <a:latin typeface="Tahoma" panose="020B0604030504040204" pitchFamily="34" charset="0"/>
                <a:ea typeface="Tahoma" panose="020B0604030504040204" pitchFamily="34" charset="0"/>
                <a:cs typeface="Tahoma" panose="020B0604030504040204" pitchFamily="34" charset="0"/>
              </a:rPr>
              <a:t>penggantian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fleskible</a:t>
            </a:r>
            <a:r>
              <a:rPr lang="en-US" sz="1200" dirty="0">
                <a:latin typeface="Tahoma" panose="020B0604030504040204" pitchFamily="34" charset="0"/>
                <a:ea typeface="Tahoma" panose="020B0604030504040204" pitchFamily="34" charset="0"/>
                <a:cs typeface="Tahoma" panose="020B0604030504040204" pitchFamily="34" charset="0"/>
              </a:rPr>
              <a:t> pipe, </a:t>
            </a:r>
            <a:r>
              <a:rPr lang="en-US" sz="1200" dirty="0" err="1">
                <a:latin typeface="Tahoma" panose="020B0604030504040204" pitchFamily="34" charset="0"/>
                <a:ea typeface="Tahoma" panose="020B0604030504040204" pitchFamily="34" charset="0"/>
                <a:cs typeface="Tahoma" panose="020B0604030504040204" pitchFamily="34" charset="0"/>
              </a:rPr>
              <a:t>sebagai</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berikut</a:t>
            </a:r>
            <a:r>
              <a:rPr lang="en-US" sz="1200" dirty="0">
                <a:latin typeface="Tahoma" panose="020B0604030504040204" pitchFamily="34" charset="0"/>
                <a:ea typeface="Tahoma" panose="020B0604030504040204" pitchFamily="34" charset="0"/>
                <a:cs typeface="Tahoma" panose="020B0604030504040204" pitchFamily="34" charset="0"/>
              </a:rPr>
              <a:t> :</a:t>
            </a:r>
          </a:p>
          <a:p>
            <a:pPr marL="628650" lvl="1" indent="-171450" fontAlgn="base">
              <a:lnSpc>
                <a:spcPct val="115000"/>
              </a:lnSpc>
              <a:buSzPts val="1400"/>
              <a:buFont typeface="Arial" panose="020B0604020202020204" pitchFamily="34" charset="0"/>
              <a:buChar char="•"/>
            </a:pP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Koordinasikan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terlebih</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dahulu</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ke</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lokasi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area,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pastikan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tangki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sedang</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beroperasi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atau</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tidak</a:t>
            </a:r>
            <a:endPar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a:p>
            <a:pPr marL="628650" lvl="1" indent="-171450" fontAlgn="base">
              <a:lnSpc>
                <a:spcPct val="115000"/>
              </a:lnSpc>
              <a:buSzPts val="1400"/>
              <a:buFont typeface="Arial" panose="020B0604020202020204" pitchFamily="34" charset="0"/>
              <a:buChar char="•"/>
            </a:pP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Jika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lokasi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sudah</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menyetujui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lalu</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mulai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dilakukan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penutupan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gate valve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terlebih</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dahulu</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kegiatan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ini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dilakukan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dan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disaksikan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bersama</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lokasi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area</a:t>
            </a:r>
          </a:p>
          <a:p>
            <a:pPr marL="628650" lvl="1" indent="-171450" fontAlgn="base">
              <a:lnSpc>
                <a:spcPct val="115000"/>
              </a:lnSpc>
              <a:buSzPts val="1400"/>
              <a:buFont typeface="Arial" panose="020B0604020202020204" pitchFamily="34" charset="0"/>
              <a:buChar char="•"/>
            </a:pP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Drain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isi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produk</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pipa</a:t>
            </a:r>
          </a:p>
          <a:p>
            <a:pPr marL="628650" lvl="1" indent="-171450" fontAlgn="base">
              <a:lnSpc>
                <a:spcPct val="115000"/>
              </a:lnSpc>
              <a:buSzPts val="1400"/>
              <a:buFont typeface="Arial" panose="020B0604020202020204" pitchFamily="34" charset="0"/>
              <a:buChar char="•"/>
            </a:pP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Lepas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bagian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fleskible</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pipe yang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akan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diganti</a:t>
            </a:r>
            <a:endPar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a:p>
            <a:pPr marL="628650" lvl="1" indent="-171450" fontAlgn="base">
              <a:lnSpc>
                <a:spcPct val="115000"/>
              </a:lnSpc>
              <a:buSzPts val="1400"/>
              <a:buFont typeface="Arial" panose="020B0604020202020204" pitchFamily="34" charset="0"/>
              <a:buChar char="•"/>
            </a:pP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Pasang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fleksible</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pipe yang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baru</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sesuai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dengan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ketentuan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yang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sudah</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ditetapkan</a:t>
            </a:r>
            <a:endPar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a:p>
            <a:pPr marL="628650" lvl="1" indent="-171450" fontAlgn="base">
              <a:lnSpc>
                <a:spcPct val="115000"/>
              </a:lnSpc>
              <a:buSzPts val="1400"/>
              <a:buFont typeface="Arial" panose="020B0604020202020204" pitchFamily="34" charset="0"/>
              <a:buChar char="•"/>
            </a:pP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Pekerjaan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pemasangan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dan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setelahnya</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harus</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selalu</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komunikasi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dan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koordinasi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dengan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pihak</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lokasi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area</a:t>
            </a:r>
          </a:p>
          <a:p>
            <a:pPr marL="628650" lvl="1" indent="-171450" fontAlgn="base">
              <a:lnSpc>
                <a:spcPct val="115000"/>
              </a:lnSpc>
              <a:buSzPts val="1400"/>
              <a:buFont typeface="Arial" panose="020B0604020202020204" pitchFamily="34" charset="0"/>
              <a:buChar char="•"/>
            </a:pPr>
            <a:endPar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a:p>
            <a:pPr fontAlgn="base">
              <a:lnSpc>
                <a:spcPct val="115000"/>
              </a:lnSpc>
              <a:buSzPts val="1400"/>
            </a:pPr>
            <a:endParaRPr lang="en-US" sz="1200" dirty="0">
              <a:latin typeface="Tahoma" panose="020B0604030504040204" pitchFamily="34" charset="0"/>
              <a:ea typeface="Tahoma" panose="020B0604030504040204" pitchFamily="34" charset="0"/>
              <a:cs typeface="Tahoma" panose="020B0604030504040204" pitchFamily="34" charset="0"/>
            </a:endParaRPr>
          </a:p>
        </p:txBody>
      </p:sp>
      <p:grpSp>
        <p:nvGrpSpPr>
          <p:cNvPr id="14" name="Grup 73">
            <a:extLst>
              <a:ext uri="{FF2B5EF4-FFF2-40B4-BE49-F238E27FC236}">
                <a16:creationId xmlns:a16="http://schemas.microsoft.com/office/drawing/2014/main" id="{A4A30D4F-40DD-456C-B616-600565B4222A}"/>
              </a:ext>
            </a:extLst>
          </p:cNvPr>
          <p:cNvGrpSpPr/>
          <p:nvPr/>
        </p:nvGrpSpPr>
        <p:grpSpPr>
          <a:xfrm>
            <a:off x="239206" y="6309321"/>
            <a:ext cx="2832458" cy="354841"/>
            <a:chOff x="114776" y="6421683"/>
            <a:chExt cx="2832458" cy="354841"/>
          </a:xfrm>
        </p:grpSpPr>
        <p:sp>
          <p:nvSpPr>
            <p:cNvPr id="15" name="TextBox 14">
              <a:extLst>
                <a:ext uri="{FF2B5EF4-FFF2-40B4-BE49-F238E27FC236}">
                  <a16:creationId xmlns:a16="http://schemas.microsoft.com/office/drawing/2014/main" id="{98665C3C-58BD-4912-9AAB-F86F8AEC17BF}"/>
                </a:ext>
              </a:extLst>
            </p:cNvPr>
            <p:cNvSpPr txBox="1"/>
            <p:nvPr/>
          </p:nvSpPr>
          <p:spPr>
            <a:xfrm>
              <a:off x="271269" y="6473331"/>
              <a:ext cx="2675965" cy="261610"/>
            </a:xfrm>
            <a:prstGeom prst="rect">
              <a:avLst/>
            </a:prstGeom>
            <a:noFill/>
          </p:spPr>
          <p:txBody>
            <a:bodyPr wrap="square" rtlCol="0">
              <a:spAutoFit/>
            </a:bodyPr>
            <a:lstStyle/>
            <a:p>
              <a:r>
                <a:rPr lang="id-ID" sz="1100" b="1" dirty="0">
                  <a:solidFill>
                    <a:srgbClr val="FF0000"/>
                  </a:solidFill>
                </a:rPr>
                <a:t>   </a:t>
              </a:r>
              <a:r>
                <a:rPr lang="en-US" sz="1000" b="1" dirty="0">
                  <a:solidFill>
                    <a:srgbClr val="FF0000"/>
                  </a:solidFill>
                </a:rPr>
                <a:t>PT. </a:t>
              </a:r>
              <a:r>
                <a:rPr lang="id-ID" sz="1000" b="1" dirty="0">
                  <a:solidFill>
                    <a:srgbClr val="FF0000"/>
                  </a:solidFill>
                </a:rPr>
                <a:t>PANGESTU ANUGERAH ABADI</a:t>
              </a:r>
              <a:endParaRPr lang="id-ID" sz="1100" dirty="0">
                <a:solidFill>
                  <a:srgbClr val="FF0000"/>
                </a:solidFill>
              </a:endParaRPr>
            </a:p>
          </p:txBody>
        </p:sp>
        <p:sp>
          <p:nvSpPr>
            <p:cNvPr id="16" name="Parallelogram 15">
              <a:extLst>
                <a:ext uri="{FF2B5EF4-FFF2-40B4-BE49-F238E27FC236}">
                  <a16:creationId xmlns:a16="http://schemas.microsoft.com/office/drawing/2014/main" id="{069302D9-B390-4344-A1A5-046663C16285}"/>
                </a:ext>
              </a:extLst>
            </p:cNvPr>
            <p:cNvSpPr/>
            <p:nvPr/>
          </p:nvSpPr>
          <p:spPr>
            <a:xfrm>
              <a:off x="114776" y="6421683"/>
              <a:ext cx="324023" cy="354841"/>
            </a:xfrm>
            <a:prstGeom prst="parallelogram">
              <a:avLst>
                <a:gd name="adj" fmla="val 64317"/>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24" name="Group 23">
            <a:extLst>
              <a:ext uri="{FF2B5EF4-FFF2-40B4-BE49-F238E27FC236}">
                <a16:creationId xmlns:a16="http://schemas.microsoft.com/office/drawing/2014/main" id="{DDCE19B1-216C-4613-95B6-D42D3775D00F}"/>
              </a:ext>
            </a:extLst>
          </p:cNvPr>
          <p:cNvGrpSpPr/>
          <p:nvPr/>
        </p:nvGrpSpPr>
        <p:grpSpPr>
          <a:xfrm>
            <a:off x="-28280" y="564125"/>
            <a:ext cx="11421639" cy="5741470"/>
            <a:chOff x="-25810" y="558265"/>
            <a:chExt cx="11421639" cy="5741470"/>
          </a:xfrm>
        </p:grpSpPr>
        <p:sp>
          <p:nvSpPr>
            <p:cNvPr id="25" name="Rectangle 24">
              <a:extLst>
                <a:ext uri="{FF2B5EF4-FFF2-40B4-BE49-F238E27FC236}">
                  <a16:creationId xmlns:a16="http://schemas.microsoft.com/office/drawing/2014/main" id="{D3A6A988-BF18-401B-AEB9-D131F3361B58}"/>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19401878-0A25-4148-91B8-799910110EF7}"/>
                </a:ext>
              </a:extLst>
            </p:cNvPr>
            <p:cNvGrpSpPr/>
            <p:nvPr/>
          </p:nvGrpSpPr>
          <p:grpSpPr>
            <a:xfrm>
              <a:off x="-25810" y="567070"/>
              <a:ext cx="543980" cy="5732665"/>
              <a:chOff x="-62386" y="567070"/>
              <a:chExt cx="543980" cy="5732665"/>
            </a:xfrm>
          </p:grpSpPr>
          <p:sp>
            <p:nvSpPr>
              <p:cNvPr id="28" name="Oval 27">
                <a:extLst>
                  <a:ext uri="{FF2B5EF4-FFF2-40B4-BE49-F238E27FC236}">
                    <a16:creationId xmlns:a16="http://schemas.microsoft.com/office/drawing/2014/main" id="{D7B480D0-3894-4844-BF89-73757C590483}"/>
                  </a:ext>
                </a:extLst>
              </p:cNvPr>
              <p:cNvSpPr/>
              <p:nvPr/>
            </p:nvSpPr>
            <p:spPr>
              <a:xfrm>
                <a:off x="-15044" y="2864718"/>
                <a:ext cx="496638" cy="114300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Top Corners Snipped 28">
                <a:extLst>
                  <a:ext uri="{FF2B5EF4-FFF2-40B4-BE49-F238E27FC236}">
                    <a16:creationId xmlns:a16="http://schemas.microsoft.com/office/drawing/2014/main" id="{431AECE3-33D3-437A-B6C5-86DDA7F04B18}"/>
                  </a:ext>
                </a:extLst>
              </p:cNvPr>
              <p:cNvSpPr/>
              <p:nvPr/>
            </p:nvSpPr>
            <p:spPr>
              <a:xfrm rot="5400000">
                <a:off x="-1743908" y="3275527"/>
                <a:ext cx="3794762" cy="306946"/>
              </a:xfrm>
              <a:prstGeom prst="snip2SameRect">
                <a:avLst/>
              </a:prstGeom>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a:extLst>
                  <a:ext uri="{FF2B5EF4-FFF2-40B4-BE49-F238E27FC236}">
                    <a16:creationId xmlns:a16="http://schemas.microsoft.com/office/drawing/2014/main" id="{61AA0F4F-29B4-4B3C-8E52-60EFEA9A36CF}"/>
                  </a:ext>
                </a:extLst>
              </p:cNvPr>
              <p:cNvSpPr txBox="1"/>
              <p:nvPr/>
            </p:nvSpPr>
            <p:spPr>
              <a:xfrm rot="16200000">
                <a:off x="-947568" y="3251856"/>
                <a:ext cx="2139696" cy="369332"/>
              </a:xfrm>
              <a:prstGeom prst="rect">
                <a:avLst/>
              </a:prstGeom>
              <a:noFill/>
              <a:ln>
                <a:noFill/>
              </a:ln>
            </p:spPr>
            <p:txBody>
              <a:bodyPr wrap="square" rtlCol="0" anchor="ctr">
                <a:spAutoFit/>
              </a:bodyPr>
              <a:lstStyle/>
              <a:p>
                <a:pPr algn="ctr"/>
                <a:r>
                  <a:rPr lang="en-US" dirty="0">
                    <a:solidFill>
                      <a:schemeClr val="bg1"/>
                    </a:solidFill>
                  </a:rPr>
                  <a:t>OVERVIEW PROJECT</a:t>
                </a:r>
              </a:p>
            </p:txBody>
          </p:sp>
          <p:cxnSp>
            <p:nvCxnSpPr>
              <p:cNvPr id="31" name="Straight Connector 30">
                <a:extLst>
                  <a:ext uri="{FF2B5EF4-FFF2-40B4-BE49-F238E27FC236}">
                    <a16:creationId xmlns:a16="http://schemas.microsoft.com/office/drawing/2014/main" id="{EED62DA4-4F78-4098-B7CC-966A29E7956E}"/>
                  </a:ext>
                </a:extLst>
              </p:cNvPr>
              <p:cNvCxnSpPr>
                <a:cxnSpLocks/>
              </p:cNvCxnSpPr>
              <p:nvPr/>
            </p:nvCxnSpPr>
            <p:spPr>
              <a:xfrm>
                <a:off x="-7088" y="567070"/>
                <a:ext cx="7088" cy="5732665"/>
              </a:xfrm>
              <a:prstGeom prst="line">
                <a:avLst/>
              </a:prstGeom>
              <a:ln w="50800"/>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004CBABA-7752-42F4-9211-14A24C5BE2AA}"/>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2" name="Group 31">
            <a:extLst>
              <a:ext uri="{FF2B5EF4-FFF2-40B4-BE49-F238E27FC236}">
                <a16:creationId xmlns:a16="http://schemas.microsoft.com/office/drawing/2014/main" id="{99059F7B-E879-4D3F-9AEE-68023423B57C}"/>
              </a:ext>
            </a:extLst>
          </p:cNvPr>
          <p:cNvGrpSpPr/>
          <p:nvPr/>
        </p:nvGrpSpPr>
        <p:grpSpPr>
          <a:xfrm>
            <a:off x="395699" y="619499"/>
            <a:ext cx="11421639" cy="5741470"/>
            <a:chOff x="-25810" y="558265"/>
            <a:chExt cx="11421639" cy="5741470"/>
          </a:xfrm>
        </p:grpSpPr>
        <p:sp>
          <p:nvSpPr>
            <p:cNvPr id="33" name="Rectangle 32">
              <a:extLst>
                <a:ext uri="{FF2B5EF4-FFF2-40B4-BE49-F238E27FC236}">
                  <a16:creationId xmlns:a16="http://schemas.microsoft.com/office/drawing/2014/main" id="{A339EA4A-AE40-4059-AA62-511495F8B4B3}"/>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6C99BC87-F0C6-4633-8819-CC69AC99D927}"/>
                </a:ext>
              </a:extLst>
            </p:cNvPr>
            <p:cNvGrpSpPr/>
            <p:nvPr/>
          </p:nvGrpSpPr>
          <p:grpSpPr>
            <a:xfrm>
              <a:off x="-25810" y="567070"/>
              <a:ext cx="543980" cy="5732665"/>
              <a:chOff x="-62386" y="567070"/>
              <a:chExt cx="543980" cy="5732665"/>
            </a:xfrm>
          </p:grpSpPr>
          <p:sp>
            <p:nvSpPr>
              <p:cNvPr id="36" name="Oval 35">
                <a:extLst>
                  <a:ext uri="{FF2B5EF4-FFF2-40B4-BE49-F238E27FC236}">
                    <a16:creationId xmlns:a16="http://schemas.microsoft.com/office/drawing/2014/main" id="{75B36580-DE8A-4F7A-A61F-ED8C3464A586}"/>
                  </a:ext>
                </a:extLst>
              </p:cNvPr>
              <p:cNvSpPr/>
              <p:nvPr/>
            </p:nvSpPr>
            <p:spPr>
              <a:xfrm>
                <a:off x="-15044" y="2864718"/>
                <a:ext cx="496638" cy="114300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Top Corners Snipped 36">
                <a:extLst>
                  <a:ext uri="{FF2B5EF4-FFF2-40B4-BE49-F238E27FC236}">
                    <a16:creationId xmlns:a16="http://schemas.microsoft.com/office/drawing/2014/main" id="{36FC54C0-F0FE-4530-A5E6-C27D5DF51F92}"/>
                  </a:ext>
                </a:extLst>
              </p:cNvPr>
              <p:cNvSpPr/>
              <p:nvPr/>
            </p:nvSpPr>
            <p:spPr>
              <a:xfrm rot="5400000">
                <a:off x="-1743908" y="3275527"/>
                <a:ext cx="3794762" cy="306946"/>
              </a:xfrm>
              <a:prstGeom prst="snip2SameRect">
                <a:avLst/>
              </a:prstGeom>
              <a:solidFill>
                <a:schemeClr val="accent2">
                  <a:lumMod val="60000"/>
                  <a:lumOff val="4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A54BC251-7DDD-4B8B-B675-0405DC17810C}"/>
                  </a:ext>
                </a:extLst>
              </p:cNvPr>
              <p:cNvSpPr txBox="1"/>
              <p:nvPr/>
            </p:nvSpPr>
            <p:spPr>
              <a:xfrm rot="16200000">
                <a:off x="-947568" y="3251856"/>
                <a:ext cx="2139696" cy="369332"/>
              </a:xfrm>
              <a:prstGeom prst="rect">
                <a:avLst/>
              </a:prstGeom>
              <a:noFill/>
              <a:ln>
                <a:noFill/>
              </a:ln>
            </p:spPr>
            <p:txBody>
              <a:bodyPr wrap="square" rtlCol="0" anchor="ctr">
                <a:spAutoFit/>
              </a:bodyPr>
              <a:lstStyle/>
              <a:p>
                <a:pPr algn="ctr"/>
                <a:r>
                  <a:rPr lang="en-US" dirty="0">
                    <a:solidFill>
                      <a:schemeClr val="bg1"/>
                    </a:solidFill>
                  </a:rPr>
                  <a:t>PROGRESS</a:t>
                </a:r>
              </a:p>
            </p:txBody>
          </p:sp>
          <p:cxnSp>
            <p:nvCxnSpPr>
              <p:cNvPr id="39" name="Straight Connector 38">
                <a:extLst>
                  <a:ext uri="{FF2B5EF4-FFF2-40B4-BE49-F238E27FC236}">
                    <a16:creationId xmlns:a16="http://schemas.microsoft.com/office/drawing/2014/main" id="{A2EB7044-2B2E-44C9-BC99-EE97C388DBD2}"/>
                  </a:ext>
                </a:extLst>
              </p:cNvPr>
              <p:cNvCxnSpPr>
                <a:cxnSpLocks/>
              </p:cNvCxnSpPr>
              <p:nvPr/>
            </p:nvCxnSpPr>
            <p:spPr>
              <a:xfrm>
                <a:off x="-7088" y="567070"/>
                <a:ext cx="7088" cy="5732665"/>
              </a:xfrm>
              <a:prstGeom prst="line">
                <a:avLst/>
              </a:prstGeom>
              <a:ln w="508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35654ECB-9318-4DCD-A6C5-62107919D9E3}"/>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1" name="Picture 40">
            <a:extLst>
              <a:ext uri="{FF2B5EF4-FFF2-40B4-BE49-F238E27FC236}">
                <a16:creationId xmlns:a16="http://schemas.microsoft.com/office/drawing/2014/main" id="{CB605465-7779-4668-BB9D-C0545439CA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4756" y="27198"/>
            <a:ext cx="1928572" cy="849085"/>
          </a:xfrm>
          <a:prstGeom prst="rect">
            <a:avLst/>
          </a:prstGeom>
        </p:spPr>
      </p:pic>
      <p:sp>
        <p:nvSpPr>
          <p:cNvPr id="42" name="Freeform: Shape 114">
            <a:extLst>
              <a:ext uri="{FF2B5EF4-FFF2-40B4-BE49-F238E27FC236}">
                <a16:creationId xmlns:a16="http://schemas.microsoft.com/office/drawing/2014/main" id="{7820E32A-A08C-4C2D-82DC-88BE68DC9D68}"/>
              </a:ext>
            </a:extLst>
          </p:cNvPr>
          <p:cNvSpPr/>
          <p:nvPr/>
        </p:nvSpPr>
        <p:spPr>
          <a:xfrm>
            <a:off x="2339646" y="1407061"/>
            <a:ext cx="844820" cy="844820"/>
          </a:xfrm>
          <a:custGeom>
            <a:avLst/>
            <a:gdLst>
              <a:gd name="connsiteX0" fmla="*/ 1126427 w 1126426"/>
              <a:gd name="connsiteY0" fmla="*/ 563213 h 1126426"/>
              <a:gd name="connsiteX1" fmla="*/ 563213 w 1126426"/>
              <a:gd name="connsiteY1" fmla="*/ 1126427 h 1126426"/>
              <a:gd name="connsiteX2" fmla="*/ 0 w 1126426"/>
              <a:gd name="connsiteY2" fmla="*/ 563213 h 1126426"/>
              <a:gd name="connsiteX3" fmla="*/ 563213 w 1126426"/>
              <a:gd name="connsiteY3" fmla="*/ 0 h 1126426"/>
              <a:gd name="connsiteX4" fmla="*/ 1126427 w 1126426"/>
              <a:gd name="connsiteY4" fmla="*/ 563213 h 1126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426" h="1126426">
                <a:moveTo>
                  <a:pt x="1126427" y="563213"/>
                </a:moveTo>
                <a:cubicBezTo>
                  <a:pt x="1126427" y="874267"/>
                  <a:pt x="874268" y="1126427"/>
                  <a:pt x="563213" y="1126427"/>
                </a:cubicBezTo>
                <a:cubicBezTo>
                  <a:pt x="252159" y="1126427"/>
                  <a:pt x="0" y="874267"/>
                  <a:pt x="0" y="563213"/>
                </a:cubicBezTo>
                <a:cubicBezTo>
                  <a:pt x="0" y="252159"/>
                  <a:pt x="252159" y="0"/>
                  <a:pt x="563213" y="0"/>
                </a:cubicBezTo>
                <a:cubicBezTo>
                  <a:pt x="874267" y="0"/>
                  <a:pt x="1126427" y="252159"/>
                  <a:pt x="1126427" y="563213"/>
                </a:cubicBezTo>
                <a:close/>
              </a:path>
            </a:pathLst>
          </a:custGeom>
          <a:noFill/>
          <a:ln w="66590" cap="flat">
            <a:gradFill flip="none" rotWithShape="1">
              <a:gsLst>
                <a:gs pos="16000">
                  <a:srgbClr val="484848"/>
                </a:gs>
                <a:gs pos="86000">
                  <a:schemeClr val="accent2"/>
                </a:gs>
              </a:gsLst>
              <a:lin ang="18900000" scaled="1"/>
              <a:tileRect/>
            </a:gradFill>
            <a:prstDash val="solid"/>
            <a:miter/>
          </a:ln>
        </p:spPr>
        <p:txBody>
          <a:bodyPr rtlCol="0" anchor="ctr"/>
          <a:lstStyle/>
          <a:p>
            <a:pPr defTabSz="685800"/>
            <a:endParaRPr lang="en-US" sz="1350" dirty="0">
              <a:latin typeface="Calibri" panose="020F0502020204030204"/>
            </a:endParaRPr>
          </a:p>
        </p:txBody>
      </p:sp>
      <p:sp>
        <p:nvSpPr>
          <p:cNvPr id="43" name="Freeform: Shape 112">
            <a:extLst>
              <a:ext uri="{FF2B5EF4-FFF2-40B4-BE49-F238E27FC236}">
                <a16:creationId xmlns:a16="http://schemas.microsoft.com/office/drawing/2014/main" id="{CCD7766A-FDB7-4060-BCAF-35363F401A35}"/>
              </a:ext>
            </a:extLst>
          </p:cNvPr>
          <p:cNvSpPr/>
          <p:nvPr/>
        </p:nvSpPr>
        <p:spPr>
          <a:xfrm>
            <a:off x="2481236" y="1548650"/>
            <a:ext cx="561641" cy="561641"/>
          </a:xfrm>
          <a:custGeom>
            <a:avLst/>
            <a:gdLst>
              <a:gd name="connsiteX0" fmla="*/ 748855 w 748855"/>
              <a:gd name="connsiteY0" fmla="*/ 374428 h 748855"/>
              <a:gd name="connsiteX1" fmla="*/ 374428 w 748855"/>
              <a:gd name="connsiteY1" fmla="*/ 748856 h 748855"/>
              <a:gd name="connsiteX2" fmla="*/ 0 w 748855"/>
              <a:gd name="connsiteY2" fmla="*/ 374428 h 748855"/>
              <a:gd name="connsiteX3" fmla="*/ 374428 w 748855"/>
              <a:gd name="connsiteY3" fmla="*/ 0 h 748855"/>
              <a:gd name="connsiteX4" fmla="*/ 748855 w 748855"/>
              <a:gd name="connsiteY4" fmla="*/ 374428 h 748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855" h="748855">
                <a:moveTo>
                  <a:pt x="748855" y="374428"/>
                </a:moveTo>
                <a:cubicBezTo>
                  <a:pt x="748855" y="581219"/>
                  <a:pt x="581218" y="748856"/>
                  <a:pt x="374428" y="748856"/>
                </a:cubicBezTo>
                <a:cubicBezTo>
                  <a:pt x="167637" y="748856"/>
                  <a:pt x="0" y="581219"/>
                  <a:pt x="0" y="374428"/>
                </a:cubicBezTo>
                <a:cubicBezTo>
                  <a:pt x="0" y="167637"/>
                  <a:pt x="167637" y="0"/>
                  <a:pt x="374428" y="0"/>
                </a:cubicBezTo>
                <a:cubicBezTo>
                  <a:pt x="581219" y="0"/>
                  <a:pt x="748855" y="167637"/>
                  <a:pt x="748855" y="374428"/>
                </a:cubicBezTo>
                <a:close/>
              </a:path>
            </a:pathLst>
          </a:custGeom>
          <a:gradFill>
            <a:gsLst>
              <a:gs pos="0">
                <a:schemeClr val="accent2"/>
              </a:gs>
              <a:gs pos="100000">
                <a:schemeClr val="accent2">
                  <a:lumMod val="75000"/>
                </a:schemeClr>
              </a:gs>
            </a:gsLst>
            <a:lin ang="0" scaled="0"/>
          </a:gradFill>
          <a:ln w="9525" cap="flat">
            <a:noFill/>
            <a:prstDash val="solid"/>
            <a:miter/>
          </a:ln>
          <a:effectLst>
            <a:outerShdw blurRad="50800" dist="38100" dir="2700000" algn="tl" rotWithShape="0">
              <a:prstClr val="black">
                <a:alpha val="40000"/>
              </a:prstClr>
            </a:outerShdw>
          </a:effectLst>
        </p:spPr>
        <p:txBody>
          <a:bodyPr rtlCol="0" anchor="ctr"/>
          <a:lstStyle/>
          <a:p>
            <a:pPr algn="ctr" defTabSz="685800"/>
            <a:r>
              <a:rPr lang="en-US" sz="1350" b="1" dirty="0">
                <a:latin typeface="Calibri" panose="020F0502020204030204"/>
              </a:rPr>
              <a:t>01</a:t>
            </a:r>
          </a:p>
        </p:txBody>
      </p:sp>
      <p:grpSp>
        <p:nvGrpSpPr>
          <p:cNvPr id="48" name="Grup 68">
            <a:extLst>
              <a:ext uri="{FF2B5EF4-FFF2-40B4-BE49-F238E27FC236}">
                <a16:creationId xmlns:a16="http://schemas.microsoft.com/office/drawing/2014/main" id="{73854001-F6C9-43F1-9958-AEEBAE1240A4}"/>
              </a:ext>
            </a:extLst>
          </p:cNvPr>
          <p:cNvGrpSpPr/>
          <p:nvPr/>
        </p:nvGrpSpPr>
        <p:grpSpPr>
          <a:xfrm>
            <a:off x="1550049" y="2554703"/>
            <a:ext cx="1666208" cy="1666209"/>
            <a:chOff x="707757" y="2706962"/>
            <a:chExt cx="1666208" cy="1666209"/>
          </a:xfrm>
        </p:grpSpPr>
        <p:sp>
          <p:nvSpPr>
            <p:cNvPr id="49" name="Freeform: Shape 92">
              <a:extLst>
                <a:ext uri="{FF2B5EF4-FFF2-40B4-BE49-F238E27FC236}">
                  <a16:creationId xmlns:a16="http://schemas.microsoft.com/office/drawing/2014/main" id="{482A7645-215B-4130-9BFB-6E34CA8E2EB8}"/>
                </a:ext>
              </a:extLst>
            </p:cNvPr>
            <p:cNvSpPr/>
            <p:nvPr/>
          </p:nvSpPr>
          <p:spPr>
            <a:xfrm>
              <a:off x="879634" y="2878842"/>
              <a:ext cx="1322450" cy="1322452"/>
            </a:xfrm>
            <a:custGeom>
              <a:avLst/>
              <a:gdLst>
                <a:gd name="connsiteX0" fmla="*/ 1763268 w 1763267"/>
                <a:gd name="connsiteY0" fmla="*/ 881634 h 1763268"/>
                <a:gd name="connsiteX1" fmla="*/ 881634 w 1763267"/>
                <a:gd name="connsiteY1" fmla="*/ 1763268 h 1763268"/>
                <a:gd name="connsiteX2" fmla="*/ 0 w 1763267"/>
                <a:gd name="connsiteY2" fmla="*/ 881634 h 1763268"/>
                <a:gd name="connsiteX3" fmla="*/ 881634 w 1763267"/>
                <a:gd name="connsiteY3" fmla="*/ 0 h 1763268"/>
                <a:gd name="connsiteX4" fmla="*/ 1763268 w 1763267"/>
                <a:gd name="connsiteY4" fmla="*/ 881634 h 1763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3267" h="1763268">
                  <a:moveTo>
                    <a:pt x="1763268" y="881634"/>
                  </a:moveTo>
                  <a:cubicBezTo>
                    <a:pt x="1763268" y="1368547"/>
                    <a:pt x="1368547" y="1763268"/>
                    <a:pt x="881634" y="1763268"/>
                  </a:cubicBezTo>
                  <a:cubicBezTo>
                    <a:pt x="394721" y="1763268"/>
                    <a:pt x="0" y="1368547"/>
                    <a:pt x="0" y="881634"/>
                  </a:cubicBezTo>
                  <a:cubicBezTo>
                    <a:pt x="0" y="394721"/>
                    <a:pt x="394721" y="0"/>
                    <a:pt x="881634" y="0"/>
                  </a:cubicBezTo>
                  <a:cubicBezTo>
                    <a:pt x="1368547" y="0"/>
                    <a:pt x="1763268" y="394721"/>
                    <a:pt x="1763268" y="881634"/>
                  </a:cubicBezTo>
                  <a:close/>
                </a:path>
              </a:pathLst>
            </a:custGeom>
            <a:solidFill>
              <a:srgbClr val="484848"/>
            </a:solidFill>
            <a:ln w="9525" cap="flat">
              <a:noFill/>
              <a:prstDash val="solid"/>
              <a:miter/>
            </a:ln>
            <a:effectLst>
              <a:outerShdw blurRad="152400" dist="101600" dir="2700000" algn="tl" rotWithShape="0">
                <a:prstClr val="black">
                  <a:alpha val="40000"/>
                </a:prstClr>
              </a:outerShdw>
            </a:effectLst>
          </p:spPr>
          <p:txBody>
            <a:bodyPr rtlCol="0" anchor="ctr"/>
            <a:lstStyle/>
            <a:p>
              <a:pPr algn="ctr"/>
              <a:r>
                <a:rPr lang="en-US" sz="1600" dirty="0" err="1">
                  <a:solidFill>
                    <a:schemeClr val="bg1"/>
                  </a:solidFill>
                </a:rPr>
                <a:t>Perbaikan</a:t>
              </a:r>
              <a:r>
                <a:rPr lang="en-US" sz="1600" dirty="0">
                  <a:solidFill>
                    <a:schemeClr val="bg1"/>
                  </a:solidFill>
                </a:rPr>
                <a:t> </a:t>
              </a:r>
              <a:r>
                <a:rPr lang="en-US" sz="1600" dirty="0" err="1">
                  <a:solidFill>
                    <a:schemeClr val="bg1"/>
                  </a:solidFill>
                </a:rPr>
                <a:t>Fleksible</a:t>
              </a:r>
              <a:r>
                <a:rPr lang="en-US" sz="1600" dirty="0">
                  <a:solidFill>
                    <a:schemeClr val="bg1"/>
                  </a:solidFill>
                </a:rPr>
                <a:t> Pipe T.02,07,11,12</a:t>
              </a:r>
            </a:p>
          </p:txBody>
        </p:sp>
        <p:sp>
          <p:nvSpPr>
            <p:cNvPr id="50" name="Freeform: Shape 103">
              <a:extLst>
                <a:ext uri="{FF2B5EF4-FFF2-40B4-BE49-F238E27FC236}">
                  <a16:creationId xmlns:a16="http://schemas.microsoft.com/office/drawing/2014/main" id="{84F288F8-C4CB-4D76-82F6-FEEE6576F777}"/>
                </a:ext>
              </a:extLst>
            </p:cNvPr>
            <p:cNvSpPr/>
            <p:nvPr/>
          </p:nvSpPr>
          <p:spPr>
            <a:xfrm rot="2700000">
              <a:off x="707756" y="2706963"/>
              <a:ext cx="1666209" cy="1666208"/>
            </a:xfrm>
            <a:custGeom>
              <a:avLst/>
              <a:gdLst>
                <a:gd name="connsiteX0" fmla="*/ 2221611 w 2221611"/>
                <a:gd name="connsiteY0" fmla="*/ 1110805 h 2221611"/>
                <a:gd name="connsiteX1" fmla="*/ 1110806 w 2221611"/>
                <a:gd name="connsiteY1" fmla="*/ 2221611 h 2221611"/>
                <a:gd name="connsiteX2" fmla="*/ 0 w 2221611"/>
                <a:gd name="connsiteY2" fmla="*/ 1110805 h 2221611"/>
                <a:gd name="connsiteX3" fmla="*/ 1110806 w 2221611"/>
                <a:gd name="connsiteY3" fmla="*/ 0 h 2221611"/>
                <a:gd name="connsiteX4" fmla="*/ 2221611 w 2221611"/>
                <a:gd name="connsiteY4" fmla="*/ 1110805 h 2221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611" h="2221611">
                  <a:moveTo>
                    <a:pt x="2221611" y="1110805"/>
                  </a:moveTo>
                  <a:cubicBezTo>
                    <a:pt x="2221611" y="1724286"/>
                    <a:pt x="1724287" y="2221611"/>
                    <a:pt x="1110806" y="2221611"/>
                  </a:cubicBezTo>
                  <a:cubicBezTo>
                    <a:pt x="497325" y="2221611"/>
                    <a:pt x="0" y="1724286"/>
                    <a:pt x="0" y="1110805"/>
                  </a:cubicBezTo>
                  <a:cubicBezTo>
                    <a:pt x="0" y="497325"/>
                    <a:pt x="497325" y="0"/>
                    <a:pt x="1110806" y="0"/>
                  </a:cubicBezTo>
                  <a:cubicBezTo>
                    <a:pt x="1724287" y="0"/>
                    <a:pt x="2221611" y="497325"/>
                    <a:pt x="2221611" y="1110805"/>
                  </a:cubicBezTo>
                  <a:close/>
                </a:path>
              </a:pathLst>
            </a:custGeom>
            <a:noFill/>
            <a:ln w="66590" cap="flat">
              <a:gradFill flip="none" rotWithShape="1">
                <a:gsLst>
                  <a:gs pos="35000">
                    <a:schemeClr val="accent2"/>
                  </a:gs>
                  <a:gs pos="65000">
                    <a:schemeClr val="accent6"/>
                  </a:gs>
                  <a:gs pos="50000">
                    <a:schemeClr val="accent4"/>
                  </a:gs>
                  <a:gs pos="20000">
                    <a:srgbClr val="484848"/>
                  </a:gs>
                  <a:gs pos="80000">
                    <a:schemeClr val="accent5"/>
                  </a:gs>
                  <a:gs pos="95000">
                    <a:schemeClr val="accent1"/>
                  </a:gs>
                </a:gsLst>
                <a:path path="circle">
                  <a:fillToRect l="100000" b="100000"/>
                </a:path>
                <a:tileRect t="-100000" r="-100000"/>
              </a:gradFill>
              <a:prstDash val="solid"/>
              <a:miter/>
            </a:ln>
          </p:spPr>
          <p:txBody>
            <a:bodyPr rtlCol="0" anchor="ctr"/>
            <a:lstStyle/>
            <a:p>
              <a:pPr defTabSz="685800"/>
              <a:endParaRPr lang="en-US" sz="1350" dirty="0">
                <a:latin typeface="Calibri" panose="020F0502020204030204"/>
              </a:endParaRPr>
            </a:p>
          </p:txBody>
        </p:sp>
      </p:grpSp>
      <p:sp>
        <p:nvSpPr>
          <p:cNvPr id="51" name="Arc 89">
            <a:extLst>
              <a:ext uri="{FF2B5EF4-FFF2-40B4-BE49-F238E27FC236}">
                <a16:creationId xmlns:a16="http://schemas.microsoft.com/office/drawing/2014/main" id="{59A3EB14-0493-4A0B-B1F2-FF1C0EF85E2D}"/>
              </a:ext>
            </a:extLst>
          </p:cNvPr>
          <p:cNvSpPr/>
          <p:nvPr/>
        </p:nvSpPr>
        <p:spPr>
          <a:xfrm flipH="1">
            <a:off x="1415480" y="2411482"/>
            <a:ext cx="1933956" cy="1933957"/>
          </a:xfrm>
          <a:prstGeom prst="arc">
            <a:avLst>
              <a:gd name="adj1" fmla="val 3397586"/>
              <a:gd name="adj2" fmla="val 18544872"/>
            </a:avLst>
          </a:prstGeom>
          <a:ln w="19050">
            <a:gradFill flip="none" rotWithShape="1">
              <a:gsLst>
                <a:gs pos="0">
                  <a:srgbClr val="484848"/>
                </a:gs>
                <a:gs pos="38000">
                  <a:schemeClr val="accent3">
                    <a:lumMod val="50000"/>
                  </a:schemeClr>
                </a:gs>
                <a:gs pos="59000">
                  <a:schemeClr val="accent3">
                    <a:lumMod val="75000"/>
                  </a:schemeClr>
                </a:gs>
                <a:gs pos="97345">
                  <a:schemeClr val="accent3"/>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dirty="0">
              <a:latin typeface="Calibri" panose="020F0502020204030204"/>
            </a:endParaRPr>
          </a:p>
        </p:txBody>
      </p:sp>
      <p:grpSp>
        <p:nvGrpSpPr>
          <p:cNvPr id="53" name="Group 52">
            <a:extLst>
              <a:ext uri="{FF2B5EF4-FFF2-40B4-BE49-F238E27FC236}">
                <a16:creationId xmlns:a16="http://schemas.microsoft.com/office/drawing/2014/main" id="{674EBE96-7629-499D-8703-40F6DA107AC8}"/>
              </a:ext>
            </a:extLst>
          </p:cNvPr>
          <p:cNvGrpSpPr/>
          <p:nvPr/>
        </p:nvGrpSpPr>
        <p:grpSpPr>
          <a:xfrm>
            <a:off x="438122" y="221567"/>
            <a:ext cx="5297838" cy="687155"/>
            <a:chOff x="1544574" y="576718"/>
            <a:chExt cx="5297838" cy="687155"/>
          </a:xfrm>
        </p:grpSpPr>
        <p:sp>
          <p:nvSpPr>
            <p:cNvPr id="54" name="Rectangle: Rounded Corners 53">
              <a:extLst>
                <a:ext uri="{FF2B5EF4-FFF2-40B4-BE49-F238E27FC236}">
                  <a16:creationId xmlns:a16="http://schemas.microsoft.com/office/drawing/2014/main" id="{E0694D57-9EC3-4E17-A95D-5B8A2C771B8A}"/>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27B28F45-556E-4994-BBC6-9E906C2B85FF}"/>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6" name="Straight Connector 55">
              <a:extLst>
                <a:ext uri="{FF2B5EF4-FFF2-40B4-BE49-F238E27FC236}">
                  <a16:creationId xmlns:a16="http://schemas.microsoft.com/office/drawing/2014/main" id="{F3A4C755-FBAB-4644-89FA-C29D835EFFEF}"/>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F48B6F8-5611-4F96-9A1F-9F2480AF13D8}"/>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PROSEDURE</a:t>
              </a:r>
              <a:endParaRPr lang="en-US" sz="2000" b="1" dirty="0">
                <a:solidFill>
                  <a:schemeClr val="bg1"/>
                </a:solidFill>
              </a:endParaRPr>
            </a:p>
          </p:txBody>
        </p:sp>
        <p:sp>
          <p:nvSpPr>
            <p:cNvPr id="58" name="TextBox 57">
              <a:extLst>
                <a:ext uri="{FF2B5EF4-FFF2-40B4-BE49-F238E27FC236}">
                  <a16:creationId xmlns:a16="http://schemas.microsoft.com/office/drawing/2014/main" id="{1ED775DD-9389-473A-83DC-8ED6E27F3607}"/>
                </a:ext>
              </a:extLst>
            </p:cNvPr>
            <p:cNvSpPr txBox="1"/>
            <p:nvPr/>
          </p:nvSpPr>
          <p:spPr>
            <a:xfrm>
              <a:off x="6097067" y="612065"/>
              <a:ext cx="731520" cy="584775"/>
            </a:xfrm>
            <a:prstGeom prst="rect">
              <a:avLst/>
            </a:prstGeom>
            <a:noFill/>
          </p:spPr>
          <p:txBody>
            <a:bodyPr wrap="square" rtlCol="0">
              <a:spAutoFit/>
            </a:bodyPr>
            <a:lstStyle/>
            <a:p>
              <a:endParaRPr lang="en-US" sz="3200" dirty="0">
                <a:solidFill>
                  <a:schemeClr val="accent2">
                    <a:lumMod val="50000"/>
                  </a:schemeClr>
                </a:solidFill>
              </a:endParaRPr>
            </a:p>
          </p:txBody>
        </p:sp>
      </p:grpSp>
    </p:spTree>
    <p:extLst>
      <p:ext uri="{BB962C8B-B14F-4D97-AF65-F5344CB8AC3E}">
        <p14:creationId xmlns:p14="http://schemas.microsoft.com/office/powerpoint/2010/main" val="3398450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88">
            <a:extLst>
              <a:ext uri="{FF2B5EF4-FFF2-40B4-BE49-F238E27FC236}">
                <a16:creationId xmlns:a16="http://schemas.microsoft.com/office/drawing/2014/main" id="{9D1F5908-FD8B-4C9A-8474-9A7CADEA19EB}"/>
              </a:ext>
            </a:extLst>
          </p:cNvPr>
          <p:cNvCxnSpPr>
            <a:cxnSpLocks/>
            <a:stCxn id="5" idx="3"/>
          </p:cNvCxnSpPr>
          <p:nvPr/>
        </p:nvCxnSpPr>
        <p:spPr>
          <a:xfrm flipV="1">
            <a:off x="2569178" y="1820473"/>
            <a:ext cx="202819" cy="54968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5" name="Freeform: Shape 93">
            <a:extLst>
              <a:ext uri="{FF2B5EF4-FFF2-40B4-BE49-F238E27FC236}">
                <a16:creationId xmlns:a16="http://schemas.microsoft.com/office/drawing/2014/main" id="{3D87B3B1-21DB-4499-AA15-AEB9E877DF7A}"/>
              </a:ext>
            </a:extLst>
          </p:cNvPr>
          <p:cNvSpPr/>
          <p:nvPr/>
        </p:nvSpPr>
        <p:spPr>
          <a:xfrm rot="1242827">
            <a:off x="2474020" y="2365610"/>
            <a:ext cx="140589" cy="140589"/>
          </a:xfrm>
          <a:custGeom>
            <a:avLst/>
            <a:gdLst>
              <a:gd name="connsiteX0" fmla="*/ 187452 w 187452"/>
              <a:gd name="connsiteY0" fmla="*/ 93726 h 187452"/>
              <a:gd name="connsiteX1" fmla="*/ 93726 w 187452"/>
              <a:gd name="connsiteY1" fmla="*/ 187452 h 187452"/>
              <a:gd name="connsiteX2" fmla="*/ 0 w 187452"/>
              <a:gd name="connsiteY2" fmla="*/ 93726 h 187452"/>
              <a:gd name="connsiteX3" fmla="*/ 93726 w 187452"/>
              <a:gd name="connsiteY3" fmla="*/ 0 h 187452"/>
              <a:gd name="connsiteX4" fmla="*/ 187452 w 187452"/>
              <a:gd name="connsiteY4" fmla="*/ 93726 h 187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2" h="187452">
                <a:moveTo>
                  <a:pt x="187452" y="93726"/>
                </a:moveTo>
                <a:cubicBezTo>
                  <a:pt x="187452" y="145489"/>
                  <a:pt x="145489" y="187452"/>
                  <a:pt x="93726" y="187452"/>
                </a:cubicBezTo>
                <a:cubicBezTo>
                  <a:pt x="41963" y="187452"/>
                  <a:pt x="0" y="145489"/>
                  <a:pt x="0" y="93726"/>
                </a:cubicBezTo>
                <a:cubicBezTo>
                  <a:pt x="0" y="41963"/>
                  <a:pt x="41963" y="0"/>
                  <a:pt x="93726" y="0"/>
                </a:cubicBezTo>
                <a:cubicBezTo>
                  <a:pt x="145489" y="0"/>
                  <a:pt x="187452" y="41963"/>
                  <a:pt x="187452" y="93726"/>
                </a:cubicBezTo>
                <a:close/>
              </a:path>
            </a:pathLst>
          </a:custGeom>
          <a:solidFill>
            <a:schemeClr val="accent2"/>
          </a:solidFill>
          <a:ln w="9525" cap="flat">
            <a:noFill/>
            <a:prstDash val="solid"/>
            <a:miter/>
          </a:ln>
        </p:spPr>
        <p:txBody>
          <a:bodyPr rtlCol="0" anchor="ctr"/>
          <a:lstStyle/>
          <a:p>
            <a:pPr defTabSz="685800"/>
            <a:endParaRPr lang="en-US" sz="1350">
              <a:latin typeface="Calibri" panose="020F0502020204030204"/>
            </a:endParaRPr>
          </a:p>
        </p:txBody>
      </p:sp>
      <p:grpSp>
        <p:nvGrpSpPr>
          <p:cNvPr id="6" name="Grup 59">
            <a:extLst>
              <a:ext uri="{FF2B5EF4-FFF2-40B4-BE49-F238E27FC236}">
                <a16:creationId xmlns:a16="http://schemas.microsoft.com/office/drawing/2014/main" id="{FC4D747C-D37F-4B40-B757-01578F8659C2}"/>
              </a:ext>
            </a:extLst>
          </p:cNvPr>
          <p:cNvGrpSpPr/>
          <p:nvPr/>
        </p:nvGrpSpPr>
        <p:grpSpPr>
          <a:xfrm>
            <a:off x="3326052" y="1085115"/>
            <a:ext cx="3827848" cy="307777"/>
            <a:chOff x="3682627" y="908720"/>
            <a:chExt cx="2518152" cy="307777"/>
          </a:xfrm>
        </p:grpSpPr>
        <p:sp>
          <p:nvSpPr>
            <p:cNvPr id="7" name="Oval 6">
              <a:extLst>
                <a:ext uri="{FF2B5EF4-FFF2-40B4-BE49-F238E27FC236}">
                  <a16:creationId xmlns:a16="http://schemas.microsoft.com/office/drawing/2014/main" id="{DC3A0417-AFD1-415B-9D41-D291182251C8}"/>
                </a:ext>
              </a:extLst>
            </p:cNvPr>
            <p:cNvSpPr/>
            <p:nvPr/>
          </p:nvSpPr>
          <p:spPr>
            <a:xfrm>
              <a:off x="3682627" y="996332"/>
              <a:ext cx="97286" cy="144635"/>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a:solidFill>
                  <a:schemeClr val="tx1"/>
                </a:solidFill>
                <a:latin typeface="Calibri" panose="020F0502020204030204"/>
              </a:endParaRPr>
            </a:p>
          </p:txBody>
        </p:sp>
        <p:sp>
          <p:nvSpPr>
            <p:cNvPr id="8" name="TextBox 81">
              <a:extLst>
                <a:ext uri="{FF2B5EF4-FFF2-40B4-BE49-F238E27FC236}">
                  <a16:creationId xmlns:a16="http://schemas.microsoft.com/office/drawing/2014/main" id="{966EC0B1-1306-4316-9417-A1D98AD8A622}"/>
                </a:ext>
              </a:extLst>
            </p:cNvPr>
            <p:cNvSpPr txBox="1"/>
            <p:nvPr/>
          </p:nvSpPr>
          <p:spPr>
            <a:xfrm>
              <a:off x="3850428" y="908720"/>
              <a:ext cx="2350351" cy="307777"/>
            </a:xfrm>
            <a:prstGeom prst="rect">
              <a:avLst/>
            </a:prstGeom>
            <a:noFill/>
          </p:spPr>
          <p:txBody>
            <a:bodyPr wrap="none" rtlCol="0">
              <a:spAutoFit/>
            </a:bodyPr>
            <a:lstStyle/>
            <a:p>
              <a:pPr defTabSz="685800"/>
              <a:r>
                <a:rPr lang="en-US" sz="1400" b="1" dirty="0">
                  <a:latin typeface="Calibri"/>
                  <a:ea typeface="SimSun" pitchFamily="2" charset="-122"/>
                </a:rPr>
                <a:t> PENGGANTIAN BALL VALVE RUMAH POMPA  </a:t>
              </a:r>
              <a:endParaRPr lang="en-US" sz="1400" b="1" dirty="0">
                <a:latin typeface="Tahoma" panose="020B0604030504040204" pitchFamily="34" charset="0"/>
                <a:ea typeface="Tahoma" panose="020B0604030504040204" pitchFamily="34" charset="0"/>
                <a:cs typeface="Tahoma" panose="020B0604030504040204" pitchFamily="34" charset="0"/>
              </a:endParaRPr>
            </a:p>
          </p:txBody>
        </p:sp>
      </p:grpSp>
      <p:sp>
        <p:nvSpPr>
          <p:cNvPr id="9" name="TextBox 109">
            <a:extLst>
              <a:ext uri="{FF2B5EF4-FFF2-40B4-BE49-F238E27FC236}">
                <a16:creationId xmlns:a16="http://schemas.microsoft.com/office/drawing/2014/main" id="{B34B4501-5A59-4336-B665-F3D6B4A0A79D}"/>
              </a:ext>
            </a:extLst>
          </p:cNvPr>
          <p:cNvSpPr txBox="1"/>
          <p:nvPr/>
        </p:nvSpPr>
        <p:spPr>
          <a:xfrm>
            <a:off x="3441680" y="1455568"/>
            <a:ext cx="7014550" cy="2406877"/>
          </a:xfrm>
          <a:prstGeom prst="rect">
            <a:avLst/>
          </a:prstGeom>
          <a:noFill/>
        </p:spPr>
        <p:txBody>
          <a:bodyPr wrap="square" rtlCol="0">
            <a:spAutoFit/>
          </a:bodyPr>
          <a:lstStyle/>
          <a:p>
            <a:pPr marL="171450" indent="-171450" fontAlgn="base">
              <a:lnSpc>
                <a:spcPct val="115000"/>
              </a:lnSpc>
              <a:buSzPts val="1400"/>
              <a:buFontTx/>
              <a:buChar char="-"/>
            </a:pPr>
            <a:r>
              <a:rPr lang="en-US" sz="1200" dirty="0" err="1">
                <a:latin typeface="Tahoma" panose="020B0604030504040204" pitchFamily="34" charset="0"/>
                <a:ea typeface="Tahoma" panose="020B0604030504040204" pitchFamily="34" charset="0"/>
                <a:cs typeface="Tahoma" panose="020B0604030504040204" pitchFamily="34" charset="0"/>
              </a:rPr>
              <a:t>Identifikasi</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terlebih</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dahulu</a:t>
            </a:r>
            <a:r>
              <a:rPr lang="en-US" sz="1200" dirty="0">
                <a:latin typeface="Tahoma" panose="020B0604030504040204" pitchFamily="34" charset="0"/>
                <a:ea typeface="Tahoma" panose="020B0604030504040204" pitchFamily="34" charset="0"/>
                <a:cs typeface="Tahoma" panose="020B0604030504040204" pitchFamily="34" charset="0"/>
              </a:rPr>
              <a:t> ball valve yang </a:t>
            </a:r>
            <a:r>
              <a:rPr lang="en-US" sz="1200" dirty="0" err="1">
                <a:latin typeface="Tahoma" panose="020B0604030504040204" pitchFamily="34" charset="0"/>
                <a:ea typeface="Tahoma" panose="020B0604030504040204" pitchFamily="34" charset="0"/>
                <a:cs typeface="Tahoma" panose="020B0604030504040204" pitchFamily="34" charset="0"/>
              </a:rPr>
              <a:t>akan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diganti</a:t>
            </a:r>
            <a:r>
              <a:rPr lang="en-US" sz="1200" dirty="0">
                <a:latin typeface="Tahoma" panose="020B0604030504040204" pitchFamily="34" charset="0"/>
                <a:ea typeface="Tahoma" panose="020B0604030504040204" pitchFamily="34" charset="0"/>
                <a:cs typeface="Tahoma" panose="020B0604030504040204" pitchFamily="34" charset="0"/>
              </a:rPr>
              <a:t> dan </a:t>
            </a:r>
            <a:r>
              <a:rPr lang="en-US" sz="1200" dirty="0" err="1">
                <a:latin typeface="Tahoma" panose="020B0604030504040204" pitchFamily="34" charset="0"/>
                <a:ea typeface="Tahoma" panose="020B0604030504040204" pitchFamily="34" charset="0"/>
                <a:cs typeface="Tahoma" panose="020B0604030504040204" pitchFamily="34" charset="0"/>
              </a:rPr>
              <a:t>pastikan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aman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sebelum</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dilakukan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penggantian</a:t>
            </a:r>
            <a:endParaRPr lang="en-US" sz="1200" dirty="0">
              <a:latin typeface="Tahoma" panose="020B0604030504040204" pitchFamily="34" charset="0"/>
              <a:ea typeface="Tahoma" panose="020B0604030504040204" pitchFamily="34" charset="0"/>
              <a:cs typeface="Tahoma" panose="020B0604030504040204" pitchFamily="34" charset="0"/>
            </a:endParaRPr>
          </a:p>
          <a:p>
            <a:pPr marL="171450" indent="-171450" fontAlgn="base">
              <a:lnSpc>
                <a:spcPct val="115000"/>
              </a:lnSpc>
              <a:buSzPts val="1400"/>
              <a:buFontTx/>
              <a:buChar char="-"/>
            </a:pPr>
            <a:r>
              <a:rPr lang="en-US" sz="1200" dirty="0" err="1">
                <a:latin typeface="Tahoma" panose="020B0604030504040204" pitchFamily="34" charset="0"/>
                <a:ea typeface="Tahoma" panose="020B0604030504040204" pitchFamily="34" charset="0"/>
                <a:cs typeface="Tahoma" panose="020B0604030504040204" pitchFamily="34" charset="0"/>
              </a:rPr>
              <a:t>Tutup</a:t>
            </a:r>
            <a:r>
              <a:rPr lang="en-US" sz="1200" dirty="0">
                <a:latin typeface="Tahoma" panose="020B0604030504040204" pitchFamily="34" charset="0"/>
                <a:ea typeface="Tahoma" panose="020B0604030504040204" pitchFamily="34" charset="0"/>
                <a:cs typeface="Tahoma" panose="020B0604030504040204" pitchFamily="34" charset="0"/>
              </a:rPr>
              <a:t> ball valve yang </a:t>
            </a:r>
            <a:r>
              <a:rPr lang="en-US" sz="1200" dirty="0" err="1">
                <a:latin typeface="Tahoma" panose="020B0604030504040204" pitchFamily="34" charset="0"/>
                <a:ea typeface="Tahoma" panose="020B0604030504040204" pitchFamily="34" charset="0"/>
                <a:cs typeface="Tahoma" panose="020B0604030504040204" pitchFamily="34" charset="0"/>
              </a:rPr>
              <a:t>akan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diganti</a:t>
            </a:r>
            <a:endParaRPr lang="en-US" sz="1200" dirty="0">
              <a:latin typeface="Tahoma" panose="020B0604030504040204" pitchFamily="34" charset="0"/>
              <a:ea typeface="Tahoma" panose="020B0604030504040204" pitchFamily="34" charset="0"/>
              <a:cs typeface="Tahoma" panose="020B0604030504040204" pitchFamily="34" charset="0"/>
            </a:endParaRPr>
          </a:p>
          <a:p>
            <a:pPr marL="171450" indent="-171450" fontAlgn="base">
              <a:lnSpc>
                <a:spcPct val="115000"/>
              </a:lnSpc>
              <a:buSzPts val="1400"/>
              <a:buFontTx/>
              <a:buChar char="-"/>
            </a:pPr>
            <a:r>
              <a:rPr lang="en-US" sz="1200" dirty="0" err="1">
                <a:latin typeface="Tahoma" panose="020B0604030504040204" pitchFamily="34" charset="0"/>
                <a:ea typeface="Tahoma" panose="020B0604030504040204" pitchFamily="34" charset="0"/>
                <a:cs typeface="Tahoma" panose="020B0604030504040204" pitchFamily="34" charset="0"/>
              </a:rPr>
              <a:t>Lakukan</a:t>
            </a:r>
            <a:r>
              <a:rPr lang="en-US" sz="1200" dirty="0">
                <a:latin typeface="Tahoma" panose="020B0604030504040204" pitchFamily="34" charset="0"/>
                <a:ea typeface="Tahoma" panose="020B0604030504040204" pitchFamily="34" charset="0"/>
                <a:cs typeface="Tahoma" panose="020B0604030504040204" pitchFamily="34" charset="0"/>
              </a:rPr>
              <a:t> unbolting (</a:t>
            </a:r>
            <a:r>
              <a:rPr lang="en-US" sz="1200" dirty="0" err="1">
                <a:latin typeface="Tahoma" panose="020B0604030504040204" pitchFamily="34" charset="0"/>
                <a:ea typeface="Tahoma" panose="020B0604030504040204" pitchFamily="34" charset="0"/>
                <a:cs typeface="Tahoma" panose="020B0604030504040204" pitchFamily="34" charset="0"/>
              </a:rPr>
              <a:t>pelepasan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dengan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hati</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hati</a:t>
            </a:r>
            <a:r>
              <a:rPr lang="en-US" sz="1200" dirty="0">
                <a:latin typeface="Tahoma" panose="020B0604030504040204" pitchFamily="34" charset="0"/>
                <a:ea typeface="Tahoma" panose="020B0604030504040204" pitchFamily="34" charset="0"/>
                <a:cs typeface="Tahoma" panose="020B0604030504040204" pitchFamily="34" charset="0"/>
              </a:rPr>
              <a:t> </a:t>
            </a:r>
          </a:p>
          <a:p>
            <a:pPr marL="171450" indent="-171450" fontAlgn="base">
              <a:lnSpc>
                <a:spcPct val="115000"/>
              </a:lnSpc>
              <a:buSzPts val="1400"/>
              <a:buFontTx/>
              <a:buChar char="-"/>
            </a:pPr>
            <a:r>
              <a:rPr lang="en-US" sz="1200" dirty="0" err="1">
                <a:latin typeface="Tahoma" panose="020B0604030504040204" pitchFamily="34" charset="0"/>
                <a:ea typeface="Tahoma" panose="020B0604030504040204" pitchFamily="34" charset="0"/>
                <a:cs typeface="Tahoma" panose="020B0604030504040204" pitchFamily="34" charset="0"/>
              </a:rPr>
              <a:t>Pastikan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penggunaan</a:t>
            </a:r>
            <a:r>
              <a:rPr lang="en-US" sz="1200" dirty="0">
                <a:latin typeface="Tahoma" panose="020B0604030504040204" pitchFamily="34" charset="0"/>
                <a:ea typeface="Tahoma" panose="020B0604030504040204" pitchFamily="34" charset="0"/>
                <a:cs typeface="Tahoma" panose="020B0604030504040204" pitchFamily="34" charset="0"/>
              </a:rPr>
              <a:t> ball valve, gasket </a:t>
            </a:r>
            <a:r>
              <a:rPr lang="en-US" sz="1200" dirty="0" err="1">
                <a:latin typeface="Tahoma" panose="020B0604030504040204" pitchFamily="34" charset="0"/>
                <a:ea typeface="Tahoma" panose="020B0604030504040204" pitchFamily="34" charset="0"/>
                <a:cs typeface="Tahoma" panose="020B0604030504040204" pitchFamily="34" charset="0"/>
              </a:rPr>
              <a:t>maupun</a:t>
            </a:r>
            <a:r>
              <a:rPr lang="en-US" sz="1200" dirty="0">
                <a:latin typeface="Tahoma" panose="020B0604030504040204" pitchFamily="34" charset="0"/>
                <a:ea typeface="Tahoma" panose="020B0604030504040204" pitchFamily="34" charset="0"/>
                <a:cs typeface="Tahoma" panose="020B0604030504040204" pitchFamily="34" charset="0"/>
              </a:rPr>
              <a:t> stud bolt </a:t>
            </a:r>
            <a:r>
              <a:rPr lang="en-US" sz="1200" dirty="0" err="1">
                <a:latin typeface="Tahoma" panose="020B0604030504040204" pitchFamily="34" charset="0"/>
                <a:ea typeface="Tahoma" panose="020B0604030504040204" pitchFamily="34" charset="0"/>
                <a:cs typeface="Tahoma" panose="020B0604030504040204" pitchFamily="34" charset="0"/>
              </a:rPr>
              <a:t>sudah</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menggunakan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spek</a:t>
            </a:r>
            <a:r>
              <a:rPr lang="en-US" sz="1200" dirty="0">
                <a:latin typeface="Tahoma" panose="020B0604030504040204" pitchFamily="34" charset="0"/>
                <a:ea typeface="Tahoma" panose="020B0604030504040204" pitchFamily="34" charset="0"/>
                <a:cs typeface="Tahoma" panose="020B0604030504040204" pitchFamily="34" charset="0"/>
              </a:rPr>
              <a:t> yang </a:t>
            </a:r>
            <a:r>
              <a:rPr lang="en-US" sz="1200" dirty="0" err="1">
                <a:latin typeface="Tahoma" panose="020B0604030504040204" pitchFamily="34" charset="0"/>
                <a:ea typeface="Tahoma" panose="020B0604030504040204" pitchFamily="34" charset="0"/>
                <a:cs typeface="Tahoma" panose="020B0604030504040204" pitchFamily="34" charset="0"/>
              </a:rPr>
              <a:t>telah</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ditentukan</a:t>
            </a:r>
            <a:endParaRPr lang="en-US" sz="1200" dirty="0">
              <a:latin typeface="Tahoma" panose="020B0604030504040204" pitchFamily="34" charset="0"/>
              <a:ea typeface="Tahoma" panose="020B0604030504040204" pitchFamily="34" charset="0"/>
              <a:cs typeface="Tahoma" panose="020B0604030504040204" pitchFamily="34" charset="0"/>
            </a:endParaRPr>
          </a:p>
          <a:p>
            <a:pPr marL="171450" indent="-171450" fontAlgn="base">
              <a:lnSpc>
                <a:spcPct val="115000"/>
              </a:lnSpc>
              <a:buSzPts val="1400"/>
              <a:buFontTx/>
              <a:buChar char="-"/>
            </a:pPr>
            <a:r>
              <a:rPr lang="en-US" sz="1200" dirty="0">
                <a:latin typeface="Tahoma" panose="020B0604030504040204" pitchFamily="34" charset="0"/>
                <a:ea typeface="Tahoma" panose="020B0604030504040204" pitchFamily="34" charset="0"/>
                <a:cs typeface="Tahoma" panose="020B0604030504040204" pitchFamily="34" charset="0"/>
              </a:rPr>
              <a:t>Pasang ball valve yang </a:t>
            </a:r>
            <a:r>
              <a:rPr lang="en-US" sz="1200" dirty="0" err="1">
                <a:latin typeface="Tahoma" panose="020B0604030504040204" pitchFamily="34" charset="0"/>
                <a:ea typeface="Tahoma" panose="020B0604030504040204" pitchFamily="34" charset="0"/>
                <a:cs typeface="Tahoma" panose="020B0604030504040204" pitchFamily="34" charset="0"/>
              </a:rPr>
              <a:t>baru</a:t>
            </a:r>
            <a:endParaRPr lang="en-US" sz="1200" dirty="0">
              <a:latin typeface="Tahoma" panose="020B0604030504040204" pitchFamily="34" charset="0"/>
              <a:ea typeface="Tahoma" panose="020B0604030504040204" pitchFamily="34" charset="0"/>
              <a:cs typeface="Tahoma" panose="020B0604030504040204" pitchFamily="34" charset="0"/>
            </a:endParaRPr>
          </a:p>
          <a:p>
            <a:pPr marL="171450" indent="-171450" fontAlgn="base">
              <a:lnSpc>
                <a:spcPct val="115000"/>
              </a:lnSpc>
              <a:buSzPts val="1400"/>
              <a:buFontTx/>
              <a:buChar char="-"/>
            </a:pP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Pekerjaan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pemasangan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dan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setelahnya</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harus</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selalu</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komunikasi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dan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koordinasi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dengan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pihak</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lokasi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area</a:t>
            </a:r>
            <a:endParaRPr lang="en-US" sz="1200" dirty="0">
              <a:latin typeface="Tahoma" panose="020B0604030504040204" pitchFamily="34" charset="0"/>
              <a:ea typeface="Tahoma" panose="020B0604030504040204" pitchFamily="34" charset="0"/>
              <a:cs typeface="Tahoma" panose="020B0604030504040204" pitchFamily="34" charset="0"/>
            </a:endParaRPr>
          </a:p>
          <a:p>
            <a:pPr marL="628650" lvl="1" indent="-171450" fontAlgn="base">
              <a:lnSpc>
                <a:spcPct val="115000"/>
              </a:lnSpc>
              <a:buSzPts val="1400"/>
              <a:buFont typeface="Arial" panose="020B0604020202020204" pitchFamily="34" charset="0"/>
              <a:buChar char="•"/>
            </a:pPr>
            <a:endPar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a:p>
            <a:pPr fontAlgn="base">
              <a:lnSpc>
                <a:spcPct val="115000"/>
              </a:lnSpc>
              <a:buSzPts val="1400"/>
            </a:pPr>
            <a:endParaRPr lang="en-US" sz="1200" dirty="0">
              <a:latin typeface="Tahoma" panose="020B0604030504040204" pitchFamily="34" charset="0"/>
              <a:ea typeface="Tahoma" panose="020B0604030504040204" pitchFamily="34" charset="0"/>
              <a:cs typeface="Tahoma" panose="020B0604030504040204" pitchFamily="34" charset="0"/>
            </a:endParaRPr>
          </a:p>
        </p:txBody>
      </p:sp>
      <p:grpSp>
        <p:nvGrpSpPr>
          <p:cNvPr id="10" name="Grup 73">
            <a:extLst>
              <a:ext uri="{FF2B5EF4-FFF2-40B4-BE49-F238E27FC236}">
                <a16:creationId xmlns:a16="http://schemas.microsoft.com/office/drawing/2014/main" id="{FF993530-6351-41AA-81C5-C8D33723F5E9}"/>
              </a:ext>
            </a:extLst>
          </p:cNvPr>
          <p:cNvGrpSpPr/>
          <p:nvPr/>
        </p:nvGrpSpPr>
        <p:grpSpPr>
          <a:xfrm>
            <a:off x="239206" y="6309321"/>
            <a:ext cx="2832458" cy="354841"/>
            <a:chOff x="114776" y="6421683"/>
            <a:chExt cx="2832458" cy="354841"/>
          </a:xfrm>
        </p:grpSpPr>
        <p:sp>
          <p:nvSpPr>
            <p:cNvPr id="11" name="TextBox 10">
              <a:extLst>
                <a:ext uri="{FF2B5EF4-FFF2-40B4-BE49-F238E27FC236}">
                  <a16:creationId xmlns:a16="http://schemas.microsoft.com/office/drawing/2014/main" id="{30B03B2C-F0BD-4AE7-B520-3A4CED720E1D}"/>
                </a:ext>
              </a:extLst>
            </p:cNvPr>
            <p:cNvSpPr txBox="1"/>
            <p:nvPr/>
          </p:nvSpPr>
          <p:spPr>
            <a:xfrm>
              <a:off x="271269" y="6473331"/>
              <a:ext cx="2675965" cy="261610"/>
            </a:xfrm>
            <a:prstGeom prst="rect">
              <a:avLst/>
            </a:prstGeom>
            <a:noFill/>
          </p:spPr>
          <p:txBody>
            <a:bodyPr wrap="square" rtlCol="0">
              <a:spAutoFit/>
            </a:bodyPr>
            <a:lstStyle/>
            <a:p>
              <a:r>
                <a:rPr lang="id-ID" sz="1100" b="1" dirty="0">
                  <a:solidFill>
                    <a:srgbClr val="FF0000"/>
                  </a:solidFill>
                </a:rPr>
                <a:t>   </a:t>
              </a:r>
              <a:r>
                <a:rPr lang="en-US" sz="1000" b="1" dirty="0">
                  <a:solidFill>
                    <a:srgbClr val="FF0000"/>
                  </a:solidFill>
                </a:rPr>
                <a:t>PT. </a:t>
              </a:r>
              <a:r>
                <a:rPr lang="id-ID" sz="1000" b="1" dirty="0">
                  <a:solidFill>
                    <a:srgbClr val="FF0000"/>
                  </a:solidFill>
                </a:rPr>
                <a:t>PANGESTU ANUGERAH ABADI</a:t>
              </a:r>
              <a:endParaRPr lang="id-ID" sz="1100" dirty="0">
                <a:solidFill>
                  <a:srgbClr val="FF0000"/>
                </a:solidFill>
              </a:endParaRPr>
            </a:p>
          </p:txBody>
        </p:sp>
        <p:sp>
          <p:nvSpPr>
            <p:cNvPr id="12" name="Parallelogram 11">
              <a:extLst>
                <a:ext uri="{FF2B5EF4-FFF2-40B4-BE49-F238E27FC236}">
                  <a16:creationId xmlns:a16="http://schemas.microsoft.com/office/drawing/2014/main" id="{9C049C9E-3EAC-416F-9C90-01D0C3114781}"/>
                </a:ext>
              </a:extLst>
            </p:cNvPr>
            <p:cNvSpPr/>
            <p:nvPr/>
          </p:nvSpPr>
          <p:spPr>
            <a:xfrm>
              <a:off x="114776" y="6421683"/>
              <a:ext cx="324023" cy="354841"/>
            </a:xfrm>
            <a:prstGeom prst="parallelogram">
              <a:avLst>
                <a:gd name="adj" fmla="val 64317"/>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20" name="Group 19">
            <a:extLst>
              <a:ext uri="{FF2B5EF4-FFF2-40B4-BE49-F238E27FC236}">
                <a16:creationId xmlns:a16="http://schemas.microsoft.com/office/drawing/2014/main" id="{584962E1-3A59-46BB-877A-A4A20E6C1041}"/>
              </a:ext>
            </a:extLst>
          </p:cNvPr>
          <p:cNvGrpSpPr/>
          <p:nvPr/>
        </p:nvGrpSpPr>
        <p:grpSpPr>
          <a:xfrm>
            <a:off x="-28280" y="564125"/>
            <a:ext cx="11421639" cy="5741470"/>
            <a:chOff x="-25810" y="558265"/>
            <a:chExt cx="11421639" cy="5741470"/>
          </a:xfrm>
        </p:grpSpPr>
        <p:sp>
          <p:nvSpPr>
            <p:cNvPr id="21" name="Rectangle 20">
              <a:extLst>
                <a:ext uri="{FF2B5EF4-FFF2-40B4-BE49-F238E27FC236}">
                  <a16:creationId xmlns:a16="http://schemas.microsoft.com/office/drawing/2014/main" id="{1969DFAA-E78C-4873-9E06-B41F5F5D5734}"/>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96CA0007-91CB-4E49-B1CF-E5F37152ABF7}"/>
                </a:ext>
              </a:extLst>
            </p:cNvPr>
            <p:cNvGrpSpPr/>
            <p:nvPr/>
          </p:nvGrpSpPr>
          <p:grpSpPr>
            <a:xfrm>
              <a:off x="-25810" y="567070"/>
              <a:ext cx="543980" cy="5732665"/>
              <a:chOff x="-62386" y="567070"/>
              <a:chExt cx="543980" cy="5732665"/>
            </a:xfrm>
          </p:grpSpPr>
          <p:sp>
            <p:nvSpPr>
              <p:cNvPr id="24" name="Oval 23">
                <a:extLst>
                  <a:ext uri="{FF2B5EF4-FFF2-40B4-BE49-F238E27FC236}">
                    <a16:creationId xmlns:a16="http://schemas.microsoft.com/office/drawing/2014/main" id="{65CC1213-90B8-4EA9-8BA4-EDBA4A00FB0C}"/>
                  </a:ext>
                </a:extLst>
              </p:cNvPr>
              <p:cNvSpPr/>
              <p:nvPr/>
            </p:nvSpPr>
            <p:spPr>
              <a:xfrm>
                <a:off x="-15044" y="2864718"/>
                <a:ext cx="496638" cy="114300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Top Corners Snipped 24">
                <a:extLst>
                  <a:ext uri="{FF2B5EF4-FFF2-40B4-BE49-F238E27FC236}">
                    <a16:creationId xmlns:a16="http://schemas.microsoft.com/office/drawing/2014/main" id="{0FBAFFD8-6924-4C05-A9DD-F68D9070ECDB}"/>
                  </a:ext>
                </a:extLst>
              </p:cNvPr>
              <p:cNvSpPr/>
              <p:nvPr/>
            </p:nvSpPr>
            <p:spPr>
              <a:xfrm rot="5400000">
                <a:off x="-1743908" y="3275527"/>
                <a:ext cx="3794762" cy="306946"/>
              </a:xfrm>
              <a:prstGeom prst="snip2SameRect">
                <a:avLst/>
              </a:prstGeom>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4F4C3BF3-FBAE-41CB-B7EF-1697C2254DF1}"/>
                  </a:ext>
                </a:extLst>
              </p:cNvPr>
              <p:cNvSpPr txBox="1"/>
              <p:nvPr/>
            </p:nvSpPr>
            <p:spPr>
              <a:xfrm rot="16200000">
                <a:off x="-947568" y="3251856"/>
                <a:ext cx="2139696" cy="369332"/>
              </a:xfrm>
              <a:prstGeom prst="rect">
                <a:avLst/>
              </a:prstGeom>
              <a:noFill/>
              <a:ln>
                <a:noFill/>
              </a:ln>
            </p:spPr>
            <p:txBody>
              <a:bodyPr wrap="square" rtlCol="0" anchor="ctr">
                <a:spAutoFit/>
              </a:bodyPr>
              <a:lstStyle/>
              <a:p>
                <a:pPr algn="ctr"/>
                <a:r>
                  <a:rPr lang="en-US" dirty="0">
                    <a:solidFill>
                      <a:schemeClr val="bg1"/>
                    </a:solidFill>
                  </a:rPr>
                  <a:t>OVERVIEW PROJECT</a:t>
                </a:r>
              </a:p>
            </p:txBody>
          </p:sp>
          <p:cxnSp>
            <p:nvCxnSpPr>
              <p:cNvPr id="27" name="Straight Connector 26">
                <a:extLst>
                  <a:ext uri="{FF2B5EF4-FFF2-40B4-BE49-F238E27FC236}">
                    <a16:creationId xmlns:a16="http://schemas.microsoft.com/office/drawing/2014/main" id="{82B9DA83-908A-408D-9FE7-05C009619369}"/>
                  </a:ext>
                </a:extLst>
              </p:cNvPr>
              <p:cNvCxnSpPr>
                <a:cxnSpLocks/>
              </p:cNvCxnSpPr>
              <p:nvPr/>
            </p:nvCxnSpPr>
            <p:spPr>
              <a:xfrm>
                <a:off x="-7088" y="567070"/>
                <a:ext cx="7088" cy="5732665"/>
              </a:xfrm>
              <a:prstGeom prst="line">
                <a:avLst/>
              </a:prstGeom>
              <a:ln w="50800"/>
            </p:spPr>
            <p:style>
              <a:lnRef idx="1">
                <a:schemeClr val="accent1"/>
              </a:lnRef>
              <a:fillRef idx="0">
                <a:schemeClr val="accent1"/>
              </a:fillRef>
              <a:effectRef idx="0">
                <a:schemeClr val="accent1"/>
              </a:effectRef>
              <a:fontRef idx="minor">
                <a:schemeClr val="tx1"/>
              </a:fontRef>
            </p:style>
          </p:cxnSp>
        </p:grpSp>
        <p:sp>
          <p:nvSpPr>
            <p:cNvPr id="23" name="Rectangle 22">
              <a:extLst>
                <a:ext uri="{FF2B5EF4-FFF2-40B4-BE49-F238E27FC236}">
                  <a16:creationId xmlns:a16="http://schemas.microsoft.com/office/drawing/2014/main" id="{57001EBA-B12C-45B2-972A-B5FFDFE263E8}"/>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4B30CE7D-F0B8-4E5A-B4A2-BF4ACBB48E25}"/>
              </a:ext>
            </a:extLst>
          </p:cNvPr>
          <p:cNvGrpSpPr/>
          <p:nvPr/>
        </p:nvGrpSpPr>
        <p:grpSpPr>
          <a:xfrm>
            <a:off x="395699" y="619499"/>
            <a:ext cx="11421639" cy="5741470"/>
            <a:chOff x="-25810" y="558265"/>
            <a:chExt cx="11421639" cy="5741470"/>
          </a:xfrm>
        </p:grpSpPr>
        <p:sp>
          <p:nvSpPr>
            <p:cNvPr id="29" name="Rectangle 28">
              <a:extLst>
                <a:ext uri="{FF2B5EF4-FFF2-40B4-BE49-F238E27FC236}">
                  <a16:creationId xmlns:a16="http://schemas.microsoft.com/office/drawing/2014/main" id="{7B70FA30-4C10-418A-BEF0-4EDDA1C095A1}"/>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5241E5CA-96D2-4CBC-A0FC-EC3DB974C2FF}"/>
                </a:ext>
              </a:extLst>
            </p:cNvPr>
            <p:cNvGrpSpPr/>
            <p:nvPr/>
          </p:nvGrpSpPr>
          <p:grpSpPr>
            <a:xfrm>
              <a:off x="-25810" y="567070"/>
              <a:ext cx="543980" cy="5732665"/>
              <a:chOff x="-62386" y="567070"/>
              <a:chExt cx="543980" cy="5732665"/>
            </a:xfrm>
          </p:grpSpPr>
          <p:sp>
            <p:nvSpPr>
              <p:cNvPr id="32" name="Oval 31">
                <a:extLst>
                  <a:ext uri="{FF2B5EF4-FFF2-40B4-BE49-F238E27FC236}">
                    <a16:creationId xmlns:a16="http://schemas.microsoft.com/office/drawing/2014/main" id="{1F43ED23-732E-4868-8575-62DD4760CFF5}"/>
                  </a:ext>
                </a:extLst>
              </p:cNvPr>
              <p:cNvSpPr/>
              <p:nvPr/>
            </p:nvSpPr>
            <p:spPr>
              <a:xfrm>
                <a:off x="-15044" y="2864718"/>
                <a:ext cx="496638" cy="114300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Top Corners Snipped 32">
                <a:extLst>
                  <a:ext uri="{FF2B5EF4-FFF2-40B4-BE49-F238E27FC236}">
                    <a16:creationId xmlns:a16="http://schemas.microsoft.com/office/drawing/2014/main" id="{EDC06D76-8E70-4FC4-953A-8B0998821E9D}"/>
                  </a:ext>
                </a:extLst>
              </p:cNvPr>
              <p:cNvSpPr/>
              <p:nvPr/>
            </p:nvSpPr>
            <p:spPr>
              <a:xfrm rot="5400000">
                <a:off x="-1743908" y="3275527"/>
                <a:ext cx="3794762" cy="306946"/>
              </a:xfrm>
              <a:prstGeom prst="snip2SameRect">
                <a:avLst/>
              </a:prstGeom>
              <a:solidFill>
                <a:schemeClr val="accent2">
                  <a:lumMod val="60000"/>
                  <a:lumOff val="4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a:extLst>
                  <a:ext uri="{FF2B5EF4-FFF2-40B4-BE49-F238E27FC236}">
                    <a16:creationId xmlns:a16="http://schemas.microsoft.com/office/drawing/2014/main" id="{9144A341-A858-4C0B-9FA8-1576C656A6AE}"/>
                  </a:ext>
                </a:extLst>
              </p:cNvPr>
              <p:cNvSpPr txBox="1"/>
              <p:nvPr/>
            </p:nvSpPr>
            <p:spPr>
              <a:xfrm rot="16200000">
                <a:off x="-947568" y="3251856"/>
                <a:ext cx="2139696" cy="369332"/>
              </a:xfrm>
              <a:prstGeom prst="rect">
                <a:avLst/>
              </a:prstGeom>
              <a:noFill/>
              <a:ln>
                <a:noFill/>
              </a:ln>
            </p:spPr>
            <p:txBody>
              <a:bodyPr wrap="square" rtlCol="0" anchor="ctr">
                <a:spAutoFit/>
              </a:bodyPr>
              <a:lstStyle/>
              <a:p>
                <a:pPr algn="ctr"/>
                <a:r>
                  <a:rPr lang="en-US" dirty="0">
                    <a:solidFill>
                      <a:schemeClr val="bg1"/>
                    </a:solidFill>
                  </a:rPr>
                  <a:t>PROGRESS</a:t>
                </a:r>
              </a:p>
            </p:txBody>
          </p:sp>
          <p:cxnSp>
            <p:nvCxnSpPr>
              <p:cNvPr id="35" name="Straight Connector 34">
                <a:extLst>
                  <a:ext uri="{FF2B5EF4-FFF2-40B4-BE49-F238E27FC236}">
                    <a16:creationId xmlns:a16="http://schemas.microsoft.com/office/drawing/2014/main" id="{76F5D86D-9ABF-47FF-A5AC-EF9F9839CE67}"/>
                  </a:ext>
                </a:extLst>
              </p:cNvPr>
              <p:cNvCxnSpPr>
                <a:cxnSpLocks/>
              </p:cNvCxnSpPr>
              <p:nvPr/>
            </p:nvCxnSpPr>
            <p:spPr>
              <a:xfrm>
                <a:off x="-7088" y="567070"/>
                <a:ext cx="7088" cy="5732665"/>
              </a:xfrm>
              <a:prstGeom prst="line">
                <a:avLst/>
              </a:prstGeom>
              <a:ln w="508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31" name="Rectangle 30">
              <a:extLst>
                <a:ext uri="{FF2B5EF4-FFF2-40B4-BE49-F238E27FC236}">
                  <a16:creationId xmlns:a16="http://schemas.microsoft.com/office/drawing/2014/main" id="{1AEADAA2-AD98-4C05-A5EB-9B04CD557A4D}"/>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7" name="Picture 36">
            <a:extLst>
              <a:ext uri="{FF2B5EF4-FFF2-40B4-BE49-F238E27FC236}">
                <a16:creationId xmlns:a16="http://schemas.microsoft.com/office/drawing/2014/main" id="{E640D41A-43EE-4B9E-9920-2AB958DB7D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4756" y="27198"/>
            <a:ext cx="1928572" cy="849085"/>
          </a:xfrm>
          <a:prstGeom prst="rect">
            <a:avLst/>
          </a:prstGeom>
        </p:spPr>
      </p:pic>
      <p:sp>
        <p:nvSpPr>
          <p:cNvPr id="38" name="Freeform: Shape 114">
            <a:extLst>
              <a:ext uri="{FF2B5EF4-FFF2-40B4-BE49-F238E27FC236}">
                <a16:creationId xmlns:a16="http://schemas.microsoft.com/office/drawing/2014/main" id="{F3EE1794-F0A0-42E3-8A27-487035F6A158}"/>
              </a:ext>
            </a:extLst>
          </p:cNvPr>
          <p:cNvSpPr/>
          <p:nvPr/>
        </p:nvSpPr>
        <p:spPr>
          <a:xfrm>
            <a:off x="2339646" y="1407061"/>
            <a:ext cx="844820" cy="844820"/>
          </a:xfrm>
          <a:custGeom>
            <a:avLst/>
            <a:gdLst>
              <a:gd name="connsiteX0" fmla="*/ 1126427 w 1126426"/>
              <a:gd name="connsiteY0" fmla="*/ 563213 h 1126426"/>
              <a:gd name="connsiteX1" fmla="*/ 563213 w 1126426"/>
              <a:gd name="connsiteY1" fmla="*/ 1126427 h 1126426"/>
              <a:gd name="connsiteX2" fmla="*/ 0 w 1126426"/>
              <a:gd name="connsiteY2" fmla="*/ 563213 h 1126426"/>
              <a:gd name="connsiteX3" fmla="*/ 563213 w 1126426"/>
              <a:gd name="connsiteY3" fmla="*/ 0 h 1126426"/>
              <a:gd name="connsiteX4" fmla="*/ 1126427 w 1126426"/>
              <a:gd name="connsiteY4" fmla="*/ 563213 h 1126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426" h="1126426">
                <a:moveTo>
                  <a:pt x="1126427" y="563213"/>
                </a:moveTo>
                <a:cubicBezTo>
                  <a:pt x="1126427" y="874267"/>
                  <a:pt x="874268" y="1126427"/>
                  <a:pt x="563213" y="1126427"/>
                </a:cubicBezTo>
                <a:cubicBezTo>
                  <a:pt x="252159" y="1126427"/>
                  <a:pt x="0" y="874267"/>
                  <a:pt x="0" y="563213"/>
                </a:cubicBezTo>
                <a:cubicBezTo>
                  <a:pt x="0" y="252159"/>
                  <a:pt x="252159" y="0"/>
                  <a:pt x="563213" y="0"/>
                </a:cubicBezTo>
                <a:cubicBezTo>
                  <a:pt x="874267" y="0"/>
                  <a:pt x="1126427" y="252159"/>
                  <a:pt x="1126427" y="563213"/>
                </a:cubicBezTo>
                <a:close/>
              </a:path>
            </a:pathLst>
          </a:custGeom>
          <a:noFill/>
          <a:ln w="66590" cap="flat">
            <a:gradFill flip="none" rotWithShape="1">
              <a:gsLst>
                <a:gs pos="16000">
                  <a:srgbClr val="484848"/>
                </a:gs>
                <a:gs pos="86000">
                  <a:schemeClr val="accent2"/>
                </a:gs>
              </a:gsLst>
              <a:lin ang="18900000" scaled="1"/>
              <a:tileRect/>
            </a:gradFill>
            <a:prstDash val="solid"/>
            <a:miter/>
          </a:ln>
        </p:spPr>
        <p:txBody>
          <a:bodyPr rtlCol="0" anchor="ctr"/>
          <a:lstStyle/>
          <a:p>
            <a:pPr defTabSz="685800"/>
            <a:endParaRPr lang="en-US" sz="1350" dirty="0">
              <a:latin typeface="Calibri" panose="020F0502020204030204"/>
            </a:endParaRPr>
          </a:p>
        </p:txBody>
      </p:sp>
      <p:sp>
        <p:nvSpPr>
          <p:cNvPr id="39" name="Freeform: Shape 112">
            <a:extLst>
              <a:ext uri="{FF2B5EF4-FFF2-40B4-BE49-F238E27FC236}">
                <a16:creationId xmlns:a16="http://schemas.microsoft.com/office/drawing/2014/main" id="{E931DB5F-CF0F-4B11-9D9F-6E2A6D8AAB9C}"/>
              </a:ext>
            </a:extLst>
          </p:cNvPr>
          <p:cNvSpPr/>
          <p:nvPr/>
        </p:nvSpPr>
        <p:spPr>
          <a:xfrm>
            <a:off x="2481236" y="1548650"/>
            <a:ext cx="561641" cy="561641"/>
          </a:xfrm>
          <a:custGeom>
            <a:avLst/>
            <a:gdLst>
              <a:gd name="connsiteX0" fmla="*/ 748855 w 748855"/>
              <a:gd name="connsiteY0" fmla="*/ 374428 h 748855"/>
              <a:gd name="connsiteX1" fmla="*/ 374428 w 748855"/>
              <a:gd name="connsiteY1" fmla="*/ 748856 h 748855"/>
              <a:gd name="connsiteX2" fmla="*/ 0 w 748855"/>
              <a:gd name="connsiteY2" fmla="*/ 374428 h 748855"/>
              <a:gd name="connsiteX3" fmla="*/ 374428 w 748855"/>
              <a:gd name="connsiteY3" fmla="*/ 0 h 748855"/>
              <a:gd name="connsiteX4" fmla="*/ 748855 w 748855"/>
              <a:gd name="connsiteY4" fmla="*/ 374428 h 748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855" h="748855">
                <a:moveTo>
                  <a:pt x="748855" y="374428"/>
                </a:moveTo>
                <a:cubicBezTo>
                  <a:pt x="748855" y="581219"/>
                  <a:pt x="581218" y="748856"/>
                  <a:pt x="374428" y="748856"/>
                </a:cubicBezTo>
                <a:cubicBezTo>
                  <a:pt x="167637" y="748856"/>
                  <a:pt x="0" y="581219"/>
                  <a:pt x="0" y="374428"/>
                </a:cubicBezTo>
                <a:cubicBezTo>
                  <a:pt x="0" y="167637"/>
                  <a:pt x="167637" y="0"/>
                  <a:pt x="374428" y="0"/>
                </a:cubicBezTo>
                <a:cubicBezTo>
                  <a:pt x="581219" y="0"/>
                  <a:pt x="748855" y="167637"/>
                  <a:pt x="748855" y="374428"/>
                </a:cubicBezTo>
                <a:close/>
              </a:path>
            </a:pathLst>
          </a:custGeom>
          <a:gradFill>
            <a:gsLst>
              <a:gs pos="0">
                <a:schemeClr val="accent2"/>
              </a:gs>
              <a:gs pos="100000">
                <a:schemeClr val="accent2">
                  <a:lumMod val="75000"/>
                </a:schemeClr>
              </a:gs>
            </a:gsLst>
            <a:lin ang="0" scaled="0"/>
          </a:gradFill>
          <a:ln w="9525" cap="flat">
            <a:noFill/>
            <a:prstDash val="solid"/>
            <a:miter/>
          </a:ln>
          <a:effectLst>
            <a:outerShdw blurRad="50800" dist="38100" dir="2700000" algn="tl" rotWithShape="0">
              <a:prstClr val="black">
                <a:alpha val="40000"/>
              </a:prstClr>
            </a:outerShdw>
          </a:effectLst>
        </p:spPr>
        <p:txBody>
          <a:bodyPr rtlCol="0" anchor="ctr"/>
          <a:lstStyle/>
          <a:p>
            <a:pPr algn="ctr" defTabSz="685800"/>
            <a:r>
              <a:rPr lang="en-US" sz="1350" b="1" dirty="0">
                <a:latin typeface="Calibri" panose="020F0502020204030204"/>
              </a:rPr>
              <a:t>01</a:t>
            </a:r>
          </a:p>
        </p:txBody>
      </p:sp>
      <p:grpSp>
        <p:nvGrpSpPr>
          <p:cNvPr id="40" name="Grup 68">
            <a:extLst>
              <a:ext uri="{FF2B5EF4-FFF2-40B4-BE49-F238E27FC236}">
                <a16:creationId xmlns:a16="http://schemas.microsoft.com/office/drawing/2014/main" id="{E785C5A5-44D2-4B23-92CF-452D90D3A551}"/>
              </a:ext>
            </a:extLst>
          </p:cNvPr>
          <p:cNvGrpSpPr/>
          <p:nvPr/>
        </p:nvGrpSpPr>
        <p:grpSpPr>
          <a:xfrm>
            <a:off x="1550049" y="2554703"/>
            <a:ext cx="1666208" cy="1666209"/>
            <a:chOff x="707757" y="2706962"/>
            <a:chExt cx="1666208" cy="1666209"/>
          </a:xfrm>
        </p:grpSpPr>
        <p:sp>
          <p:nvSpPr>
            <p:cNvPr id="41" name="Freeform: Shape 92">
              <a:extLst>
                <a:ext uri="{FF2B5EF4-FFF2-40B4-BE49-F238E27FC236}">
                  <a16:creationId xmlns:a16="http://schemas.microsoft.com/office/drawing/2014/main" id="{0E4066D2-6187-40D2-8000-1B22BE857CA3}"/>
                </a:ext>
              </a:extLst>
            </p:cNvPr>
            <p:cNvSpPr/>
            <p:nvPr/>
          </p:nvSpPr>
          <p:spPr>
            <a:xfrm>
              <a:off x="879634" y="2878842"/>
              <a:ext cx="1322450" cy="1322452"/>
            </a:xfrm>
            <a:custGeom>
              <a:avLst/>
              <a:gdLst>
                <a:gd name="connsiteX0" fmla="*/ 1763268 w 1763267"/>
                <a:gd name="connsiteY0" fmla="*/ 881634 h 1763268"/>
                <a:gd name="connsiteX1" fmla="*/ 881634 w 1763267"/>
                <a:gd name="connsiteY1" fmla="*/ 1763268 h 1763268"/>
                <a:gd name="connsiteX2" fmla="*/ 0 w 1763267"/>
                <a:gd name="connsiteY2" fmla="*/ 881634 h 1763268"/>
                <a:gd name="connsiteX3" fmla="*/ 881634 w 1763267"/>
                <a:gd name="connsiteY3" fmla="*/ 0 h 1763268"/>
                <a:gd name="connsiteX4" fmla="*/ 1763268 w 1763267"/>
                <a:gd name="connsiteY4" fmla="*/ 881634 h 1763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3267" h="1763268">
                  <a:moveTo>
                    <a:pt x="1763268" y="881634"/>
                  </a:moveTo>
                  <a:cubicBezTo>
                    <a:pt x="1763268" y="1368547"/>
                    <a:pt x="1368547" y="1763268"/>
                    <a:pt x="881634" y="1763268"/>
                  </a:cubicBezTo>
                  <a:cubicBezTo>
                    <a:pt x="394721" y="1763268"/>
                    <a:pt x="0" y="1368547"/>
                    <a:pt x="0" y="881634"/>
                  </a:cubicBezTo>
                  <a:cubicBezTo>
                    <a:pt x="0" y="394721"/>
                    <a:pt x="394721" y="0"/>
                    <a:pt x="881634" y="0"/>
                  </a:cubicBezTo>
                  <a:cubicBezTo>
                    <a:pt x="1368547" y="0"/>
                    <a:pt x="1763268" y="394721"/>
                    <a:pt x="1763268" y="881634"/>
                  </a:cubicBezTo>
                  <a:close/>
                </a:path>
              </a:pathLst>
            </a:custGeom>
            <a:solidFill>
              <a:srgbClr val="484848"/>
            </a:solidFill>
            <a:ln w="9525" cap="flat">
              <a:noFill/>
              <a:prstDash val="solid"/>
              <a:miter/>
            </a:ln>
            <a:effectLst>
              <a:outerShdw blurRad="152400" dist="101600" dir="2700000" algn="tl" rotWithShape="0">
                <a:prstClr val="black">
                  <a:alpha val="40000"/>
                </a:prstClr>
              </a:outerShdw>
            </a:effectLst>
          </p:spPr>
          <p:txBody>
            <a:bodyPr rtlCol="0" anchor="ctr"/>
            <a:lstStyle/>
            <a:p>
              <a:pPr algn="ctr"/>
              <a:r>
                <a:rPr lang="en-US" sz="1200" b="1" dirty="0">
                  <a:solidFill>
                    <a:srgbClr val="FFFFFF"/>
                  </a:solidFill>
                  <a:latin typeface="Calibri"/>
                  <a:ea typeface="SimSun" pitchFamily="2" charset="-122"/>
                </a:rPr>
                <a:t> PENGGANTIAN BALL VALVE RUMAH POMPA  </a:t>
              </a:r>
              <a:endParaRPr lang="en-US" sz="1200" dirty="0">
                <a:solidFill>
                  <a:schemeClr val="bg1"/>
                </a:solidFill>
              </a:endParaRPr>
            </a:p>
          </p:txBody>
        </p:sp>
        <p:sp>
          <p:nvSpPr>
            <p:cNvPr id="42" name="Freeform: Shape 103">
              <a:extLst>
                <a:ext uri="{FF2B5EF4-FFF2-40B4-BE49-F238E27FC236}">
                  <a16:creationId xmlns:a16="http://schemas.microsoft.com/office/drawing/2014/main" id="{9241F857-DA69-45E9-A1A1-D7FFC49B00B6}"/>
                </a:ext>
              </a:extLst>
            </p:cNvPr>
            <p:cNvSpPr/>
            <p:nvPr/>
          </p:nvSpPr>
          <p:spPr>
            <a:xfrm rot="2700000">
              <a:off x="707756" y="2706963"/>
              <a:ext cx="1666209" cy="1666208"/>
            </a:xfrm>
            <a:custGeom>
              <a:avLst/>
              <a:gdLst>
                <a:gd name="connsiteX0" fmla="*/ 2221611 w 2221611"/>
                <a:gd name="connsiteY0" fmla="*/ 1110805 h 2221611"/>
                <a:gd name="connsiteX1" fmla="*/ 1110806 w 2221611"/>
                <a:gd name="connsiteY1" fmla="*/ 2221611 h 2221611"/>
                <a:gd name="connsiteX2" fmla="*/ 0 w 2221611"/>
                <a:gd name="connsiteY2" fmla="*/ 1110805 h 2221611"/>
                <a:gd name="connsiteX3" fmla="*/ 1110806 w 2221611"/>
                <a:gd name="connsiteY3" fmla="*/ 0 h 2221611"/>
                <a:gd name="connsiteX4" fmla="*/ 2221611 w 2221611"/>
                <a:gd name="connsiteY4" fmla="*/ 1110805 h 2221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611" h="2221611">
                  <a:moveTo>
                    <a:pt x="2221611" y="1110805"/>
                  </a:moveTo>
                  <a:cubicBezTo>
                    <a:pt x="2221611" y="1724286"/>
                    <a:pt x="1724287" y="2221611"/>
                    <a:pt x="1110806" y="2221611"/>
                  </a:cubicBezTo>
                  <a:cubicBezTo>
                    <a:pt x="497325" y="2221611"/>
                    <a:pt x="0" y="1724286"/>
                    <a:pt x="0" y="1110805"/>
                  </a:cubicBezTo>
                  <a:cubicBezTo>
                    <a:pt x="0" y="497325"/>
                    <a:pt x="497325" y="0"/>
                    <a:pt x="1110806" y="0"/>
                  </a:cubicBezTo>
                  <a:cubicBezTo>
                    <a:pt x="1724287" y="0"/>
                    <a:pt x="2221611" y="497325"/>
                    <a:pt x="2221611" y="1110805"/>
                  </a:cubicBezTo>
                  <a:close/>
                </a:path>
              </a:pathLst>
            </a:custGeom>
            <a:noFill/>
            <a:ln w="66590" cap="flat">
              <a:gradFill flip="none" rotWithShape="1">
                <a:gsLst>
                  <a:gs pos="35000">
                    <a:schemeClr val="accent2"/>
                  </a:gs>
                  <a:gs pos="65000">
                    <a:schemeClr val="accent6"/>
                  </a:gs>
                  <a:gs pos="50000">
                    <a:schemeClr val="accent4"/>
                  </a:gs>
                  <a:gs pos="20000">
                    <a:srgbClr val="484848"/>
                  </a:gs>
                  <a:gs pos="80000">
                    <a:schemeClr val="accent5"/>
                  </a:gs>
                  <a:gs pos="95000">
                    <a:schemeClr val="accent1"/>
                  </a:gs>
                </a:gsLst>
                <a:path path="circle">
                  <a:fillToRect l="100000" b="100000"/>
                </a:path>
                <a:tileRect t="-100000" r="-100000"/>
              </a:gradFill>
              <a:prstDash val="solid"/>
              <a:miter/>
            </a:ln>
          </p:spPr>
          <p:txBody>
            <a:bodyPr rtlCol="0" anchor="ctr"/>
            <a:lstStyle/>
            <a:p>
              <a:pPr defTabSz="685800"/>
              <a:endParaRPr lang="en-US" sz="1350" dirty="0">
                <a:latin typeface="Calibri" panose="020F0502020204030204"/>
              </a:endParaRPr>
            </a:p>
          </p:txBody>
        </p:sp>
      </p:grpSp>
      <p:sp>
        <p:nvSpPr>
          <p:cNvPr id="43" name="Arc 89">
            <a:extLst>
              <a:ext uri="{FF2B5EF4-FFF2-40B4-BE49-F238E27FC236}">
                <a16:creationId xmlns:a16="http://schemas.microsoft.com/office/drawing/2014/main" id="{FC3E444D-EA9D-4794-B0FC-D5C190A89389}"/>
              </a:ext>
            </a:extLst>
          </p:cNvPr>
          <p:cNvSpPr/>
          <p:nvPr/>
        </p:nvSpPr>
        <p:spPr>
          <a:xfrm flipH="1">
            <a:off x="1415480" y="2411482"/>
            <a:ext cx="1933956" cy="1933957"/>
          </a:xfrm>
          <a:prstGeom prst="arc">
            <a:avLst>
              <a:gd name="adj1" fmla="val 3397586"/>
              <a:gd name="adj2" fmla="val 18544872"/>
            </a:avLst>
          </a:prstGeom>
          <a:ln w="19050">
            <a:gradFill flip="none" rotWithShape="1">
              <a:gsLst>
                <a:gs pos="0">
                  <a:srgbClr val="484848"/>
                </a:gs>
                <a:gs pos="38000">
                  <a:schemeClr val="accent3">
                    <a:lumMod val="50000"/>
                  </a:schemeClr>
                </a:gs>
                <a:gs pos="59000">
                  <a:schemeClr val="accent3">
                    <a:lumMod val="75000"/>
                  </a:schemeClr>
                </a:gs>
                <a:gs pos="97345">
                  <a:schemeClr val="accent3"/>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dirty="0">
              <a:latin typeface="Calibri" panose="020F0502020204030204"/>
            </a:endParaRPr>
          </a:p>
        </p:txBody>
      </p:sp>
      <p:grpSp>
        <p:nvGrpSpPr>
          <p:cNvPr id="44" name="Group 43">
            <a:extLst>
              <a:ext uri="{FF2B5EF4-FFF2-40B4-BE49-F238E27FC236}">
                <a16:creationId xmlns:a16="http://schemas.microsoft.com/office/drawing/2014/main" id="{B0270530-62AE-4F58-9674-932A16B78182}"/>
              </a:ext>
            </a:extLst>
          </p:cNvPr>
          <p:cNvGrpSpPr/>
          <p:nvPr/>
        </p:nvGrpSpPr>
        <p:grpSpPr>
          <a:xfrm>
            <a:off x="535547" y="116969"/>
            <a:ext cx="5297838" cy="687155"/>
            <a:chOff x="1544574" y="576718"/>
            <a:chExt cx="5297838" cy="687155"/>
          </a:xfrm>
        </p:grpSpPr>
        <p:sp>
          <p:nvSpPr>
            <p:cNvPr id="45" name="Rectangle: Rounded Corners 44">
              <a:extLst>
                <a:ext uri="{FF2B5EF4-FFF2-40B4-BE49-F238E27FC236}">
                  <a16:creationId xmlns:a16="http://schemas.microsoft.com/office/drawing/2014/main" id="{9DC48068-9B4B-46A1-853D-3EB80F1D1940}"/>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CE01D5B2-7D37-47FB-A1B1-C94C9EF9CA11}"/>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7" name="Straight Connector 46">
              <a:extLst>
                <a:ext uri="{FF2B5EF4-FFF2-40B4-BE49-F238E27FC236}">
                  <a16:creationId xmlns:a16="http://schemas.microsoft.com/office/drawing/2014/main" id="{EF1D749B-8ADC-49CF-9B3A-99C868663B0B}"/>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6D37F13B-195E-406A-A993-ACBDE8BCC63E}"/>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PROSEDURE</a:t>
              </a:r>
              <a:endParaRPr lang="en-US" sz="2000" b="1" dirty="0">
                <a:solidFill>
                  <a:schemeClr val="bg1"/>
                </a:solidFill>
              </a:endParaRPr>
            </a:p>
          </p:txBody>
        </p:sp>
        <p:sp>
          <p:nvSpPr>
            <p:cNvPr id="49" name="TextBox 48">
              <a:extLst>
                <a:ext uri="{FF2B5EF4-FFF2-40B4-BE49-F238E27FC236}">
                  <a16:creationId xmlns:a16="http://schemas.microsoft.com/office/drawing/2014/main" id="{4772610E-A196-4FC7-94D0-AAC671C4D0F6}"/>
                </a:ext>
              </a:extLst>
            </p:cNvPr>
            <p:cNvSpPr txBox="1"/>
            <p:nvPr/>
          </p:nvSpPr>
          <p:spPr>
            <a:xfrm>
              <a:off x="6097067" y="612065"/>
              <a:ext cx="731520" cy="584775"/>
            </a:xfrm>
            <a:prstGeom prst="rect">
              <a:avLst/>
            </a:prstGeom>
            <a:noFill/>
          </p:spPr>
          <p:txBody>
            <a:bodyPr wrap="square" rtlCol="0">
              <a:spAutoFit/>
            </a:bodyPr>
            <a:lstStyle/>
            <a:p>
              <a:endParaRPr lang="en-US" sz="3200" dirty="0">
                <a:solidFill>
                  <a:schemeClr val="accent2">
                    <a:lumMod val="50000"/>
                  </a:schemeClr>
                </a:solidFill>
              </a:endParaRPr>
            </a:p>
          </p:txBody>
        </p:sp>
      </p:grpSp>
    </p:spTree>
    <p:extLst>
      <p:ext uri="{BB962C8B-B14F-4D97-AF65-F5344CB8AC3E}">
        <p14:creationId xmlns:p14="http://schemas.microsoft.com/office/powerpoint/2010/main" val="955890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88">
            <a:extLst>
              <a:ext uri="{FF2B5EF4-FFF2-40B4-BE49-F238E27FC236}">
                <a16:creationId xmlns:a16="http://schemas.microsoft.com/office/drawing/2014/main" id="{02553D9F-9693-4CE1-A224-8896948104A8}"/>
              </a:ext>
            </a:extLst>
          </p:cNvPr>
          <p:cNvCxnSpPr>
            <a:cxnSpLocks/>
            <a:stCxn id="4" idx="3"/>
          </p:cNvCxnSpPr>
          <p:nvPr/>
        </p:nvCxnSpPr>
        <p:spPr>
          <a:xfrm flipV="1">
            <a:off x="2569178" y="1820473"/>
            <a:ext cx="202819" cy="54968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4" name="Freeform: Shape 93">
            <a:extLst>
              <a:ext uri="{FF2B5EF4-FFF2-40B4-BE49-F238E27FC236}">
                <a16:creationId xmlns:a16="http://schemas.microsoft.com/office/drawing/2014/main" id="{2A38064D-C214-4692-8542-5796819D63FB}"/>
              </a:ext>
            </a:extLst>
          </p:cNvPr>
          <p:cNvSpPr/>
          <p:nvPr/>
        </p:nvSpPr>
        <p:spPr>
          <a:xfrm rot="1242827">
            <a:off x="2474020" y="2365610"/>
            <a:ext cx="140589" cy="140589"/>
          </a:xfrm>
          <a:custGeom>
            <a:avLst/>
            <a:gdLst>
              <a:gd name="connsiteX0" fmla="*/ 187452 w 187452"/>
              <a:gd name="connsiteY0" fmla="*/ 93726 h 187452"/>
              <a:gd name="connsiteX1" fmla="*/ 93726 w 187452"/>
              <a:gd name="connsiteY1" fmla="*/ 187452 h 187452"/>
              <a:gd name="connsiteX2" fmla="*/ 0 w 187452"/>
              <a:gd name="connsiteY2" fmla="*/ 93726 h 187452"/>
              <a:gd name="connsiteX3" fmla="*/ 93726 w 187452"/>
              <a:gd name="connsiteY3" fmla="*/ 0 h 187452"/>
              <a:gd name="connsiteX4" fmla="*/ 187452 w 187452"/>
              <a:gd name="connsiteY4" fmla="*/ 93726 h 187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2" h="187452">
                <a:moveTo>
                  <a:pt x="187452" y="93726"/>
                </a:moveTo>
                <a:cubicBezTo>
                  <a:pt x="187452" y="145489"/>
                  <a:pt x="145489" y="187452"/>
                  <a:pt x="93726" y="187452"/>
                </a:cubicBezTo>
                <a:cubicBezTo>
                  <a:pt x="41963" y="187452"/>
                  <a:pt x="0" y="145489"/>
                  <a:pt x="0" y="93726"/>
                </a:cubicBezTo>
                <a:cubicBezTo>
                  <a:pt x="0" y="41963"/>
                  <a:pt x="41963" y="0"/>
                  <a:pt x="93726" y="0"/>
                </a:cubicBezTo>
                <a:cubicBezTo>
                  <a:pt x="145489" y="0"/>
                  <a:pt x="187452" y="41963"/>
                  <a:pt x="187452" y="93726"/>
                </a:cubicBezTo>
                <a:close/>
              </a:path>
            </a:pathLst>
          </a:custGeom>
          <a:solidFill>
            <a:schemeClr val="accent2"/>
          </a:solidFill>
          <a:ln w="9525" cap="flat">
            <a:noFill/>
            <a:prstDash val="solid"/>
            <a:miter/>
          </a:ln>
        </p:spPr>
        <p:txBody>
          <a:bodyPr rtlCol="0" anchor="ctr"/>
          <a:lstStyle/>
          <a:p>
            <a:pPr defTabSz="685800"/>
            <a:endParaRPr lang="en-US" sz="1350">
              <a:latin typeface="Calibri" panose="020F0502020204030204"/>
            </a:endParaRPr>
          </a:p>
        </p:txBody>
      </p:sp>
      <p:grpSp>
        <p:nvGrpSpPr>
          <p:cNvPr id="5" name="Grup 59">
            <a:extLst>
              <a:ext uri="{FF2B5EF4-FFF2-40B4-BE49-F238E27FC236}">
                <a16:creationId xmlns:a16="http://schemas.microsoft.com/office/drawing/2014/main" id="{436CADCD-256D-412E-97E9-C1DD2D567A2E}"/>
              </a:ext>
            </a:extLst>
          </p:cNvPr>
          <p:cNvGrpSpPr/>
          <p:nvPr/>
        </p:nvGrpSpPr>
        <p:grpSpPr>
          <a:xfrm>
            <a:off x="3326047" y="1085115"/>
            <a:ext cx="3316490" cy="307777"/>
            <a:chOff x="3682627" y="908720"/>
            <a:chExt cx="2181757" cy="307777"/>
          </a:xfrm>
        </p:grpSpPr>
        <p:sp>
          <p:nvSpPr>
            <p:cNvPr id="6" name="Oval 5">
              <a:extLst>
                <a:ext uri="{FF2B5EF4-FFF2-40B4-BE49-F238E27FC236}">
                  <a16:creationId xmlns:a16="http://schemas.microsoft.com/office/drawing/2014/main" id="{52960B63-18C8-4CC1-8364-88C565E032C3}"/>
                </a:ext>
              </a:extLst>
            </p:cNvPr>
            <p:cNvSpPr/>
            <p:nvPr/>
          </p:nvSpPr>
          <p:spPr>
            <a:xfrm>
              <a:off x="3682627" y="996332"/>
              <a:ext cx="97286" cy="144635"/>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a:solidFill>
                  <a:schemeClr val="tx1"/>
                </a:solidFill>
                <a:latin typeface="Calibri" panose="020F0502020204030204"/>
              </a:endParaRPr>
            </a:p>
          </p:txBody>
        </p:sp>
        <p:sp>
          <p:nvSpPr>
            <p:cNvPr id="7" name="TextBox 81">
              <a:extLst>
                <a:ext uri="{FF2B5EF4-FFF2-40B4-BE49-F238E27FC236}">
                  <a16:creationId xmlns:a16="http://schemas.microsoft.com/office/drawing/2014/main" id="{8BB5E485-6098-4C9F-8290-F82FD18C5DBD}"/>
                </a:ext>
              </a:extLst>
            </p:cNvPr>
            <p:cNvSpPr txBox="1"/>
            <p:nvPr/>
          </p:nvSpPr>
          <p:spPr>
            <a:xfrm>
              <a:off x="3850428" y="908720"/>
              <a:ext cx="2013956" cy="307777"/>
            </a:xfrm>
            <a:prstGeom prst="rect">
              <a:avLst/>
            </a:prstGeom>
            <a:noFill/>
          </p:spPr>
          <p:txBody>
            <a:bodyPr wrap="none" rtlCol="0">
              <a:spAutoFit/>
            </a:bodyPr>
            <a:lstStyle/>
            <a:p>
              <a:pPr defTabSz="685800"/>
              <a:r>
                <a:rPr lang="en-US" sz="1400" b="1" dirty="0">
                  <a:latin typeface="Calibri"/>
                  <a:ea typeface="SimSun" pitchFamily="2" charset="-122"/>
                </a:rPr>
                <a:t>  MODIFIKASI PIPA HIDRAN TANGKI 10 </a:t>
              </a:r>
              <a:endParaRPr lang="en-US" sz="1400" b="1" dirty="0">
                <a:latin typeface="Tahoma" panose="020B0604030504040204" pitchFamily="34" charset="0"/>
                <a:ea typeface="Tahoma" panose="020B0604030504040204" pitchFamily="34" charset="0"/>
                <a:cs typeface="Tahoma" panose="020B0604030504040204" pitchFamily="34" charset="0"/>
              </a:endParaRPr>
            </a:p>
          </p:txBody>
        </p:sp>
      </p:grpSp>
      <p:sp>
        <p:nvSpPr>
          <p:cNvPr id="8" name="TextBox 109">
            <a:extLst>
              <a:ext uri="{FF2B5EF4-FFF2-40B4-BE49-F238E27FC236}">
                <a16:creationId xmlns:a16="http://schemas.microsoft.com/office/drawing/2014/main" id="{01CDDA49-2622-433E-85DF-FA6A92D3DEC4}"/>
              </a:ext>
            </a:extLst>
          </p:cNvPr>
          <p:cNvSpPr txBox="1"/>
          <p:nvPr/>
        </p:nvSpPr>
        <p:spPr>
          <a:xfrm>
            <a:off x="3441680" y="1455568"/>
            <a:ext cx="7014550" cy="1345048"/>
          </a:xfrm>
          <a:prstGeom prst="rect">
            <a:avLst/>
          </a:prstGeom>
          <a:noFill/>
        </p:spPr>
        <p:txBody>
          <a:bodyPr wrap="square" rtlCol="0">
            <a:spAutoFit/>
          </a:bodyPr>
          <a:lstStyle/>
          <a:p>
            <a:pPr marL="171450" indent="-171450" fontAlgn="base">
              <a:lnSpc>
                <a:spcPct val="115000"/>
              </a:lnSpc>
              <a:buSzPts val="1400"/>
              <a:buFontTx/>
              <a:buChar char="-"/>
            </a:pPr>
            <a:r>
              <a:rPr lang="en-US" sz="1200" dirty="0" err="1">
                <a:latin typeface="Tahoma" panose="020B0604030504040204" pitchFamily="34" charset="0"/>
                <a:ea typeface="Tahoma" panose="020B0604030504040204" pitchFamily="34" charset="0"/>
                <a:cs typeface="Tahoma" panose="020B0604030504040204" pitchFamily="34" charset="0"/>
              </a:rPr>
              <a:t>Penyesuian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modifikasi</a:t>
            </a:r>
            <a:r>
              <a:rPr lang="en-US" sz="1200" dirty="0">
                <a:latin typeface="Tahoma" panose="020B0604030504040204" pitchFamily="34" charset="0"/>
                <a:ea typeface="Tahoma" panose="020B0604030504040204" pitchFamily="34" charset="0"/>
                <a:cs typeface="Tahoma" panose="020B0604030504040204" pitchFamily="34" charset="0"/>
              </a:rPr>
              <a:t>) line pipa </a:t>
            </a:r>
            <a:r>
              <a:rPr lang="en-US" sz="1200" dirty="0" err="1">
                <a:latin typeface="Tahoma" panose="020B0604030504040204" pitchFamily="34" charset="0"/>
                <a:ea typeface="Tahoma" panose="020B0604030504040204" pitchFamily="34" charset="0"/>
                <a:cs typeface="Tahoma" panose="020B0604030504040204" pitchFamily="34" charset="0"/>
              </a:rPr>
              <a:t>hidran</a:t>
            </a:r>
            <a:r>
              <a:rPr lang="en-US" sz="1200" dirty="0">
                <a:latin typeface="Tahoma" panose="020B0604030504040204" pitchFamily="34" charset="0"/>
                <a:ea typeface="Tahoma" panose="020B0604030504040204" pitchFamily="34" charset="0"/>
                <a:cs typeface="Tahoma" panose="020B0604030504040204" pitchFamily="34" charset="0"/>
              </a:rPr>
              <a:t> pada </a:t>
            </a:r>
            <a:r>
              <a:rPr lang="en-US" sz="1200" dirty="0" err="1">
                <a:latin typeface="Tahoma" panose="020B0604030504040204" pitchFamily="34" charset="0"/>
                <a:ea typeface="Tahoma" panose="020B0604030504040204" pitchFamily="34" charset="0"/>
                <a:cs typeface="Tahoma" panose="020B0604030504040204" pitchFamily="34" charset="0"/>
              </a:rPr>
              <a:t>tangki</a:t>
            </a:r>
            <a:r>
              <a:rPr lang="en-US" sz="1200" dirty="0">
                <a:latin typeface="Tahoma" panose="020B0604030504040204" pitchFamily="34" charset="0"/>
                <a:ea typeface="Tahoma" panose="020B0604030504040204" pitchFamily="34" charset="0"/>
                <a:cs typeface="Tahoma" panose="020B0604030504040204" pitchFamily="34" charset="0"/>
              </a:rPr>
              <a:t> 10  </a:t>
            </a:r>
          </a:p>
          <a:p>
            <a:pPr marL="171450" indent="-171450" fontAlgn="base">
              <a:lnSpc>
                <a:spcPct val="115000"/>
              </a:lnSpc>
              <a:buSzPts val="1400"/>
              <a:buFontTx/>
              <a:buChar char="-"/>
            </a:pPr>
            <a:r>
              <a:rPr lang="en-US" sz="1200" dirty="0" err="1">
                <a:latin typeface="Tahoma" panose="020B0604030504040204" pitchFamily="34" charset="0"/>
                <a:ea typeface="Tahoma" panose="020B0604030504040204" pitchFamily="34" charset="0"/>
                <a:cs typeface="Tahoma" panose="020B0604030504040204" pitchFamily="34" charset="0"/>
              </a:rPr>
              <a:t>Tentukan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terlebih</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dahulu</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kebutuhan</a:t>
            </a:r>
            <a:r>
              <a:rPr lang="en-US" sz="1200" dirty="0">
                <a:latin typeface="Tahoma" panose="020B0604030504040204" pitchFamily="34" charset="0"/>
                <a:ea typeface="Tahoma" panose="020B0604030504040204" pitchFamily="34" charset="0"/>
                <a:cs typeface="Tahoma" panose="020B0604030504040204" pitchFamily="34" charset="0"/>
              </a:rPr>
              <a:t> material </a:t>
            </a:r>
            <a:r>
              <a:rPr lang="en-US" sz="1200" dirty="0" err="1">
                <a:latin typeface="Tahoma" panose="020B0604030504040204" pitchFamily="34" charset="0"/>
                <a:ea typeface="Tahoma" panose="020B0604030504040204" pitchFamily="34" charset="0"/>
                <a:cs typeface="Tahoma" panose="020B0604030504040204" pitchFamily="34" charset="0"/>
              </a:rPr>
              <a:t>beserta</a:t>
            </a:r>
            <a:r>
              <a:rPr lang="en-US" sz="1200" dirty="0">
                <a:latin typeface="Tahoma" panose="020B0604030504040204" pitchFamily="34" charset="0"/>
                <a:ea typeface="Tahoma" panose="020B0604030504040204" pitchFamily="34" charset="0"/>
                <a:cs typeface="Tahoma" panose="020B0604030504040204" pitchFamily="34" charset="0"/>
              </a:rPr>
              <a:t> quantity </a:t>
            </a:r>
            <a:r>
              <a:rPr lang="en-US" sz="1200" dirty="0" err="1">
                <a:latin typeface="Tahoma" panose="020B0604030504040204" pitchFamily="34" charset="0"/>
                <a:ea typeface="Tahoma" panose="020B0604030504040204" pitchFamily="34" charset="0"/>
                <a:cs typeface="Tahoma" panose="020B0604030504040204" pitchFamily="34" charset="0"/>
              </a:rPr>
              <a:t>nya</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untuk</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modifikasi</a:t>
            </a:r>
            <a:r>
              <a:rPr lang="en-US" sz="1200" dirty="0">
                <a:latin typeface="Tahoma" panose="020B0604030504040204" pitchFamily="34" charset="0"/>
                <a:ea typeface="Tahoma" panose="020B0604030504040204" pitchFamily="34" charset="0"/>
                <a:cs typeface="Tahoma" panose="020B0604030504040204" pitchFamily="34" charset="0"/>
              </a:rPr>
              <a:t> line pipa</a:t>
            </a:r>
          </a:p>
          <a:p>
            <a:pPr marL="171450" indent="-171450" fontAlgn="base">
              <a:lnSpc>
                <a:spcPct val="115000"/>
              </a:lnSpc>
              <a:buSzPts val="1400"/>
              <a:buFontTx/>
              <a:buChar char="-"/>
            </a:pPr>
            <a:r>
              <a:rPr lang="en-US" sz="1200" dirty="0" err="1">
                <a:latin typeface="Tahoma" panose="020B0604030504040204" pitchFamily="34" charset="0"/>
                <a:ea typeface="Tahoma" panose="020B0604030504040204" pitchFamily="34" charset="0"/>
                <a:cs typeface="Tahoma" panose="020B0604030504040204" pitchFamily="34" charset="0"/>
              </a:rPr>
              <a:t>Lakukan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pemotongan</a:t>
            </a:r>
            <a:r>
              <a:rPr lang="en-US" sz="1200" dirty="0">
                <a:latin typeface="Tahoma" panose="020B0604030504040204" pitchFamily="34" charset="0"/>
                <a:ea typeface="Tahoma" panose="020B0604030504040204" pitchFamily="34" charset="0"/>
                <a:cs typeface="Tahoma" panose="020B0604030504040204" pitchFamily="34" charset="0"/>
              </a:rPr>
              <a:t> line pipe existing </a:t>
            </a:r>
            <a:r>
              <a:rPr lang="en-US" sz="1200" dirty="0" err="1">
                <a:latin typeface="Tahoma" panose="020B0604030504040204" pitchFamily="34" charset="0"/>
                <a:ea typeface="Tahoma" panose="020B0604030504040204" pitchFamily="34" charset="0"/>
                <a:cs typeface="Tahoma" panose="020B0604030504040204" pitchFamily="34" charset="0"/>
              </a:rPr>
              <a:t>dengan</a:t>
            </a:r>
            <a:r>
              <a:rPr lang="en-US" sz="1200" dirty="0">
                <a:latin typeface="Tahoma" panose="020B0604030504040204" pitchFamily="34" charset="0"/>
                <a:ea typeface="Tahoma" panose="020B0604030504040204" pitchFamily="34" charset="0"/>
                <a:cs typeface="Tahoma" panose="020B0604030504040204" pitchFamily="34" charset="0"/>
              </a:rPr>
              <a:t> </a:t>
            </a:r>
            <a:r>
              <a:rPr lang="en-US" sz="1200" dirty="0" err="1">
                <a:latin typeface="Tahoma" panose="020B0604030504040204" pitchFamily="34" charset="0"/>
                <a:ea typeface="Tahoma" panose="020B0604030504040204" pitchFamily="34" charset="0"/>
                <a:cs typeface="Tahoma" panose="020B0604030504040204" pitchFamily="34" charset="0"/>
              </a:rPr>
              <a:t>hati-hati</a:t>
            </a:r>
            <a:endParaRPr lang="en-US" sz="1200" dirty="0">
              <a:latin typeface="Tahoma" panose="020B0604030504040204" pitchFamily="34" charset="0"/>
              <a:ea typeface="Tahoma" panose="020B0604030504040204" pitchFamily="34" charset="0"/>
              <a:cs typeface="Tahoma" panose="020B0604030504040204" pitchFamily="34" charset="0"/>
            </a:endParaRPr>
          </a:p>
          <a:p>
            <a:pPr marL="171450" indent="-171450" fontAlgn="base">
              <a:lnSpc>
                <a:spcPct val="115000"/>
              </a:lnSpc>
              <a:buSzPts val="1400"/>
              <a:buFontTx/>
              <a:buChar char="-"/>
            </a:pP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Modifikasi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line pipe yang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baru</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sesuai</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dengan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design yang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telah</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ditentukan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dan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disetujui</a:t>
            </a:r>
            <a:endPar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a:p>
            <a:pPr marL="171450" indent="-171450" fontAlgn="base">
              <a:lnSpc>
                <a:spcPct val="115000"/>
              </a:lnSpc>
              <a:buSzPts val="1400"/>
              <a:buFontTx/>
              <a:buChar char="-"/>
            </a:pP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Penyambungan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pengelasan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pipa existing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dengan</a:t>
            </a:r>
            <a:r>
              <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rPr>
              <a:t> pipa </a:t>
            </a:r>
            <a:r>
              <a:rPr lang="en-ID" sz="1200" dirty="0" err="1">
                <a:highlight>
                  <a:srgbClr val="FFFFFF"/>
                </a:highlight>
                <a:latin typeface="Tahoma" panose="020B0604030504040204" pitchFamily="34" charset="0"/>
                <a:ea typeface="Tahoma" panose="020B0604030504040204" pitchFamily="34" charset="0"/>
                <a:cs typeface="Tahoma" panose="020B0604030504040204" pitchFamily="34" charset="0"/>
              </a:rPr>
              <a:t>baru</a:t>
            </a:r>
            <a:endParaRPr lang="en-ID" sz="1200" dirty="0">
              <a:highlight>
                <a:srgbClr val="FFFFFF"/>
              </a:highlight>
              <a:latin typeface="Tahoma" panose="020B0604030504040204" pitchFamily="34" charset="0"/>
              <a:ea typeface="Tahoma" panose="020B0604030504040204" pitchFamily="34" charset="0"/>
              <a:cs typeface="Tahoma" panose="020B0604030504040204" pitchFamily="34" charset="0"/>
            </a:endParaRPr>
          </a:p>
          <a:p>
            <a:pPr fontAlgn="base">
              <a:lnSpc>
                <a:spcPct val="115000"/>
              </a:lnSpc>
              <a:buSzPts val="1400"/>
            </a:pPr>
            <a:endParaRPr lang="en-US" sz="1200" dirty="0">
              <a:latin typeface="Tahoma" panose="020B0604030504040204" pitchFamily="34" charset="0"/>
              <a:ea typeface="Tahoma" panose="020B0604030504040204" pitchFamily="34" charset="0"/>
              <a:cs typeface="Tahoma" panose="020B0604030504040204" pitchFamily="34" charset="0"/>
            </a:endParaRPr>
          </a:p>
        </p:txBody>
      </p:sp>
      <p:grpSp>
        <p:nvGrpSpPr>
          <p:cNvPr id="9" name="Grup 73">
            <a:extLst>
              <a:ext uri="{FF2B5EF4-FFF2-40B4-BE49-F238E27FC236}">
                <a16:creationId xmlns:a16="http://schemas.microsoft.com/office/drawing/2014/main" id="{CDD5038A-617E-487B-B2CB-BBD9A51D7CDE}"/>
              </a:ext>
            </a:extLst>
          </p:cNvPr>
          <p:cNvGrpSpPr/>
          <p:nvPr/>
        </p:nvGrpSpPr>
        <p:grpSpPr>
          <a:xfrm>
            <a:off x="239206" y="6309321"/>
            <a:ext cx="2832458" cy="354841"/>
            <a:chOff x="114776" y="6421683"/>
            <a:chExt cx="2832458" cy="354841"/>
          </a:xfrm>
        </p:grpSpPr>
        <p:sp>
          <p:nvSpPr>
            <p:cNvPr id="10" name="TextBox 9">
              <a:extLst>
                <a:ext uri="{FF2B5EF4-FFF2-40B4-BE49-F238E27FC236}">
                  <a16:creationId xmlns:a16="http://schemas.microsoft.com/office/drawing/2014/main" id="{4EEAC154-7193-47F2-8873-B29FDFA86CA3}"/>
                </a:ext>
              </a:extLst>
            </p:cNvPr>
            <p:cNvSpPr txBox="1"/>
            <p:nvPr/>
          </p:nvSpPr>
          <p:spPr>
            <a:xfrm>
              <a:off x="271269" y="6473331"/>
              <a:ext cx="2675965" cy="261610"/>
            </a:xfrm>
            <a:prstGeom prst="rect">
              <a:avLst/>
            </a:prstGeom>
            <a:noFill/>
          </p:spPr>
          <p:txBody>
            <a:bodyPr wrap="square" rtlCol="0">
              <a:spAutoFit/>
            </a:bodyPr>
            <a:lstStyle/>
            <a:p>
              <a:r>
                <a:rPr lang="id-ID" sz="1100" b="1" dirty="0">
                  <a:solidFill>
                    <a:srgbClr val="FF0000"/>
                  </a:solidFill>
                </a:rPr>
                <a:t>   </a:t>
              </a:r>
              <a:r>
                <a:rPr lang="en-US" sz="1000" b="1" dirty="0">
                  <a:solidFill>
                    <a:srgbClr val="FF0000"/>
                  </a:solidFill>
                </a:rPr>
                <a:t>PT. </a:t>
              </a:r>
              <a:r>
                <a:rPr lang="id-ID" sz="1000" b="1" dirty="0">
                  <a:solidFill>
                    <a:srgbClr val="FF0000"/>
                  </a:solidFill>
                </a:rPr>
                <a:t>PANGESTU ANUGERAH ABADI</a:t>
              </a:r>
              <a:endParaRPr lang="id-ID" sz="1100" dirty="0">
                <a:solidFill>
                  <a:srgbClr val="FF0000"/>
                </a:solidFill>
              </a:endParaRPr>
            </a:p>
          </p:txBody>
        </p:sp>
        <p:sp>
          <p:nvSpPr>
            <p:cNvPr id="11" name="Parallelogram 10">
              <a:extLst>
                <a:ext uri="{FF2B5EF4-FFF2-40B4-BE49-F238E27FC236}">
                  <a16:creationId xmlns:a16="http://schemas.microsoft.com/office/drawing/2014/main" id="{92AD55F8-1724-481A-8C2F-4C8032E5082A}"/>
                </a:ext>
              </a:extLst>
            </p:cNvPr>
            <p:cNvSpPr/>
            <p:nvPr/>
          </p:nvSpPr>
          <p:spPr>
            <a:xfrm>
              <a:off x="114776" y="6421683"/>
              <a:ext cx="324023" cy="354841"/>
            </a:xfrm>
            <a:prstGeom prst="parallelogram">
              <a:avLst>
                <a:gd name="adj" fmla="val 64317"/>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19" name="Group 18">
            <a:extLst>
              <a:ext uri="{FF2B5EF4-FFF2-40B4-BE49-F238E27FC236}">
                <a16:creationId xmlns:a16="http://schemas.microsoft.com/office/drawing/2014/main" id="{E61803BE-F93F-4BB6-BB4B-1B6AFFD40D66}"/>
              </a:ext>
            </a:extLst>
          </p:cNvPr>
          <p:cNvGrpSpPr/>
          <p:nvPr/>
        </p:nvGrpSpPr>
        <p:grpSpPr>
          <a:xfrm>
            <a:off x="-28280" y="564125"/>
            <a:ext cx="11421639" cy="5741470"/>
            <a:chOff x="-25810" y="558265"/>
            <a:chExt cx="11421639" cy="5741470"/>
          </a:xfrm>
        </p:grpSpPr>
        <p:sp>
          <p:nvSpPr>
            <p:cNvPr id="20" name="Rectangle 19">
              <a:extLst>
                <a:ext uri="{FF2B5EF4-FFF2-40B4-BE49-F238E27FC236}">
                  <a16:creationId xmlns:a16="http://schemas.microsoft.com/office/drawing/2014/main" id="{0FBCEC10-A839-40D6-804B-2A97DCB5964C}"/>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9B8B6AF1-C35B-4968-BDDA-EF52CA3D117F}"/>
                </a:ext>
              </a:extLst>
            </p:cNvPr>
            <p:cNvGrpSpPr/>
            <p:nvPr/>
          </p:nvGrpSpPr>
          <p:grpSpPr>
            <a:xfrm>
              <a:off x="-25810" y="567070"/>
              <a:ext cx="543980" cy="5732665"/>
              <a:chOff x="-62386" y="567070"/>
              <a:chExt cx="543980" cy="5732665"/>
            </a:xfrm>
          </p:grpSpPr>
          <p:sp>
            <p:nvSpPr>
              <p:cNvPr id="23" name="Oval 22">
                <a:extLst>
                  <a:ext uri="{FF2B5EF4-FFF2-40B4-BE49-F238E27FC236}">
                    <a16:creationId xmlns:a16="http://schemas.microsoft.com/office/drawing/2014/main" id="{25C80D4D-BD7C-4753-A558-92FAC0EBEBFA}"/>
                  </a:ext>
                </a:extLst>
              </p:cNvPr>
              <p:cNvSpPr/>
              <p:nvPr/>
            </p:nvSpPr>
            <p:spPr>
              <a:xfrm>
                <a:off x="-15044" y="2864718"/>
                <a:ext cx="496638" cy="114300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Top Corners Snipped 23">
                <a:extLst>
                  <a:ext uri="{FF2B5EF4-FFF2-40B4-BE49-F238E27FC236}">
                    <a16:creationId xmlns:a16="http://schemas.microsoft.com/office/drawing/2014/main" id="{32D0AC1F-1278-434F-A869-D7EB302E8A3F}"/>
                  </a:ext>
                </a:extLst>
              </p:cNvPr>
              <p:cNvSpPr/>
              <p:nvPr/>
            </p:nvSpPr>
            <p:spPr>
              <a:xfrm rot="5400000">
                <a:off x="-1743908" y="3275527"/>
                <a:ext cx="3794762" cy="306946"/>
              </a:xfrm>
              <a:prstGeom prst="snip2SameRect">
                <a:avLst/>
              </a:prstGeom>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FFF069E5-F56C-4F32-BC0E-CBC3053320C1}"/>
                  </a:ext>
                </a:extLst>
              </p:cNvPr>
              <p:cNvSpPr txBox="1"/>
              <p:nvPr/>
            </p:nvSpPr>
            <p:spPr>
              <a:xfrm rot="16200000">
                <a:off x="-947568" y="3251856"/>
                <a:ext cx="2139696" cy="369332"/>
              </a:xfrm>
              <a:prstGeom prst="rect">
                <a:avLst/>
              </a:prstGeom>
              <a:noFill/>
              <a:ln>
                <a:noFill/>
              </a:ln>
            </p:spPr>
            <p:txBody>
              <a:bodyPr wrap="square" rtlCol="0" anchor="ctr">
                <a:spAutoFit/>
              </a:bodyPr>
              <a:lstStyle/>
              <a:p>
                <a:pPr algn="ctr"/>
                <a:r>
                  <a:rPr lang="en-US" dirty="0">
                    <a:solidFill>
                      <a:schemeClr val="bg1"/>
                    </a:solidFill>
                  </a:rPr>
                  <a:t>OVERVIEW PROJECT</a:t>
                </a:r>
              </a:p>
            </p:txBody>
          </p:sp>
          <p:cxnSp>
            <p:nvCxnSpPr>
              <p:cNvPr id="26" name="Straight Connector 25">
                <a:extLst>
                  <a:ext uri="{FF2B5EF4-FFF2-40B4-BE49-F238E27FC236}">
                    <a16:creationId xmlns:a16="http://schemas.microsoft.com/office/drawing/2014/main" id="{898AC04A-32D4-473D-B8D7-C3B51B98D804}"/>
                  </a:ext>
                </a:extLst>
              </p:cNvPr>
              <p:cNvCxnSpPr>
                <a:cxnSpLocks/>
              </p:cNvCxnSpPr>
              <p:nvPr/>
            </p:nvCxnSpPr>
            <p:spPr>
              <a:xfrm>
                <a:off x="-7088" y="567070"/>
                <a:ext cx="7088" cy="5732665"/>
              </a:xfrm>
              <a:prstGeom prst="line">
                <a:avLst/>
              </a:prstGeom>
              <a:ln w="50800"/>
            </p:spPr>
            <p:style>
              <a:lnRef idx="1">
                <a:schemeClr val="accent1"/>
              </a:lnRef>
              <a:fillRef idx="0">
                <a:schemeClr val="accent1"/>
              </a:fillRef>
              <a:effectRef idx="0">
                <a:schemeClr val="accent1"/>
              </a:effectRef>
              <a:fontRef idx="minor">
                <a:schemeClr val="tx1"/>
              </a:fontRef>
            </p:style>
          </p:cxnSp>
        </p:grpSp>
        <p:sp>
          <p:nvSpPr>
            <p:cNvPr id="22" name="Rectangle 21">
              <a:extLst>
                <a:ext uri="{FF2B5EF4-FFF2-40B4-BE49-F238E27FC236}">
                  <a16:creationId xmlns:a16="http://schemas.microsoft.com/office/drawing/2014/main" id="{670E63A4-5041-4DB0-8FF3-0F7F08B16744}"/>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26">
            <a:extLst>
              <a:ext uri="{FF2B5EF4-FFF2-40B4-BE49-F238E27FC236}">
                <a16:creationId xmlns:a16="http://schemas.microsoft.com/office/drawing/2014/main" id="{003FD175-E283-46A8-A21D-11F98F2C987E}"/>
              </a:ext>
            </a:extLst>
          </p:cNvPr>
          <p:cNvGrpSpPr/>
          <p:nvPr/>
        </p:nvGrpSpPr>
        <p:grpSpPr>
          <a:xfrm>
            <a:off x="395699" y="619499"/>
            <a:ext cx="11421639" cy="5741470"/>
            <a:chOff x="-25810" y="558265"/>
            <a:chExt cx="11421639" cy="5741470"/>
          </a:xfrm>
        </p:grpSpPr>
        <p:sp>
          <p:nvSpPr>
            <p:cNvPr id="28" name="Rectangle 27">
              <a:extLst>
                <a:ext uri="{FF2B5EF4-FFF2-40B4-BE49-F238E27FC236}">
                  <a16:creationId xmlns:a16="http://schemas.microsoft.com/office/drawing/2014/main" id="{7C81B2D1-72C7-4168-93C6-5ABF4A5F1E71}"/>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9772E84C-E57E-41E9-B4C4-F5FA9A6026FB}"/>
                </a:ext>
              </a:extLst>
            </p:cNvPr>
            <p:cNvGrpSpPr/>
            <p:nvPr/>
          </p:nvGrpSpPr>
          <p:grpSpPr>
            <a:xfrm>
              <a:off x="-25810" y="567070"/>
              <a:ext cx="543980" cy="5732665"/>
              <a:chOff x="-62386" y="567070"/>
              <a:chExt cx="543980" cy="5732665"/>
            </a:xfrm>
          </p:grpSpPr>
          <p:sp>
            <p:nvSpPr>
              <p:cNvPr id="31" name="Oval 30">
                <a:extLst>
                  <a:ext uri="{FF2B5EF4-FFF2-40B4-BE49-F238E27FC236}">
                    <a16:creationId xmlns:a16="http://schemas.microsoft.com/office/drawing/2014/main" id="{0784E03E-1F09-4790-9191-0059BEBB4BC5}"/>
                  </a:ext>
                </a:extLst>
              </p:cNvPr>
              <p:cNvSpPr/>
              <p:nvPr/>
            </p:nvSpPr>
            <p:spPr>
              <a:xfrm>
                <a:off x="-15044" y="2864718"/>
                <a:ext cx="496638" cy="114300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Top Corners Snipped 31">
                <a:extLst>
                  <a:ext uri="{FF2B5EF4-FFF2-40B4-BE49-F238E27FC236}">
                    <a16:creationId xmlns:a16="http://schemas.microsoft.com/office/drawing/2014/main" id="{B8B86A27-CDBE-4B3A-B605-97A7A957130C}"/>
                  </a:ext>
                </a:extLst>
              </p:cNvPr>
              <p:cNvSpPr/>
              <p:nvPr/>
            </p:nvSpPr>
            <p:spPr>
              <a:xfrm rot="5400000">
                <a:off x="-1743908" y="3275527"/>
                <a:ext cx="3794762" cy="306946"/>
              </a:xfrm>
              <a:prstGeom prst="snip2SameRect">
                <a:avLst/>
              </a:prstGeom>
              <a:solidFill>
                <a:schemeClr val="accent2">
                  <a:lumMod val="60000"/>
                  <a:lumOff val="4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7F1E603F-E37C-4E1A-B20F-3F387DF38DA5}"/>
                  </a:ext>
                </a:extLst>
              </p:cNvPr>
              <p:cNvSpPr txBox="1"/>
              <p:nvPr/>
            </p:nvSpPr>
            <p:spPr>
              <a:xfrm rot="16200000">
                <a:off x="-947568" y="3251856"/>
                <a:ext cx="2139696" cy="369332"/>
              </a:xfrm>
              <a:prstGeom prst="rect">
                <a:avLst/>
              </a:prstGeom>
              <a:noFill/>
              <a:ln>
                <a:noFill/>
              </a:ln>
            </p:spPr>
            <p:txBody>
              <a:bodyPr wrap="square" rtlCol="0" anchor="ctr">
                <a:spAutoFit/>
              </a:bodyPr>
              <a:lstStyle/>
              <a:p>
                <a:pPr algn="ctr"/>
                <a:r>
                  <a:rPr lang="en-US" dirty="0">
                    <a:solidFill>
                      <a:schemeClr val="bg1"/>
                    </a:solidFill>
                  </a:rPr>
                  <a:t>PROGRESS</a:t>
                </a:r>
              </a:p>
            </p:txBody>
          </p:sp>
          <p:cxnSp>
            <p:nvCxnSpPr>
              <p:cNvPr id="34" name="Straight Connector 33">
                <a:extLst>
                  <a:ext uri="{FF2B5EF4-FFF2-40B4-BE49-F238E27FC236}">
                    <a16:creationId xmlns:a16="http://schemas.microsoft.com/office/drawing/2014/main" id="{1CFA9E31-B246-44A0-A2F6-99767A0E21C2}"/>
                  </a:ext>
                </a:extLst>
              </p:cNvPr>
              <p:cNvCxnSpPr>
                <a:cxnSpLocks/>
              </p:cNvCxnSpPr>
              <p:nvPr/>
            </p:nvCxnSpPr>
            <p:spPr>
              <a:xfrm>
                <a:off x="-7088" y="567070"/>
                <a:ext cx="7088" cy="5732665"/>
              </a:xfrm>
              <a:prstGeom prst="line">
                <a:avLst/>
              </a:prstGeom>
              <a:ln w="508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3C4084F9-6469-49B2-A1A2-B6C71FBBE1D6}"/>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6" name="Picture 35">
            <a:extLst>
              <a:ext uri="{FF2B5EF4-FFF2-40B4-BE49-F238E27FC236}">
                <a16:creationId xmlns:a16="http://schemas.microsoft.com/office/drawing/2014/main" id="{21916AFA-7E2E-40EC-AA3C-B8D027E43E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4756" y="27198"/>
            <a:ext cx="1928572" cy="849085"/>
          </a:xfrm>
          <a:prstGeom prst="rect">
            <a:avLst/>
          </a:prstGeom>
        </p:spPr>
      </p:pic>
      <p:sp>
        <p:nvSpPr>
          <p:cNvPr id="37" name="Freeform: Shape 114">
            <a:extLst>
              <a:ext uri="{FF2B5EF4-FFF2-40B4-BE49-F238E27FC236}">
                <a16:creationId xmlns:a16="http://schemas.microsoft.com/office/drawing/2014/main" id="{4C75879B-41FC-46AA-8256-45B59796CF81}"/>
              </a:ext>
            </a:extLst>
          </p:cNvPr>
          <p:cNvSpPr/>
          <p:nvPr/>
        </p:nvSpPr>
        <p:spPr>
          <a:xfrm>
            <a:off x="2339646" y="1407061"/>
            <a:ext cx="844820" cy="844820"/>
          </a:xfrm>
          <a:custGeom>
            <a:avLst/>
            <a:gdLst>
              <a:gd name="connsiteX0" fmla="*/ 1126427 w 1126426"/>
              <a:gd name="connsiteY0" fmla="*/ 563213 h 1126426"/>
              <a:gd name="connsiteX1" fmla="*/ 563213 w 1126426"/>
              <a:gd name="connsiteY1" fmla="*/ 1126427 h 1126426"/>
              <a:gd name="connsiteX2" fmla="*/ 0 w 1126426"/>
              <a:gd name="connsiteY2" fmla="*/ 563213 h 1126426"/>
              <a:gd name="connsiteX3" fmla="*/ 563213 w 1126426"/>
              <a:gd name="connsiteY3" fmla="*/ 0 h 1126426"/>
              <a:gd name="connsiteX4" fmla="*/ 1126427 w 1126426"/>
              <a:gd name="connsiteY4" fmla="*/ 563213 h 1126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426" h="1126426">
                <a:moveTo>
                  <a:pt x="1126427" y="563213"/>
                </a:moveTo>
                <a:cubicBezTo>
                  <a:pt x="1126427" y="874267"/>
                  <a:pt x="874268" y="1126427"/>
                  <a:pt x="563213" y="1126427"/>
                </a:cubicBezTo>
                <a:cubicBezTo>
                  <a:pt x="252159" y="1126427"/>
                  <a:pt x="0" y="874267"/>
                  <a:pt x="0" y="563213"/>
                </a:cubicBezTo>
                <a:cubicBezTo>
                  <a:pt x="0" y="252159"/>
                  <a:pt x="252159" y="0"/>
                  <a:pt x="563213" y="0"/>
                </a:cubicBezTo>
                <a:cubicBezTo>
                  <a:pt x="874267" y="0"/>
                  <a:pt x="1126427" y="252159"/>
                  <a:pt x="1126427" y="563213"/>
                </a:cubicBezTo>
                <a:close/>
              </a:path>
            </a:pathLst>
          </a:custGeom>
          <a:noFill/>
          <a:ln w="66590" cap="flat">
            <a:gradFill flip="none" rotWithShape="1">
              <a:gsLst>
                <a:gs pos="16000">
                  <a:srgbClr val="484848"/>
                </a:gs>
                <a:gs pos="86000">
                  <a:schemeClr val="accent2"/>
                </a:gs>
              </a:gsLst>
              <a:lin ang="18900000" scaled="1"/>
              <a:tileRect/>
            </a:gradFill>
            <a:prstDash val="solid"/>
            <a:miter/>
          </a:ln>
        </p:spPr>
        <p:txBody>
          <a:bodyPr rtlCol="0" anchor="ctr"/>
          <a:lstStyle/>
          <a:p>
            <a:pPr defTabSz="685800"/>
            <a:endParaRPr lang="en-US" sz="1350" dirty="0">
              <a:latin typeface="Calibri" panose="020F0502020204030204"/>
            </a:endParaRPr>
          </a:p>
        </p:txBody>
      </p:sp>
      <p:sp>
        <p:nvSpPr>
          <p:cNvPr id="38" name="Freeform: Shape 112">
            <a:extLst>
              <a:ext uri="{FF2B5EF4-FFF2-40B4-BE49-F238E27FC236}">
                <a16:creationId xmlns:a16="http://schemas.microsoft.com/office/drawing/2014/main" id="{F00E6863-F5D5-4ACE-9FBE-F3191587CDA7}"/>
              </a:ext>
            </a:extLst>
          </p:cNvPr>
          <p:cNvSpPr/>
          <p:nvPr/>
        </p:nvSpPr>
        <p:spPr>
          <a:xfrm>
            <a:off x="2481236" y="1548650"/>
            <a:ext cx="561641" cy="561641"/>
          </a:xfrm>
          <a:custGeom>
            <a:avLst/>
            <a:gdLst>
              <a:gd name="connsiteX0" fmla="*/ 748855 w 748855"/>
              <a:gd name="connsiteY0" fmla="*/ 374428 h 748855"/>
              <a:gd name="connsiteX1" fmla="*/ 374428 w 748855"/>
              <a:gd name="connsiteY1" fmla="*/ 748856 h 748855"/>
              <a:gd name="connsiteX2" fmla="*/ 0 w 748855"/>
              <a:gd name="connsiteY2" fmla="*/ 374428 h 748855"/>
              <a:gd name="connsiteX3" fmla="*/ 374428 w 748855"/>
              <a:gd name="connsiteY3" fmla="*/ 0 h 748855"/>
              <a:gd name="connsiteX4" fmla="*/ 748855 w 748855"/>
              <a:gd name="connsiteY4" fmla="*/ 374428 h 748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855" h="748855">
                <a:moveTo>
                  <a:pt x="748855" y="374428"/>
                </a:moveTo>
                <a:cubicBezTo>
                  <a:pt x="748855" y="581219"/>
                  <a:pt x="581218" y="748856"/>
                  <a:pt x="374428" y="748856"/>
                </a:cubicBezTo>
                <a:cubicBezTo>
                  <a:pt x="167637" y="748856"/>
                  <a:pt x="0" y="581219"/>
                  <a:pt x="0" y="374428"/>
                </a:cubicBezTo>
                <a:cubicBezTo>
                  <a:pt x="0" y="167637"/>
                  <a:pt x="167637" y="0"/>
                  <a:pt x="374428" y="0"/>
                </a:cubicBezTo>
                <a:cubicBezTo>
                  <a:pt x="581219" y="0"/>
                  <a:pt x="748855" y="167637"/>
                  <a:pt x="748855" y="374428"/>
                </a:cubicBezTo>
                <a:close/>
              </a:path>
            </a:pathLst>
          </a:custGeom>
          <a:gradFill>
            <a:gsLst>
              <a:gs pos="0">
                <a:schemeClr val="accent2"/>
              </a:gs>
              <a:gs pos="100000">
                <a:schemeClr val="accent2">
                  <a:lumMod val="75000"/>
                </a:schemeClr>
              </a:gs>
            </a:gsLst>
            <a:lin ang="0" scaled="0"/>
          </a:gradFill>
          <a:ln w="9525" cap="flat">
            <a:noFill/>
            <a:prstDash val="solid"/>
            <a:miter/>
          </a:ln>
          <a:effectLst>
            <a:outerShdw blurRad="50800" dist="38100" dir="2700000" algn="tl" rotWithShape="0">
              <a:prstClr val="black">
                <a:alpha val="40000"/>
              </a:prstClr>
            </a:outerShdw>
          </a:effectLst>
        </p:spPr>
        <p:txBody>
          <a:bodyPr rtlCol="0" anchor="ctr"/>
          <a:lstStyle/>
          <a:p>
            <a:pPr algn="ctr" defTabSz="685800"/>
            <a:r>
              <a:rPr lang="en-US" sz="1350" b="1" dirty="0">
                <a:latin typeface="Calibri" panose="020F0502020204030204"/>
              </a:rPr>
              <a:t>01</a:t>
            </a:r>
          </a:p>
        </p:txBody>
      </p:sp>
      <p:grpSp>
        <p:nvGrpSpPr>
          <p:cNvPr id="39" name="Grup 68">
            <a:extLst>
              <a:ext uri="{FF2B5EF4-FFF2-40B4-BE49-F238E27FC236}">
                <a16:creationId xmlns:a16="http://schemas.microsoft.com/office/drawing/2014/main" id="{FD21BAAA-5DE4-46A3-8214-4BFE0D6214E7}"/>
              </a:ext>
            </a:extLst>
          </p:cNvPr>
          <p:cNvGrpSpPr/>
          <p:nvPr/>
        </p:nvGrpSpPr>
        <p:grpSpPr>
          <a:xfrm>
            <a:off x="1550049" y="2554703"/>
            <a:ext cx="1666208" cy="1666209"/>
            <a:chOff x="707757" y="2706962"/>
            <a:chExt cx="1666208" cy="1666209"/>
          </a:xfrm>
        </p:grpSpPr>
        <p:sp>
          <p:nvSpPr>
            <p:cNvPr id="40" name="Freeform: Shape 92">
              <a:extLst>
                <a:ext uri="{FF2B5EF4-FFF2-40B4-BE49-F238E27FC236}">
                  <a16:creationId xmlns:a16="http://schemas.microsoft.com/office/drawing/2014/main" id="{CFE7992A-F935-47B2-82D8-8627AE24FCAB}"/>
                </a:ext>
              </a:extLst>
            </p:cNvPr>
            <p:cNvSpPr/>
            <p:nvPr/>
          </p:nvSpPr>
          <p:spPr>
            <a:xfrm>
              <a:off x="879634" y="2878842"/>
              <a:ext cx="1322450" cy="1322452"/>
            </a:xfrm>
            <a:custGeom>
              <a:avLst/>
              <a:gdLst>
                <a:gd name="connsiteX0" fmla="*/ 1763268 w 1763267"/>
                <a:gd name="connsiteY0" fmla="*/ 881634 h 1763268"/>
                <a:gd name="connsiteX1" fmla="*/ 881634 w 1763267"/>
                <a:gd name="connsiteY1" fmla="*/ 1763268 h 1763268"/>
                <a:gd name="connsiteX2" fmla="*/ 0 w 1763267"/>
                <a:gd name="connsiteY2" fmla="*/ 881634 h 1763268"/>
                <a:gd name="connsiteX3" fmla="*/ 881634 w 1763267"/>
                <a:gd name="connsiteY3" fmla="*/ 0 h 1763268"/>
                <a:gd name="connsiteX4" fmla="*/ 1763268 w 1763267"/>
                <a:gd name="connsiteY4" fmla="*/ 881634 h 1763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3267" h="1763268">
                  <a:moveTo>
                    <a:pt x="1763268" y="881634"/>
                  </a:moveTo>
                  <a:cubicBezTo>
                    <a:pt x="1763268" y="1368547"/>
                    <a:pt x="1368547" y="1763268"/>
                    <a:pt x="881634" y="1763268"/>
                  </a:cubicBezTo>
                  <a:cubicBezTo>
                    <a:pt x="394721" y="1763268"/>
                    <a:pt x="0" y="1368547"/>
                    <a:pt x="0" y="881634"/>
                  </a:cubicBezTo>
                  <a:cubicBezTo>
                    <a:pt x="0" y="394721"/>
                    <a:pt x="394721" y="0"/>
                    <a:pt x="881634" y="0"/>
                  </a:cubicBezTo>
                  <a:cubicBezTo>
                    <a:pt x="1368547" y="0"/>
                    <a:pt x="1763268" y="394721"/>
                    <a:pt x="1763268" y="881634"/>
                  </a:cubicBezTo>
                  <a:close/>
                </a:path>
              </a:pathLst>
            </a:custGeom>
            <a:solidFill>
              <a:srgbClr val="484848"/>
            </a:solidFill>
            <a:ln w="9525" cap="flat">
              <a:noFill/>
              <a:prstDash val="solid"/>
              <a:miter/>
            </a:ln>
            <a:effectLst>
              <a:outerShdw blurRad="152400" dist="101600" dir="2700000" algn="tl" rotWithShape="0">
                <a:prstClr val="black">
                  <a:alpha val="40000"/>
                </a:prstClr>
              </a:outerShdw>
            </a:effectLst>
          </p:spPr>
          <p:txBody>
            <a:bodyPr rtlCol="0" anchor="ctr"/>
            <a:lstStyle/>
            <a:p>
              <a:pPr algn="ctr"/>
              <a:r>
                <a:rPr lang="en-US" sz="1200" b="1" dirty="0">
                  <a:solidFill>
                    <a:srgbClr val="FFFFFF"/>
                  </a:solidFill>
                  <a:latin typeface="Calibri"/>
                  <a:ea typeface="SimSun" pitchFamily="2" charset="-122"/>
                </a:rPr>
                <a:t> PENGGANTIAN BALL VALVE RUMAH POMPA  </a:t>
              </a:r>
              <a:endParaRPr lang="en-US" sz="1200" dirty="0">
                <a:solidFill>
                  <a:schemeClr val="bg1"/>
                </a:solidFill>
              </a:endParaRPr>
            </a:p>
          </p:txBody>
        </p:sp>
        <p:sp>
          <p:nvSpPr>
            <p:cNvPr id="41" name="Freeform: Shape 103">
              <a:extLst>
                <a:ext uri="{FF2B5EF4-FFF2-40B4-BE49-F238E27FC236}">
                  <a16:creationId xmlns:a16="http://schemas.microsoft.com/office/drawing/2014/main" id="{4D6491FB-3542-4A6D-B49E-03A6DE01330F}"/>
                </a:ext>
              </a:extLst>
            </p:cNvPr>
            <p:cNvSpPr/>
            <p:nvPr/>
          </p:nvSpPr>
          <p:spPr>
            <a:xfrm rot="2700000">
              <a:off x="707756" y="2706963"/>
              <a:ext cx="1666209" cy="1666208"/>
            </a:xfrm>
            <a:custGeom>
              <a:avLst/>
              <a:gdLst>
                <a:gd name="connsiteX0" fmla="*/ 2221611 w 2221611"/>
                <a:gd name="connsiteY0" fmla="*/ 1110805 h 2221611"/>
                <a:gd name="connsiteX1" fmla="*/ 1110806 w 2221611"/>
                <a:gd name="connsiteY1" fmla="*/ 2221611 h 2221611"/>
                <a:gd name="connsiteX2" fmla="*/ 0 w 2221611"/>
                <a:gd name="connsiteY2" fmla="*/ 1110805 h 2221611"/>
                <a:gd name="connsiteX3" fmla="*/ 1110806 w 2221611"/>
                <a:gd name="connsiteY3" fmla="*/ 0 h 2221611"/>
                <a:gd name="connsiteX4" fmla="*/ 2221611 w 2221611"/>
                <a:gd name="connsiteY4" fmla="*/ 1110805 h 2221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611" h="2221611">
                  <a:moveTo>
                    <a:pt x="2221611" y="1110805"/>
                  </a:moveTo>
                  <a:cubicBezTo>
                    <a:pt x="2221611" y="1724286"/>
                    <a:pt x="1724287" y="2221611"/>
                    <a:pt x="1110806" y="2221611"/>
                  </a:cubicBezTo>
                  <a:cubicBezTo>
                    <a:pt x="497325" y="2221611"/>
                    <a:pt x="0" y="1724286"/>
                    <a:pt x="0" y="1110805"/>
                  </a:cubicBezTo>
                  <a:cubicBezTo>
                    <a:pt x="0" y="497325"/>
                    <a:pt x="497325" y="0"/>
                    <a:pt x="1110806" y="0"/>
                  </a:cubicBezTo>
                  <a:cubicBezTo>
                    <a:pt x="1724287" y="0"/>
                    <a:pt x="2221611" y="497325"/>
                    <a:pt x="2221611" y="1110805"/>
                  </a:cubicBezTo>
                  <a:close/>
                </a:path>
              </a:pathLst>
            </a:custGeom>
            <a:noFill/>
            <a:ln w="66590" cap="flat">
              <a:gradFill flip="none" rotWithShape="1">
                <a:gsLst>
                  <a:gs pos="35000">
                    <a:schemeClr val="accent2"/>
                  </a:gs>
                  <a:gs pos="65000">
                    <a:schemeClr val="accent6"/>
                  </a:gs>
                  <a:gs pos="50000">
                    <a:schemeClr val="accent4"/>
                  </a:gs>
                  <a:gs pos="20000">
                    <a:srgbClr val="484848"/>
                  </a:gs>
                  <a:gs pos="80000">
                    <a:schemeClr val="accent5"/>
                  </a:gs>
                  <a:gs pos="95000">
                    <a:schemeClr val="accent1"/>
                  </a:gs>
                </a:gsLst>
                <a:path path="circle">
                  <a:fillToRect l="100000" b="100000"/>
                </a:path>
                <a:tileRect t="-100000" r="-100000"/>
              </a:gradFill>
              <a:prstDash val="solid"/>
              <a:miter/>
            </a:ln>
          </p:spPr>
          <p:txBody>
            <a:bodyPr rtlCol="0" anchor="ctr"/>
            <a:lstStyle/>
            <a:p>
              <a:pPr defTabSz="685800"/>
              <a:endParaRPr lang="en-US" sz="1350" dirty="0">
                <a:latin typeface="Calibri" panose="020F0502020204030204"/>
              </a:endParaRPr>
            </a:p>
          </p:txBody>
        </p:sp>
      </p:grpSp>
      <p:sp>
        <p:nvSpPr>
          <p:cNvPr id="42" name="Arc 89">
            <a:extLst>
              <a:ext uri="{FF2B5EF4-FFF2-40B4-BE49-F238E27FC236}">
                <a16:creationId xmlns:a16="http://schemas.microsoft.com/office/drawing/2014/main" id="{2D63198B-DDB8-4791-8CEA-754DA77BE028}"/>
              </a:ext>
            </a:extLst>
          </p:cNvPr>
          <p:cNvSpPr/>
          <p:nvPr/>
        </p:nvSpPr>
        <p:spPr>
          <a:xfrm flipH="1">
            <a:off x="1415480" y="2411482"/>
            <a:ext cx="1933956" cy="1933957"/>
          </a:xfrm>
          <a:prstGeom prst="arc">
            <a:avLst>
              <a:gd name="adj1" fmla="val 3397586"/>
              <a:gd name="adj2" fmla="val 18544872"/>
            </a:avLst>
          </a:prstGeom>
          <a:ln w="19050">
            <a:gradFill flip="none" rotWithShape="1">
              <a:gsLst>
                <a:gs pos="0">
                  <a:srgbClr val="484848"/>
                </a:gs>
                <a:gs pos="38000">
                  <a:schemeClr val="accent3">
                    <a:lumMod val="50000"/>
                  </a:schemeClr>
                </a:gs>
                <a:gs pos="59000">
                  <a:schemeClr val="accent3">
                    <a:lumMod val="75000"/>
                  </a:schemeClr>
                </a:gs>
                <a:gs pos="97345">
                  <a:schemeClr val="accent3"/>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dirty="0">
              <a:latin typeface="Calibri" panose="020F0502020204030204"/>
            </a:endParaRPr>
          </a:p>
        </p:txBody>
      </p:sp>
      <p:grpSp>
        <p:nvGrpSpPr>
          <p:cNvPr id="43" name="Group 42">
            <a:extLst>
              <a:ext uri="{FF2B5EF4-FFF2-40B4-BE49-F238E27FC236}">
                <a16:creationId xmlns:a16="http://schemas.microsoft.com/office/drawing/2014/main" id="{CBBE2E68-9155-4463-9500-F5FEA383ADB7}"/>
              </a:ext>
            </a:extLst>
          </p:cNvPr>
          <p:cNvGrpSpPr/>
          <p:nvPr/>
        </p:nvGrpSpPr>
        <p:grpSpPr>
          <a:xfrm>
            <a:off x="438122" y="221567"/>
            <a:ext cx="5297838" cy="687155"/>
            <a:chOff x="1544574" y="576718"/>
            <a:chExt cx="5297838" cy="687155"/>
          </a:xfrm>
        </p:grpSpPr>
        <p:sp>
          <p:nvSpPr>
            <p:cNvPr id="44" name="Rectangle: Rounded Corners 43">
              <a:extLst>
                <a:ext uri="{FF2B5EF4-FFF2-40B4-BE49-F238E27FC236}">
                  <a16:creationId xmlns:a16="http://schemas.microsoft.com/office/drawing/2014/main" id="{7E9AB3D1-5337-43B6-A282-767CCF88E44E}"/>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Oval 44">
              <a:extLst>
                <a:ext uri="{FF2B5EF4-FFF2-40B4-BE49-F238E27FC236}">
                  <a16:creationId xmlns:a16="http://schemas.microsoft.com/office/drawing/2014/main" id="{D443AAB9-1F2F-413A-879C-B796C964EF92}"/>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6" name="Straight Connector 45">
              <a:extLst>
                <a:ext uri="{FF2B5EF4-FFF2-40B4-BE49-F238E27FC236}">
                  <a16:creationId xmlns:a16="http://schemas.microsoft.com/office/drawing/2014/main" id="{695CDD92-381E-4F7A-A724-9FD817C2527F}"/>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3EE9375-396B-40E3-A294-40CE264397A0}"/>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PROSEDURE</a:t>
              </a:r>
              <a:endParaRPr lang="en-US" sz="2000" b="1" dirty="0">
                <a:solidFill>
                  <a:schemeClr val="bg1"/>
                </a:solidFill>
              </a:endParaRPr>
            </a:p>
          </p:txBody>
        </p:sp>
        <p:sp>
          <p:nvSpPr>
            <p:cNvPr id="48" name="TextBox 47">
              <a:extLst>
                <a:ext uri="{FF2B5EF4-FFF2-40B4-BE49-F238E27FC236}">
                  <a16:creationId xmlns:a16="http://schemas.microsoft.com/office/drawing/2014/main" id="{0EC53DEE-B526-476A-86E7-520CE5AC88CF}"/>
                </a:ext>
              </a:extLst>
            </p:cNvPr>
            <p:cNvSpPr txBox="1"/>
            <p:nvPr/>
          </p:nvSpPr>
          <p:spPr>
            <a:xfrm>
              <a:off x="6097067" y="612065"/>
              <a:ext cx="731520" cy="584775"/>
            </a:xfrm>
            <a:prstGeom prst="rect">
              <a:avLst/>
            </a:prstGeom>
            <a:noFill/>
          </p:spPr>
          <p:txBody>
            <a:bodyPr wrap="square" rtlCol="0">
              <a:spAutoFit/>
            </a:bodyPr>
            <a:lstStyle/>
            <a:p>
              <a:endParaRPr lang="en-US" sz="3200" dirty="0">
                <a:solidFill>
                  <a:schemeClr val="accent2">
                    <a:lumMod val="50000"/>
                  </a:schemeClr>
                </a:solidFill>
              </a:endParaRPr>
            </a:p>
          </p:txBody>
        </p:sp>
      </p:grpSp>
    </p:spTree>
    <p:extLst>
      <p:ext uri="{BB962C8B-B14F-4D97-AF65-F5344CB8AC3E}">
        <p14:creationId xmlns:p14="http://schemas.microsoft.com/office/powerpoint/2010/main" val="1100335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AC2755-2F87-4405-85AB-1CA1EF4F85B0}"/>
              </a:ext>
            </a:extLst>
          </p:cNvPr>
          <p:cNvPicPr>
            <a:picLocks noChangeAspect="1"/>
          </p:cNvPicPr>
          <p:nvPr/>
        </p:nvPicPr>
        <p:blipFill>
          <a:blip r:embed="rId2"/>
          <a:stretch>
            <a:fillRect/>
          </a:stretch>
        </p:blipFill>
        <p:spPr>
          <a:xfrm>
            <a:off x="634145" y="582124"/>
            <a:ext cx="9846286" cy="2917214"/>
          </a:xfrm>
          <a:prstGeom prst="rect">
            <a:avLst/>
          </a:prstGeom>
        </p:spPr>
      </p:pic>
      <p:pic>
        <p:nvPicPr>
          <p:cNvPr id="8" name="Picture 7">
            <a:extLst>
              <a:ext uri="{FF2B5EF4-FFF2-40B4-BE49-F238E27FC236}">
                <a16:creationId xmlns:a16="http://schemas.microsoft.com/office/drawing/2014/main" id="{A4C8F06C-AFAB-4B86-9B5D-7D5CD05C9223}"/>
              </a:ext>
            </a:extLst>
          </p:cNvPr>
          <p:cNvPicPr>
            <a:picLocks noChangeAspect="1"/>
          </p:cNvPicPr>
          <p:nvPr/>
        </p:nvPicPr>
        <p:blipFill>
          <a:blip r:embed="rId3"/>
          <a:stretch>
            <a:fillRect/>
          </a:stretch>
        </p:blipFill>
        <p:spPr>
          <a:xfrm>
            <a:off x="493469" y="3429000"/>
            <a:ext cx="10057301" cy="2917214"/>
          </a:xfrm>
          <a:prstGeom prst="rect">
            <a:avLst/>
          </a:prstGeom>
        </p:spPr>
      </p:pic>
    </p:spTree>
    <p:extLst>
      <p:ext uri="{BB962C8B-B14F-4D97-AF65-F5344CB8AC3E}">
        <p14:creationId xmlns:p14="http://schemas.microsoft.com/office/powerpoint/2010/main" val="2299402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DE4845-07E8-4BAD-9D87-47953BC76EA9}"/>
              </a:ext>
            </a:extLst>
          </p:cNvPr>
          <p:cNvPicPr>
            <a:picLocks noChangeAspect="1"/>
          </p:cNvPicPr>
          <p:nvPr/>
        </p:nvPicPr>
        <p:blipFill>
          <a:blip r:embed="rId2"/>
          <a:stretch>
            <a:fillRect/>
          </a:stretch>
        </p:blipFill>
        <p:spPr>
          <a:xfrm>
            <a:off x="748079" y="802298"/>
            <a:ext cx="9779244" cy="2626702"/>
          </a:xfrm>
          <a:prstGeom prst="rect">
            <a:avLst/>
          </a:prstGeom>
        </p:spPr>
      </p:pic>
    </p:spTree>
    <p:extLst>
      <p:ext uri="{BB962C8B-B14F-4D97-AF65-F5344CB8AC3E}">
        <p14:creationId xmlns:p14="http://schemas.microsoft.com/office/powerpoint/2010/main" val="3502409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F826AC-8FE7-43BD-9DDB-167FE3A70D62}"/>
              </a:ext>
            </a:extLst>
          </p:cNvPr>
          <p:cNvPicPr>
            <a:picLocks noChangeAspect="1"/>
          </p:cNvPicPr>
          <p:nvPr/>
        </p:nvPicPr>
        <p:blipFill>
          <a:blip r:embed="rId2"/>
          <a:stretch>
            <a:fillRect/>
          </a:stretch>
        </p:blipFill>
        <p:spPr>
          <a:xfrm>
            <a:off x="652095" y="597144"/>
            <a:ext cx="9757997" cy="2831856"/>
          </a:xfrm>
          <a:prstGeom prst="rect">
            <a:avLst/>
          </a:prstGeom>
        </p:spPr>
      </p:pic>
      <p:pic>
        <p:nvPicPr>
          <p:cNvPr id="6" name="Picture 5">
            <a:extLst>
              <a:ext uri="{FF2B5EF4-FFF2-40B4-BE49-F238E27FC236}">
                <a16:creationId xmlns:a16="http://schemas.microsoft.com/office/drawing/2014/main" id="{578DF127-A6E8-40E7-B3D5-B6C59258CD61}"/>
              </a:ext>
            </a:extLst>
          </p:cNvPr>
          <p:cNvPicPr>
            <a:picLocks noChangeAspect="1"/>
          </p:cNvPicPr>
          <p:nvPr/>
        </p:nvPicPr>
        <p:blipFill>
          <a:blip r:embed="rId3"/>
          <a:stretch>
            <a:fillRect/>
          </a:stretch>
        </p:blipFill>
        <p:spPr>
          <a:xfrm>
            <a:off x="1114424" y="3428999"/>
            <a:ext cx="9757997" cy="2831855"/>
          </a:xfrm>
          <a:prstGeom prst="rect">
            <a:avLst/>
          </a:prstGeom>
        </p:spPr>
      </p:pic>
    </p:spTree>
    <p:extLst>
      <p:ext uri="{BB962C8B-B14F-4D97-AF65-F5344CB8AC3E}">
        <p14:creationId xmlns:p14="http://schemas.microsoft.com/office/powerpoint/2010/main" val="458111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D5FE01-31E7-464C-81FD-896118B2379E}"/>
              </a:ext>
            </a:extLst>
          </p:cNvPr>
          <p:cNvPicPr>
            <a:picLocks noChangeAspect="1"/>
          </p:cNvPicPr>
          <p:nvPr/>
        </p:nvPicPr>
        <p:blipFill rotWithShape="1">
          <a:blip r:embed="rId2"/>
          <a:srcRect t="3442" b="8221"/>
          <a:stretch/>
        </p:blipFill>
        <p:spPr>
          <a:xfrm>
            <a:off x="609601" y="627184"/>
            <a:ext cx="10832122" cy="5603631"/>
          </a:xfrm>
          <a:prstGeom prst="rect">
            <a:avLst/>
          </a:prstGeom>
        </p:spPr>
      </p:pic>
    </p:spTree>
    <p:extLst>
      <p:ext uri="{BB962C8B-B14F-4D97-AF65-F5344CB8AC3E}">
        <p14:creationId xmlns:p14="http://schemas.microsoft.com/office/powerpoint/2010/main" val="1965116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C8D37E-D828-4B98-A66F-85D1B9C89716}"/>
              </a:ext>
            </a:extLst>
          </p:cNvPr>
          <p:cNvPicPr>
            <a:picLocks noChangeAspect="1"/>
          </p:cNvPicPr>
          <p:nvPr/>
        </p:nvPicPr>
        <p:blipFill rotWithShape="1">
          <a:blip r:embed="rId2"/>
          <a:srcRect t="4102" b="7350"/>
          <a:stretch/>
        </p:blipFill>
        <p:spPr>
          <a:xfrm>
            <a:off x="468923" y="633046"/>
            <a:ext cx="11301046" cy="5720863"/>
          </a:xfrm>
          <a:prstGeom prst="rect">
            <a:avLst/>
          </a:prstGeom>
        </p:spPr>
      </p:pic>
    </p:spTree>
    <p:extLst>
      <p:ext uri="{BB962C8B-B14F-4D97-AF65-F5344CB8AC3E}">
        <p14:creationId xmlns:p14="http://schemas.microsoft.com/office/powerpoint/2010/main" val="20758839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637C29-8D41-4967-A5B2-A8FB920590DB}"/>
              </a:ext>
            </a:extLst>
          </p:cNvPr>
          <p:cNvPicPr>
            <a:picLocks noChangeAspect="1"/>
          </p:cNvPicPr>
          <p:nvPr/>
        </p:nvPicPr>
        <p:blipFill rotWithShape="1">
          <a:blip r:embed="rId2"/>
          <a:srcRect b="42564"/>
          <a:stretch/>
        </p:blipFill>
        <p:spPr>
          <a:xfrm>
            <a:off x="515816" y="867509"/>
            <a:ext cx="10761784" cy="5134706"/>
          </a:xfrm>
          <a:prstGeom prst="rect">
            <a:avLst/>
          </a:prstGeom>
        </p:spPr>
      </p:pic>
    </p:spTree>
    <p:extLst>
      <p:ext uri="{BB962C8B-B14F-4D97-AF65-F5344CB8AC3E}">
        <p14:creationId xmlns:p14="http://schemas.microsoft.com/office/powerpoint/2010/main" val="38420529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70964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Ga7UM2MUk0.YIHF0reyHmQ"/>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KAtwxDsTV0OhT4gsZEgjX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uYOeZhJh406ZSSS1dVK70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uYOeZhJh406ZSSS1dVK70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uYOeZhJh406ZSSS1dVK70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uYOeZhJh406ZSSS1dVK70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uYOeZhJh406ZSSS1dVK70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iWF0iL.cG0KKuhfLCMcpD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3678</TotalTime>
  <Words>1118</Words>
  <Application>Microsoft Office PowerPoint</Application>
  <PresentationFormat>Widescreen</PresentationFormat>
  <Paragraphs>253</Paragraphs>
  <Slides>26</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Aptos</vt:lpstr>
      <vt:lpstr>Aptos Display</vt:lpstr>
      <vt:lpstr>Arial</vt:lpstr>
      <vt:lpstr>Calibri</vt:lpstr>
      <vt:lpstr>Elephant</vt:lpstr>
      <vt:lpstr>Futura Bk BT</vt:lpstr>
      <vt:lpstr>Futura-Bold</vt:lpstr>
      <vt:lpstr>Tahoma</vt:lpstr>
      <vt:lpstr>Office Theme</vt:lpstr>
      <vt:lpstr>KICK OFF MEETING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PNEUMATIC TEST</dc:title>
  <dc:creator>Muhammad Reza Febriyanto</dc:creator>
  <cp:lastModifiedBy>Nio Refdiansyah</cp:lastModifiedBy>
  <cp:revision>75</cp:revision>
  <dcterms:created xsi:type="dcterms:W3CDTF">2024-11-13T05:46:50Z</dcterms:created>
  <dcterms:modified xsi:type="dcterms:W3CDTF">2025-07-29T11:32:33Z</dcterms:modified>
</cp:coreProperties>
</file>