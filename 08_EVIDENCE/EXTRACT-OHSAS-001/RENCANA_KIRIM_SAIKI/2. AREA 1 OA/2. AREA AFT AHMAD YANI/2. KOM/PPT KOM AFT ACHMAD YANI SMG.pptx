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handoutMasterIdLst>
    <p:handoutMasterId r:id="rId17"/>
  </p:handoutMasterIdLst>
  <p:sldIdLst>
    <p:sldId id="281" r:id="rId2"/>
    <p:sldId id="282" r:id="rId3"/>
    <p:sldId id="276" r:id="rId4"/>
    <p:sldId id="295" r:id="rId5"/>
    <p:sldId id="287" r:id="rId6"/>
    <p:sldId id="286" r:id="rId7"/>
    <p:sldId id="285" r:id="rId8"/>
    <p:sldId id="288" r:id="rId9"/>
    <p:sldId id="290" r:id="rId10"/>
    <p:sldId id="291" r:id="rId11"/>
    <p:sldId id="292" r:id="rId12"/>
    <p:sldId id="293" r:id="rId13"/>
    <p:sldId id="296" r:id="rId14"/>
    <p:sldId id="28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BB23D"/>
    <a:srgbClr val="114D67"/>
    <a:srgbClr val="E97132"/>
    <a:srgbClr val="5E9765"/>
    <a:srgbClr val="F09B6F"/>
    <a:srgbClr val="5B8F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90" autoAdjust="0"/>
  </p:normalViewPr>
  <p:slideViewPr>
    <p:cSldViewPr snapToGrid="0">
      <p:cViewPr varScale="1">
        <p:scale>
          <a:sx n="78" d="100"/>
          <a:sy n="78" d="100"/>
        </p:scale>
        <p:origin x="878" y="62"/>
      </p:cViewPr>
      <p:guideLst/>
    </p:cSldViewPr>
  </p:slideViewPr>
  <p:outlineViewPr>
    <p:cViewPr>
      <p:scale>
        <a:sx n="33" d="100"/>
        <a:sy n="33" d="100"/>
      </p:scale>
      <p:origin x="0" y="-662"/>
    </p:cViewPr>
  </p:outlineViewPr>
  <p:notesTextViewPr>
    <p:cViewPr>
      <p:scale>
        <a:sx n="1" d="1"/>
        <a:sy n="1" d="1"/>
      </p:scale>
      <p:origin x="0" y="0"/>
    </p:cViewPr>
  </p:notesTextViewPr>
  <p:sorterViewPr>
    <p:cViewPr>
      <p:scale>
        <a:sx n="100" d="100"/>
        <a:sy n="100" d="100"/>
      </p:scale>
      <p:origin x="0" y="-6091"/>
    </p:cViewPr>
  </p:sorterViewPr>
  <p:notesViewPr>
    <p:cSldViewPr snapToGrid="0">
      <p:cViewPr varScale="1">
        <p:scale>
          <a:sx n="65" d="100"/>
          <a:sy n="65" d="100"/>
        </p:scale>
        <p:origin x="3154" y="3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a:extLst>
              <a:ext uri="{FF2B5EF4-FFF2-40B4-BE49-F238E27FC236}">
                <a16:creationId xmlns:a16="http://schemas.microsoft.com/office/drawing/2014/main" id="{F56F36C2-BD4B-4EF5-AD06-3CB2E41E678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d-ID"/>
          </a:p>
        </p:txBody>
      </p:sp>
      <p:sp>
        <p:nvSpPr>
          <p:cNvPr id="3" name="Tampungan Tanggal 2">
            <a:extLst>
              <a:ext uri="{FF2B5EF4-FFF2-40B4-BE49-F238E27FC236}">
                <a16:creationId xmlns:a16="http://schemas.microsoft.com/office/drawing/2014/main" id="{9E84B5C3-1705-BE61-69E1-B5161393FC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DE9C5C-AA8B-46CF-96BE-460E12B55A3F}" type="datetimeFigureOut">
              <a:rPr lang="id-ID" smtClean="0"/>
              <a:t>31/07/2025</a:t>
            </a:fld>
            <a:endParaRPr lang="id-ID"/>
          </a:p>
        </p:txBody>
      </p:sp>
      <p:sp>
        <p:nvSpPr>
          <p:cNvPr id="4" name="Tampungan Kaki 3">
            <a:extLst>
              <a:ext uri="{FF2B5EF4-FFF2-40B4-BE49-F238E27FC236}">
                <a16:creationId xmlns:a16="http://schemas.microsoft.com/office/drawing/2014/main" id="{9E0F3DF3-176D-FE60-0D8F-1FCE8C59BA7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d-ID"/>
          </a:p>
        </p:txBody>
      </p:sp>
      <p:sp>
        <p:nvSpPr>
          <p:cNvPr id="5" name="Tampungan Nomor Slide 4">
            <a:extLst>
              <a:ext uri="{FF2B5EF4-FFF2-40B4-BE49-F238E27FC236}">
                <a16:creationId xmlns:a16="http://schemas.microsoft.com/office/drawing/2014/main" id="{114D5E8F-3370-6EC0-2EB0-A0EF57134B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3DD1E4-9C08-4790-B46A-9E6183F1C018}" type="slidenum">
              <a:rPr lang="id-ID" smtClean="0"/>
              <a:t>‹#›</a:t>
            </a:fld>
            <a:endParaRPr lang="id-ID"/>
          </a:p>
        </p:txBody>
      </p:sp>
    </p:spTree>
    <p:extLst>
      <p:ext uri="{BB962C8B-B14F-4D97-AF65-F5344CB8AC3E}">
        <p14:creationId xmlns:p14="http://schemas.microsoft.com/office/powerpoint/2010/main" val="6191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3A79CA-FC32-B742-A70B-E8D30071E3A2}" type="datetimeFigureOut">
              <a:rPr lang="en-US" smtClean="0"/>
              <a:t>7/31/2025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30FA1F-E585-0B47-8C16-67D0BE956B58}" type="slidenum">
              <a:rPr lang="en-US" smtClean="0"/>
              <a:t>‹#›</a:t>
            </a:fld>
            <a:endParaRPr lang="en-US"/>
          </a:p>
        </p:txBody>
      </p:sp>
    </p:spTree>
    <p:extLst>
      <p:ext uri="{BB962C8B-B14F-4D97-AF65-F5344CB8AC3E}">
        <p14:creationId xmlns:p14="http://schemas.microsoft.com/office/powerpoint/2010/main" val="3297297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D"/>
          </a:p>
        </p:txBody>
      </p:sp>
      <p:sp>
        <p:nvSpPr>
          <p:cNvPr id="4" name="Slide Number Placeholder 3"/>
          <p:cNvSpPr>
            <a:spLocks noGrp="1"/>
          </p:cNvSpPr>
          <p:nvPr>
            <p:ph type="sldNum" sz="quarter" idx="5"/>
          </p:nvPr>
        </p:nvSpPr>
        <p:spPr/>
        <p:txBody>
          <a:bodyPr/>
          <a:lstStyle/>
          <a:p>
            <a:fld id="{7530FA1F-E585-0B47-8C16-67D0BE956B58}" type="slidenum">
              <a:rPr lang="en-US" smtClean="0"/>
              <a:t>1</a:t>
            </a:fld>
            <a:endParaRPr lang="en-US"/>
          </a:p>
        </p:txBody>
      </p:sp>
    </p:spTree>
    <p:extLst>
      <p:ext uri="{BB962C8B-B14F-4D97-AF65-F5344CB8AC3E}">
        <p14:creationId xmlns:p14="http://schemas.microsoft.com/office/powerpoint/2010/main" val="27710148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0A0E8-7BB9-5E5E-1BFD-18AFECD55D98}"/>
              </a:ext>
            </a:extLst>
          </p:cNvPr>
          <p:cNvSpPr>
            <a:spLocks noGrp="1"/>
          </p:cNvSpPr>
          <p:nvPr>
            <p:ph type="ctrTitle"/>
          </p:nvPr>
        </p:nvSpPr>
        <p:spPr>
          <a:xfrm>
            <a:off x="1524000" y="1122362"/>
            <a:ext cx="9144000" cy="1300797"/>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B42C8D9-821A-2954-DB04-BF7A4F55CD8E}"/>
              </a:ext>
            </a:extLst>
          </p:cNvPr>
          <p:cNvSpPr>
            <a:spLocks noGrp="1"/>
          </p:cNvSpPr>
          <p:nvPr>
            <p:ph type="subTitle" idx="1"/>
          </p:nvPr>
        </p:nvSpPr>
        <p:spPr>
          <a:xfrm>
            <a:off x="1524000" y="2423159"/>
            <a:ext cx="9144000" cy="90208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9135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FA70A-3C91-2482-CC03-98DA83137A91}"/>
              </a:ext>
            </a:extLst>
          </p:cNvPr>
          <p:cNvSpPr>
            <a:spLocks noGrp="1"/>
          </p:cNvSpPr>
          <p:nvPr>
            <p:ph type="title"/>
          </p:nvPr>
        </p:nvSpPr>
        <p:spPr>
          <a:xfrm>
            <a:off x="4038600" y="1073150"/>
            <a:ext cx="7315200" cy="1325563"/>
          </a:xfrm>
        </p:spPr>
        <p:txBody>
          <a:bodyPr/>
          <a:lstStyle>
            <a:lvl1pPr algn="l">
              <a:defRPr/>
            </a:lvl1pPr>
          </a:lstStyle>
          <a:p>
            <a:r>
              <a:rPr lang="en-US"/>
              <a:t>Click to edit Master title style</a:t>
            </a:r>
          </a:p>
        </p:txBody>
      </p:sp>
      <p:sp>
        <p:nvSpPr>
          <p:cNvPr id="3" name="Content Placeholder 2">
            <a:extLst>
              <a:ext uri="{FF2B5EF4-FFF2-40B4-BE49-F238E27FC236}">
                <a16:creationId xmlns:a16="http://schemas.microsoft.com/office/drawing/2014/main" id="{7BAE67E3-2117-815A-62F2-F4253937FA51}"/>
              </a:ext>
            </a:extLst>
          </p:cNvPr>
          <p:cNvSpPr>
            <a:spLocks noGrp="1"/>
          </p:cNvSpPr>
          <p:nvPr>
            <p:ph idx="1"/>
          </p:nvPr>
        </p:nvSpPr>
        <p:spPr>
          <a:xfrm>
            <a:off x="4038600" y="2398713"/>
            <a:ext cx="7315200" cy="3778250"/>
          </a:xfrm>
        </p:spPr>
        <p:txBody>
          <a:bodyPr/>
          <a:lstStyle>
            <a:lvl1pPr algn="l">
              <a:defRPr/>
            </a:lvl1pPr>
            <a:lvl2pPr algn="l">
              <a:defRPr/>
            </a:lvl2pPr>
            <a:lvl3pPr algn="l">
              <a:defRPr/>
            </a:lvl3pPr>
            <a:lvl4pPr algn="l">
              <a:defRPr/>
            </a:lvl4pPr>
            <a:lvl5pPr algn="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2BA0EDE-C873-3D09-0F53-25CBFEDCA88D}"/>
              </a:ext>
            </a:extLst>
          </p:cNvPr>
          <p:cNvSpPr>
            <a:spLocks noGrp="1"/>
          </p:cNvSpPr>
          <p:nvPr>
            <p:ph type="dt" sz="half" idx="10"/>
          </p:nvPr>
        </p:nvSpPr>
        <p:spPr/>
        <p:txBody>
          <a:bodyPr/>
          <a:lstStyle/>
          <a:p>
            <a:fld id="{DD3D1EC9-772C-D447-B0BC-8878E13AD991}" type="datetimeFigureOut">
              <a:rPr lang="en-US" smtClean="0"/>
              <a:t>7/31/2025</a:t>
            </a:fld>
            <a:endParaRPr lang="en-US"/>
          </a:p>
        </p:txBody>
      </p:sp>
      <p:sp>
        <p:nvSpPr>
          <p:cNvPr id="5" name="Footer Placeholder 4">
            <a:extLst>
              <a:ext uri="{FF2B5EF4-FFF2-40B4-BE49-F238E27FC236}">
                <a16:creationId xmlns:a16="http://schemas.microsoft.com/office/drawing/2014/main" id="{F23B335B-EBDA-D796-A567-5CD9DB3992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F1CCBE-A30B-94D5-8E2C-68500EE09F1A}"/>
              </a:ext>
            </a:extLst>
          </p:cNvPr>
          <p:cNvSpPr>
            <a:spLocks noGrp="1"/>
          </p:cNvSpPr>
          <p:nvPr>
            <p:ph type="sldNum" sz="quarter" idx="12"/>
          </p:nvPr>
        </p:nvSpPr>
        <p:spPr/>
        <p:txBody>
          <a:bodyPr/>
          <a:lstStyle/>
          <a:p>
            <a:fld id="{D7412CF8-9496-C741-9A19-CFC46C0C0D9D}" type="slidenum">
              <a:rPr lang="en-US" smtClean="0"/>
              <a:t>‹#›</a:t>
            </a:fld>
            <a:endParaRPr lang="en-US"/>
          </a:p>
        </p:txBody>
      </p:sp>
    </p:spTree>
    <p:extLst>
      <p:ext uri="{BB962C8B-B14F-4D97-AF65-F5344CB8AC3E}">
        <p14:creationId xmlns:p14="http://schemas.microsoft.com/office/powerpoint/2010/main" val="2255383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A6DB6-B16F-2087-1349-EEC1B4D09EFB}"/>
              </a:ext>
            </a:extLst>
          </p:cNvPr>
          <p:cNvSpPr>
            <a:spLocks noGrp="1"/>
          </p:cNvSpPr>
          <p:nvPr>
            <p:ph type="title"/>
          </p:nvPr>
        </p:nvSpPr>
        <p:spPr>
          <a:xfrm>
            <a:off x="571023" y="219870"/>
            <a:ext cx="8977313" cy="592138"/>
          </a:xfrm>
        </p:spPr>
        <p:txBody>
          <a:bodyPr/>
          <a:lstStyle/>
          <a:p>
            <a:r>
              <a:rPr lang="en-US" dirty="0"/>
              <a:t>Click to edit Master title style</a:t>
            </a:r>
          </a:p>
        </p:txBody>
      </p:sp>
    </p:spTree>
    <p:extLst>
      <p:ext uri="{BB962C8B-B14F-4D97-AF65-F5344CB8AC3E}">
        <p14:creationId xmlns:p14="http://schemas.microsoft.com/office/powerpoint/2010/main" val="1328312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69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910019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2C1799-20A1-B311-EF25-6236DC2414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20D60D-4B6E-03D9-EC79-B83A8048DF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CD9037-2662-07F2-FEDF-51DEFFEF7D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3D1EC9-772C-D447-B0BC-8878E13AD991}" type="datetimeFigureOut">
              <a:rPr lang="en-US" smtClean="0"/>
              <a:t>7/31/2025</a:t>
            </a:fld>
            <a:endParaRPr lang="en-US"/>
          </a:p>
        </p:txBody>
      </p:sp>
      <p:sp>
        <p:nvSpPr>
          <p:cNvPr id="5" name="Footer Placeholder 4">
            <a:extLst>
              <a:ext uri="{FF2B5EF4-FFF2-40B4-BE49-F238E27FC236}">
                <a16:creationId xmlns:a16="http://schemas.microsoft.com/office/drawing/2014/main" id="{2F85988B-8C12-9161-2E0C-0EFE42D251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6EA17EC-F41C-8172-36ED-FE2184ED5B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412CF8-9496-C741-9A19-CFC46C0C0D9D}" type="slidenum">
              <a:rPr lang="en-US" smtClean="0"/>
              <a:t>‹#›</a:t>
            </a:fld>
            <a:endParaRPr lang="en-US"/>
          </a:p>
        </p:txBody>
      </p:sp>
    </p:spTree>
    <p:extLst>
      <p:ext uri="{BB962C8B-B14F-4D97-AF65-F5344CB8AC3E}">
        <p14:creationId xmlns:p14="http://schemas.microsoft.com/office/powerpoint/2010/main" val="4070043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1" r:id="rId4"/>
    <p:sldLayoutId id="2147483659"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93886D4E-8FCC-2591-2B61-0F35BE5CCCFC}"/>
              </a:ext>
            </a:extLst>
          </p:cNvPr>
          <p:cNvSpPr>
            <a:spLocks noGrp="1"/>
          </p:cNvSpPr>
          <p:nvPr>
            <p:ph type="ctrTitle"/>
          </p:nvPr>
        </p:nvSpPr>
        <p:spPr>
          <a:xfrm>
            <a:off x="1524000" y="865690"/>
            <a:ext cx="9144000" cy="1300797"/>
          </a:xfrm>
        </p:spPr>
        <p:txBody>
          <a:bodyPr/>
          <a:lstStyle/>
          <a:p>
            <a:r>
              <a:rPr lang="en-US" b="1" dirty="0"/>
              <a:t>KICK OFF METTING</a:t>
            </a:r>
            <a:endParaRPr lang="id-ID" b="1" dirty="0"/>
          </a:p>
        </p:txBody>
      </p:sp>
      <p:sp>
        <p:nvSpPr>
          <p:cNvPr id="3" name="Subjudul 2">
            <a:extLst>
              <a:ext uri="{FF2B5EF4-FFF2-40B4-BE49-F238E27FC236}">
                <a16:creationId xmlns:a16="http://schemas.microsoft.com/office/drawing/2014/main" id="{302934AC-0341-679C-C031-5057F0C609A3}"/>
              </a:ext>
            </a:extLst>
          </p:cNvPr>
          <p:cNvSpPr>
            <a:spLocks noGrp="1"/>
          </p:cNvSpPr>
          <p:nvPr>
            <p:ph type="subTitle" idx="1"/>
          </p:nvPr>
        </p:nvSpPr>
        <p:spPr>
          <a:xfrm>
            <a:off x="1524000" y="2102319"/>
            <a:ext cx="9144000" cy="902082"/>
          </a:xfrm>
        </p:spPr>
        <p:txBody>
          <a:bodyPr/>
          <a:lstStyle/>
          <a:p>
            <a:r>
              <a:rPr lang="en-US" b="1" dirty="0"/>
              <a:t>PEKERJAAN CLEANING TANGKI NO 3,4,1, dan 2 AFT A.YANI</a:t>
            </a:r>
            <a:endParaRPr lang="id-ID" b="1" dirty="0"/>
          </a:p>
        </p:txBody>
      </p:sp>
      <p:sp>
        <p:nvSpPr>
          <p:cNvPr id="4" name="Subjudul 2">
            <a:extLst>
              <a:ext uri="{FF2B5EF4-FFF2-40B4-BE49-F238E27FC236}">
                <a16:creationId xmlns:a16="http://schemas.microsoft.com/office/drawing/2014/main" id="{38CA26E3-C7C3-8337-CDD2-2AB2C5B9E4E8}"/>
              </a:ext>
            </a:extLst>
          </p:cNvPr>
          <p:cNvSpPr txBox="1">
            <a:spLocks/>
          </p:cNvSpPr>
          <p:nvPr/>
        </p:nvSpPr>
        <p:spPr>
          <a:xfrm>
            <a:off x="1524000" y="3066234"/>
            <a:ext cx="9144000" cy="90208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D" b="1" dirty="0"/>
              <a:t>PT. PERTAMINA MAINTENANCE &amp; CONSTRUCTION</a:t>
            </a:r>
          </a:p>
          <a:p>
            <a:r>
              <a:rPr lang="en-ID" b="1" dirty="0"/>
              <a:t>3 Juli 2025</a:t>
            </a:r>
            <a:endParaRPr lang="id-ID" b="1" dirty="0"/>
          </a:p>
        </p:txBody>
      </p:sp>
    </p:spTree>
    <p:extLst>
      <p:ext uri="{BB962C8B-B14F-4D97-AF65-F5344CB8AC3E}">
        <p14:creationId xmlns:p14="http://schemas.microsoft.com/office/powerpoint/2010/main" val="2769820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EA088D6-D9E7-ECF2-A9FF-8BBF00A053B4}"/>
              </a:ext>
            </a:extLst>
          </p:cNvPr>
          <p:cNvSpPr>
            <a:spLocks noGrp="1"/>
          </p:cNvSpPr>
          <p:nvPr>
            <p:ph type="title"/>
          </p:nvPr>
        </p:nvSpPr>
        <p:spPr/>
        <p:txBody>
          <a:bodyPr/>
          <a:lstStyle/>
          <a:p>
            <a:r>
              <a:rPr lang="en-US" dirty="0"/>
              <a:t>TARGET 75 HARI KALENDER</a:t>
            </a:r>
            <a:endParaRPr lang="id-ID" dirty="0"/>
          </a:p>
        </p:txBody>
      </p:sp>
      <p:grpSp>
        <p:nvGrpSpPr>
          <p:cNvPr id="15" name="Grup 27">
            <a:extLst>
              <a:ext uri="{FF2B5EF4-FFF2-40B4-BE49-F238E27FC236}">
                <a16:creationId xmlns:a16="http://schemas.microsoft.com/office/drawing/2014/main" id="{6255B898-9D6A-5AAF-D84A-0ADF72AEA763}"/>
              </a:ext>
            </a:extLst>
          </p:cNvPr>
          <p:cNvGrpSpPr/>
          <p:nvPr/>
        </p:nvGrpSpPr>
        <p:grpSpPr>
          <a:xfrm>
            <a:off x="118585" y="1073150"/>
            <a:ext cx="3542350" cy="3217830"/>
            <a:chOff x="1571574" y="1036030"/>
            <a:chExt cx="3542350" cy="3217830"/>
          </a:xfrm>
        </p:grpSpPr>
        <p:sp>
          <p:nvSpPr>
            <p:cNvPr id="16" name="Rectangle 15">
              <a:extLst>
                <a:ext uri="{FF2B5EF4-FFF2-40B4-BE49-F238E27FC236}">
                  <a16:creationId xmlns:a16="http://schemas.microsoft.com/office/drawing/2014/main" id="{8DFB5EC6-C7B7-4F0B-B4A3-F413621C37E4}"/>
                </a:ext>
              </a:extLst>
            </p:cNvPr>
            <p:cNvSpPr>
              <a:spLocks noChangeArrowheads="1"/>
            </p:cNvSpPr>
            <p:nvPr/>
          </p:nvSpPr>
          <p:spPr bwMode="auto">
            <a:xfrm>
              <a:off x="2063552" y="1740086"/>
              <a:ext cx="2592288" cy="392773"/>
            </a:xfrm>
            <a:prstGeom prst="rect">
              <a:avLst/>
            </a:prstGeom>
            <a:solidFill>
              <a:schemeClr val="tx2"/>
            </a:solidFill>
            <a:ln w="9525">
              <a:solidFill>
                <a:schemeClr val="folHlink"/>
              </a:solidFill>
              <a:miter lim="800000"/>
              <a:headEnd/>
              <a:tailEnd/>
            </a:ln>
          </p:spPr>
          <p:txBody>
            <a:bodyPr wrap="none" lIns="92090" tIns="46052" rIns="92090" bIns="46052"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MASTER SCHEDULE </a:t>
              </a:r>
              <a:r>
                <a:rPr lang="en-US" sz="1200" b="1" dirty="0">
                  <a:solidFill>
                    <a:srgbClr val="FFFFFF"/>
                  </a:solidFill>
                  <a:latin typeface="Calibri"/>
                  <a:ea typeface="SimSun" pitchFamily="2" charset="-122"/>
                </a:rPr>
                <a:t>   </a:t>
              </a:r>
            </a:p>
          </p:txBody>
        </p:sp>
        <p:sp>
          <p:nvSpPr>
            <p:cNvPr id="17" name="Rectangle 16">
              <a:extLst>
                <a:ext uri="{FF2B5EF4-FFF2-40B4-BE49-F238E27FC236}">
                  <a16:creationId xmlns:a16="http://schemas.microsoft.com/office/drawing/2014/main" id="{689C3F12-E58E-4054-8AA9-6F47C2CBC270}"/>
                </a:ext>
              </a:extLst>
            </p:cNvPr>
            <p:cNvSpPr>
              <a:spLocks noChangeArrowheads="1"/>
            </p:cNvSpPr>
            <p:nvPr/>
          </p:nvSpPr>
          <p:spPr bwMode="auto">
            <a:xfrm>
              <a:off x="1991544" y="3065638"/>
              <a:ext cx="2667570" cy="392773"/>
            </a:xfrm>
            <a:prstGeom prst="rect">
              <a:avLst/>
            </a:prstGeom>
            <a:solidFill>
              <a:schemeClr val="tx2"/>
            </a:solidFill>
            <a:ln w="9525">
              <a:solidFill>
                <a:schemeClr val="folHlink"/>
              </a:solidFill>
              <a:miter lim="800000"/>
              <a:headEnd/>
              <a:tailEnd/>
            </a:ln>
          </p:spPr>
          <p:txBody>
            <a:bodyPr wrap="none" lIns="92090" tIns="46052" rIns="92090" bIns="46052"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EXECUTION METHOD</a:t>
              </a:r>
            </a:p>
          </p:txBody>
        </p:sp>
        <p:sp>
          <p:nvSpPr>
            <p:cNvPr id="18" name="Rectangle 17">
              <a:extLst>
                <a:ext uri="{FF2B5EF4-FFF2-40B4-BE49-F238E27FC236}">
                  <a16:creationId xmlns:a16="http://schemas.microsoft.com/office/drawing/2014/main" id="{4FD9AB10-59CE-49C9-A0B6-DCA97EE517E9}"/>
                </a:ext>
              </a:extLst>
            </p:cNvPr>
            <p:cNvSpPr>
              <a:spLocks noChangeArrowheads="1"/>
            </p:cNvSpPr>
            <p:nvPr/>
          </p:nvSpPr>
          <p:spPr bwMode="auto">
            <a:xfrm>
              <a:off x="2018596" y="2386980"/>
              <a:ext cx="2637244" cy="393946"/>
            </a:xfrm>
            <a:prstGeom prst="rect">
              <a:avLst/>
            </a:prstGeom>
            <a:solidFill>
              <a:schemeClr val="tx2"/>
            </a:solidFill>
            <a:ln w="9525">
              <a:solidFill>
                <a:schemeClr val="folHlink"/>
              </a:solidFill>
              <a:miter lim="800000"/>
              <a:headEnd/>
              <a:tailEnd/>
            </a:ln>
          </p:spPr>
          <p:txBody>
            <a:bodyPr wrap="none" lIns="92090" tIns="46052" rIns="92090" bIns="46052"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TOOL &amp; RESOURCE  </a:t>
              </a:r>
            </a:p>
          </p:txBody>
        </p:sp>
        <p:sp>
          <p:nvSpPr>
            <p:cNvPr id="19" name="Rectangle 18">
              <a:extLst>
                <a:ext uri="{FF2B5EF4-FFF2-40B4-BE49-F238E27FC236}">
                  <a16:creationId xmlns:a16="http://schemas.microsoft.com/office/drawing/2014/main" id="{9E7E11A8-C506-4A76-B6F0-22A096E07A78}"/>
                </a:ext>
              </a:extLst>
            </p:cNvPr>
            <p:cNvSpPr>
              <a:spLocks noChangeArrowheads="1"/>
            </p:cNvSpPr>
            <p:nvPr/>
          </p:nvSpPr>
          <p:spPr bwMode="auto">
            <a:xfrm>
              <a:off x="2063552" y="3805031"/>
              <a:ext cx="2592288" cy="392773"/>
            </a:xfrm>
            <a:prstGeom prst="rect">
              <a:avLst/>
            </a:prstGeom>
            <a:solidFill>
              <a:schemeClr val="tx2"/>
            </a:solidFill>
            <a:ln w="9525">
              <a:solidFill>
                <a:schemeClr val="folHlink"/>
              </a:solidFill>
              <a:miter lim="800000"/>
              <a:headEnd/>
              <a:tailEnd/>
            </a:ln>
          </p:spPr>
          <p:txBody>
            <a:bodyPr wrap="none" lIns="92090" tIns="46052" rIns="92090" bIns="46052"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OTHER</a:t>
              </a:r>
              <a:r>
                <a:rPr lang="en-US" sz="1200" b="1" dirty="0">
                  <a:solidFill>
                    <a:srgbClr val="FFFFFF"/>
                  </a:solidFill>
                  <a:latin typeface="Calibri"/>
                  <a:ea typeface="SimSun" pitchFamily="2" charset="-122"/>
                </a:rPr>
                <a:t>  </a:t>
              </a:r>
            </a:p>
          </p:txBody>
        </p:sp>
        <p:sp>
          <p:nvSpPr>
            <p:cNvPr id="20" name="Rectangle 19">
              <a:extLst>
                <a:ext uri="{FF2B5EF4-FFF2-40B4-BE49-F238E27FC236}">
                  <a16:creationId xmlns:a16="http://schemas.microsoft.com/office/drawing/2014/main" id="{45749FE2-2DF0-4DC9-953E-488FF98681EB}"/>
                </a:ext>
              </a:extLst>
            </p:cNvPr>
            <p:cNvSpPr>
              <a:spLocks noChangeArrowheads="1"/>
            </p:cNvSpPr>
            <p:nvPr/>
          </p:nvSpPr>
          <p:spPr bwMode="auto">
            <a:xfrm>
              <a:off x="2038155" y="1080754"/>
              <a:ext cx="3075769" cy="455822"/>
            </a:xfrm>
            <a:prstGeom prst="rect">
              <a:avLst/>
            </a:prstGeom>
            <a:solidFill>
              <a:schemeClr val="tx2"/>
            </a:solidFill>
            <a:ln w="9525">
              <a:solidFill>
                <a:schemeClr val="folHlink"/>
              </a:solidFill>
              <a:miter lim="800000"/>
              <a:headEnd/>
              <a:tailEnd/>
            </a:ln>
          </p:spPr>
          <p:txBody>
            <a:bodyPr wrap="none" lIns="92090" tIns="46052" rIns="92090" bIns="46052" anchor="ct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0785" defTabSz="928326" eaLnBrk="0" fontAlgn="base" hangingPunct="0">
                <a:spcBef>
                  <a:spcPct val="0"/>
                </a:spcBef>
                <a:spcAft>
                  <a:spcPct val="0"/>
                </a:spcAft>
                <a:buClr>
                  <a:srgbClr val="002960"/>
                </a:buClr>
                <a:defRPr/>
              </a:pPr>
              <a:r>
                <a:rPr lang="en-US" sz="2000" b="1" dirty="0">
                  <a:solidFill>
                    <a:srgbClr val="FFFFFF"/>
                  </a:solidFill>
                  <a:latin typeface="Calibri"/>
                  <a:ea typeface="SimSun" pitchFamily="2" charset="-122"/>
                </a:rPr>
                <a:t>   PROJECT ORGANIZATION</a:t>
              </a:r>
              <a:endParaRPr lang="en-US" sz="1200" b="1" dirty="0">
                <a:solidFill>
                  <a:srgbClr val="FFFFFF"/>
                </a:solidFill>
                <a:latin typeface="Calibri"/>
                <a:ea typeface="SimSun" pitchFamily="2" charset="-122"/>
              </a:endParaRPr>
            </a:p>
          </p:txBody>
        </p:sp>
        <p:sp>
          <p:nvSpPr>
            <p:cNvPr id="21" name="Rectangle 4">
              <a:extLst>
                <a:ext uri="{FF2B5EF4-FFF2-40B4-BE49-F238E27FC236}">
                  <a16:creationId xmlns:a16="http://schemas.microsoft.com/office/drawing/2014/main" id="{E661C0AA-1DBE-4E53-9190-AF0BB3C3F57F}"/>
                </a:ext>
              </a:extLst>
            </p:cNvPr>
            <p:cNvSpPr>
              <a:spLocks noChangeArrowheads="1"/>
            </p:cNvSpPr>
            <p:nvPr/>
          </p:nvSpPr>
          <p:spPr bwMode="auto">
            <a:xfrm>
              <a:off x="1571574" y="1036030"/>
              <a:ext cx="576064" cy="520765"/>
            </a:xfrm>
            <a:prstGeom prst="ellipse">
              <a:avLst/>
            </a:prstGeom>
            <a:solidFill>
              <a:schemeClr val="tx2"/>
            </a:solidFill>
            <a:ln w="28575">
              <a:solidFill>
                <a:schemeClr val="bg2"/>
              </a:solidFill>
              <a:round/>
              <a:headEnd/>
              <a:tailEnd/>
            </a:ln>
          </p:spPr>
          <p:txBody>
            <a:bodyPr wrap="none" lIns="0" tIns="0" rIns="0" bIns="0" anchor="ctr" anchorCtr="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2" name="Rectangle 4">
              <a:extLst>
                <a:ext uri="{FF2B5EF4-FFF2-40B4-BE49-F238E27FC236}">
                  <a16:creationId xmlns:a16="http://schemas.microsoft.com/office/drawing/2014/main" id="{735425A3-DCE3-4BDD-A6C3-A12CA7D143EB}"/>
                </a:ext>
              </a:extLst>
            </p:cNvPr>
            <p:cNvSpPr>
              <a:spLocks noChangeArrowheads="1"/>
            </p:cNvSpPr>
            <p:nvPr/>
          </p:nvSpPr>
          <p:spPr bwMode="auto">
            <a:xfrm>
              <a:off x="1593671" y="1686292"/>
              <a:ext cx="576064" cy="520765"/>
            </a:xfrm>
            <a:prstGeom prst="ellipse">
              <a:avLst/>
            </a:prstGeom>
            <a:solidFill>
              <a:schemeClr val="tx2"/>
            </a:solidFill>
            <a:ln w="28575">
              <a:solidFill>
                <a:schemeClr val="bg2"/>
              </a:solidFill>
              <a:round/>
              <a:headEnd/>
              <a:tailEnd/>
            </a:ln>
          </p:spPr>
          <p:txBody>
            <a:bodyPr wrap="none" lIns="0" tIns="0" rIns="0" bIns="0" anchor="ctr" anchorCtr="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3" name="Rectangle 4">
              <a:extLst>
                <a:ext uri="{FF2B5EF4-FFF2-40B4-BE49-F238E27FC236}">
                  <a16:creationId xmlns:a16="http://schemas.microsoft.com/office/drawing/2014/main" id="{46A848B7-E284-42A1-851B-037B77C8DF6F}"/>
                </a:ext>
              </a:extLst>
            </p:cNvPr>
            <p:cNvSpPr>
              <a:spLocks noChangeArrowheads="1"/>
            </p:cNvSpPr>
            <p:nvPr/>
          </p:nvSpPr>
          <p:spPr bwMode="auto">
            <a:xfrm>
              <a:off x="1571574" y="2347723"/>
              <a:ext cx="576064" cy="520765"/>
            </a:xfrm>
            <a:prstGeom prst="ellipse">
              <a:avLst/>
            </a:prstGeom>
            <a:solidFill>
              <a:schemeClr val="tx2"/>
            </a:solidFill>
            <a:ln w="28575">
              <a:solidFill>
                <a:schemeClr val="bg2"/>
              </a:solidFill>
              <a:round/>
              <a:headEnd/>
              <a:tailEnd/>
            </a:ln>
          </p:spPr>
          <p:txBody>
            <a:bodyPr wrap="none" lIns="0" tIns="0" rIns="0" bIns="0" anchor="ctr" anchorCtr="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4" name="Rectangle 4">
              <a:extLst>
                <a:ext uri="{FF2B5EF4-FFF2-40B4-BE49-F238E27FC236}">
                  <a16:creationId xmlns:a16="http://schemas.microsoft.com/office/drawing/2014/main" id="{48317E10-2131-459F-931B-2058B3430E4B}"/>
                </a:ext>
              </a:extLst>
            </p:cNvPr>
            <p:cNvSpPr>
              <a:spLocks noChangeArrowheads="1"/>
            </p:cNvSpPr>
            <p:nvPr/>
          </p:nvSpPr>
          <p:spPr bwMode="auto">
            <a:xfrm>
              <a:off x="1591878" y="3733095"/>
              <a:ext cx="576064" cy="520765"/>
            </a:xfrm>
            <a:prstGeom prst="ellipse">
              <a:avLst/>
            </a:prstGeom>
            <a:solidFill>
              <a:schemeClr val="tx2"/>
            </a:solidFill>
            <a:ln w="28575">
              <a:solidFill>
                <a:schemeClr val="bg2"/>
              </a:solidFill>
              <a:round/>
              <a:headEnd/>
              <a:tailEnd/>
            </a:ln>
          </p:spPr>
          <p:txBody>
            <a:bodyPr wrap="none" lIns="0" tIns="0" rIns="0" bIns="0" anchor="ctr" anchorCtr="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sp>
          <p:nvSpPr>
            <p:cNvPr id="25" name="Rectangle 4">
              <a:extLst>
                <a:ext uri="{FF2B5EF4-FFF2-40B4-BE49-F238E27FC236}">
                  <a16:creationId xmlns:a16="http://schemas.microsoft.com/office/drawing/2014/main" id="{D24E29F9-1A6C-4B68-A7FC-FFA0FFD1F5AF}"/>
                </a:ext>
              </a:extLst>
            </p:cNvPr>
            <p:cNvSpPr>
              <a:spLocks noChangeArrowheads="1"/>
            </p:cNvSpPr>
            <p:nvPr/>
          </p:nvSpPr>
          <p:spPr bwMode="auto">
            <a:xfrm>
              <a:off x="1591878" y="3016263"/>
              <a:ext cx="576064" cy="520765"/>
            </a:xfrm>
            <a:prstGeom prst="ellipse">
              <a:avLst/>
            </a:prstGeom>
            <a:solidFill>
              <a:schemeClr val="tx2"/>
            </a:solidFill>
            <a:ln w="28575">
              <a:solidFill>
                <a:schemeClr val="bg2"/>
              </a:solidFill>
              <a:round/>
              <a:headEnd/>
              <a:tailEnd/>
            </a:ln>
          </p:spPr>
          <p:txBody>
            <a:bodyPr wrap="none" lIns="0" tIns="0" rIns="0" bIns="0" anchor="ctr" anchorCtr="1"/>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278" indent="-342278" algn="ctr" defTabSz="898871" fontAlgn="base">
                <a:spcBef>
                  <a:spcPct val="0"/>
                </a:spcBef>
                <a:spcAft>
                  <a:spcPct val="0"/>
                </a:spcAft>
                <a:buClr>
                  <a:srgbClr val="002960"/>
                </a:buClr>
                <a:defRPr/>
              </a:pPr>
              <a:r>
                <a:rPr lang="en-US" altLang="zh-CN" sz="2800" b="1" dirty="0">
                  <a:solidFill>
                    <a:srgbClr val="FFFFFF"/>
                  </a:solidFill>
                  <a:latin typeface="Arial" panose="020B0604020202020204" pitchFamily="34" charset="0"/>
                  <a:ea typeface="SimSun" pitchFamily="2" charset="-122"/>
                  <a:cs typeface="Arial" panose="020B0604020202020204" pitchFamily="34" charset="0"/>
                </a:rPr>
                <a:t> ►</a:t>
              </a:r>
              <a:endParaRPr lang="en-US" altLang="zh-CN" sz="2800" b="1" dirty="0">
                <a:solidFill>
                  <a:srgbClr val="FFFFFF"/>
                </a:solidFill>
                <a:latin typeface="Calibri"/>
                <a:ea typeface="SimSun" pitchFamily="2" charset="-122"/>
              </a:endParaRPr>
            </a:p>
          </p:txBody>
        </p:sp>
      </p:grpSp>
      <p:sp>
        <p:nvSpPr>
          <p:cNvPr id="26" name="TextBox 5">
            <a:extLst>
              <a:ext uri="{FF2B5EF4-FFF2-40B4-BE49-F238E27FC236}">
                <a16:creationId xmlns:a16="http://schemas.microsoft.com/office/drawing/2014/main" id="{A057E6DF-0B2D-4843-A1B2-FC45D28C5382}"/>
              </a:ext>
            </a:extLst>
          </p:cNvPr>
          <p:cNvSpPr txBox="1"/>
          <p:nvPr/>
        </p:nvSpPr>
        <p:spPr>
          <a:xfrm>
            <a:off x="4014382" y="5842801"/>
            <a:ext cx="7214918" cy="469726"/>
          </a:xfrm>
          <a:prstGeom prst="rect">
            <a:avLst/>
          </a:prstGeom>
          <a:ln>
            <a:noFill/>
          </a:ln>
          <a:effectLst/>
          <a:scene3d>
            <a:camera prst="orthographicFront">
              <a:rot lat="0" lon="0" rev="0"/>
            </a:camera>
            <a:lightRig rig="glow" dir="t">
              <a:rot lat="0" lon="0" rev="14100000"/>
            </a:lightRig>
          </a:scene3d>
          <a:sp3d prstMaterial="softEdge">
            <a:bevelT w="127000" prst="artDeco"/>
          </a:sp3d>
        </p:spPr>
        <p:style>
          <a:lnRef idx="1">
            <a:schemeClr val="dk1"/>
          </a:lnRef>
          <a:fillRef idx="2">
            <a:schemeClr val="dk1"/>
          </a:fillRef>
          <a:effectRef idx="1">
            <a:schemeClr val="dk1"/>
          </a:effectRef>
          <a:fontRef idx="minor">
            <a:schemeClr val="dk1"/>
          </a:fontRef>
        </p:style>
        <p:txBody>
          <a:bodyPr wrap="square" lIns="89450" tIns="44730" rIns="89450" bIns="44730">
            <a:spAutoFit/>
          </a:bodyPr>
          <a:lstStyle>
            <a:defPPr>
              <a:defRPr lang="id-ID"/>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defTabSz="932962" fontAlgn="base">
              <a:spcBef>
                <a:spcPct val="0"/>
              </a:spcBef>
              <a:spcAft>
                <a:spcPct val="0"/>
              </a:spcAft>
              <a:defRPr/>
            </a:pPr>
            <a:r>
              <a:rPr lang="en-US" sz="2400" dirty="0">
                <a:solidFill>
                  <a:srgbClr val="FFFFFF"/>
                </a:solidFill>
                <a:latin typeface="Futura-Bold" pitchFamily="2" charset="0"/>
                <a:cs typeface="Arial" pitchFamily="34" charset="0"/>
              </a:rPr>
              <a:t>TODAY : </a:t>
            </a:r>
            <a:r>
              <a:rPr lang="en-US" sz="2400" dirty="0">
                <a:solidFill>
                  <a:schemeClr val="bg1"/>
                </a:solidFill>
                <a:latin typeface="Futura-Bold" pitchFamily="2" charset="0"/>
                <a:cs typeface="Arial" pitchFamily="34" charset="0"/>
              </a:rPr>
              <a:t>31 Juli 2025</a:t>
            </a:r>
            <a:endParaRPr lang="id-ID" sz="2400" dirty="0">
              <a:solidFill>
                <a:schemeClr val="bg1"/>
              </a:solidFill>
              <a:latin typeface="Futura-Bold" pitchFamily="2" charset="0"/>
              <a:cs typeface="Arial" pitchFamily="34" charset="0"/>
            </a:endParaRPr>
          </a:p>
        </p:txBody>
      </p:sp>
      <p:grpSp>
        <p:nvGrpSpPr>
          <p:cNvPr id="27" name="Group 26">
            <a:extLst>
              <a:ext uri="{FF2B5EF4-FFF2-40B4-BE49-F238E27FC236}">
                <a16:creationId xmlns:a16="http://schemas.microsoft.com/office/drawing/2014/main" id="{473C566B-9662-40A4-9898-B7E0A6659C70}"/>
              </a:ext>
            </a:extLst>
          </p:cNvPr>
          <p:cNvGrpSpPr/>
          <p:nvPr/>
        </p:nvGrpSpPr>
        <p:grpSpPr>
          <a:xfrm>
            <a:off x="4780337" y="2424100"/>
            <a:ext cx="2631326" cy="2902459"/>
            <a:chOff x="3419872" y="2530996"/>
            <a:chExt cx="2382329" cy="2902459"/>
          </a:xfrm>
          <a:solidFill>
            <a:srgbClr val="203864"/>
          </a:solidFill>
        </p:grpSpPr>
        <p:sp>
          <p:nvSpPr>
            <p:cNvPr id="33" name="Oval 32">
              <a:extLst>
                <a:ext uri="{FF2B5EF4-FFF2-40B4-BE49-F238E27FC236}">
                  <a16:creationId xmlns:a16="http://schemas.microsoft.com/office/drawing/2014/main" id="{933F3BC2-ED99-4AED-928E-8C5981D09139}"/>
                </a:ext>
              </a:extLst>
            </p:cNvPr>
            <p:cNvSpPr/>
            <p:nvPr/>
          </p:nvSpPr>
          <p:spPr>
            <a:xfrm>
              <a:off x="3436813" y="2956392"/>
              <a:ext cx="2160240" cy="2055046"/>
            </a:xfrm>
            <a:prstGeom prst="ellipse">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3">
              <a:schemeClr val="lt1"/>
            </a:lnRef>
            <a:fillRef idx="1">
              <a:schemeClr val="accent6"/>
            </a:fillRef>
            <a:effectRef idx="1">
              <a:schemeClr val="accent6"/>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dirty="0">
                <a:solidFill>
                  <a:prstClr val="white"/>
                </a:solidFill>
                <a:latin typeface="Calibri"/>
              </a:endParaRPr>
            </a:p>
          </p:txBody>
        </p:sp>
        <p:sp>
          <p:nvSpPr>
            <p:cNvPr id="34" name="TextBox 8">
              <a:extLst>
                <a:ext uri="{FF2B5EF4-FFF2-40B4-BE49-F238E27FC236}">
                  <a16:creationId xmlns:a16="http://schemas.microsoft.com/office/drawing/2014/main" id="{16E74744-1615-48AC-887E-38794F389359}"/>
                </a:ext>
              </a:extLst>
            </p:cNvPr>
            <p:cNvSpPr txBox="1"/>
            <p:nvPr/>
          </p:nvSpPr>
          <p:spPr>
            <a:xfrm>
              <a:off x="3419872" y="2530996"/>
              <a:ext cx="2160240" cy="400110"/>
            </a:xfrm>
            <a:prstGeom prst="rect">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dirty="0">
                  <a:ln w="6600" cmpd="dbl">
                    <a:solidFill>
                      <a:schemeClr val="tx1"/>
                    </a:solidFill>
                    <a:prstDash val="solid"/>
                  </a:ln>
                  <a:solidFill>
                    <a:srgbClr val="FFFFFF"/>
                  </a:solidFill>
                  <a:effectLst>
                    <a:outerShdw dist="38100" dir="2700000" algn="tl" rotWithShape="0">
                      <a:srgbClr val="ED7D31"/>
                    </a:outerShdw>
                  </a:effectLst>
                  <a:latin typeface="Calibri"/>
                </a:rPr>
                <a:t>DAY</a:t>
              </a:r>
              <a:endParaRPr lang="en-US" sz="2000" dirty="0">
                <a:ln cmpd="dbl">
                  <a:solidFill>
                    <a:schemeClr val="tx1"/>
                  </a:solidFill>
                </a:ln>
                <a:solidFill>
                  <a:prstClr val="white"/>
                </a:solidFill>
                <a:latin typeface="Calibri"/>
              </a:endParaRPr>
            </a:p>
          </p:txBody>
        </p:sp>
        <p:sp>
          <p:nvSpPr>
            <p:cNvPr id="35" name="TextBox 9">
              <a:extLst>
                <a:ext uri="{FF2B5EF4-FFF2-40B4-BE49-F238E27FC236}">
                  <a16:creationId xmlns:a16="http://schemas.microsoft.com/office/drawing/2014/main" id="{8C7D35E0-28B9-4734-87F2-986B2D3B22A0}"/>
                </a:ext>
              </a:extLst>
            </p:cNvPr>
            <p:cNvSpPr txBox="1"/>
            <p:nvPr/>
          </p:nvSpPr>
          <p:spPr>
            <a:xfrm>
              <a:off x="3730338" y="3238974"/>
              <a:ext cx="1532468" cy="1200329"/>
            </a:xfrm>
            <a:prstGeom prst="rect">
              <a:avLst/>
            </a:prstGeom>
            <a:grp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id-ID" sz="7200" b="1" dirty="0">
                  <a:ln w="12700">
                    <a:solidFill>
                      <a:srgbClr val="002960">
                        <a:satMod val="155000"/>
                      </a:srgbClr>
                    </a:solidFill>
                    <a:prstDash val="solid"/>
                  </a:ln>
                  <a:solidFill>
                    <a:srgbClr val="FFFFFF"/>
                  </a:solidFill>
                  <a:effectLst>
                    <a:outerShdw blurRad="41275" dist="20320" dir="1800000" algn="tl" rotWithShape="0">
                      <a:srgbClr val="000000">
                        <a:alpha val="40000"/>
                      </a:srgbClr>
                    </a:outerShdw>
                  </a:effectLst>
                  <a:latin typeface="Futura-Bold" pitchFamily="2" charset="0"/>
                  <a:cs typeface="Arial" pitchFamily="34" charset="0"/>
                </a:rPr>
                <a:t>01</a:t>
              </a:r>
              <a:endParaRPr lang="en-US" sz="7200" b="1" dirty="0">
                <a:ln w="12700">
                  <a:solidFill>
                    <a:srgbClr val="002960">
                      <a:satMod val="155000"/>
                    </a:srgbClr>
                  </a:solidFill>
                  <a:prstDash val="solid"/>
                </a:ln>
                <a:solidFill>
                  <a:srgbClr val="FFFFFF"/>
                </a:solidFill>
                <a:effectLst>
                  <a:outerShdw blurRad="41275" dist="20320" dir="1800000" algn="tl" rotWithShape="0">
                    <a:srgbClr val="000000">
                      <a:alpha val="40000"/>
                    </a:srgbClr>
                  </a:outerShdw>
                </a:effectLst>
                <a:latin typeface="Futura-Bold" pitchFamily="2" charset="0"/>
                <a:cs typeface="Arial" pitchFamily="34" charset="0"/>
              </a:endParaRPr>
            </a:p>
          </p:txBody>
        </p:sp>
        <p:sp>
          <p:nvSpPr>
            <p:cNvPr id="36" name="TextBox 10">
              <a:extLst>
                <a:ext uri="{FF2B5EF4-FFF2-40B4-BE49-F238E27FC236}">
                  <a16:creationId xmlns:a16="http://schemas.microsoft.com/office/drawing/2014/main" id="{A8CB287D-CB2D-49B9-92E1-3EE285CBBC2C}"/>
                </a:ext>
              </a:extLst>
            </p:cNvPr>
            <p:cNvSpPr txBox="1"/>
            <p:nvPr/>
          </p:nvSpPr>
          <p:spPr>
            <a:xfrm>
              <a:off x="3520377" y="5064123"/>
              <a:ext cx="2281824" cy="369332"/>
            </a:xfrm>
            <a:prstGeom prst="rect">
              <a:avLst/>
            </a:prstGeom>
            <a:grpFill/>
            <a:ln>
              <a:solidFill>
                <a:srgbClr val="002960">
                  <a:satMod val="155000"/>
                </a:srgbClr>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en-US" dirty="0">
                  <a:ln w="0">
                    <a:noFill/>
                  </a:ln>
                  <a:solidFill>
                    <a:schemeClr val="bg1"/>
                  </a:solidFill>
                  <a:effectLst>
                    <a:outerShdw blurRad="38100" dist="19050" dir="2700000" algn="tl" rotWithShape="0">
                      <a:prstClr val="black">
                        <a:alpha val="40000"/>
                      </a:prstClr>
                    </a:outerShdw>
                  </a:effectLst>
                  <a:latin typeface="Calibri"/>
                </a:rPr>
                <a:t>Start </a:t>
              </a:r>
              <a:r>
                <a:rPr lang="en-US" dirty="0">
                  <a:ln w="0">
                    <a:noFill/>
                  </a:ln>
                  <a:solidFill>
                    <a:schemeClr val="bg1"/>
                  </a:solidFill>
                  <a:effectLst>
                    <a:outerShdw blurRad="38100" dist="19050" dir="2700000" algn="tl" rotWithShape="0">
                      <a:prstClr val="black">
                        <a:alpha val="40000"/>
                      </a:prstClr>
                    </a:outerShdw>
                  </a:effectLst>
                </a:rPr>
                <a:t>: 31 Juli</a:t>
              </a:r>
              <a:r>
                <a:rPr lang="id-ID" dirty="0">
                  <a:ln w="0">
                    <a:noFill/>
                  </a:ln>
                  <a:solidFill>
                    <a:schemeClr val="bg1"/>
                  </a:solidFill>
                  <a:effectLst>
                    <a:outerShdw blurRad="38100" dist="19050" dir="2700000" algn="tl" rotWithShape="0">
                      <a:prstClr val="black">
                        <a:alpha val="40000"/>
                      </a:prstClr>
                    </a:outerShdw>
                  </a:effectLst>
                </a:rPr>
                <a:t> 202</a:t>
              </a:r>
              <a:r>
                <a:rPr lang="en-US" dirty="0">
                  <a:ln w="0">
                    <a:noFill/>
                  </a:ln>
                  <a:solidFill>
                    <a:schemeClr val="bg1"/>
                  </a:solidFill>
                  <a:effectLst>
                    <a:outerShdw blurRad="38100" dist="19050" dir="2700000" algn="tl" rotWithShape="0">
                      <a:prstClr val="black">
                        <a:alpha val="40000"/>
                      </a:prstClr>
                    </a:outerShdw>
                  </a:effectLst>
                </a:rPr>
                <a:t>5</a:t>
              </a:r>
              <a:endParaRPr lang="en-US" dirty="0">
                <a:ln w="0">
                  <a:noFill/>
                </a:ln>
                <a:solidFill>
                  <a:schemeClr val="bg1"/>
                </a:solidFill>
                <a:effectLst>
                  <a:outerShdw blurRad="38100" dist="19050" dir="2700000" algn="tl" rotWithShape="0">
                    <a:prstClr val="black">
                      <a:alpha val="40000"/>
                    </a:prstClr>
                  </a:outerShdw>
                </a:effectLst>
                <a:latin typeface="Calibri"/>
              </a:endParaRPr>
            </a:p>
          </p:txBody>
        </p:sp>
      </p:grpSp>
      <p:grpSp>
        <p:nvGrpSpPr>
          <p:cNvPr id="28" name="Group 27">
            <a:extLst>
              <a:ext uri="{FF2B5EF4-FFF2-40B4-BE49-F238E27FC236}">
                <a16:creationId xmlns:a16="http://schemas.microsoft.com/office/drawing/2014/main" id="{EAA31EEB-850D-452F-A1AF-42BED1944BFE}"/>
              </a:ext>
            </a:extLst>
          </p:cNvPr>
          <p:cNvGrpSpPr/>
          <p:nvPr/>
        </p:nvGrpSpPr>
        <p:grpSpPr>
          <a:xfrm>
            <a:off x="8486101" y="2424097"/>
            <a:ext cx="2886000" cy="2963305"/>
            <a:chOff x="3400024" y="2530996"/>
            <a:chExt cx="2281836" cy="2963305"/>
          </a:xfrm>
          <a:solidFill>
            <a:srgbClr val="203864"/>
          </a:solidFill>
        </p:grpSpPr>
        <p:sp>
          <p:nvSpPr>
            <p:cNvPr id="29" name="Oval 28">
              <a:extLst>
                <a:ext uri="{FF2B5EF4-FFF2-40B4-BE49-F238E27FC236}">
                  <a16:creationId xmlns:a16="http://schemas.microsoft.com/office/drawing/2014/main" id="{89E21042-43A1-4473-8F6E-685A9EAF3411}"/>
                </a:ext>
              </a:extLst>
            </p:cNvPr>
            <p:cNvSpPr/>
            <p:nvPr/>
          </p:nvSpPr>
          <p:spPr>
            <a:xfrm>
              <a:off x="3400024" y="3043680"/>
              <a:ext cx="2160240" cy="2055046"/>
            </a:xfrm>
            <a:prstGeom prst="ellipse">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style>
            <a:lnRef idx="3">
              <a:schemeClr val="lt1"/>
            </a:lnRef>
            <a:fillRef idx="1">
              <a:schemeClr val="accent1"/>
            </a:fillRef>
            <a:effectRef idx="1">
              <a:schemeClr val="accent1"/>
            </a:effectRef>
            <a:fontRef idx="minor">
              <a:schemeClr val="lt1"/>
            </a:fontRef>
          </p:style>
          <p:txBody>
            <a:bodyPr rtlCol="0" anchor="ctr"/>
            <a:lstStyle>
              <a:defPPr>
                <a:defRPr lang="id-ID"/>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en-US">
                <a:solidFill>
                  <a:prstClr val="white"/>
                </a:solidFill>
                <a:latin typeface="Calibri"/>
              </a:endParaRPr>
            </a:p>
          </p:txBody>
        </p:sp>
        <p:sp>
          <p:nvSpPr>
            <p:cNvPr id="30" name="TextBox 13">
              <a:extLst>
                <a:ext uri="{FF2B5EF4-FFF2-40B4-BE49-F238E27FC236}">
                  <a16:creationId xmlns:a16="http://schemas.microsoft.com/office/drawing/2014/main" id="{66F3A9B4-5F61-43B5-BC71-02917972B56D}"/>
                </a:ext>
              </a:extLst>
            </p:cNvPr>
            <p:cNvSpPr txBox="1"/>
            <p:nvPr/>
          </p:nvSpPr>
          <p:spPr>
            <a:xfrm>
              <a:off x="3419872" y="2530996"/>
              <a:ext cx="2160240" cy="400110"/>
            </a:xfrm>
            <a:prstGeom prst="rect">
              <a:avLst/>
            </a:prstGeom>
            <a:grpFill/>
            <a:ln cmpd="dbl">
              <a:solidFill>
                <a:schemeClr val="tx1"/>
              </a:solid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US" sz="2000" b="1" dirty="0">
                  <a:ln w="6600">
                    <a:solidFill>
                      <a:schemeClr val="tx1"/>
                    </a:solidFill>
                    <a:prstDash val="solid"/>
                  </a:ln>
                  <a:solidFill>
                    <a:schemeClr val="bg1"/>
                  </a:solidFill>
                  <a:latin typeface="Calibri"/>
                </a:rPr>
                <a:t>REMAINING DAY</a:t>
              </a:r>
            </a:p>
          </p:txBody>
        </p:sp>
        <p:sp>
          <p:nvSpPr>
            <p:cNvPr id="31" name="TextBox 14">
              <a:extLst>
                <a:ext uri="{FF2B5EF4-FFF2-40B4-BE49-F238E27FC236}">
                  <a16:creationId xmlns:a16="http://schemas.microsoft.com/office/drawing/2014/main" id="{83E47CB5-F8EA-4F8C-851F-265318C3901B}"/>
                </a:ext>
              </a:extLst>
            </p:cNvPr>
            <p:cNvSpPr txBox="1"/>
            <p:nvPr/>
          </p:nvSpPr>
          <p:spPr>
            <a:xfrm>
              <a:off x="3650116" y="3357861"/>
              <a:ext cx="1801499" cy="1200329"/>
            </a:xfrm>
            <a:prstGeom prst="rect">
              <a:avLst/>
            </a:prstGeom>
            <a:grpFill/>
            <a:ln w="34925">
              <a:solidFill>
                <a:srgbClr val="FFFFFF"/>
              </a:solidFill>
            </a:ln>
            <a:effectLst>
              <a:outerShdw blurRad="317500" dir="2700000" algn="ctr">
                <a:srgbClr val="000000">
                  <a:alpha val="43000"/>
                </a:srgbClr>
              </a:outerShdw>
            </a:effectLst>
            <a:scene3d>
              <a:camera prst="perspectiveFront" fov="2700000">
                <a:rot lat="19086000" lon="19067999" rev="3108000"/>
              </a:camera>
              <a:lightRig rig="threePt" dir="t">
                <a:rot lat="0" lon="0" rev="0"/>
              </a:lightRig>
            </a:scene3d>
            <a:sp3d extrusionH="38100" prstMaterial="clear">
              <a:bevelT w="260350" h="50800" prst="softRound"/>
              <a:bevelB prst="softRound"/>
            </a:sp3d>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7200" b="1" dirty="0">
                  <a:ln w="12700">
                    <a:solidFill>
                      <a:srgbClr val="002960">
                        <a:satMod val="155000"/>
                      </a:srgbClr>
                    </a:solidFill>
                    <a:prstDash val="solid"/>
                  </a:ln>
                  <a:solidFill>
                    <a:prstClr val="white"/>
                  </a:solidFill>
                  <a:effectLst>
                    <a:outerShdw blurRad="41275" dist="20320" dir="1800000" algn="tl" rotWithShape="0">
                      <a:srgbClr val="000000">
                        <a:alpha val="40000"/>
                      </a:srgbClr>
                    </a:outerShdw>
                  </a:effectLst>
                  <a:latin typeface="Futura-Bold" pitchFamily="2" charset="0"/>
                  <a:cs typeface="Arial" pitchFamily="34" charset="0"/>
                </a:rPr>
                <a:t> 120</a:t>
              </a:r>
            </a:p>
          </p:txBody>
        </p:sp>
        <p:sp>
          <p:nvSpPr>
            <p:cNvPr id="32" name="TextBox 15">
              <a:extLst>
                <a:ext uri="{FF2B5EF4-FFF2-40B4-BE49-F238E27FC236}">
                  <a16:creationId xmlns:a16="http://schemas.microsoft.com/office/drawing/2014/main" id="{C0422FD1-CCE4-491E-9105-5E1E1A3B99CC}"/>
                </a:ext>
              </a:extLst>
            </p:cNvPr>
            <p:cNvSpPr txBox="1"/>
            <p:nvPr/>
          </p:nvSpPr>
          <p:spPr>
            <a:xfrm>
              <a:off x="3521620" y="5124969"/>
              <a:ext cx="2160240" cy="369332"/>
            </a:xfrm>
            <a:prstGeom prst="rect">
              <a:avLst/>
            </a:prstGeom>
            <a:grpFill/>
            <a:ln>
              <a:noFill/>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wrap="square" rtlCol="0">
              <a:spAutoFit/>
            </a:bodyPr>
            <a:ls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dirty="0">
                  <a:solidFill>
                    <a:schemeClr val="bg1"/>
                  </a:solidFill>
                  <a:latin typeface="Calibri"/>
                </a:rPr>
                <a:t>End : 27 November 202</a:t>
              </a:r>
              <a:r>
                <a:rPr lang="id-ID" dirty="0">
                  <a:solidFill>
                    <a:schemeClr val="bg1"/>
                  </a:solidFill>
                  <a:latin typeface="Calibri"/>
                </a:rPr>
                <a:t>5</a:t>
              </a:r>
              <a:endParaRPr lang="en-US" dirty="0">
                <a:solidFill>
                  <a:schemeClr val="bg1"/>
                </a:solidFill>
                <a:latin typeface="Calibri"/>
              </a:endParaRPr>
            </a:p>
          </p:txBody>
        </p:sp>
      </p:grpSp>
    </p:spTree>
    <p:extLst>
      <p:ext uri="{BB962C8B-B14F-4D97-AF65-F5344CB8AC3E}">
        <p14:creationId xmlns:p14="http://schemas.microsoft.com/office/powerpoint/2010/main" val="2360072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up 52">
            <a:extLst>
              <a:ext uri="{FF2B5EF4-FFF2-40B4-BE49-F238E27FC236}">
                <a16:creationId xmlns:a16="http://schemas.microsoft.com/office/drawing/2014/main" id="{06D20EC3-F484-AC9E-E369-BB73D2EAE25E}"/>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F944C62E-DC07-A522-1839-104A544DAA5A}"/>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AA4882EA-15F9-CFF6-B133-EFE1F06D4DE8}"/>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97707846-369E-A18C-394D-CB4B78B9C2B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2F998381-338C-80B1-4C07-757DB7C20FEA}"/>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12" name="Group 11">
            <a:extLst>
              <a:ext uri="{FF2B5EF4-FFF2-40B4-BE49-F238E27FC236}">
                <a16:creationId xmlns:a16="http://schemas.microsoft.com/office/drawing/2014/main" id="{39A6B02D-98D2-88EA-5273-4897CF5FE083}"/>
              </a:ext>
            </a:extLst>
          </p:cNvPr>
          <p:cNvGrpSpPr/>
          <p:nvPr/>
        </p:nvGrpSpPr>
        <p:grpSpPr>
          <a:xfrm>
            <a:off x="-49049" y="564125"/>
            <a:ext cx="11421639" cy="5741470"/>
            <a:chOff x="-25810" y="558265"/>
            <a:chExt cx="11421639" cy="5741470"/>
          </a:xfrm>
        </p:grpSpPr>
        <p:sp>
          <p:nvSpPr>
            <p:cNvPr id="13" name="Rectangle 12">
              <a:extLst>
                <a:ext uri="{FF2B5EF4-FFF2-40B4-BE49-F238E27FC236}">
                  <a16:creationId xmlns:a16="http://schemas.microsoft.com/office/drawing/2014/main" id="{F52E6194-60C0-5676-C2DC-A3AE49D01E3D}"/>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2E05572-200F-6760-2CA8-E071E051F68E}"/>
                </a:ext>
              </a:extLst>
            </p:cNvPr>
            <p:cNvGrpSpPr/>
            <p:nvPr/>
          </p:nvGrpSpPr>
          <p:grpSpPr>
            <a:xfrm>
              <a:off x="-25810" y="567070"/>
              <a:ext cx="543980" cy="5732665"/>
              <a:chOff x="-62386" y="567070"/>
              <a:chExt cx="543980" cy="5732665"/>
            </a:xfrm>
          </p:grpSpPr>
          <p:sp>
            <p:nvSpPr>
              <p:cNvPr id="16" name="Oval 15">
                <a:extLst>
                  <a:ext uri="{FF2B5EF4-FFF2-40B4-BE49-F238E27FC236}">
                    <a16:creationId xmlns:a16="http://schemas.microsoft.com/office/drawing/2014/main" id="{0DF14CF0-845A-0921-8352-A53C933CD07A}"/>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Top Corners Snipped 16">
                <a:extLst>
                  <a:ext uri="{FF2B5EF4-FFF2-40B4-BE49-F238E27FC236}">
                    <a16:creationId xmlns:a16="http://schemas.microsoft.com/office/drawing/2014/main" id="{7F7980EC-6B8C-B933-3007-20503FA1121D}"/>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2454E42-54C4-D5DE-8E5F-0A0FA862C86C}"/>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OVERVIEW PROJET</a:t>
                </a:r>
              </a:p>
            </p:txBody>
          </p:sp>
          <p:cxnSp>
            <p:nvCxnSpPr>
              <p:cNvPr id="19" name="Straight Connector 18">
                <a:extLst>
                  <a:ext uri="{FF2B5EF4-FFF2-40B4-BE49-F238E27FC236}">
                    <a16:creationId xmlns:a16="http://schemas.microsoft.com/office/drawing/2014/main" id="{19133B04-7E8A-1F6B-F041-57254BA6ECE1}"/>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DE67766D-7B96-4A8C-50E5-D3723454F86D}"/>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a:extLst>
              <a:ext uri="{FF2B5EF4-FFF2-40B4-BE49-F238E27FC236}">
                <a16:creationId xmlns:a16="http://schemas.microsoft.com/office/drawing/2014/main" id="{128487F1-1C29-B0EA-4679-FC03E6A6BA66}"/>
              </a:ext>
            </a:extLst>
          </p:cNvPr>
          <p:cNvGrpSpPr/>
          <p:nvPr/>
        </p:nvGrpSpPr>
        <p:grpSpPr>
          <a:xfrm>
            <a:off x="228834" y="553862"/>
            <a:ext cx="11395829" cy="5741470"/>
            <a:chOff x="0" y="558265"/>
            <a:chExt cx="11395829" cy="5741470"/>
          </a:xfrm>
        </p:grpSpPr>
        <p:sp>
          <p:nvSpPr>
            <p:cNvPr id="21" name="Rectangle 20">
              <a:extLst>
                <a:ext uri="{FF2B5EF4-FFF2-40B4-BE49-F238E27FC236}">
                  <a16:creationId xmlns:a16="http://schemas.microsoft.com/office/drawing/2014/main" id="{9A268968-9DE4-E796-346A-AF47D5034885}"/>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EC4B5E4-2A08-E2E5-C5B0-66FA15BA2124}"/>
                </a:ext>
              </a:extLst>
            </p:cNvPr>
            <p:cNvGrpSpPr/>
            <p:nvPr/>
          </p:nvGrpSpPr>
          <p:grpSpPr>
            <a:xfrm>
              <a:off x="21532" y="567070"/>
              <a:ext cx="496638" cy="5732665"/>
              <a:chOff x="-15044" y="567070"/>
              <a:chExt cx="496638" cy="5732665"/>
            </a:xfrm>
          </p:grpSpPr>
          <p:sp>
            <p:nvSpPr>
              <p:cNvPr id="24" name="Oval 23">
                <a:extLst>
                  <a:ext uri="{FF2B5EF4-FFF2-40B4-BE49-F238E27FC236}">
                    <a16:creationId xmlns:a16="http://schemas.microsoft.com/office/drawing/2014/main" id="{6FBB26DD-0F41-ABFC-802A-09E9A8B82E97}"/>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Top Corners Snipped 24">
                <a:extLst>
                  <a:ext uri="{FF2B5EF4-FFF2-40B4-BE49-F238E27FC236}">
                    <a16:creationId xmlns:a16="http://schemas.microsoft.com/office/drawing/2014/main" id="{EE463D91-50F1-02F8-2ABA-DB350B63A479}"/>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59604417-0D91-DD87-CB69-C6EC397B99AE}"/>
                  </a:ext>
                </a:extLst>
              </p:cNvPr>
              <p:cNvSpPr txBox="1"/>
              <p:nvPr/>
            </p:nvSpPr>
            <p:spPr>
              <a:xfrm rot="16200000">
                <a:off x="-1769393" y="3210749"/>
                <a:ext cx="3985840" cy="369332"/>
              </a:xfrm>
              <a:prstGeom prst="rect">
                <a:avLst/>
              </a:prstGeom>
              <a:noFill/>
              <a:ln>
                <a:noFill/>
              </a:ln>
            </p:spPr>
            <p:txBody>
              <a:bodyPr wrap="square" rtlCol="0" anchor="ctr">
                <a:spAutoFit/>
              </a:bodyPr>
              <a:lstStyle/>
              <a:p>
                <a:pPr algn="ctr"/>
                <a:r>
                  <a:rPr lang="en-US" dirty="0">
                    <a:solidFill>
                      <a:schemeClr val="bg1"/>
                    </a:solidFill>
                  </a:rPr>
                  <a:t>SO</a:t>
                </a:r>
              </a:p>
            </p:txBody>
          </p:sp>
          <p:cxnSp>
            <p:nvCxnSpPr>
              <p:cNvPr id="27" name="Straight Connector 26">
                <a:extLst>
                  <a:ext uri="{FF2B5EF4-FFF2-40B4-BE49-F238E27FC236}">
                    <a16:creationId xmlns:a16="http://schemas.microsoft.com/office/drawing/2014/main" id="{4D717874-6AD6-6425-B98F-1ACA67681FC4}"/>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3" name="Rectangle 22">
              <a:extLst>
                <a:ext uri="{FF2B5EF4-FFF2-40B4-BE49-F238E27FC236}">
                  <a16:creationId xmlns:a16="http://schemas.microsoft.com/office/drawing/2014/main" id="{BAE8D859-A05B-D02F-F800-357C77D7FEB4}"/>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8" name="Group 37">
            <a:extLst>
              <a:ext uri="{FF2B5EF4-FFF2-40B4-BE49-F238E27FC236}">
                <a16:creationId xmlns:a16="http://schemas.microsoft.com/office/drawing/2014/main" id="{0D6D3909-9B38-3EB3-425C-82173D1892FD}"/>
              </a:ext>
            </a:extLst>
          </p:cNvPr>
          <p:cNvGrpSpPr/>
          <p:nvPr/>
        </p:nvGrpSpPr>
        <p:grpSpPr>
          <a:xfrm>
            <a:off x="346828" y="67208"/>
            <a:ext cx="5297838" cy="687155"/>
            <a:chOff x="615626" y="735245"/>
            <a:chExt cx="5297838" cy="687155"/>
          </a:xfrm>
        </p:grpSpPr>
        <p:sp>
          <p:nvSpPr>
            <p:cNvPr id="39" name="Rectangle: Rounded Corners 38">
              <a:extLst>
                <a:ext uri="{FF2B5EF4-FFF2-40B4-BE49-F238E27FC236}">
                  <a16:creationId xmlns:a16="http://schemas.microsoft.com/office/drawing/2014/main" id="{5DE00EFC-8C11-F64F-2E70-08F607ACB2DF}"/>
                </a:ext>
              </a:extLst>
            </p:cNvPr>
            <p:cNvSpPr/>
            <p:nvPr/>
          </p:nvSpPr>
          <p:spPr>
            <a:xfrm>
              <a:off x="624769" y="735245"/>
              <a:ext cx="4904016" cy="687155"/>
            </a:xfrm>
            <a:prstGeom prst="round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Oval 39">
              <a:extLst>
                <a:ext uri="{FF2B5EF4-FFF2-40B4-BE49-F238E27FC236}">
                  <a16:creationId xmlns:a16="http://schemas.microsoft.com/office/drawing/2014/main" id="{81B580F0-60D9-582F-149C-722AF6239F7B}"/>
                </a:ext>
              </a:extLst>
            </p:cNvPr>
            <p:cNvSpPr/>
            <p:nvPr/>
          </p:nvSpPr>
          <p:spPr>
            <a:xfrm>
              <a:off x="4999064" y="735245"/>
              <a:ext cx="914400" cy="687155"/>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40CA373E-C9A2-F5AB-5C5E-A8ACB4E3E9A4}"/>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32589FE2-88D9-4053-3FE4-3242EA142DF5}"/>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F364BE4D-164B-5BA5-88DE-61D9728B7152}"/>
                </a:ext>
              </a:extLst>
            </p:cNvPr>
            <p:cNvSpPr txBox="1"/>
            <p:nvPr/>
          </p:nvSpPr>
          <p:spPr>
            <a:xfrm>
              <a:off x="615626" y="755748"/>
              <a:ext cx="2390801" cy="646331"/>
            </a:xfrm>
            <a:prstGeom prst="rect">
              <a:avLst/>
            </a:prstGeom>
            <a:noFill/>
          </p:spPr>
          <p:txBody>
            <a:bodyPr wrap="square" rtlCol="0">
              <a:spAutoFit/>
            </a:bodyPr>
            <a:lstStyle/>
            <a:p>
              <a:pPr algn="ctr"/>
              <a:r>
                <a:rPr lang="en-US" b="1" dirty="0">
                  <a:solidFill>
                    <a:schemeClr val="bg1"/>
                  </a:solidFill>
                </a:rPr>
                <a:t>STRUCTURE ORGANIZATION</a:t>
              </a:r>
            </a:p>
          </p:txBody>
        </p:sp>
      </p:grpSp>
      <p:pic>
        <p:nvPicPr>
          <p:cNvPr id="3" name="Picture 2">
            <a:extLst>
              <a:ext uri="{FF2B5EF4-FFF2-40B4-BE49-F238E27FC236}">
                <a16:creationId xmlns:a16="http://schemas.microsoft.com/office/drawing/2014/main" id="{D6AE6F3D-5C51-F896-B2BC-6010CEE97B1F}"/>
              </a:ext>
            </a:extLst>
          </p:cNvPr>
          <p:cNvPicPr>
            <a:picLocks noChangeAspect="1"/>
          </p:cNvPicPr>
          <p:nvPr/>
        </p:nvPicPr>
        <p:blipFill>
          <a:blip r:embed="rId2"/>
          <a:stretch>
            <a:fillRect/>
          </a:stretch>
        </p:blipFill>
        <p:spPr>
          <a:xfrm>
            <a:off x="925678" y="763507"/>
            <a:ext cx="10653266" cy="5495730"/>
          </a:xfrm>
          <a:prstGeom prst="rect">
            <a:avLst/>
          </a:prstGeom>
        </p:spPr>
      </p:pic>
    </p:spTree>
    <p:extLst>
      <p:ext uri="{BB962C8B-B14F-4D97-AF65-F5344CB8AC3E}">
        <p14:creationId xmlns:p14="http://schemas.microsoft.com/office/powerpoint/2010/main" val="3155077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194AB-268E-2EFA-8771-EDB84EAEB9E1}"/>
            </a:ext>
          </a:extLst>
        </p:cNvPr>
        <p:cNvGrpSpPr/>
        <p:nvPr/>
      </p:nvGrpSpPr>
      <p:grpSpPr>
        <a:xfrm>
          <a:off x="0" y="0"/>
          <a:ext cx="0" cy="0"/>
          <a:chOff x="0" y="0"/>
          <a:chExt cx="0" cy="0"/>
        </a:xfrm>
      </p:grpSpPr>
      <p:grpSp>
        <p:nvGrpSpPr>
          <p:cNvPr id="53" name="Grup 52">
            <a:extLst>
              <a:ext uri="{FF2B5EF4-FFF2-40B4-BE49-F238E27FC236}">
                <a16:creationId xmlns:a16="http://schemas.microsoft.com/office/drawing/2014/main" id="{5D5CC15E-9C3F-DEF6-62CA-12A4BFDE4682}"/>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59236021-A3DD-19EC-091A-014EE229F56B}"/>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96E0CA4D-8A6B-D945-D007-18BF9E029C8C}"/>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8822CE79-3C9D-EACB-8512-CA8B1C7B533E}"/>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D96C9C54-7C51-D68F-3588-8110ED88BBDB}"/>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graphicFrame>
        <p:nvGraphicFramePr>
          <p:cNvPr id="2" name="Content Placeholder 4">
            <a:extLst>
              <a:ext uri="{FF2B5EF4-FFF2-40B4-BE49-F238E27FC236}">
                <a16:creationId xmlns:a16="http://schemas.microsoft.com/office/drawing/2014/main" id="{9CCA0E39-A251-C316-6514-3B6C1528C417}"/>
              </a:ext>
            </a:extLst>
          </p:cNvPr>
          <p:cNvGraphicFramePr>
            <a:graphicFrameLocks/>
          </p:cNvGraphicFramePr>
          <p:nvPr>
            <p:extLst>
              <p:ext uri="{D42A27DB-BD31-4B8C-83A1-F6EECF244321}">
                <p14:modId xmlns:p14="http://schemas.microsoft.com/office/powerpoint/2010/main" val="524527045"/>
              </p:ext>
            </p:extLst>
          </p:nvPr>
        </p:nvGraphicFramePr>
        <p:xfrm>
          <a:off x="209751" y="984853"/>
          <a:ext cx="11244312" cy="5209471"/>
        </p:xfrm>
        <a:graphic>
          <a:graphicData uri="http://schemas.openxmlformats.org/drawingml/2006/table">
            <a:tbl>
              <a:tblPr firstRow="1" bandRow="1">
                <a:tableStyleId>{68D230F3-CF80-4859-8CE7-A43EE81993B5}</a:tableStyleId>
              </a:tblPr>
              <a:tblGrid>
                <a:gridCol w="1017335">
                  <a:extLst>
                    <a:ext uri="{9D8B030D-6E8A-4147-A177-3AD203B41FA5}">
                      <a16:colId xmlns:a16="http://schemas.microsoft.com/office/drawing/2014/main" val="2968914665"/>
                    </a:ext>
                  </a:extLst>
                </a:gridCol>
                <a:gridCol w="4990390">
                  <a:extLst>
                    <a:ext uri="{9D8B030D-6E8A-4147-A177-3AD203B41FA5}">
                      <a16:colId xmlns:a16="http://schemas.microsoft.com/office/drawing/2014/main" val="4219746791"/>
                    </a:ext>
                  </a:extLst>
                </a:gridCol>
                <a:gridCol w="2293859">
                  <a:extLst>
                    <a:ext uri="{9D8B030D-6E8A-4147-A177-3AD203B41FA5}">
                      <a16:colId xmlns:a16="http://schemas.microsoft.com/office/drawing/2014/main" val="3762102807"/>
                    </a:ext>
                  </a:extLst>
                </a:gridCol>
                <a:gridCol w="2942728">
                  <a:extLst>
                    <a:ext uri="{9D8B030D-6E8A-4147-A177-3AD203B41FA5}">
                      <a16:colId xmlns:a16="http://schemas.microsoft.com/office/drawing/2014/main" val="3039436035"/>
                    </a:ext>
                  </a:extLst>
                </a:gridCol>
              </a:tblGrid>
              <a:tr h="485849">
                <a:tc>
                  <a:txBody>
                    <a:bodyPr/>
                    <a:lstStyle/>
                    <a:p>
                      <a:pPr algn="ctr"/>
                      <a:r>
                        <a:rPr lang="en-US" sz="1800" b="1" dirty="0"/>
                        <a:t>NO</a:t>
                      </a:r>
                    </a:p>
                  </a:txBody>
                  <a:tcPr anchor="ctr"/>
                </a:tc>
                <a:tc>
                  <a:txBody>
                    <a:bodyPr/>
                    <a:lstStyle/>
                    <a:p>
                      <a:pPr algn="ctr"/>
                      <a:r>
                        <a:rPr lang="en-US" sz="1800" b="1" dirty="0"/>
                        <a:t>URAIAN</a:t>
                      </a:r>
                    </a:p>
                  </a:txBody>
                  <a:tcPr anchor="ctr"/>
                </a:tc>
                <a:tc>
                  <a:txBody>
                    <a:bodyPr/>
                    <a:lstStyle/>
                    <a:p>
                      <a:pPr algn="ctr"/>
                      <a:r>
                        <a:rPr lang="en-US" sz="1800" b="1" dirty="0"/>
                        <a:t>JUMLAH</a:t>
                      </a:r>
                    </a:p>
                  </a:txBody>
                  <a:tcPr anchor="ctr"/>
                </a:tc>
                <a:tc>
                  <a:txBody>
                    <a:bodyPr/>
                    <a:lstStyle/>
                    <a:p>
                      <a:pPr algn="ctr"/>
                      <a:r>
                        <a:rPr lang="en-US" sz="1800" b="1" dirty="0"/>
                        <a:t>KET</a:t>
                      </a:r>
                    </a:p>
                  </a:txBody>
                  <a:tcPr anchor="ctr"/>
                </a:tc>
                <a:extLst>
                  <a:ext uri="{0D108BD9-81ED-4DB2-BD59-A6C34878D82A}">
                    <a16:rowId xmlns:a16="http://schemas.microsoft.com/office/drawing/2014/main" val="1864887311"/>
                  </a:ext>
                </a:extLst>
              </a:tr>
              <a:tr h="385294">
                <a:tc>
                  <a:txBody>
                    <a:bodyPr/>
                    <a:lstStyle/>
                    <a:p>
                      <a:pPr algn="ctr"/>
                      <a:r>
                        <a:rPr lang="en-US" sz="1600" dirty="0"/>
                        <a:t>1</a:t>
                      </a:r>
                    </a:p>
                  </a:txBody>
                  <a:tcPr anchor="ctr"/>
                </a:tc>
                <a:tc>
                  <a:txBody>
                    <a:bodyPr/>
                    <a:lstStyle/>
                    <a:p>
                      <a:pPr algn="l"/>
                      <a:r>
                        <a:rPr lang="en-US" sz="1600" dirty="0"/>
                        <a:t>Project Manager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911872564"/>
                  </a:ext>
                </a:extLst>
              </a:tr>
              <a:tr h="475169">
                <a:tc>
                  <a:txBody>
                    <a:bodyPr/>
                    <a:lstStyle/>
                    <a:p>
                      <a:pPr algn="ctr"/>
                      <a:r>
                        <a:rPr lang="id-ID" sz="1600" dirty="0"/>
                        <a:t>2</a:t>
                      </a:r>
                      <a:endParaRPr lang="en-US" sz="1600" dirty="0"/>
                    </a:p>
                  </a:txBody>
                  <a:tcPr anchor="ctr"/>
                </a:tc>
                <a:tc>
                  <a:txBody>
                    <a:bodyPr/>
                    <a:lstStyle/>
                    <a:p>
                      <a:pPr algn="l"/>
                      <a:r>
                        <a:rPr lang="en-US" sz="1600" dirty="0" err="1"/>
                        <a:t>Enggenering</a:t>
                      </a:r>
                      <a:r>
                        <a:rPr lang="en-US" sz="1600" dirty="0"/>
                        <a:t> / Manager Area</a:t>
                      </a:r>
                    </a:p>
                  </a:txBody>
                  <a:tcPr anchor="ctr"/>
                </a:tc>
                <a:tc>
                  <a:txBody>
                    <a:bodyPr/>
                    <a:lstStyle/>
                    <a:p>
                      <a:pPr algn="ctr"/>
                      <a:r>
                        <a:rPr lang="id-ID" sz="1600" dirty="0"/>
                        <a:t>1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442977398"/>
                  </a:ext>
                </a:extLst>
              </a:tr>
              <a:tr h="510856">
                <a:tc>
                  <a:txBody>
                    <a:bodyPr/>
                    <a:lstStyle/>
                    <a:p>
                      <a:pPr algn="ctr"/>
                      <a:r>
                        <a:rPr lang="en-US" sz="1600" dirty="0"/>
                        <a:t>3</a:t>
                      </a:r>
                    </a:p>
                  </a:txBody>
                  <a:tcPr anchor="ctr"/>
                </a:tc>
                <a:tc>
                  <a:txBody>
                    <a:bodyPr/>
                    <a:lstStyle/>
                    <a:p>
                      <a:pPr algn="l"/>
                      <a:r>
                        <a:rPr lang="en-US" sz="1600" dirty="0"/>
                        <a:t>Site Manager</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477496956"/>
                  </a:ext>
                </a:extLst>
              </a:tr>
              <a:tr h="395974">
                <a:tc>
                  <a:txBody>
                    <a:bodyPr/>
                    <a:lstStyle/>
                    <a:p>
                      <a:pPr algn="ctr"/>
                      <a:r>
                        <a:rPr lang="en-US" sz="1600" dirty="0"/>
                        <a:t>4</a:t>
                      </a:r>
                    </a:p>
                  </a:txBody>
                  <a:tcPr anchor="ctr"/>
                </a:tc>
                <a:tc>
                  <a:txBody>
                    <a:bodyPr/>
                    <a:lstStyle/>
                    <a:p>
                      <a:pPr algn="l"/>
                      <a:r>
                        <a:rPr lang="en-US" sz="1600" dirty="0"/>
                        <a:t>Project Control</a:t>
                      </a:r>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3266332216"/>
                  </a:ext>
                </a:extLst>
              </a:tr>
              <a:tr h="584515">
                <a:tc>
                  <a:txBody>
                    <a:bodyPr/>
                    <a:lstStyle/>
                    <a:p>
                      <a:pPr algn="ctr"/>
                      <a:r>
                        <a:rPr lang="en-US" sz="1600" dirty="0"/>
                        <a:t>5</a:t>
                      </a:r>
                    </a:p>
                  </a:txBody>
                  <a:tcPr anchor="ctr"/>
                </a:tc>
                <a:tc>
                  <a:txBody>
                    <a:bodyPr/>
                    <a:lstStyle/>
                    <a:p>
                      <a:pPr algn="l"/>
                      <a:r>
                        <a:rPr lang="en-US" sz="1600" dirty="0" err="1"/>
                        <a:t>Keuangan</a:t>
                      </a:r>
                      <a:endParaRPr lang="en-US" sz="1600" dirty="0"/>
                    </a:p>
                  </a:txBody>
                  <a:tcPr anchor="ctr"/>
                </a:tc>
                <a:tc>
                  <a:txBody>
                    <a:bodyPr/>
                    <a:lstStyle/>
                    <a:p>
                      <a:pPr algn="ctr"/>
                      <a:r>
                        <a:rPr lang="en-US" sz="1600" dirty="0"/>
                        <a:t>1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4222651992"/>
                  </a:ext>
                </a:extLst>
              </a:tr>
              <a:tr h="517480">
                <a:tc>
                  <a:txBody>
                    <a:bodyPr/>
                    <a:lstStyle/>
                    <a:p>
                      <a:pPr algn="ctr"/>
                      <a:r>
                        <a:rPr lang="en-US" sz="1600" dirty="0"/>
                        <a:t>6</a:t>
                      </a:r>
                    </a:p>
                  </a:txBody>
                  <a:tcPr anchor="ctr"/>
                </a:tc>
                <a:tc>
                  <a:txBody>
                    <a:bodyPr/>
                    <a:lstStyle/>
                    <a:p>
                      <a:pPr algn="l"/>
                      <a:r>
                        <a:rPr lang="id-ID" sz="1600" dirty="0"/>
                        <a:t>Foreman</a:t>
                      </a:r>
                      <a:endParaRPr lang="en-US" sz="1600" dirty="0"/>
                    </a:p>
                  </a:txBody>
                  <a:tcPr anchor="ctr"/>
                </a:tc>
                <a:tc>
                  <a:txBody>
                    <a:bodyPr/>
                    <a:lstStyle/>
                    <a:p>
                      <a:pPr algn="ctr"/>
                      <a:r>
                        <a:rPr lang="en-US" sz="1600" dirty="0"/>
                        <a:t>1</a:t>
                      </a:r>
                      <a:r>
                        <a:rPr lang="id-ID" sz="1600" dirty="0"/>
                        <a:t>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513831790"/>
                  </a:ext>
                </a:extLst>
              </a:tr>
              <a:tr h="503862">
                <a:tc>
                  <a:txBody>
                    <a:bodyPr/>
                    <a:lstStyle/>
                    <a:p>
                      <a:pPr algn="ctr"/>
                      <a:r>
                        <a:rPr lang="en-US" sz="1600" dirty="0"/>
                        <a:t>7</a:t>
                      </a:r>
                    </a:p>
                  </a:txBody>
                  <a:tcPr anchor="ctr"/>
                </a:tc>
                <a:tc>
                  <a:txBody>
                    <a:bodyPr/>
                    <a:lstStyle/>
                    <a:p>
                      <a:pPr algn="l"/>
                      <a:r>
                        <a:rPr lang="en-US" sz="1600"/>
                        <a:t>Safety Officer</a:t>
                      </a:r>
                      <a:endParaRPr lang="en-US" sz="1600" dirty="0"/>
                    </a:p>
                  </a:txBody>
                  <a:tcPr anchor="ctr"/>
                </a:tc>
                <a:tc>
                  <a:txBody>
                    <a:bodyPr/>
                    <a:lstStyle/>
                    <a:p>
                      <a:pPr algn="ctr"/>
                      <a:r>
                        <a:rPr lang="en-US" sz="1600"/>
                        <a:t>1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1996200271"/>
                  </a:ext>
                </a:extLst>
              </a:tr>
              <a:tr h="470014">
                <a:tc>
                  <a:txBody>
                    <a:bodyPr/>
                    <a:lstStyle/>
                    <a:p>
                      <a:pPr algn="ctr"/>
                      <a:r>
                        <a:rPr lang="en-US" sz="1600" dirty="0"/>
                        <a:t>8</a:t>
                      </a:r>
                    </a:p>
                  </a:txBody>
                  <a:tcPr anchor="ctr"/>
                </a:tc>
                <a:tc>
                  <a:txBody>
                    <a:bodyPr/>
                    <a:lstStyle/>
                    <a:p>
                      <a:pPr algn="l"/>
                      <a:r>
                        <a:rPr lang="en-US" sz="1600" dirty="0"/>
                        <a:t>Safety</a:t>
                      </a:r>
                    </a:p>
                  </a:txBody>
                  <a:tcPr anchor="ctr"/>
                </a:tc>
                <a:tc>
                  <a:txBody>
                    <a:bodyPr/>
                    <a:lstStyle/>
                    <a:p>
                      <a:pPr algn="ctr"/>
                      <a:r>
                        <a:rPr lang="en-US" sz="1600"/>
                        <a:t>2 Orang</a:t>
                      </a:r>
                      <a:endParaRPr lang="en-US" sz="16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2245250396"/>
                  </a:ext>
                </a:extLst>
              </a:tr>
              <a:tr h="395974">
                <a:tc>
                  <a:txBody>
                    <a:bodyPr/>
                    <a:lstStyle/>
                    <a:p>
                      <a:pPr algn="ctr"/>
                      <a:r>
                        <a:rPr lang="en-US" sz="1600" dirty="0"/>
                        <a:t>9</a:t>
                      </a:r>
                    </a:p>
                  </a:txBody>
                  <a:tcPr anchor="ctr"/>
                </a:tc>
                <a:tc>
                  <a:txBody>
                    <a:bodyPr/>
                    <a:lstStyle/>
                    <a:p>
                      <a:pPr algn="l"/>
                      <a:r>
                        <a:rPr lang="en-US" sz="1600"/>
                        <a:t>Pekerja</a:t>
                      </a:r>
                      <a:endParaRPr lang="en-US" sz="1600" dirty="0"/>
                    </a:p>
                  </a:txBody>
                  <a:tcPr anchor="ctr"/>
                </a:tc>
                <a:tc>
                  <a:txBody>
                    <a:bodyPr/>
                    <a:lstStyle/>
                    <a:p>
                      <a:pPr algn="ctr"/>
                      <a:r>
                        <a:rPr lang="en-US" sz="1600" dirty="0"/>
                        <a:t>5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t>Ready</a:t>
                      </a:r>
                    </a:p>
                  </a:txBody>
                  <a:tcPr anchor="ctr"/>
                </a:tc>
                <a:extLst>
                  <a:ext uri="{0D108BD9-81ED-4DB2-BD59-A6C34878D82A}">
                    <a16:rowId xmlns:a16="http://schemas.microsoft.com/office/drawing/2014/main" val="550636185"/>
                  </a:ext>
                </a:extLst>
              </a:tr>
              <a:tr h="484484">
                <a:tc>
                  <a:txBody>
                    <a:bodyPr/>
                    <a:lstStyle/>
                    <a:p>
                      <a:pPr algn="ctr"/>
                      <a:endParaRPr lang="en-US" sz="1600" dirty="0"/>
                    </a:p>
                  </a:txBody>
                  <a:tcPr anchor="ctr"/>
                </a:tc>
                <a:tc>
                  <a:txBody>
                    <a:bodyPr/>
                    <a:lstStyle/>
                    <a:p>
                      <a:pPr algn="l"/>
                      <a:r>
                        <a:rPr lang="en-US" sz="1600" dirty="0"/>
                        <a:t>TOTAL</a:t>
                      </a:r>
                    </a:p>
                  </a:txBody>
                  <a:tcPr anchor="ctr"/>
                </a:tc>
                <a:tc>
                  <a:txBody>
                    <a:bodyPr/>
                    <a:lstStyle/>
                    <a:p>
                      <a:pPr algn="ctr"/>
                      <a:r>
                        <a:rPr lang="en-US" sz="1600" dirty="0"/>
                        <a:t>14 Orang</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dirty="0"/>
                    </a:p>
                  </a:txBody>
                  <a:tcPr anchor="ctr"/>
                </a:tc>
                <a:extLst>
                  <a:ext uri="{0D108BD9-81ED-4DB2-BD59-A6C34878D82A}">
                    <a16:rowId xmlns:a16="http://schemas.microsoft.com/office/drawing/2014/main" val="1169765297"/>
                  </a:ext>
                </a:extLst>
              </a:tr>
            </a:tbl>
          </a:graphicData>
        </a:graphic>
      </p:graphicFrame>
      <p:grpSp>
        <p:nvGrpSpPr>
          <p:cNvPr id="4" name="Group 3">
            <a:extLst>
              <a:ext uri="{FF2B5EF4-FFF2-40B4-BE49-F238E27FC236}">
                <a16:creationId xmlns:a16="http://schemas.microsoft.com/office/drawing/2014/main" id="{38780203-ADCD-3625-E5E7-470DB25B0FF4}"/>
              </a:ext>
            </a:extLst>
          </p:cNvPr>
          <p:cNvGrpSpPr/>
          <p:nvPr/>
        </p:nvGrpSpPr>
        <p:grpSpPr>
          <a:xfrm>
            <a:off x="181450" y="173441"/>
            <a:ext cx="5297838" cy="687155"/>
            <a:chOff x="1544574" y="576718"/>
            <a:chExt cx="5297838" cy="687155"/>
          </a:xfrm>
        </p:grpSpPr>
        <p:sp>
          <p:nvSpPr>
            <p:cNvPr id="5" name="Rectangle: Rounded Corners 4">
              <a:extLst>
                <a:ext uri="{FF2B5EF4-FFF2-40B4-BE49-F238E27FC236}">
                  <a16:creationId xmlns:a16="http://schemas.microsoft.com/office/drawing/2014/main" id="{FC2696A8-649B-A37E-2F72-C4FE187721C6}"/>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Oval 5">
              <a:extLst>
                <a:ext uri="{FF2B5EF4-FFF2-40B4-BE49-F238E27FC236}">
                  <a16:creationId xmlns:a16="http://schemas.microsoft.com/office/drawing/2014/main" id="{A666EB06-D192-7C4F-0E19-EFAAC80075BD}"/>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53D3B2D-0B78-1819-841D-7D74EC6D43D4}"/>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63E9AE3C-7811-0072-403D-0B5C0D58EEDC}"/>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2A48E8B-EC52-670C-7D96-3D7BB015B4D9}"/>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MANPOWER</a:t>
              </a:r>
              <a:endParaRPr lang="en-US" sz="2000" b="1" dirty="0">
                <a:solidFill>
                  <a:schemeClr val="bg1"/>
                </a:solidFill>
              </a:endParaRPr>
            </a:p>
          </p:txBody>
        </p:sp>
        <p:sp>
          <p:nvSpPr>
            <p:cNvPr id="10" name="TextBox 9">
              <a:extLst>
                <a:ext uri="{FF2B5EF4-FFF2-40B4-BE49-F238E27FC236}">
                  <a16:creationId xmlns:a16="http://schemas.microsoft.com/office/drawing/2014/main" id="{8FFEA577-9519-23E9-EF90-6509C00F95C0}"/>
                </a:ext>
              </a:extLst>
            </p:cNvPr>
            <p:cNvSpPr txBox="1"/>
            <p:nvPr/>
          </p:nvSpPr>
          <p:spPr>
            <a:xfrm>
              <a:off x="6097067" y="612065"/>
              <a:ext cx="731520" cy="584775"/>
            </a:xfrm>
            <a:prstGeom prst="rect">
              <a:avLst/>
            </a:prstGeom>
            <a:noFill/>
          </p:spPr>
          <p:txBody>
            <a:bodyPr wrap="square" rtlCol="0">
              <a:spAutoFit/>
            </a:bodyPr>
            <a:lstStyle/>
            <a:p>
              <a:endParaRPr lang="en-US" sz="3200" dirty="0">
                <a:solidFill>
                  <a:schemeClr val="accent2">
                    <a:lumMod val="50000"/>
                  </a:schemeClr>
                </a:solidFill>
              </a:endParaRPr>
            </a:p>
          </p:txBody>
        </p:sp>
      </p:grpSp>
    </p:spTree>
    <p:extLst>
      <p:ext uri="{BB962C8B-B14F-4D97-AF65-F5344CB8AC3E}">
        <p14:creationId xmlns:p14="http://schemas.microsoft.com/office/powerpoint/2010/main" val="1433645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BB1C3C6-D6DE-A572-9ED7-BADBE78FCD1E}"/>
              </a:ext>
            </a:extLst>
          </p:cNvPr>
          <p:cNvGrpSpPr/>
          <p:nvPr/>
        </p:nvGrpSpPr>
        <p:grpSpPr>
          <a:xfrm>
            <a:off x="171168" y="173086"/>
            <a:ext cx="5297838" cy="687155"/>
            <a:chOff x="615626" y="735245"/>
            <a:chExt cx="5297838" cy="687155"/>
          </a:xfrm>
        </p:grpSpPr>
        <p:sp>
          <p:nvSpPr>
            <p:cNvPr id="12" name="Rectangle: Rounded Corners 11">
              <a:extLst>
                <a:ext uri="{FF2B5EF4-FFF2-40B4-BE49-F238E27FC236}">
                  <a16:creationId xmlns:a16="http://schemas.microsoft.com/office/drawing/2014/main" id="{3588A6E7-8D20-33B1-FD08-E24DFCE4D636}"/>
                </a:ext>
              </a:extLst>
            </p:cNvPr>
            <p:cNvSpPr/>
            <p:nvPr/>
          </p:nvSpPr>
          <p:spPr>
            <a:xfrm>
              <a:off x="624769" y="735245"/>
              <a:ext cx="4904016" cy="687155"/>
            </a:xfrm>
            <a:prstGeom prst="round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207C56EA-6DB5-8D2B-E6EB-D5D5C8FB915B}"/>
                </a:ext>
              </a:extLst>
            </p:cNvPr>
            <p:cNvSpPr/>
            <p:nvPr/>
          </p:nvSpPr>
          <p:spPr>
            <a:xfrm>
              <a:off x="4999064" y="735245"/>
              <a:ext cx="914400" cy="687155"/>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36E8141B-83DF-0FA5-859F-0CF6330E444F}"/>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67608168-C44A-C1B1-7341-5958C7D23E15}"/>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34A6F3FB-7257-2983-A378-F0D452A65EA7}"/>
                </a:ext>
              </a:extLst>
            </p:cNvPr>
            <p:cNvSpPr txBox="1"/>
            <p:nvPr/>
          </p:nvSpPr>
          <p:spPr>
            <a:xfrm>
              <a:off x="615626" y="878773"/>
              <a:ext cx="2390801" cy="369332"/>
            </a:xfrm>
            <a:prstGeom prst="rect">
              <a:avLst/>
            </a:prstGeom>
            <a:noFill/>
          </p:spPr>
          <p:txBody>
            <a:bodyPr wrap="square" rtlCol="0">
              <a:spAutoFit/>
            </a:bodyPr>
            <a:lstStyle/>
            <a:p>
              <a:pPr algn="ctr"/>
              <a:r>
                <a:rPr lang="id-ID" b="1" dirty="0">
                  <a:solidFill>
                    <a:schemeClr val="bg1"/>
                  </a:solidFill>
                </a:rPr>
                <a:t>KURVA S</a:t>
              </a:r>
              <a:endParaRPr lang="en-US" b="1" dirty="0">
                <a:solidFill>
                  <a:schemeClr val="bg1"/>
                </a:solidFill>
              </a:endParaRPr>
            </a:p>
          </p:txBody>
        </p:sp>
      </p:grpSp>
      <p:pic>
        <p:nvPicPr>
          <p:cNvPr id="5" name="Picture 4">
            <a:extLst>
              <a:ext uri="{FF2B5EF4-FFF2-40B4-BE49-F238E27FC236}">
                <a16:creationId xmlns:a16="http://schemas.microsoft.com/office/drawing/2014/main" id="{D6AE8613-6647-9CD1-D04D-2351BC652563}"/>
              </a:ext>
            </a:extLst>
          </p:cNvPr>
          <p:cNvPicPr>
            <a:picLocks noChangeAspect="1"/>
          </p:cNvPicPr>
          <p:nvPr/>
        </p:nvPicPr>
        <p:blipFill>
          <a:blip r:embed="rId2"/>
          <a:stretch>
            <a:fillRect/>
          </a:stretch>
        </p:blipFill>
        <p:spPr>
          <a:xfrm>
            <a:off x="155962" y="864890"/>
            <a:ext cx="11918052" cy="5265876"/>
          </a:xfrm>
          <a:prstGeom prst="rect">
            <a:avLst/>
          </a:prstGeom>
        </p:spPr>
      </p:pic>
    </p:spTree>
    <p:extLst>
      <p:ext uri="{BB962C8B-B14F-4D97-AF65-F5344CB8AC3E}">
        <p14:creationId xmlns:p14="http://schemas.microsoft.com/office/powerpoint/2010/main" val="27609883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7294159-57D6-ADB8-FDDD-473D99B6AAA6}"/>
              </a:ext>
            </a:extLst>
          </p:cNvPr>
          <p:cNvGrpSpPr/>
          <p:nvPr/>
        </p:nvGrpSpPr>
        <p:grpSpPr>
          <a:xfrm>
            <a:off x="175248" y="184209"/>
            <a:ext cx="5317043" cy="687155"/>
            <a:chOff x="596421" y="735245"/>
            <a:chExt cx="5317043" cy="687155"/>
          </a:xfrm>
        </p:grpSpPr>
        <p:sp>
          <p:nvSpPr>
            <p:cNvPr id="4" name="Rectangle: Rounded Corners 3">
              <a:extLst>
                <a:ext uri="{FF2B5EF4-FFF2-40B4-BE49-F238E27FC236}">
                  <a16:creationId xmlns:a16="http://schemas.microsoft.com/office/drawing/2014/main" id="{A3238E93-D86B-6CA4-5DF2-3334800670AF}"/>
                </a:ext>
              </a:extLst>
            </p:cNvPr>
            <p:cNvSpPr/>
            <p:nvPr/>
          </p:nvSpPr>
          <p:spPr>
            <a:xfrm>
              <a:off x="596421" y="735245"/>
              <a:ext cx="4904016" cy="687155"/>
            </a:xfrm>
            <a:prstGeom prst="roundRect">
              <a:avLst/>
            </a:prstGeom>
            <a:solidFill>
              <a:srgbClr val="F6A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EDAFC840-353E-06F7-17A6-D71BF58B65E7}"/>
                </a:ext>
              </a:extLst>
            </p:cNvPr>
            <p:cNvSpPr/>
            <p:nvPr/>
          </p:nvSpPr>
          <p:spPr>
            <a:xfrm>
              <a:off x="4999064" y="735245"/>
              <a:ext cx="914400" cy="6871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a:extLst>
                <a:ext uri="{FF2B5EF4-FFF2-40B4-BE49-F238E27FC236}">
                  <a16:creationId xmlns:a16="http://schemas.microsoft.com/office/drawing/2014/main" id="{6007E8DC-1883-46EC-7DA6-A396FB569A44}"/>
                </a:ext>
              </a:extLst>
            </p:cNvPr>
            <p:cNvCxnSpPr/>
            <p:nvPr/>
          </p:nvCxnSpPr>
          <p:spPr>
            <a:xfrm>
              <a:off x="2988121" y="777765"/>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C5860E88-C1A3-F957-3883-8FA22868C3D5}"/>
                </a:ext>
              </a:extLst>
            </p:cNvPr>
            <p:cNvSpPr/>
            <p:nvPr/>
          </p:nvSpPr>
          <p:spPr>
            <a:xfrm>
              <a:off x="5096888" y="806076"/>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15F5753-2A4B-E9DF-9CC9-D24CB944F8C4}"/>
                </a:ext>
              </a:extLst>
            </p:cNvPr>
            <p:cNvSpPr txBox="1"/>
            <p:nvPr/>
          </p:nvSpPr>
          <p:spPr>
            <a:xfrm>
              <a:off x="615626" y="897152"/>
              <a:ext cx="2390801" cy="369332"/>
            </a:xfrm>
            <a:prstGeom prst="rect">
              <a:avLst/>
            </a:prstGeom>
            <a:noFill/>
          </p:spPr>
          <p:txBody>
            <a:bodyPr wrap="square" rtlCol="0">
              <a:spAutoFit/>
            </a:bodyPr>
            <a:lstStyle/>
            <a:p>
              <a:pPr algn="ctr"/>
              <a:r>
                <a:rPr lang="id-ID" b="1" dirty="0">
                  <a:solidFill>
                    <a:schemeClr val="bg1"/>
                  </a:solidFill>
                </a:rPr>
                <a:t>PERALATAN</a:t>
              </a:r>
              <a:endParaRPr lang="en-US" b="1" dirty="0">
                <a:solidFill>
                  <a:schemeClr val="bg1"/>
                </a:solidFill>
              </a:endParaRPr>
            </a:p>
          </p:txBody>
        </p:sp>
      </p:grpSp>
      <p:graphicFrame>
        <p:nvGraphicFramePr>
          <p:cNvPr id="9" name="Content Placeholder 2">
            <a:extLst>
              <a:ext uri="{FF2B5EF4-FFF2-40B4-BE49-F238E27FC236}">
                <a16:creationId xmlns:a16="http://schemas.microsoft.com/office/drawing/2014/main" id="{6B97B31F-5F5B-C988-1956-7219021802DC}"/>
              </a:ext>
            </a:extLst>
          </p:cNvPr>
          <p:cNvGraphicFramePr>
            <a:graphicFrameLocks/>
          </p:cNvGraphicFramePr>
          <p:nvPr>
            <p:extLst>
              <p:ext uri="{D42A27DB-BD31-4B8C-83A1-F6EECF244321}">
                <p14:modId xmlns:p14="http://schemas.microsoft.com/office/powerpoint/2010/main" val="1618733074"/>
              </p:ext>
            </p:extLst>
          </p:nvPr>
        </p:nvGraphicFramePr>
        <p:xfrm>
          <a:off x="612461" y="1060366"/>
          <a:ext cx="10953895" cy="5035634"/>
        </p:xfrm>
        <a:graphic>
          <a:graphicData uri="http://schemas.openxmlformats.org/drawingml/2006/table">
            <a:tbl>
              <a:tblPr firstRow="1" firstCol="1" bandRow="1">
                <a:tableStyleId>{3B4B98B0-60AC-42C2-AFA5-B58CD77FA1E5}</a:tableStyleId>
              </a:tblPr>
              <a:tblGrid>
                <a:gridCol w="672265">
                  <a:extLst>
                    <a:ext uri="{9D8B030D-6E8A-4147-A177-3AD203B41FA5}">
                      <a16:colId xmlns:a16="http://schemas.microsoft.com/office/drawing/2014/main" val="2287895332"/>
                    </a:ext>
                  </a:extLst>
                </a:gridCol>
                <a:gridCol w="3080461">
                  <a:extLst>
                    <a:ext uri="{9D8B030D-6E8A-4147-A177-3AD203B41FA5}">
                      <a16:colId xmlns:a16="http://schemas.microsoft.com/office/drawing/2014/main" val="2585788363"/>
                    </a:ext>
                  </a:extLst>
                </a:gridCol>
                <a:gridCol w="2278044">
                  <a:extLst>
                    <a:ext uri="{9D8B030D-6E8A-4147-A177-3AD203B41FA5}">
                      <a16:colId xmlns:a16="http://schemas.microsoft.com/office/drawing/2014/main" val="3079639673"/>
                    </a:ext>
                  </a:extLst>
                </a:gridCol>
                <a:gridCol w="4923125">
                  <a:extLst>
                    <a:ext uri="{9D8B030D-6E8A-4147-A177-3AD203B41FA5}">
                      <a16:colId xmlns:a16="http://schemas.microsoft.com/office/drawing/2014/main" val="618632973"/>
                    </a:ext>
                  </a:extLst>
                </a:gridCol>
              </a:tblGrid>
              <a:tr h="611565">
                <a:tc>
                  <a:txBody>
                    <a:bodyPr/>
                    <a:lstStyle/>
                    <a:p>
                      <a:pPr algn="ctr">
                        <a:spcAft>
                          <a:spcPts val="0"/>
                        </a:spcAft>
                        <a:tabLst>
                          <a:tab pos="228600" algn="l"/>
                          <a:tab pos="285750" algn="l"/>
                        </a:tabLst>
                      </a:pPr>
                      <a:r>
                        <a:rPr lang="en-US" sz="1400" dirty="0">
                          <a:effectLst/>
                        </a:rPr>
                        <a:t>NO</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rPr>
                        <a:t>ALAT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id-ID" sz="1400" dirty="0">
                          <a:effectLst/>
                        </a:rPr>
                        <a:t>JUMLAH</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rPr>
                        <a:t>KETERANGAN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143147080"/>
                  </a:ext>
                </a:extLst>
              </a:tr>
              <a:tr h="404775">
                <a:tc>
                  <a:txBody>
                    <a:bodyPr/>
                    <a:lstStyle/>
                    <a:p>
                      <a:pPr algn="ctr">
                        <a:spcAft>
                          <a:spcPts val="0"/>
                        </a:spcAft>
                        <a:tabLst>
                          <a:tab pos="228600" algn="l"/>
                          <a:tab pos="285750" algn="l"/>
                        </a:tabLst>
                      </a:pPr>
                      <a:r>
                        <a:rPr lang="en-US" sz="1400" b="0" dirty="0">
                          <a:effectLst/>
                        </a:rPr>
                        <a:t>1</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Kunci</a:t>
                      </a:r>
                      <a:r>
                        <a:rPr lang="en-US" sz="1400" dirty="0">
                          <a:effectLst/>
                          <a:latin typeface="Arial" panose="020B0604020202020204" pitchFamily="34" charset="0"/>
                          <a:ea typeface="Times New Roman" panose="02020603050405020304" pitchFamily="18" charset="0"/>
                          <a:cs typeface="Arial" panose="020B0604020202020204" pitchFamily="34" charset="0"/>
                        </a:rPr>
                        <a:t> Set</a:t>
                      </a:r>
                    </a:p>
                  </a:txBody>
                  <a:tcPr marL="37465" marR="37465" marT="0" marB="0" anchor="ctr"/>
                </a:tc>
                <a:tc>
                  <a:txBody>
                    <a:bodyPr/>
                    <a:lstStyle/>
                    <a:p>
                      <a:pPr algn="ctr">
                        <a:spcAft>
                          <a:spcPts val="0"/>
                        </a:spcAft>
                        <a:tabLst>
                          <a:tab pos="228600" algn="l"/>
                          <a:tab pos="285750" algn="l"/>
                        </a:tabLst>
                      </a:pPr>
                      <a:r>
                        <a:rPr lang="en-US" sz="1400" dirty="0">
                          <a:effectLst/>
                        </a:rPr>
                        <a:t>1 set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Milik Perusahaan </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2464438591"/>
                  </a:ext>
                </a:extLst>
              </a:tr>
              <a:tr h="408665">
                <a:tc>
                  <a:txBody>
                    <a:bodyPr/>
                    <a:lstStyle/>
                    <a:p>
                      <a:pPr algn="ctr">
                        <a:spcAft>
                          <a:spcPts val="0"/>
                        </a:spcAft>
                        <a:tabLst>
                          <a:tab pos="228600" algn="l"/>
                          <a:tab pos="285750" algn="l"/>
                        </a:tabLst>
                      </a:pPr>
                      <a:r>
                        <a:rPr lang="en-US" sz="1400" b="0" dirty="0">
                          <a:effectLst/>
                        </a:rPr>
                        <a:t>2</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Scrap</a:t>
                      </a:r>
                    </a:p>
                  </a:txBody>
                  <a:tcPr marL="37465" marR="37465" marT="0" marB="0" anchor="ctr"/>
                </a:tc>
                <a:tc>
                  <a:txBody>
                    <a:bodyPr/>
                    <a:lstStyle/>
                    <a:p>
                      <a:pPr algn="ctr">
                        <a:spcAft>
                          <a:spcPts val="0"/>
                        </a:spcAft>
                        <a:tabLst>
                          <a:tab pos="228600" algn="l"/>
                          <a:tab pos="285750" algn="l"/>
                        </a:tabLst>
                      </a:pPr>
                      <a:r>
                        <a:rPr lang="en-US" sz="1400" dirty="0">
                          <a:effectLst/>
                        </a:rPr>
                        <a:t>4 pcs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rPr>
                        <a:t>Milik</a:t>
                      </a:r>
                      <a:r>
                        <a:rPr lang="en-US" sz="1400" dirty="0">
                          <a:effectLst/>
                        </a:rPr>
                        <a:t>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3146917194"/>
                  </a:ext>
                </a:extLst>
              </a:tr>
              <a:tr h="500445">
                <a:tc>
                  <a:txBody>
                    <a:bodyPr/>
                    <a:lstStyle/>
                    <a:p>
                      <a:pPr algn="ctr">
                        <a:spcAft>
                          <a:spcPts val="0"/>
                        </a:spcAft>
                        <a:tabLst>
                          <a:tab pos="228600" algn="l"/>
                          <a:tab pos="285750" algn="l"/>
                        </a:tabLst>
                      </a:pPr>
                      <a:r>
                        <a:rPr lang="en-US" sz="1400" b="0" dirty="0">
                          <a:effectLst/>
                        </a:rPr>
                        <a:t>3</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Kuas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rPr>
                        <a:t>6 </a:t>
                      </a:r>
                      <a:r>
                        <a:rPr lang="en-US" sz="1400" dirty="0" err="1">
                          <a:effectLst/>
                        </a:rPr>
                        <a:t>buah</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Milik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055523169"/>
                  </a:ext>
                </a:extLst>
              </a:tr>
              <a:tr h="357603">
                <a:tc>
                  <a:txBody>
                    <a:bodyPr/>
                    <a:lstStyle/>
                    <a:p>
                      <a:pPr algn="ctr">
                        <a:spcAft>
                          <a:spcPts val="0"/>
                        </a:spcAft>
                        <a:tabLst>
                          <a:tab pos="228600" algn="l"/>
                          <a:tab pos="285750" algn="l"/>
                        </a:tabLst>
                      </a:pPr>
                      <a:r>
                        <a:rPr lang="en-US" sz="1400" b="0" dirty="0">
                          <a:effectLst/>
                        </a:rPr>
                        <a:t>4</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Palu </a:t>
                      </a:r>
                      <a:r>
                        <a:rPr lang="en-US" sz="1400" dirty="0" err="1">
                          <a:effectLst/>
                        </a:rPr>
                        <a:t>Kuningan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rPr>
                        <a:t>2 pcs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Milik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501229199"/>
                  </a:ext>
                </a:extLst>
              </a:tr>
              <a:tr h="403133">
                <a:tc>
                  <a:txBody>
                    <a:bodyPr/>
                    <a:lstStyle/>
                    <a:p>
                      <a:pPr algn="ctr">
                        <a:spcAft>
                          <a:spcPts val="0"/>
                        </a:spcAft>
                        <a:tabLst>
                          <a:tab pos="228600" algn="l"/>
                          <a:tab pos="285750" algn="l"/>
                        </a:tabLst>
                      </a:pPr>
                      <a:r>
                        <a:rPr lang="en-US" sz="1400" b="0" dirty="0">
                          <a:effectLst/>
                        </a:rPr>
                        <a:t>5</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Box panel</a:t>
                      </a:r>
                    </a:p>
                  </a:txBody>
                  <a:tcPr marL="37465" marR="37465" marT="0" marB="0" anchor="ctr"/>
                </a:tc>
                <a:tc>
                  <a:txBody>
                    <a:bodyPr/>
                    <a:lstStyle/>
                    <a:p>
                      <a:pPr algn="ctr">
                        <a:spcAft>
                          <a:spcPts val="0"/>
                        </a:spcAft>
                        <a:tabLst>
                          <a:tab pos="228600" algn="l"/>
                          <a:tab pos="285750" algn="l"/>
                        </a:tabLst>
                      </a:pPr>
                      <a:r>
                        <a:rPr lang="en-US" sz="1400" dirty="0">
                          <a:effectLst/>
                        </a:rPr>
                        <a:t>1</a:t>
                      </a:r>
                      <a:r>
                        <a:rPr lang="id-ID" sz="1400" dirty="0">
                          <a:effectLst/>
                        </a:rPr>
                        <a:t> </a:t>
                      </a:r>
                      <a:r>
                        <a:rPr lang="en-US" sz="1400" dirty="0">
                          <a:effectLst/>
                        </a:rPr>
                        <a:t>U</a:t>
                      </a:r>
                      <a:r>
                        <a:rPr lang="id-ID" sz="1400" dirty="0">
                          <a:effectLst/>
                        </a:rPr>
                        <a:t>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Milik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2447104494"/>
                  </a:ext>
                </a:extLst>
              </a:tr>
              <a:tr h="392751">
                <a:tc>
                  <a:txBody>
                    <a:bodyPr/>
                    <a:lstStyle/>
                    <a:p>
                      <a:pPr algn="ctr">
                        <a:spcAft>
                          <a:spcPts val="0"/>
                        </a:spcAft>
                        <a:tabLst>
                          <a:tab pos="228600" algn="l"/>
                          <a:tab pos="285750" algn="l"/>
                        </a:tabLst>
                      </a:pPr>
                      <a:r>
                        <a:rPr lang="en-US" sz="1400" b="0" dirty="0">
                          <a:effectLst/>
                        </a:rPr>
                        <a:t>6</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Sikat </a:t>
                      </a:r>
                      <a:r>
                        <a:rPr lang="en-US" sz="1400" dirty="0" err="1">
                          <a:effectLst/>
                        </a:rPr>
                        <a:t>Kawat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rPr>
                        <a:t>5 Unit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rPr>
                        <a:t>Milik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1968798498"/>
                  </a:ext>
                </a:extLst>
              </a:tr>
              <a:tr h="379696">
                <a:tc>
                  <a:txBody>
                    <a:bodyPr/>
                    <a:lstStyle/>
                    <a:p>
                      <a:pPr algn="ctr">
                        <a:spcAft>
                          <a:spcPts val="0"/>
                        </a:spcAft>
                        <a:tabLst>
                          <a:tab pos="228600" algn="l"/>
                          <a:tab pos="285750" algn="l"/>
                        </a:tabLst>
                      </a:pPr>
                      <a:r>
                        <a:rPr lang="en-US" sz="1400" b="0" dirty="0">
                          <a:effectLst/>
                        </a:rPr>
                        <a:t>7</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err="1">
                          <a:effectLst/>
                          <a:latin typeface="Arial" panose="020B0604020202020204" pitchFamily="34" charset="0"/>
                          <a:ea typeface="Times New Roman" panose="02020603050405020304" pitchFamily="18" charset="0"/>
                          <a:cs typeface="Arial" panose="020B0604020202020204" pitchFamily="34" charset="0"/>
                        </a:rPr>
                        <a:t>Amplas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10 meter</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rPr>
                        <a:t>Milik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4201047148"/>
                  </a:ext>
                </a:extLst>
              </a:tr>
              <a:tr h="383327">
                <a:tc>
                  <a:txBody>
                    <a:bodyPr/>
                    <a:lstStyle/>
                    <a:p>
                      <a:pPr algn="ctr">
                        <a:spcAft>
                          <a:spcPts val="0"/>
                        </a:spcAft>
                        <a:tabLst>
                          <a:tab pos="228600" algn="l"/>
                          <a:tab pos="285750" algn="l"/>
                        </a:tabLst>
                      </a:pPr>
                      <a:r>
                        <a:rPr lang="en-US" sz="1400" b="0" dirty="0">
                          <a:effectLst/>
                        </a:rPr>
                        <a:t>8</a:t>
                      </a: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Kabel Roll</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2 set</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rPr>
                        <a:t>Milik Perusahaan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760835654"/>
                  </a:ext>
                </a:extLst>
              </a:tr>
              <a:tr h="357603">
                <a:tc>
                  <a:txBody>
                    <a:bodyPr/>
                    <a:lstStyle/>
                    <a:p>
                      <a:pPr algn="ctr">
                        <a:spcAft>
                          <a:spcPts val="0"/>
                        </a:spcAft>
                        <a:tabLst>
                          <a:tab pos="228600" algn="l"/>
                          <a:tab pos="285750" algn="l"/>
                        </a:tabLst>
                      </a:pPr>
                      <a:r>
                        <a:rPr lang="en-US" sz="1400" b="0" dirty="0">
                          <a:effectLst/>
                          <a:latin typeface="Arial" panose="020B0604020202020204" pitchFamily="34" charset="0"/>
                          <a:ea typeface="Times New Roman" panose="02020603050405020304" pitchFamily="18" charset="0"/>
                          <a:cs typeface="Arial" panose="020B0604020202020204" pitchFamily="34" charset="0"/>
                        </a:rPr>
                        <a:t>9</a:t>
                      </a:r>
                    </a:p>
                  </a:txBody>
                  <a:tcPr marL="37465" marR="37465" marT="0" marB="0" anchor="ctr"/>
                </a:tc>
                <a:tc>
                  <a:txBody>
                    <a:bodyPr/>
                    <a:lstStyle/>
                    <a:p>
                      <a:pP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Box Alat</a:t>
                      </a:r>
                    </a:p>
                  </a:txBody>
                  <a:tcPr marL="37465" marR="37465" marT="0" marB="0" anchor="ctr"/>
                </a:tc>
                <a:tc>
                  <a:txBody>
                    <a:bodyPr/>
                    <a:lstStyle/>
                    <a:p>
                      <a:pPr algn="ctr">
                        <a:spcAft>
                          <a:spcPts val="0"/>
                        </a:spcAft>
                        <a:tabLst>
                          <a:tab pos="228600" algn="l"/>
                          <a:tab pos="285750" algn="l"/>
                        </a:tabLst>
                      </a:pPr>
                      <a:r>
                        <a:rPr lang="en-US" sz="1400" dirty="0">
                          <a:effectLst/>
                          <a:latin typeface="Arial" panose="020B0604020202020204" pitchFamily="34" charset="0"/>
                          <a:ea typeface="Times New Roman" panose="02020603050405020304" pitchFamily="18" charset="0"/>
                          <a:cs typeface="Arial" panose="020B0604020202020204" pitchFamily="34" charset="0"/>
                        </a:rPr>
                        <a:t>1 unit</a:t>
                      </a: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r>
                        <a:rPr lang="en-US" sz="1400" dirty="0">
                          <a:effectLst/>
                          <a:latin typeface="Arial" panose="020B0604020202020204" pitchFamily="34" charset="0"/>
                          <a:ea typeface="Times New Roman" panose="02020603050405020304" pitchFamily="18" charset="0"/>
                          <a:cs typeface="Arial" panose="020B0604020202020204" pitchFamily="34" charset="0"/>
                        </a:rPr>
                        <a:t>Milik Perusahaan</a:t>
                      </a:r>
                    </a:p>
                  </a:txBody>
                  <a:tcPr marL="37465" marR="37465" marT="0" marB="0" anchor="ctr"/>
                </a:tc>
                <a:extLst>
                  <a:ext uri="{0D108BD9-81ED-4DB2-BD59-A6C34878D82A}">
                    <a16:rowId xmlns:a16="http://schemas.microsoft.com/office/drawing/2014/main" val="512495335"/>
                  </a:ext>
                </a:extLst>
              </a:tr>
              <a:tr h="408616">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2634767348"/>
                  </a:ext>
                </a:extLst>
              </a:tr>
              <a:tr h="427455">
                <a:tc>
                  <a:txBody>
                    <a:bodyPr/>
                    <a:lstStyle/>
                    <a:p>
                      <a:pPr algn="ctr">
                        <a:spcAft>
                          <a:spcPts val="0"/>
                        </a:spcAft>
                        <a:tabLst>
                          <a:tab pos="228600" algn="l"/>
                          <a:tab pos="285750" algn="l"/>
                        </a:tabLst>
                      </a:pPr>
                      <a:endParaRPr lang="en-US" sz="1400" b="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algn="ctr">
                        <a:spcAft>
                          <a:spcPts val="0"/>
                        </a:spcAft>
                        <a:tabLst>
                          <a:tab pos="228600" algn="l"/>
                          <a:tab pos="285750" algn="l"/>
                        </a:tabLs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28600" algn="l"/>
                          <a:tab pos="285750" algn="l"/>
                        </a:tabLst>
                        <a:defRPr/>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37465" marR="37465" marT="0" marB="0" anchor="ctr"/>
                </a:tc>
                <a:extLst>
                  <a:ext uri="{0D108BD9-81ED-4DB2-BD59-A6C34878D82A}">
                    <a16:rowId xmlns:a16="http://schemas.microsoft.com/office/drawing/2014/main" val="4026078429"/>
                  </a:ext>
                </a:extLst>
              </a:tr>
            </a:tbl>
          </a:graphicData>
        </a:graphic>
      </p:graphicFrame>
    </p:spTree>
    <p:extLst>
      <p:ext uri="{BB962C8B-B14F-4D97-AF65-F5344CB8AC3E}">
        <p14:creationId xmlns:p14="http://schemas.microsoft.com/office/powerpoint/2010/main" val="180495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3B01D-CA5B-C71C-8F7C-A63E54F758B5}"/>
            </a:ext>
          </a:extLst>
        </p:cNvPr>
        <p:cNvGrpSpPr/>
        <p:nvPr/>
      </p:nvGrpSpPr>
      <p:grpSpPr>
        <a:xfrm>
          <a:off x="0" y="0"/>
          <a:ext cx="0" cy="0"/>
          <a:chOff x="0" y="0"/>
          <a:chExt cx="0" cy="0"/>
        </a:xfrm>
      </p:grpSpPr>
      <p:grpSp>
        <p:nvGrpSpPr>
          <p:cNvPr id="2" name="Grup 2">
            <a:extLst>
              <a:ext uri="{FF2B5EF4-FFF2-40B4-BE49-F238E27FC236}">
                <a16:creationId xmlns:a16="http://schemas.microsoft.com/office/drawing/2014/main" id="{8694B5AF-1FE6-74FE-8B86-8EA4CD69C403}"/>
              </a:ext>
            </a:extLst>
          </p:cNvPr>
          <p:cNvGrpSpPr/>
          <p:nvPr/>
        </p:nvGrpSpPr>
        <p:grpSpPr>
          <a:xfrm>
            <a:off x="98064" y="1055495"/>
            <a:ext cx="11933516" cy="4798984"/>
            <a:chOff x="2470350" y="1114030"/>
            <a:chExt cx="6862279" cy="4798984"/>
          </a:xfrm>
        </p:grpSpPr>
        <p:sp>
          <p:nvSpPr>
            <p:cNvPr id="7" name="Bentuk Bebas: Bentuk 8">
              <a:extLst>
                <a:ext uri="{FF2B5EF4-FFF2-40B4-BE49-F238E27FC236}">
                  <a16:creationId xmlns:a16="http://schemas.microsoft.com/office/drawing/2014/main" id="{02865F9A-A3EB-3921-E735-66C431C0257E}"/>
                </a:ext>
              </a:extLst>
            </p:cNvPr>
            <p:cNvSpPr/>
            <p:nvPr/>
          </p:nvSpPr>
          <p:spPr>
            <a:xfrm>
              <a:off x="5100612" y="1114030"/>
              <a:ext cx="1835036" cy="1757092"/>
            </a:xfrm>
            <a:custGeom>
              <a:avLst/>
              <a:gdLst>
                <a:gd name="connsiteX0" fmla="*/ 0 w 1757092"/>
                <a:gd name="connsiteY0" fmla="*/ 878546 h 1757092"/>
                <a:gd name="connsiteX1" fmla="*/ 878546 w 1757092"/>
                <a:gd name="connsiteY1" fmla="*/ 0 h 1757092"/>
                <a:gd name="connsiteX2" fmla="*/ 1757092 w 1757092"/>
                <a:gd name="connsiteY2" fmla="*/ 878546 h 1757092"/>
                <a:gd name="connsiteX3" fmla="*/ 878546 w 1757092"/>
                <a:gd name="connsiteY3" fmla="*/ 1757092 h 1757092"/>
                <a:gd name="connsiteX4" fmla="*/ 0 w 1757092"/>
                <a:gd name="connsiteY4" fmla="*/ 878546 h 17570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7092" h="1757092">
                  <a:moveTo>
                    <a:pt x="0" y="878546"/>
                  </a:moveTo>
                  <a:cubicBezTo>
                    <a:pt x="0" y="393338"/>
                    <a:pt x="393338" y="0"/>
                    <a:pt x="878546" y="0"/>
                  </a:cubicBezTo>
                  <a:cubicBezTo>
                    <a:pt x="1363754" y="0"/>
                    <a:pt x="1757092" y="393338"/>
                    <a:pt x="1757092" y="878546"/>
                  </a:cubicBezTo>
                  <a:cubicBezTo>
                    <a:pt x="1757092" y="1363754"/>
                    <a:pt x="1363754" y="1757092"/>
                    <a:pt x="878546" y="1757092"/>
                  </a:cubicBezTo>
                  <a:cubicBezTo>
                    <a:pt x="393338" y="1757092"/>
                    <a:pt x="0" y="1363754"/>
                    <a:pt x="0" y="878546"/>
                  </a:cubicBezTo>
                  <a:close/>
                </a:path>
              </a:pathLst>
            </a:custGeom>
            <a:solidFill>
              <a:schemeClr val="accent4">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96690" tIns="296690" rIns="296690" bIns="296690" numCol="1" spcCol="1270" anchor="ctr" anchorCtr="0">
              <a:noAutofit/>
            </a:bodyPr>
            <a:lstStyle/>
            <a:p>
              <a:pPr algn="ctr"/>
              <a:r>
                <a:rPr lang="en-ID" b="1" dirty="0">
                  <a:ln w="22225">
                    <a:solidFill>
                      <a:schemeClr val="accent2"/>
                    </a:solidFill>
                    <a:prstDash val="solid"/>
                  </a:ln>
                  <a:solidFill>
                    <a:srgbClr val="FFFF00"/>
                  </a:solidFill>
                </a:rPr>
                <a:t>PEKERJAAN CLEANING TANGKI PENDAM T3, T4, T2 &amp; T1</a:t>
              </a:r>
              <a:endParaRPr lang="id-ID" b="1" dirty="0">
                <a:ln w="22225">
                  <a:solidFill>
                    <a:schemeClr val="accent2"/>
                  </a:solidFill>
                  <a:prstDash val="solid"/>
                </a:ln>
                <a:solidFill>
                  <a:srgbClr val="FFFF00"/>
                </a:solidFill>
              </a:endParaRPr>
            </a:p>
          </p:txBody>
        </p:sp>
        <p:sp>
          <p:nvSpPr>
            <p:cNvPr id="8" name="Bentuk Bebas: Bentuk 9">
              <a:extLst>
                <a:ext uri="{FF2B5EF4-FFF2-40B4-BE49-F238E27FC236}">
                  <a16:creationId xmlns:a16="http://schemas.microsoft.com/office/drawing/2014/main" id="{4241FEDC-934D-2E9D-FF40-877F1B68D634}"/>
                </a:ext>
              </a:extLst>
            </p:cNvPr>
            <p:cNvSpPr/>
            <p:nvPr/>
          </p:nvSpPr>
          <p:spPr>
            <a:xfrm>
              <a:off x="2470350" y="3135341"/>
              <a:ext cx="1229964" cy="1229964"/>
            </a:xfrm>
            <a:custGeom>
              <a:avLst/>
              <a:gdLst>
                <a:gd name="connsiteX0" fmla="*/ 0 w 1229964"/>
                <a:gd name="connsiteY0" fmla="*/ 614982 h 1229964"/>
                <a:gd name="connsiteX1" fmla="*/ 614982 w 1229964"/>
                <a:gd name="connsiteY1" fmla="*/ 0 h 1229964"/>
                <a:gd name="connsiteX2" fmla="*/ 1229964 w 1229964"/>
                <a:gd name="connsiteY2" fmla="*/ 614982 h 1229964"/>
                <a:gd name="connsiteX3" fmla="*/ 614982 w 1229964"/>
                <a:gd name="connsiteY3" fmla="*/ 1229964 h 1229964"/>
                <a:gd name="connsiteX4" fmla="*/ 0 w 1229964"/>
                <a:gd name="connsiteY4" fmla="*/ 614982 h 1229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964" h="1229964">
                  <a:moveTo>
                    <a:pt x="0" y="614982"/>
                  </a:moveTo>
                  <a:cubicBezTo>
                    <a:pt x="0" y="275337"/>
                    <a:pt x="275337" y="0"/>
                    <a:pt x="614982" y="0"/>
                  </a:cubicBezTo>
                  <a:cubicBezTo>
                    <a:pt x="954627" y="0"/>
                    <a:pt x="1229964" y="275337"/>
                    <a:pt x="1229964" y="614982"/>
                  </a:cubicBezTo>
                  <a:cubicBezTo>
                    <a:pt x="1229964" y="954627"/>
                    <a:pt x="954627" y="1229964"/>
                    <a:pt x="614982" y="1229964"/>
                  </a:cubicBezTo>
                  <a:cubicBezTo>
                    <a:pt x="275337" y="1229964"/>
                    <a:pt x="0" y="954627"/>
                    <a:pt x="0" y="614982"/>
                  </a:cubicBezTo>
                  <a:close/>
                </a:path>
              </a:pathLst>
            </a:cu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95364" tIns="195364" rIns="195364" bIns="195364" numCol="1" spcCol="1270" anchor="ctr" anchorCtr="0">
              <a:noAutofit/>
            </a:bodyPr>
            <a:lstStyle/>
            <a:p>
              <a:pPr marL="0" lvl="0" indent="0" algn="ctr" defTabSz="5334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PEKERJAAN PERSIAPAN</a:t>
              </a:r>
            </a:p>
          </p:txBody>
        </p:sp>
        <p:sp>
          <p:nvSpPr>
            <p:cNvPr id="11" name="Bentuk Bebas: Bentuk 12">
              <a:extLst>
                <a:ext uri="{FF2B5EF4-FFF2-40B4-BE49-F238E27FC236}">
                  <a16:creationId xmlns:a16="http://schemas.microsoft.com/office/drawing/2014/main" id="{410BCBB8-44DA-B898-B531-7CFF0445FED8}"/>
                </a:ext>
              </a:extLst>
            </p:cNvPr>
            <p:cNvSpPr/>
            <p:nvPr/>
          </p:nvSpPr>
          <p:spPr>
            <a:xfrm>
              <a:off x="8015372" y="3207178"/>
              <a:ext cx="1317257" cy="1229964"/>
            </a:xfrm>
            <a:custGeom>
              <a:avLst/>
              <a:gdLst>
                <a:gd name="connsiteX0" fmla="*/ 0 w 1229964"/>
                <a:gd name="connsiteY0" fmla="*/ 614982 h 1229964"/>
                <a:gd name="connsiteX1" fmla="*/ 614982 w 1229964"/>
                <a:gd name="connsiteY1" fmla="*/ 0 h 1229964"/>
                <a:gd name="connsiteX2" fmla="*/ 1229964 w 1229964"/>
                <a:gd name="connsiteY2" fmla="*/ 614982 h 1229964"/>
                <a:gd name="connsiteX3" fmla="*/ 614982 w 1229964"/>
                <a:gd name="connsiteY3" fmla="*/ 1229964 h 1229964"/>
                <a:gd name="connsiteX4" fmla="*/ 0 w 1229964"/>
                <a:gd name="connsiteY4" fmla="*/ 614982 h 1229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964" h="1229964">
                  <a:moveTo>
                    <a:pt x="0" y="614982"/>
                  </a:moveTo>
                  <a:cubicBezTo>
                    <a:pt x="0" y="275337"/>
                    <a:pt x="275337" y="0"/>
                    <a:pt x="614982" y="0"/>
                  </a:cubicBezTo>
                  <a:cubicBezTo>
                    <a:pt x="954627" y="0"/>
                    <a:pt x="1229964" y="275337"/>
                    <a:pt x="1229964" y="614982"/>
                  </a:cubicBezTo>
                  <a:cubicBezTo>
                    <a:pt x="1229964" y="954627"/>
                    <a:pt x="954627" y="1229964"/>
                    <a:pt x="614982" y="1229964"/>
                  </a:cubicBezTo>
                  <a:cubicBezTo>
                    <a:pt x="275337" y="1229964"/>
                    <a:pt x="0" y="954627"/>
                    <a:pt x="0" y="614982"/>
                  </a:cubicBezTo>
                  <a:close/>
                </a:path>
              </a:pathLst>
            </a:cu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95364" tIns="195364" rIns="195364" bIns="195364" numCol="1" spcCol="1270" anchor="ctr" anchorCtr="0">
              <a:noAutofit/>
            </a:bodyPr>
            <a:lstStyle/>
            <a:p>
              <a:pPr marL="0" lvl="0" indent="0" algn="ctr" defTabSz="533400">
                <a:lnSpc>
                  <a:spcPct val="90000"/>
                </a:lnSpc>
                <a:spcBef>
                  <a:spcPct val="0"/>
                </a:spcBef>
                <a:spcAft>
                  <a:spcPct val="35000"/>
                </a:spcAft>
                <a:buNone/>
              </a:pPr>
              <a:r>
                <a:rPr lang="en-US" sz="1400" b="1" kern="1200" dirty="0">
                  <a:latin typeface="Arial" panose="020B0604020202020204" pitchFamily="34" charset="0"/>
                  <a:cs typeface="Arial" panose="020B0604020202020204" pitchFamily="34" charset="0"/>
                </a:rPr>
                <a:t>PEKERJAAN FINISHING</a:t>
              </a:r>
            </a:p>
          </p:txBody>
        </p:sp>
        <p:sp>
          <p:nvSpPr>
            <p:cNvPr id="14" name="Bentuk Bebas: Bentuk 9">
              <a:extLst>
                <a:ext uri="{FF2B5EF4-FFF2-40B4-BE49-F238E27FC236}">
                  <a16:creationId xmlns:a16="http://schemas.microsoft.com/office/drawing/2014/main" id="{9040B833-8EDC-7CBC-8EEF-19A3DBAAAC46}"/>
                </a:ext>
              </a:extLst>
            </p:cNvPr>
            <p:cNvSpPr/>
            <p:nvPr/>
          </p:nvSpPr>
          <p:spPr>
            <a:xfrm>
              <a:off x="3965878" y="4626426"/>
              <a:ext cx="1792115" cy="1229964"/>
            </a:xfrm>
            <a:custGeom>
              <a:avLst/>
              <a:gdLst>
                <a:gd name="connsiteX0" fmla="*/ 0 w 1229964"/>
                <a:gd name="connsiteY0" fmla="*/ 614982 h 1229964"/>
                <a:gd name="connsiteX1" fmla="*/ 614982 w 1229964"/>
                <a:gd name="connsiteY1" fmla="*/ 0 h 1229964"/>
                <a:gd name="connsiteX2" fmla="*/ 1229964 w 1229964"/>
                <a:gd name="connsiteY2" fmla="*/ 614982 h 1229964"/>
                <a:gd name="connsiteX3" fmla="*/ 614982 w 1229964"/>
                <a:gd name="connsiteY3" fmla="*/ 1229964 h 1229964"/>
                <a:gd name="connsiteX4" fmla="*/ 0 w 1229964"/>
                <a:gd name="connsiteY4" fmla="*/ 614982 h 1229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964" h="1229964">
                  <a:moveTo>
                    <a:pt x="0" y="614982"/>
                  </a:moveTo>
                  <a:cubicBezTo>
                    <a:pt x="0" y="275337"/>
                    <a:pt x="275337" y="0"/>
                    <a:pt x="614982" y="0"/>
                  </a:cubicBezTo>
                  <a:cubicBezTo>
                    <a:pt x="954627" y="0"/>
                    <a:pt x="1229964" y="275337"/>
                    <a:pt x="1229964" y="614982"/>
                  </a:cubicBezTo>
                  <a:cubicBezTo>
                    <a:pt x="1229964" y="954627"/>
                    <a:pt x="954627" y="1229964"/>
                    <a:pt x="614982" y="1229964"/>
                  </a:cubicBezTo>
                  <a:cubicBezTo>
                    <a:pt x="275337" y="1229964"/>
                    <a:pt x="0" y="954627"/>
                    <a:pt x="0" y="614982"/>
                  </a:cubicBezTo>
                  <a:close/>
                </a:path>
              </a:pathLst>
            </a:cu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95364" tIns="195364" rIns="195364" bIns="195364" numCol="1" spcCol="1270" anchor="ctr" anchorCtr="0">
              <a:noAutofit/>
            </a:bodyPr>
            <a:lstStyle/>
            <a:p>
              <a:pPr marL="0" lvl="0" indent="0" algn="ctr" defTabSz="5334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PEKERJAAN CLEANNING TANGKI</a:t>
              </a:r>
            </a:p>
          </p:txBody>
        </p:sp>
        <p:sp>
          <p:nvSpPr>
            <p:cNvPr id="28" name="Bentuk Bebas: Bentuk 9">
              <a:extLst>
                <a:ext uri="{FF2B5EF4-FFF2-40B4-BE49-F238E27FC236}">
                  <a16:creationId xmlns:a16="http://schemas.microsoft.com/office/drawing/2014/main" id="{1B6C93E6-94F7-80DD-6BE3-42EE5F04DCC8}"/>
                </a:ext>
              </a:extLst>
            </p:cNvPr>
            <p:cNvSpPr/>
            <p:nvPr/>
          </p:nvSpPr>
          <p:spPr>
            <a:xfrm>
              <a:off x="5990625" y="4683050"/>
              <a:ext cx="1792115" cy="1229964"/>
            </a:xfrm>
            <a:custGeom>
              <a:avLst/>
              <a:gdLst>
                <a:gd name="connsiteX0" fmla="*/ 0 w 1229964"/>
                <a:gd name="connsiteY0" fmla="*/ 614982 h 1229964"/>
                <a:gd name="connsiteX1" fmla="*/ 614982 w 1229964"/>
                <a:gd name="connsiteY1" fmla="*/ 0 h 1229964"/>
                <a:gd name="connsiteX2" fmla="*/ 1229964 w 1229964"/>
                <a:gd name="connsiteY2" fmla="*/ 614982 h 1229964"/>
                <a:gd name="connsiteX3" fmla="*/ 614982 w 1229964"/>
                <a:gd name="connsiteY3" fmla="*/ 1229964 h 1229964"/>
                <a:gd name="connsiteX4" fmla="*/ 0 w 1229964"/>
                <a:gd name="connsiteY4" fmla="*/ 614982 h 1229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9964" h="1229964">
                  <a:moveTo>
                    <a:pt x="0" y="614982"/>
                  </a:moveTo>
                  <a:cubicBezTo>
                    <a:pt x="0" y="275337"/>
                    <a:pt x="275337" y="0"/>
                    <a:pt x="614982" y="0"/>
                  </a:cubicBezTo>
                  <a:cubicBezTo>
                    <a:pt x="954627" y="0"/>
                    <a:pt x="1229964" y="275337"/>
                    <a:pt x="1229964" y="614982"/>
                  </a:cubicBezTo>
                  <a:cubicBezTo>
                    <a:pt x="1229964" y="954627"/>
                    <a:pt x="954627" y="1229964"/>
                    <a:pt x="614982" y="1229964"/>
                  </a:cubicBezTo>
                  <a:cubicBezTo>
                    <a:pt x="275337" y="1229964"/>
                    <a:pt x="0" y="954627"/>
                    <a:pt x="0" y="614982"/>
                  </a:cubicBezTo>
                  <a:close/>
                </a:path>
              </a:pathLst>
            </a:custGeom>
            <a:solidFill>
              <a:schemeClr val="accent1">
                <a:lumMod val="7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95364" tIns="195364" rIns="195364" bIns="195364" numCol="1" spcCol="1270" anchor="ctr" anchorCtr="0">
              <a:noAutofit/>
            </a:bodyPr>
            <a:lstStyle/>
            <a:p>
              <a:pPr marL="0" lvl="0" indent="0" algn="ctr" defTabSz="533400">
                <a:lnSpc>
                  <a:spcPct val="90000"/>
                </a:lnSpc>
                <a:spcBef>
                  <a:spcPct val="0"/>
                </a:spcBef>
                <a:spcAft>
                  <a:spcPct val="35000"/>
                </a:spcAft>
                <a:buNone/>
              </a:pPr>
              <a:r>
                <a:rPr lang="en-US" sz="1600" b="1" kern="1200" dirty="0">
                  <a:latin typeface="Arial" panose="020B0604020202020204" pitchFamily="34" charset="0"/>
                  <a:cs typeface="Arial" panose="020B0604020202020204" pitchFamily="34" charset="0"/>
                </a:rPr>
                <a:t>PEKERJAAN </a:t>
              </a:r>
              <a:r>
                <a:rPr lang="en-US" sz="1600" b="1" dirty="0">
                  <a:latin typeface="Arial" panose="020B0604020202020204" pitchFamily="34" charset="0"/>
                  <a:cs typeface="Arial" panose="020B0604020202020204" pitchFamily="34" charset="0"/>
                </a:rPr>
                <a:t>COATING</a:t>
              </a:r>
              <a:endParaRPr lang="en-US" sz="1600" b="1" kern="1200" dirty="0">
                <a:latin typeface="Arial" panose="020B0604020202020204" pitchFamily="34" charset="0"/>
                <a:cs typeface="Arial" panose="020B0604020202020204" pitchFamily="34" charset="0"/>
              </a:endParaRPr>
            </a:p>
          </p:txBody>
        </p:sp>
      </p:grpSp>
      <p:sp>
        <p:nvSpPr>
          <p:cNvPr id="12" name="TextBox 11">
            <a:extLst>
              <a:ext uri="{FF2B5EF4-FFF2-40B4-BE49-F238E27FC236}">
                <a16:creationId xmlns:a16="http://schemas.microsoft.com/office/drawing/2014/main" id="{2ED85F78-24AE-C321-6B0C-DE67C76CD0C6}"/>
              </a:ext>
            </a:extLst>
          </p:cNvPr>
          <p:cNvSpPr txBox="1"/>
          <p:nvPr/>
        </p:nvSpPr>
        <p:spPr>
          <a:xfrm>
            <a:off x="4006674" y="433955"/>
            <a:ext cx="4521972" cy="523220"/>
          </a:xfrm>
          <a:prstGeom prst="rect">
            <a:avLst/>
          </a:prstGeom>
          <a:noFill/>
        </p:spPr>
        <p:txBody>
          <a:bodyPr wrap="square" rtlCol="0">
            <a:spAutoFit/>
          </a:bodyPr>
          <a:lstStyle/>
          <a:p>
            <a:pPr algn="ctr"/>
            <a:r>
              <a:rPr lang="en-US" sz="2800" u="sng" dirty="0">
                <a:solidFill>
                  <a:srgbClr val="002060"/>
                </a:solidFill>
                <a:latin typeface="Roboto Black" panose="02000000000000000000" pitchFamily="2" charset="0"/>
                <a:ea typeface="Roboto Black" panose="02000000000000000000" pitchFamily="2" charset="0"/>
              </a:rPr>
              <a:t>SCOPE OF WORK</a:t>
            </a:r>
          </a:p>
        </p:txBody>
      </p:sp>
      <p:cxnSp>
        <p:nvCxnSpPr>
          <p:cNvPr id="31" name="Straight Arrow Connector 30">
            <a:extLst>
              <a:ext uri="{FF2B5EF4-FFF2-40B4-BE49-F238E27FC236}">
                <a16:creationId xmlns:a16="http://schemas.microsoft.com/office/drawing/2014/main" id="{C36C17CF-569D-F4F5-503C-A95D0C35137C}"/>
              </a:ext>
            </a:extLst>
          </p:cNvPr>
          <p:cNvCxnSpPr>
            <a:cxnSpLocks/>
          </p:cNvCxnSpPr>
          <p:nvPr/>
        </p:nvCxnSpPr>
        <p:spPr>
          <a:xfrm flipH="1">
            <a:off x="2236974" y="2124674"/>
            <a:ext cx="2489228" cy="1194728"/>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3" name="Straight Arrow Connector 32">
            <a:extLst>
              <a:ext uri="{FF2B5EF4-FFF2-40B4-BE49-F238E27FC236}">
                <a16:creationId xmlns:a16="http://schemas.microsoft.com/office/drawing/2014/main" id="{956A2161-1939-617E-2F57-D59653DFD1DA}"/>
              </a:ext>
            </a:extLst>
          </p:cNvPr>
          <p:cNvCxnSpPr>
            <a:cxnSpLocks/>
          </p:cNvCxnSpPr>
          <p:nvPr/>
        </p:nvCxnSpPr>
        <p:spPr>
          <a:xfrm>
            <a:off x="7802405" y="2124674"/>
            <a:ext cx="2334652" cy="1119971"/>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36" name="Straight Arrow Connector 35">
            <a:extLst>
              <a:ext uri="{FF2B5EF4-FFF2-40B4-BE49-F238E27FC236}">
                <a16:creationId xmlns:a16="http://schemas.microsoft.com/office/drawing/2014/main" id="{6AA7F3A2-8D63-1287-677C-F8959F13A731}"/>
              </a:ext>
            </a:extLst>
          </p:cNvPr>
          <p:cNvCxnSpPr>
            <a:cxnSpLocks/>
          </p:cNvCxnSpPr>
          <p:nvPr/>
        </p:nvCxnSpPr>
        <p:spPr>
          <a:xfrm>
            <a:off x="6865112" y="2722038"/>
            <a:ext cx="920403" cy="1845853"/>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0" name="Straight Arrow Connector 39">
            <a:extLst>
              <a:ext uri="{FF2B5EF4-FFF2-40B4-BE49-F238E27FC236}">
                <a16:creationId xmlns:a16="http://schemas.microsoft.com/office/drawing/2014/main" id="{B7A47C46-186F-4E4D-6CE9-5A21A2C667E0}"/>
              </a:ext>
            </a:extLst>
          </p:cNvPr>
          <p:cNvCxnSpPr>
            <a:cxnSpLocks/>
          </p:cNvCxnSpPr>
          <p:nvPr/>
        </p:nvCxnSpPr>
        <p:spPr>
          <a:xfrm flipH="1">
            <a:off x="4375884" y="2692542"/>
            <a:ext cx="1195040" cy="1771304"/>
          </a:xfrm>
          <a:prstGeom prst="straightConnector1">
            <a:avLst/>
          </a:prstGeom>
          <a:ln w="571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480005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516F5-1140-279B-C2B0-71D176AB33AA}"/>
            </a:ext>
          </a:extLst>
        </p:cNvPr>
        <p:cNvGrpSpPr/>
        <p:nvPr/>
      </p:nvGrpSpPr>
      <p:grpSpPr>
        <a:xfrm>
          <a:off x="0" y="0"/>
          <a:ext cx="0" cy="0"/>
          <a:chOff x="0" y="0"/>
          <a:chExt cx="0" cy="0"/>
        </a:xfrm>
      </p:grpSpPr>
      <p:grpSp>
        <p:nvGrpSpPr>
          <p:cNvPr id="53" name="Grup 52">
            <a:extLst>
              <a:ext uri="{FF2B5EF4-FFF2-40B4-BE49-F238E27FC236}">
                <a16:creationId xmlns:a16="http://schemas.microsoft.com/office/drawing/2014/main" id="{846C9BAE-0951-05CE-2EAD-2C79A3E2E2B1}"/>
              </a:ext>
            </a:extLst>
          </p:cNvPr>
          <p:cNvGrpSpPr/>
          <p:nvPr/>
        </p:nvGrpSpPr>
        <p:grpSpPr>
          <a:xfrm>
            <a:off x="3429647" y="2825983"/>
            <a:ext cx="2438466" cy="1447359"/>
            <a:chOff x="3682626" y="3001003"/>
            <a:chExt cx="1885161" cy="1380599"/>
          </a:xfrm>
        </p:grpSpPr>
        <p:grpSp>
          <p:nvGrpSpPr>
            <p:cNvPr id="54" name="Group 60">
              <a:extLst>
                <a:ext uri="{FF2B5EF4-FFF2-40B4-BE49-F238E27FC236}">
                  <a16:creationId xmlns:a16="http://schemas.microsoft.com/office/drawing/2014/main" id="{66224984-35B2-10A8-D859-5584BC15C8F3}"/>
                </a:ext>
              </a:extLst>
            </p:cNvPr>
            <p:cNvGrpSpPr/>
            <p:nvPr/>
          </p:nvGrpSpPr>
          <p:grpSpPr>
            <a:xfrm>
              <a:off x="3682626" y="3001003"/>
              <a:ext cx="1692353" cy="307777"/>
              <a:chOff x="5436656" y="998461"/>
              <a:chExt cx="2256472" cy="410369"/>
            </a:xfrm>
          </p:grpSpPr>
          <p:sp>
            <p:nvSpPr>
              <p:cNvPr id="56" name="Oval 55">
                <a:extLst>
                  <a:ext uri="{FF2B5EF4-FFF2-40B4-BE49-F238E27FC236}">
                    <a16:creationId xmlns:a16="http://schemas.microsoft.com/office/drawing/2014/main" id="{4C3D8336-45E4-7AC5-4A1C-7D0081101653}"/>
                  </a:ext>
                </a:extLst>
              </p:cNvPr>
              <p:cNvSpPr/>
              <p:nvPr/>
            </p:nvSpPr>
            <p:spPr>
              <a:xfrm>
                <a:off x="5436656" y="1087502"/>
                <a:ext cx="143185" cy="184280"/>
              </a:xfrm>
              <a:prstGeom prst="ellipse">
                <a:avLst/>
              </a:prstGeom>
              <a:solidFill>
                <a:schemeClr val="bg1">
                  <a:lumMod val="9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dirty="0">
                  <a:solidFill>
                    <a:schemeClr val="tx1"/>
                  </a:solidFill>
                  <a:latin typeface="Calibri" panose="020F0502020204030204"/>
                </a:endParaRPr>
              </a:p>
            </p:txBody>
          </p:sp>
          <p:sp>
            <p:nvSpPr>
              <p:cNvPr id="57" name="TextBox 77">
                <a:extLst>
                  <a:ext uri="{FF2B5EF4-FFF2-40B4-BE49-F238E27FC236}">
                    <a16:creationId xmlns:a16="http://schemas.microsoft.com/office/drawing/2014/main" id="{AFBDF619-F4BA-D653-2BCA-1DF516D6B148}"/>
                  </a:ext>
                </a:extLst>
              </p:cNvPr>
              <p:cNvSpPr txBox="1"/>
              <p:nvPr/>
            </p:nvSpPr>
            <p:spPr>
              <a:xfrm>
                <a:off x="5660392" y="998461"/>
                <a:ext cx="2032736" cy="410369"/>
              </a:xfrm>
              <a:prstGeom prst="rect">
                <a:avLst/>
              </a:prstGeom>
              <a:noFill/>
            </p:spPr>
            <p:txBody>
              <a:bodyPr wrap="none" rtlCol="0">
                <a:spAutoFit/>
              </a:bodyPr>
              <a:lstStyle/>
              <a:p>
                <a:pPr defTabSz="685800"/>
                <a:r>
                  <a:rPr lang="id-ID" sz="1400" b="1" dirty="0">
                    <a:solidFill>
                      <a:schemeClr val="bg1"/>
                    </a:solidFill>
                    <a:latin typeface="Tahoma" panose="020B0604030504040204" pitchFamily="34" charset="0"/>
                    <a:ea typeface="Tahoma" panose="020B0604030504040204" pitchFamily="34" charset="0"/>
                    <a:cs typeface="Tahoma" panose="020B0604030504040204" pitchFamily="34" charset="0"/>
                  </a:rPr>
                  <a:t>AREA YOGYAKARTA</a:t>
                </a:r>
                <a:endParaRPr lang="en-US" sz="1400" b="1"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55" name="TextBox 111">
              <a:extLst>
                <a:ext uri="{FF2B5EF4-FFF2-40B4-BE49-F238E27FC236}">
                  <a16:creationId xmlns:a16="http://schemas.microsoft.com/office/drawing/2014/main" id="{D92F93B4-FCB9-FA5E-47A0-F28D7399B6B4}"/>
                </a:ext>
              </a:extLst>
            </p:cNvPr>
            <p:cNvSpPr txBox="1"/>
            <p:nvPr/>
          </p:nvSpPr>
          <p:spPr>
            <a:xfrm>
              <a:off x="3790015" y="3301165"/>
              <a:ext cx="1777772" cy="1080437"/>
            </a:xfrm>
            <a:prstGeom prst="rect">
              <a:avLst/>
            </a:prstGeom>
            <a:noFill/>
          </p:spPr>
          <p:txBody>
            <a:bodyPr wrap="square" rtlCol="0">
              <a:spAutoFit/>
            </a:bodyPr>
            <a:lstStyle/>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REWULU</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SUDJIPTO / YIA</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BOYOLALI</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DPPU ADI SUMARMO</a:t>
              </a:r>
            </a:p>
            <a:p>
              <a:pPr marL="171450" indent="-171450">
                <a:lnSpc>
                  <a:spcPct val="115000"/>
                </a:lnSpc>
                <a:buSzPts val="1400"/>
                <a:buFontTx/>
                <a:buChar char="-"/>
              </a:pPr>
              <a:r>
                <a:rPr lang="id-ID" sz="1200" dirty="0">
                  <a:solidFill>
                    <a:schemeClr val="bg1"/>
                  </a:solidFill>
                  <a:latin typeface="Tahoma" panose="020B0604030504040204" pitchFamily="34" charset="0"/>
                  <a:ea typeface="Tahoma" panose="020B0604030504040204" pitchFamily="34" charset="0"/>
                  <a:cs typeface="Tahoma" panose="020B0604030504040204" pitchFamily="34" charset="0"/>
                </a:rPr>
                <a:t>FUEL TERMINAL CEPU</a:t>
              </a:r>
              <a:endParaRPr lang="en-US" sz="1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grpSp>
      <p:sp>
        <p:nvSpPr>
          <p:cNvPr id="2" name="Arrow: Right 1">
            <a:extLst>
              <a:ext uri="{FF2B5EF4-FFF2-40B4-BE49-F238E27FC236}">
                <a16:creationId xmlns:a16="http://schemas.microsoft.com/office/drawing/2014/main" id="{C9FE104A-D4D5-423A-9967-C440BFBB7B96}"/>
              </a:ext>
            </a:extLst>
          </p:cNvPr>
          <p:cNvSpPr/>
          <p:nvPr/>
        </p:nvSpPr>
        <p:spPr>
          <a:xfrm>
            <a:off x="1115414" y="3009760"/>
            <a:ext cx="10524362" cy="46534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Arial"/>
            </a:endParaRPr>
          </a:p>
        </p:txBody>
      </p:sp>
      <p:sp>
        <p:nvSpPr>
          <p:cNvPr id="3" name="TextBox 2">
            <a:extLst>
              <a:ext uri="{FF2B5EF4-FFF2-40B4-BE49-F238E27FC236}">
                <a16:creationId xmlns:a16="http://schemas.microsoft.com/office/drawing/2014/main" id="{28F66B61-31EC-85F8-12D3-085AE57CAEF2}"/>
              </a:ext>
            </a:extLst>
          </p:cNvPr>
          <p:cNvSpPr txBox="1"/>
          <p:nvPr/>
        </p:nvSpPr>
        <p:spPr>
          <a:xfrm>
            <a:off x="2854437" y="4609158"/>
            <a:ext cx="1533536" cy="175626"/>
          </a:xfrm>
          <a:prstGeom prst="rect">
            <a:avLst/>
          </a:prstGeom>
          <a:noFill/>
        </p:spPr>
        <p:txBody>
          <a:bodyPr wrap="square" lIns="0" rIns="0" rtlCol="0">
            <a:spAutoFit/>
          </a:bodyPr>
          <a:lstStyle/>
          <a:p>
            <a:pPr marL="914400" indent="457200" algn="ctr">
              <a:lnSpc>
                <a:spcPct val="115000"/>
              </a:lnSpc>
              <a:spcAft>
                <a:spcPts val="1000"/>
              </a:spcAft>
            </a:pPr>
            <a:endParaRPr lang="en-US" sz="500" dirty="0">
              <a:latin typeface="Calibri" panose="020F0502020204030204" pitchFamily="34" charset="0"/>
              <a:ea typeface="Calibri" panose="020F0502020204030204" pitchFamily="34" charset="0"/>
              <a:cs typeface="Times New Roman" panose="02020603050405020304" pitchFamily="18" charset="0"/>
            </a:endParaRPr>
          </a:p>
        </p:txBody>
      </p:sp>
      <p:grpSp>
        <p:nvGrpSpPr>
          <p:cNvPr id="4" name="Grup 9">
            <a:extLst>
              <a:ext uri="{FF2B5EF4-FFF2-40B4-BE49-F238E27FC236}">
                <a16:creationId xmlns:a16="http://schemas.microsoft.com/office/drawing/2014/main" id="{B39B2CB8-711E-1FEB-1EBF-34FE016512ED}"/>
              </a:ext>
            </a:extLst>
          </p:cNvPr>
          <p:cNvGrpSpPr/>
          <p:nvPr/>
        </p:nvGrpSpPr>
        <p:grpSpPr>
          <a:xfrm>
            <a:off x="1870413" y="2851518"/>
            <a:ext cx="1273259" cy="793507"/>
            <a:chOff x="2610557" y="2851518"/>
            <a:chExt cx="1273259" cy="793507"/>
          </a:xfrm>
        </p:grpSpPr>
        <p:sp>
          <p:nvSpPr>
            <p:cNvPr id="5" name="Rounded Rectangle 5">
              <a:extLst>
                <a:ext uri="{FF2B5EF4-FFF2-40B4-BE49-F238E27FC236}">
                  <a16:creationId xmlns:a16="http://schemas.microsoft.com/office/drawing/2014/main" id="{5FFC3B25-032A-C0BF-0670-C7238D5858DA}"/>
                </a:ext>
              </a:extLst>
            </p:cNvPr>
            <p:cNvSpPr/>
            <p:nvPr/>
          </p:nvSpPr>
          <p:spPr>
            <a:xfrm>
              <a:off x="2610557" y="2851518"/>
              <a:ext cx="1273259" cy="79350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6" name="TextBox 5">
              <a:extLst>
                <a:ext uri="{FF2B5EF4-FFF2-40B4-BE49-F238E27FC236}">
                  <a16:creationId xmlns:a16="http://schemas.microsoft.com/office/drawing/2014/main" id="{CADA7FEC-C8C1-2AE8-7EEB-7784E506A4A1}"/>
                </a:ext>
              </a:extLst>
            </p:cNvPr>
            <p:cNvSpPr txBox="1"/>
            <p:nvPr/>
          </p:nvSpPr>
          <p:spPr>
            <a:xfrm>
              <a:off x="2667786" y="2996953"/>
              <a:ext cx="1123958"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Mobilisasi</a:t>
              </a:r>
              <a:r>
                <a:rPr lang="en-US" altLang="ko-KR" sz="1200" b="1" dirty="0">
                  <a:solidFill>
                    <a:srgbClr val="000000">
                      <a:lumMod val="75000"/>
                      <a:lumOff val="25000"/>
                    </a:srgbClr>
                  </a:solidFill>
                  <a:latin typeface="Arial"/>
                  <a:cs typeface="Arial" pitchFamily="34" charset="0"/>
                </a:rPr>
                <a:t> &amp; </a:t>
              </a:r>
              <a:r>
                <a:rPr lang="en-US" altLang="ko-KR" sz="1200" b="1" dirty="0" err="1">
                  <a:solidFill>
                    <a:srgbClr val="000000">
                      <a:lumMod val="75000"/>
                      <a:lumOff val="25000"/>
                    </a:srgbClr>
                  </a:solidFill>
                  <a:latin typeface="Arial"/>
                  <a:cs typeface="Arial" pitchFamily="34" charset="0"/>
                </a:rPr>
                <a:t>Demobilisasi</a:t>
              </a:r>
              <a:endParaRPr lang="ko-KR" altLang="en-US" sz="1200" b="1" dirty="0">
                <a:solidFill>
                  <a:srgbClr val="000000">
                    <a:lumMod val="75000"/>
                    <a:lumOff val="25000"/>
                  </a:srgbClr>
                </a:solidFill>
                <a:latin typeface="Arial"/>
                <a:cs typeface="Arial" pitchFamily="34" charset="0"/>
              </a:endParaRPr>
            </a:p>
          </p:txBody>
        </p:sp>
      </p:grpSp>
      <p:grpSp>
        <p:nvGrpSpPr>
          <p:cNvPr id="7" name="Grup 11">
            <a:extLst>
              <a:ext uri="{FF2B5EF4-FFF2-40B4-BE49-F238E27FC236}">
                <a16:creationId xmlns:a16="http://schemas.microsoft.com/office/drawing/2014/main" id="{E314CC0D-DBF4-458D-2913-55CCEEFC6E6F}"/>
              </a:ext>
            </a:extLst>
          </p:cNvPr>
          <p:cNvGrpSpPr/>
          <p:nvPr/>
        </p:nvGrpSpPr>
        <p:grpSpPr>
          <a:xfrm>
            <a:off x="4390693" y="2851518"/>
            <a:ext cx="1273259" cy="793507"/>
            <a:chOff x="4153713" y="2851518"/>
            <a:chExt cx="1273259" cy="793507"/>
          </a:xfrm>
        </p:grpSpPr>
        <p:sp>
          <p:nvSpPr>
            <p:cNvPr id="8" name="Rounded Rectangle 2">
              <a:extLst>
                <a:ext uri="{FF2B5EF4-FFF2-40B4-BE49-F238E27FC236}">
                  <a16:creationId xmlns:a16="http://schemas.microsoft.com/office/drawing/2014/main" id="{5104D719-9FD6-EF3E-D939-A5D17662E688}"/>
                </a:ext>
              </a:extLst>
            </p:cNvPr>
            <p:cNvSpPr/>
            <p:nvPr/>
          </p:nvSpPr>
          <p:spPr>
            <a:xfrm>
              <a:off x="4153713" y="2851518"/>
              <a:ext cx="1273259" cy="793507"/>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9" name="TextBox 8">
              <a:extLst>
                <a:ext uri="{FF2B5EF4-FFF2-40B4-BE49-F238E27FC236}">
                  <a16:creationId xmlns:a16="http://schemas.microsoft.com/office/drawing/2014/main" id="{7F6843FA-3EB6-5607-DA78-ACDE448949CB}"/>
                </a:ext>
              </a:extLst>
            </p:cNvPr>
            <p:cNvSpPr txBox="1"/>
            <p:nvPr/>
          </p:nvSpPr>
          <p:spPr>
            <a:xfrm>
              <a:off x="4295800" y="2996953"/>
              <a:ext cx="959880" cy="461665"/>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Direksi</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Keet</a:t>
              </a:r>
              <a:r>
                <a:rPr lang="en-US" altLang="ko-KR" sz="1200" b="1" dirty="0">
                  <a:solidFill>
                    <a:srgbClr val="000000">
                      <a:lumMod val="75000"/>
                      <a:lumOff val="25000"/>
                    </a:srgbClr>
                  </a:solidFill>
                  <a:latin typeface="Arial"/>
                  <a:cs typeface="Arial" pitchFamily="34" charset="0"/>
                </a:rPr>
                <a:t> </a:t>
              </a:r>
              <a:endParaRPr lang="ko-KR" altLang="en-US" sz="1200" b="1" dirty="0">
                <a:solidFill>
                  <a:srgbClr val="000000">
                    <a:lumMod val="75000"/>
                    <a:lumOff val="25000"/>
                  </a:srgbClr>
                </a:solidFill>
                <a:latin typeface="Arial"/>
                <a:cs typeface="Arial" pitchFamily="34" charset="0"/>
              </a:endParaRPr>
            </a:p>
          </p:txBody>
        </p:sp>
      </p:grpSp>
      <p:grpSp>
        <p:nvGrpSpPr>
          <p:cNvPr id="10" name="Grup 13">
            <a:extLst>
              <a:ext uri="{FF2B5EF4-FFF2-40B4-BE49-F238E27FC236}">
                <a16:creationId xmlns:a16="http://schemas.microsoft.com/office/drawing/2014/main" id="{B61210B0-2472-E53A-8CA1-DC1BACE17AFA}"/>
              </a:ext>
            </a:extLst>
          </p:cNvPr>
          <p:cNvGrpSpPr/>
          <p:nvPr/>
        </p:nvGrpSpPr>
        <p:grpSpPr>
          <a:xfrm>
            <a:off x="6982981" y="2851518"/>
            <a:ext cx="1273259" cy="793507"/>
            <a:chOff x="5696869" y="2851518"/>
            <a:chExt cx="1273259" cy="793507"/>
          </a:xfrm>
        </p:grpSpPr>
        <p:sp>
          <p:nvSpPr>
            <p:cNvPr id="11" name="Rounded Rectangle 3">
              <a:extLst>
                <a:ext uri="{FF2B5EF4-FFF2-40B4-BE49-F238E27FC236}">
                  <a16:creationId xmlns:a16="http://schemas.microsoft.com/office/drawing/2014/main" id="{5045D3C4-84DA-2C5A-7C50-54FD0C449DE8}"/>
                </a:ext>
              </a:extLst>
            </p:cNvPr>
            <p:cNvSpPr/>
            <p:nvPr/>
          </p:nvSpPr>
          <p:spPr>
            <a:xfrm>
              <a:off x="5696869" y="2851518"/>
              <a:ext cx="1273259" cy="793507"/>
            </a:xfrm>
            <a:prstGeom prst="roundRect">
              <a:avLst/>
            </a:prstGeom>
            <a:solidFill>
              <a:schemeClr val="bg1"/>
            </a:solidFill>
            <a:ln w="508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2" name="TextBox 11">
              <a:extLst>
                <a:ext uri="{FF2B5EF4-FFF2-40B4-BE49-F238E27FC236}">
                  <a16:creationId xmlns:a16="http://schemas.microsoft.com/office/drawing/2014/main" id="{897AA1BD-4E74-0854-CAB9-90DCEB9DB7AB}"/>
                </a:ext>
              </a:extLst>
            </p:cNvPr>
            <p:cNvSpPr txBox="1"/>
            <p:nvPr/>
          </p:nvSpPr>
          <p:spPr>
            <a:xfrm>
              <a:off x="5735960" y="2924945"/>
              <a:ext cx="1186730" cy="646331"/>
            </a:xfrm>
            <a:prstGeom prst="rect">
              <a:avLst/>
            </a:prstGeom>
            <a:noFill/>
          </p:spPr>
          <p:txBody>
            <a:bodyPr wrap="square" rtlCol="0">
              <a:spAutoFit/>
            </a:bodyPr>
            <a:lstStyle/>
            <a:p>
              <a:pPr algn="ctr" defTabSz="685800"/>
              <a:r>
                <a:rPr lang="en-US" altLang="ko-KR" sz="1200" b="1" dirty="0" err="1">
                  <a:solidFill>
                    <a:srgbClr val="000000">
                      <a:lumMod val="75000"/>
                      <a:lumOff val="25000"/>
                    </a:srgbClr>
                  </a:solidFill>
                  <a:latin typeface="Arial"/>
                  <a:cs typeface="Arial" pitchFamily="34" charset="0"/>
                </a:rPr>
                <a:t>Rambu</a:t>
              </a:r>
              <a:r>
                <a:rPr lang="en-US" altLang="ko-KR" sz="1200" b="1" dirty="0">
                  <a:solidFill>
                    <a:srgbClr val="000000">
                      <a:lumMod val="75000"/>
                      <a:lumOff val="25000"/>
                    </a:srgbClr>
                  </a:solidFill>
                  <a:latin typeface="Arial"/>
                  <a:cs typeface="Arial" pitchFamily="34" charset="0"/>
                </a:rPr>
                <a:t> </a:t>
              </a:r>
              <a:r>
                <a:rPr lang="en-US" altLang="ko-KR" sz="1200" b="1" dirty="0" err="1">
                  <a:solidFill>
                    <a:srgbClr val="000000">
                      <a:lumMod val="75000"/>
                      <a:lumOff val="25000"/>
                    </a:srgbClr>
                  </a:solidFill>
                  <a:latin typeface="Arial"/>
                  <a:cs typeface="Arial" pitchFamily="34" charset="0"/>
                </a:rPr>
                <a:t>Proyek</a:t>
              </a:r>
              <a:r>
                <a:rPr lang="en-US" altLang="ko-KR" sz="1200" b="1" dirty="0">
                  <a:solidFill>
                    <a:srgbClr val="000000">
                      <a:lumMod val="75000"/>
                      <a:lumOff val="25000"/>
                    </a:srgbClr>
                  </a:solidFill>
                  <a:latin typeface="Arial"/>
                  <a:cs typeface="Arial" pitchFamily="34" charset="0"/>
                </a:rPr>
                <a:t> dan HSE</a:t>
              </a:r>
              <a:endParaRPr lang="ko-KR" altLang="en-US" sz="1200" b="1" dirty="0">
                <a:solidFill>
                  <a:srgbClr val="000000">
                    <a:lumMod val="75000"/>
                    <a:lumOff val="25000"/>
                  </a:srgbClr>
                </a:solidFill>
                <a:latin typeface="Arial"/>
                <a:cs typeface="Arial" pitchFamily="34" charset="0"/>
              </a:endParaRPr>
            </a:p>
          </p:txBody>
        </p:sp>
      </p:grpSp>
      <p:grpSp>
        <p:nvGrpSpPr>
          <p:cNvPr id="13" name="Grup 15">
            <a:extLst>
              <a:ext uri="{FF2B5EF4-FFF2-40B4-BE49-F238E27FC236}">
                <a16:creationId xmlns:a16="http://schemas.microsoft.com/office/drawing/2014/main" id="{921416E0-BB94-187C-57A9-75540741D034}"/>
              </a:ext>
            </a:extLst>
          </p:cNvPr>
          <p:cNvGrpSpPr/>
          <p:nvPr/>
        </p:nvGrpSpPr>
        <p:grpSpPr>
          <a:xfrm>
            <a:off x="9359245" y="2851518"/>
            <a:ext cx="1273259" cy="793507"/>
            <a:chOff x="7240025" y="2851518"/>
            <a:chExt cx="1273259" cy="793507"/>
          </a:xfrm>
        </p:grpSpPr>
        <p:sp>
          <p:nvSpPr>
            <p:cNvPr id="14" name="Rounded Rectangle 4">
              <a:extLst>
                <a:ext uri="{FF2B5EF4-FFF2-40B4-BE49-F238E27FC236}">
                  <a16:creationId xmlns:a16="http://schemas.microsoft.com/office/drawing/2014/main" id="{7576996A-A845-49D7-CC56-4ACFC968FDD9}"/>
                </a:ext>
              </a:extLst>
            </p:cNvPr>
            <p:cNvSpPr/>
            <p:nvPr/>
          </p:nvSpPr>
          <p:spPr>
            <a:xfrm>
              <a:off x="7240025" y="2851518"/>
              <a:ext cx="1273259" cy="793507"/>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ko-KR" altLang="en-US" sz="1050">
                <a:solidFill>
                  <a:srgbClr val="000000">
                    <a:lumMod val="65000"/>
                    <a:lumOff val="35000"/>
                  </a:srgbClr>
                </a:solidFill>
                <a:latin typeface="Arial"/>
              </a:endParaRPr>
            </a:p>
          </p:txBody>
        </p:sp>
        <p:sp>
          <p:nvSpPr>
            <p:cNvPr id="15" name="TextBox 14">
              <a:extLst>
                <a:ext uri="{FF2B5EF4-FFF2-40B4-BE49-F238E27FC236}">
                  <a16:creationId xmlns:a16="http://schemas.microsoft.com/office/drawing/2014/main" id="{CD108F93-EB91-6044-6BC1-079E1BDB8C7F}"/>
                </a:ext>
              </a:extLst>
            </p:cNvPr>
            <p:cNvSpPr txBox="1"/>
            <p:nvPr/>
          </p:nvSpPr>
          <p:spPr>
            <a:xfrm>
              <a:off x="7248129" y="3068960"/>
              <a:ext cx="1214647" cy="276999"/>
            </a:xfrm>
            <a:prstGeom prst="rect">
              <a:avLst/>
            </a:prstGeom>
            <a:noFill/>
          </p:spPr>
          <p:txBody>
            <a:bodyPr wrap="square" rtlCol="0">
              <a:spAutoFit/>
            </a:bodyPr>
            <a:lstStyle/>
            <a:p>
              <a:pPr algn="ctr" defTabSz="685800"/>
              <a:r>
                <a:rPr lang="id-ID" altLang="ko-KR" sz="1200" b="1" dirty="0">
                  <a:solidFill>
                    <a:srgbClr val="000000">
                      <a:lumMod val="75000"/>
                      <a:lumOff val="25000"/>
                    </a:srgbClr>
                  </a:solidFill>
                  <a:latin typeface="Arial"/>
                  <a:cs typeface="Arial" pitchFamily="34" charset="0"/>
                </a:rPr>
                <a:t>Engineering</a:t>
              </a:r>
              <a:endParaRPr lang="ko-KR" altLang="en-US" sz="1200" b="1" dirty="0">
                <a:solidFill>
                  <a:srgbClr val="000000">
                    <a:lumMod val="75000"/>
                    <a:lumOff val="25000"/>
                  </a:srgbClr>
                </a:solidFill>
                <a:latin typeface="Arial"/>
                <a:cs typeface="Arial" pitchFamily="34" charset="0"/>
              </a:endParaRPr>
            </a:p>
          </p:txBody>
        </p:sp>
      </p:grpSp>
      <p:grpSp>
        <p:nvGrpSpPr>
          <p:cNvPr id="16" name="Grup 10">
            <a:extLst>
              <a:ext uri="{FF2B5EF4-FFF2-40B4-BE49-F238E27FC236}">
                <a16:creationId xmlns:a16="http://schemas.microsoft.com/office/drawing/2014/main" id="{57F20F3C-9E3B-C7B8-2697-38F143E33348}"/>
              </a:ext>
            </a:extLst>
          </p:cNvPr>
          <p:cNvGrpSpPr/>
          <p:nvPr/>
        </p:nvGrpSpPr>
        <p:grpSpPr>
          <a:xfrm>
            <a:off x="2091135" y="3902420"/>
            <a:ext cx="3716833" cy="1972387"/>
            <a:chOff x="2423593" y="3902420"/>
            <a:chExt cx="3716833" cy="1972387"/>
          </a:xfrm>
        </p:grpSpPr>
        <p:cxnSp>
          <p:nvCxnSpPr>
            <p:cNvPr id="17" name="Elbow Connector 14">
              <a:extLst>
                <a:ext uri="{FF2B5EF4-FFF2-40B4-BE49-F238E27FC236}">
                  <a16:creationId xmlns:a16="http://schemas.microsoft.com/office/drawing/2014/main" id="{3C54A299-B500-7B98-77AC-CAF1016DFB40}"/>
                </a:ext>
              </a:extLst>
            </p:cNvPr>
            <p:cNvCxnSpPr>
              <a:cxnSpLocks/>
            </p:cNvCxnSpPr>
            <p:nvPr/>
          </p:nvCxnSpPr>
          <p:spPr>
            <a:xfrm flipV="1">
              <a:off x="2423593" y="3902420"/>
              <a:ext cx="1146811" cy="390677"/>
            </a:xfrm>
            <a:prstGeom prst="bentConnector3">
              <a:avLst>
                <a:gd name="adj1" fmla="val -21013"/>
              </a:avLst>
            </a:prstGeom>
            <a:ln w="25400">
              <a:solidFill>
                <a:schemeClr val="accent1">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798C83C-77CA-F1A6-1F0D-C3FCDBC8D7DF}"/>
                </a:ext>
              </a:extLst>
            </p:cNvPr>
            <p:cNvSpPr txBox="1"/>
            <p:nvPr/>
          </p:nvSpPr>
          <p:spPr>
            <a:xfrm>
              <a:off x="2511237" y="4005064"/>
              <a:ext cx="3629189" cy="1869743"/>
            </a:xfrm>
            <a:prstGeom prst="rect">
              <a:avLst/>
            </a:prstGeom>
            <a:noFill/>
          </p:spPr>
          <p:txBody>
            <a:bodyPr wrap="square" rtlCol="0">
              <a:spAutoFit/>
            </a:bodyPr>
            <a:lstStyle/>
            <a:p>
              <a:pPr algn="just"/>
              <a:r>
                <a:rPr lang="id-ID" sz="1050" dirty="0">
                  <a:latin typeface="Tahoma" panose="020B0604030504040204" pitchFamily="34" charset="0"/>
                  <a:ea typeface="Tahoma" panose="020B0604030504040204" pitchFamily="34" charset="0"/>
                  <a:cs typeface="Tahoma" panose="020B0604030504040204" pitchFamily="34" charset="0"/>
                </a:rPr>
                <a:t>Kami akan mempersiapkan peralatan, tenaga kerja dan kelengkapan kerja di lapangan sesuai dengan kebutuhan dan petunjuk Pengawas. Waktu kedatangan maupun pengambilan kembali peralatan, tenaga kerja dan kelengkapan kerja tersebut harus mendapat ijin dan persetujuan Pengawas. Kami bertanggung jawab terhadap segala kerusakan yang terjadi, terjaganya kebersihan maupun hal-hal lain yang diakibatkan dalam pelaksanaan mobilisasi dan demobilisasi serta pelaksanaan pekerjaan secara keseluruhan.</a:t>
              </a:r>
              <a:endParaRPr lang="en-US" sz="1050" dirty="0">
                <a:latin typeface="Tahoma" panose="020B0604030504040204" pitchFamily="34" charset="0"/>
                <a:ea typeface="Tahoma" panose="020B0604030504040204" pitchFamily="34" charset="0"/>
                <a:cs typeface="Tahoma" panose="020B0604030504040204" pitchFamily="34" charset="0"/>
              </a:endParaRP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19" name="Grup 12">
            <a:extLst>
              <a:ext uri="{FF2B5EF4-FFF2-40B4-BE49-F238E27FC236}">
                <a16:creationId xmlns:a16="http://schemas.microsoft.com/office/drawing/2014/main" id="{B126B919-1474-2FD5-F2D8-4E6380F47D12}"/>
              </a:ext>
            </a:extLst>
          </p:cNvPr>
          <p:cNvGrpSpPr/>
          <p:nvPr/>
        </p:nvGrpSpPr>
        <p:grpSpPr>
          <a:xfrm>
            <a:off x="3215680" y="1268761"/>
            <a:ext cx="3096344" cy="1296144"/>
            <a:chOff x="3387328" y="1268761"/>
            <a:chExt cx="3096344" cy="1296144"/>
          </a:xfrm>
        </p:grpSpPr>
        <p:cxnSp>
          <p:nvCxnSpPr>
            <p:cNvPr id="20" name="Elbow Connector 43">
              <a:extLst>
                <a:ext uri="{FF2B5EF4-FFF2-40B4-BE49-F238E27FC236}">
                  <a16:creationId xmlns:a16="http://schemas.microsoft.com/office/drawing/2014/main" id="{1AF2B58B-64EB-2901-F025-985C1ABB46E9}"/>
                </a:ext>
              </a:extLst>
            </p:cNvPr>
            <p:cNvCxnSpPr/>
            <p:nvPr/>
          </p:nvCxnSpPr>
          <p:spPr>
            <a:xfrm>
              <a:off x="3387328" y="1924236"/>
              <a:ext cx="1906760" cy="640669"/>
            </a:xfrm>
            <a:prstGeom prst="bentConnector3">
              <a:avLst>
                <a:gd name="adj1" fmla="val -6919"/>
              </a:avLst>
            </a:prstGeom>
            <a:ln w="25400">
              <a:solidFill>
                <a:schemeClr val="accent2">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D98233B-E665-3693-2ED0-1FE404069C5D}"/>
                </a:ext>
              </a:extLst>
            </p:cNvPr>
            <p:cNvSpPr txBox="1"/>
            <p:nvPr/>
          </p:nvSpPr>
          <p:spPr>
            <a:xfrm>
              <a:off x="3500588" y="1268761"/>
              <a:ext cx="2983084"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Direksi</a:t>
              </a:r>
              <a:r>
                <a:rPr lang="en-US" sz="1050" dirty="0">
                  <a:latin typeface="Tahoma" panose="020B0604030504040204" pitchFamily="34" charset="0"/>
                  <a:ea typeface="Tahoma" panose="020B0604030504040204" pitchFamily="34" charset="0"/>
                  <a:cs typeface="Tahoma" panose="020B0604030504040204" pitchFamily="34" charset="0"/>
                </a:rPr>
                <a:t> Kit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tempat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penyimpanan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alat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ataupun</a:t>
              </a:r>
              <a:r>
                <a:rPr lang="en-US" sz="1050" dirty="0">
                  <a:latin typeface="Tahoma" panose="020B0604030504040204" pitchFamily="34" charset="0"/>
                  <a:ea typeface="Tahoma" panose="020B0604030504040204" pitchFamily="34" charset="0"/>
                  <a:cs typeface="Tahoma" panose="020B0604030504040204" pitchFamily="34" charset="0"/>
                </a:rPr>
                <a:t> material yang sudah On site pada area pekerjaan, dan juga bisa </a:t>
              </a:r>
              <a:r>
                <a:rPr lang="en-US" sz="1050" dirty="0" err="1">
                  <a:latin typeface="Tahoma" panose="020B0604030504040204" pitchFamily="34" charset="0"/>
                  <a:ea typeface="Tahoma" panose="020B0604030504040204" pitchFamily="34" charset="0"/>
                  <a:cs typeface="Tahoma" panose="020B0604030504040204" pitchFamily="34" charset="0"/>
                </a:rPr>
                <a:t>digunakan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sebagai</a:t>
              </a:r>
              <a:r>
                <a:rPr lang="en-US" sz="1050" dirty="0">
                  <a:latin typeface="Tahoma" panose="020B0604030504040204" pitchFamily="34" charset="0"/>
                  <a:ea typeface="Tahoma" panose="020B0604030504040204" pitchFamily="34" charset="0"/>
                  <a:cs typeface="Tahoma" panose="020B0604030504040204" pitchFamily="34" charset="0"/>
                </a:rPr>
                <a:t> area </a:t>
              </a:r>
              <a:r>
                <a:rPr lang="en-US" sz="1050" dirty="0" err="1">
                  <a:latin typeface="Tahoma" panose="020B0604030504040204" pitchFamily="34" charset="0"/>
                  <a:ea typeface="Tahoma" panose="020B0604030504040204" pitchFamily="34" charset="0"/>
                  <a:cs typeface="Tahoma" panose="020B0604030504040204" pitchFamily="34" charset="0"/>
                </a:rPr>
                <a:t>perkantoran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sementara</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membahas</a:t>
              </a:r>
              <a:r>
                <a:rPr lang="en-US" sz="1050" dirty="0">
                  <a:latin typeface="Tahoma" panose="020B0604030504040204" pitchFamily="34" charset="0"/>
                  <a:ea typeface="Tahoma" panose="020B0604030504040204" pitchFamily="34" charset="0"/>
                  <a:cs typeface="Tahoma" panose="020B0604030504040204" pitchFamily="34" charset="0"/>
                </a:rPr>
                <a:t> progress dan </a:t>
              </a:r>
              <a:r>
                <a:rPr lang="en-US" sz="1050" dirty="0" err="1">
                  <a:latin typeface="Tahoma" panose="020B0604030504040204" pitchFamily="34" charset="0"/>
                  <a:ea typeface="Tahoma" panose="020B0604030504040204" pitchFamily="34" charset="0"/>
                  <a:cs typeface="Tahoma" panose="020B0604030504040204" pitchFamily="34" charset="0"/>
                </a:rPr>
                <a:t>scadule</a:t>
              </a:r>
              <a:r>
                <a:rPr lang="en-US" sz="1050" dirty="0">
                  <a:latin typeface="Tahoma" panose="020B0604030504040204" pitchFamily="34" charset="0"/>
                  <a:ea typeface="Tahoma" panose="020B0604030504040204" pitchFamily="34" charset="0"/>
                  <a:cs typeface="Tahoma" panose="020B0604030504040204" pitchFamily="34" charset="0"/>
                </a:rPr>
                <a:t> pekerjaan.</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2" name="Grup 17">
            <a:extLst>
              <a:ext uri="{FF2B5EF4-FFF2-40B4-BE49-F238E27FC236}">
                <a16:creationId xmlns:a16="http://schemas.microsoft.com/office/drawing/2014/main" id="{BEB0C088-FE72-F718-ADEC-1A4D934E009F}"/>
              </a:ext>
            </a:extLst>
          </p:cNvPr>
          <p:cNvGrpSpPr/>
          <p:nvPr/>
        </p:nvGrpSpPr>
        <p:grpSpPr>
          <a:xfrm>
            <a:off x="7549574" y="1412777"/>
            <a:ext cx="3803010" cy="1247649"/>
            <a:chOff x="5591945" y="1412777"/>
            <a:chExt cx="3803010" cy="1247649"/>
          </a:xfrm>
        </p:grpSpPr>
        <p:cxnSp>
          <p:nvCxnSpPr>
            <p:cNvPr id="23" name="Elbow Connector 55">
              <a:extLst>
                <a:ext uri="{FF2B5EF4-FFF2-40B4-BE49-F238E27FC236}">
                  <a16:creationId xmlns:a16="http://schemas.microsoft.com/office/drawing/2014/main" id="{0060404B-070C-46C3-D1B6-CF9221D55D6F}"/>
                </a:ext>
              </a:extLst>
            </p:cNvPr>
            <p:cNvCxnSpPr/>
            <p:nvPr/>
          </p:nvCxnSpPr>
          <p:spPr>
            <a:xfrm flipV="1">
              <a:off x="7328147" y="1719802"/>
              <a:ext cx="2066808" cy="694676"/>
            </a:xfrm>
            <a:prstGeom prst="bentConnector3">
              <a:avLst>
                <a:gd name="adj1" fmla="val 117007"/>
              </a:avLst>
            </a:prstGeom>
            <a:ln w="25400">
              <a:solidFill>
                <a:schemeClr val="accent4">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EA1BF04-BC75-7B87-3F2B-1E393B485A2B}"/>
                </a:ext>
              </a:extLst>
            </p:cNvPr>
            <p:cNvSpPr txBox="1"/>
            <p:nvPr/>
          </p:nvSpPr>
          <p:spPr>
            <a:xfrm>
              <a:off x="5591945" y="1412777"/>
              <a:ext cx="3718175" cy="1247649"/>
            </a:xfrm>
            <a:prstGeom prst="rect">
              <a:avLst/>
            </a:prstGeom>
            <a:noFill/>
          </p:spPr>
          <p:txBody>
            <a:bodyPr wrap="square" rtlCol="0">
              <a:spAutoFit/>
            </a:bodyPr>
            <a:lstStyle/>
            <a:p>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Engginering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meliputi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Shop Drawing dan </a:t>
              </a:r>
              <a:r>
                <a:rPr lang="en-US" sz="1050" dirty="0" err="1">
                  <a:latin typeface="Tahoma" panose="020B0604030504040204" pitchFamily="34" charset="0"/>
                  <a:ea typeface="Tahoma" panose="020B0604030504040204" pitchFamily="34" charset="0"/>
                  <a:cs typeface="Tahoma" panose="020B0604030504040204" pitchFamily="34" charset="0"/>
                </a:rPr>
                <a:t>Prosedur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Kerja</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akan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dikerjakan</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pekerjaan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ini</a:t>
              </a:r>
              <a:r>
                <a:rPr lang="en-US" sz="1050" dirty="0">
                  <a:latin typeface="Tahoma" panose="020B0604030504040204" pitchFamily="34" charset="0"/>
                  <a:ea typeface="Tahoma" panose="020B0604030504040204" pitchFamily="34" charset="0"/>
                  <a:cs typeface="Tahoma" panose="020B0604030504040204" pitchFamily="34" charset="0"/>
                </a:rPr>
                <a:t>, Engineering </a:t>
              </a:r>
              <a:r>
                <a:rPr lang="en-US" sz="1050" dirty="0" err="1">
                  <a:latin typeface="Tahoma" panose="020B0604030504040204" pitchFamily="34" charset="0"/>
                  <a:ea typeface="Tahoma" panose="020B0604030504040204" pitchFamily="34" charset="0"/>
                  <a:cs typeface="Tahoma" panose="020B0604030504040204" pitchFamily="34" charset="0"/>
                </a:rPr>
                <a:t>dari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kontraktor</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sebelum</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menyerahkan</a:t>
              </a:r>
              <a:r>
                <a:rPr lang="en-US" sz="1050" dirty="0">
                  <a:latin typeface="Tahoma" panose="020B0604030504040204" pitchFamily="34" charset="0"/>
                  <a:ea typeface="Tahoma" panose="020B0604030504040204" pitchFamily="34" charset="0"/>
                  <a:cs typeface="Tahoma" panose="020B0604030504040204" pitchFamily="34" charset="0"/>
                </a:rPr>
                <a:t> Shop Drawing </a:t>
              </a:r>
              <a:r>
                <a:rPr lang="en-US" sz="1050" dirty="0" err="1">
                  <a:latin typeface="Tahoma" panose="020B0604030504040204" pitchFamily="34" charset="0"/>
                  <a:ea typeface="Tahoma" panose="020B0604030504040204" pitchFamily="34" charset="0"/>
                  <a:cs typeface="Tahoma" panose="020B0604030504040204" pitchFamily="34" charset="0"/>
                </a:rPr>
                <a:t>terlebih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dahulu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harus</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sudah</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pengecekan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pengukuran</a:t>
              </a:r>
              <a:r>
                <a:rPr lang="en-US" sz="1050" dirty="0">
                  <a:latin typeface="Tahoma" panose="020B0604030504040204" pitchFamily="34" charset="0"/>
                  <a:ea typeface="Tahoma" panose="020B0604030504040204" pitchFamily="34" charset="0"/>
                  <a:cs typeface="Tahoma" panose="020B0604030504040204" pitchFamily="34" charset="0"/>
                </a:rPr>
                <a:t> di </a:t>
              </a:r>
              <a:r>
                <a:rPr lang="en-US" sz="1050" dirty="0" err="1">
                  <a:latin typeface="Tahoma" panose="020B0604030504040204" pitchFamily="34" charset="0"/>
                  <a:ea typeface="Tahoma" panose="020B0604030504040204" pitchFamily="34" charset="0"/>
                  <a:cs typeface="Tahoma" panose="020B0604030504040204" pitchFamily="34" charset="0"/>
                </a:rPr>
                <a:t>lapangan</a:t>
              </a:r>
              <a:r>
                <a:rPr lang="en-US" sz="1050" dirty="0">
                  <a:latin typeface="Tahoma" panose="020B0604030504040204" pitchFamily="34" charset="0"/>
                  <a:ea typeface="Tahoma" panose="020B0604030504040204" pitchFamily="34" charset="0"/>
                  <a:cs typeface="Tahoma" panose="020B0604030504040204" pitchFamily="34" charset="0"/>
                </a:rPr>
                <a:t>.</a:t>
              </a:r>
            </a:p>
            <a:p>
              <a:pPr marL="914400" algn="r">
                <a:lnSpc>
                  <a:spcPct val="115000"/>
                </a:lnSpc>
              </a:pPr>
              <a:r>
                <a:rPr lang="en-US" sz="1050" dirty="0">
                  <a:latin typeface="Tahoma" panose="020B0604030504040204" pitchFamily="34" charset="0"/>
                  <a:ea typeface="Tahoma" panose="020B0604030504040204" pitchFamily="34" charset="0"/>
                  <a:cs typeface="Tahoma" panose="020B0604030504040204" pitchFamily="34" charset="0"/>
                </a:rPr>
                <a:t> </a:t>
              </a:r>
            </a:p>
            <a:p>
              <a:pPr algn="r"/>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5" name="Grup 18">
            <a:extLst>
              <a:ext uri="{FF2B5EF4-FFF2-40B4-BE49-F238E27FC236}">
                <a16:creationId xmlns:a16="http://schemas.microsoft.com/office/drawing/2014/main" id="{38BD139F-B442-E07E-7342-58FB93661E1E}"/>
              </a:ext>
            </a:extLst>
          </p:cNvPr>
          <p:cNvGrpSpPr/>
          <p:nvPr/>
        </p:nvGrpSpPr>
        <p:grpSpPr>
          <a:xfrm>
            <a:off x="6744072" y="3933057"/>
            <a:ext cx="3168352" cy="1295420"/>
            <a:chOff x="5187529" y="3933057"/>
            <a:chExt cx="3168352" cy="1295420"/>
          </a:xfrm>
        </p:grpSpPr>
        <p:cxnSp>
          <p:nvCxnSpPr>
            <p:cNvPr id="26" name="Elbow Connector 30">
              <a:extLst>
                <a:ext uri="{FF2B5EF4-FFF2-40B4-BE49-F238E27FC236}">
                  <a16:creationId xmlns:a16="http://schemas.microsoft.com/office/drawing/2014/main" id="{55C3FE58-580A-0BCB-D978-E891BA95712D}"/>
                </a:ext>
              </a:extLst>
            </p:cNvPr>
            <p:cNvCxnSpPr>
              <a:cxnSpLocks/>
            </p:cNvCxnSpPr>
            <p:nvPr/>
          </p:nvCxnSpPr>
          <p:spPr>
            <a:xfrm flipV="1">
              <a:off x="5187529" y="3933057"/>
              <a:ext cx="1073447" cy="418835"/>
            </a:xfrm>
            <a:prstGeom prst="bentConnector3">
              <a:avLst>
                <a:gd name="adj1" fmla="val -15731"/>
              </a:avLst>
            </a:prstGeom>
            <a:ln w="25400">
              <a:solidFill>
                <a:schemeClr val="accent3">
                  <a:alpha val="7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39686BA-91B6-E866-3D7A-11B1ED25E145}"/>
                </a:ext>
              </a:extLst>
            </p:cNvPr>
            <p:cNvSpPr txBox="1"/>
            <p:nvPr/>
          </p:nvSpPr>
          <p:spPr>
            <a:xfrm>
              <a:off x="5330341" y="4005065"/>
              <a:ext cx="3025540" cy="1223412"/>
            </a:xfrm>
            <a:prstGeom prst="rect">
              <a:avLst/>
            </a:prstGeom>
            <a:noFill/>
          </p:spPr>
          <p:txBody>
            <a:bodyPr wrap="square" rtlCol="0">
              <a:spAutoFit/>
            </a:bodyPr>
            <a:lstStyle/>
            <a:p>
              <a:pPr algn="just"/>
              <a:r>
                <a:rPr lang="en-US" sz="1050" dirty="0" err="1">
                  <a:latin typeface="Tahoma" panose="020B0604030504040204" pitchFamily="34" charset="0"/>
                  <a:ea typeface="Tahoma" panose="020B0604030504040204" pitchFamily="34" charset="0"/>
                  <a:cs typeface="Tahoma" panose="020B0604030504040204" pitchFamily="34" charset="0"/>
                </a:rPr>
                <a:t>Pembuatan</a:t>
              </a:r>
              <a:r>
                <a:rPr lang="en-US" sz="1050" dirty="0">
                  <a:latin typeface="Tahoma" panose="020B0604030504040204" pitchFamily="34" charset="0"/>
                  <a:ea typeface="Tahoma" panose="020B0604030504040204" pitchFamily="34" charset="0"/>
                  <a:cs typeface="Tahoma" panose="020B0604030504040204" pitchFamily="34" charset="0"/>
                </a:rPr>
                <a:t> dan </a:t>
              </a:r>
              <a:r>
                <a:rPr lang="en-US" sz="1050" dirty="0" err="1">
                  <a:latin typeface="Tahoma" panose="020B0604030504040204" pitchFamily="34" charset="0"/>
                  <a:ea typeface="Tahoma" panose="020B0604030504040204" pitchFamily="34" charset="0"/>
                  <a:cs typeface="Tahoma" panose="020B0604030504040204" pitchFamily="34" charset="0"/>
                </a:rPr>
                <a:t>pemasangan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rambu</a:t>
              </a:r>
              <a:r>
                <a:rPr lang="en-US" sz="1050" dirty="0">
                  <a:latin typeface="Tahoma" panose="020B0604030504040204" pitchFamily="34" charset="0"/>
                  <a:ea typeface="Tahoma" panose="020B0604030504040204" pitchFamily="34" charset="0"/>
                  <a:cs typeface="Tahoma" panose="020B0604030504040204" pitchFamily="34" charset="0"/>
                </a:rPr>
                <a:t> pada </a:t>
              </a:r>
              <a:r>
                <a:rPr lang="en-US" sz="1050" dirty="0" err="1">
                  <a:latin typeface="Tahoma" panose="020B0604030504040204" pitchFamily="34" charset="0"/>
                  <a:ea typeface="Tahoma" panose="020B0604030504040204" pitchFamily="34" charset="0"/>
                  <a:cs typeface="Tahoma" panose="020B0604030504040204" pitchFamily="34" charset="0"/>
                </a:rPr>
                <a:t>suatu</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proyek</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bertujuan</a:t>
              </a:r>
              <a:r>
                <a:rPr lang="en-US" sz="1050" dirty="0">
                  <a:latin typeface="Tahoma" panose="020B0604030504040204" pitchFamily="34" charset="0"/>
                  <a:ea typeface="Tahoma" panose="020B0604030504040204" pitchFamily="34" charset="0"/>
                  <a:cs typeface="Tahoma" panose="020B0604030504040204" pitchFamily="34" charset="0"/>
                </a:rPr>
                <a:t> untuk </a:t>
              </a:r>
              <a:r>
                <a:rPr lang="en-US" sz="1050" dirty="0" err="1">
                  <a:latin typeface="Tahoma" panose="020B0604030504040204" pitchFamily="34" charset="0"/>
                  <a:ea typeface="Tahoma" panose="020B0604030504040204" pitchFamily="34" charset="0"/>
                  <a:cs typeface="Tahoma" panose="020B0604030504040204" pitchFamily="34" charset="0"/>
                </a:rPr>
                <a:t>memberitahukan</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bahwa</a:t>
              </a:r>
              <a:r>
                <a:rPr lang="en-US" sz="1050" dirty="0">
                  <a:latin typeface="Tahoma" panose="020B0604030504040204" pitchFamily="34" charset="0"/>
                  <a:ea typeface="Tahoma" panose="020B0604030504040204" pitchFamily="34" charset="0"/>
                  <a:cs typeface="Tahoma" panose="020B0604030504040204" pitchFamily="34" charset="0"/>
                </a:rPr>
                <a:t> di area </a:t>
              </a:r>
              <a:r>
                <a:rPr lang="en-US" sz="1050" dirty="0" err="1">
                  <a:latin typeface="Tahoma" panose="020B0604030504040204" pitchFamily="34" charset="0"/>
                  <a:ea typeface="Tahoma" panose="020B0604030504040204" pitchFamily="34" charset="0"/>
                  <a:cs typeface="Tahoma" panose="020B0604030504040204" pitchFamily="34" charset="0"/>
                </a:rPr>
                <a:t>tersebut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sedang</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dilakukan</a:t>
              </a:r>
              <a:r>
                <a:rPr lang="en-US" sz="1050" dirty="0">
                  <a:latin typeface="Tahoma" panose="020B0604030504040204" pitchFamily="34" charset="0"/>
                  <a:ea typeface="Tahoma" panose="020B0604030504040204" pitchFamily="34" charset="0"/>
                  <a:cs typeface="Tahoma" panose="020B0604030504040204" pitchFamily="34" charset="0"/>
                </a:rPr>
                <a:t> pekerjaan, </a:t>
              </a:r>
              <a:r>
                <a:rPr lang="en-US" sz="1050" dirty="0" err="1">
                  <a:latin typeface="Tahoma" panose="020B0604030504040204" pitchFamily="34" charset="0"/>
                  <a:ea typeface="Tahoma" panose="020B0604030504040204" pitchFamily="34" charset="0"/>
                  <a:cs typeface="Tahoma" panose="020B0604030504040204" pitchFamily="34" charset="0"/>
                </a:rPr>
                <a:t>rambu</a:t>
              </a:r>
              <a:r>
                <a:rPr lang="en-US" sz="1050" dirty="0">
                  <a:latin typeface="Tahoma" panose="020B0604030504040204" pitchFamily="34" charset="0"/>
                  <a:ea typeface="Tahoma" panose="020B0604030504040204" pitchFamily="34" charset="0"/>
                  <a:cs typeface="Tahoma" panose="020B0604030504040204" pitchFamily="34" charset="0"/>
                </a:rPr>
                <a:t> HSE untuk </a:t>
              </a:r>
              <a:r>
                <a:rPr lang="en-US" sz="1050" dirty="0" err="1">
                  <a:latin typeface="Tahoma" panose="020B0604030504040204" pitchFamily="34" charset="0"/>
                  <a:ea typeface="Tahoma" panose="020B0604030504040204" pitchFamily="34" charset="0"/>
                  <a:cs typeface="Tahoma" panose="020B0604030504040204" pitchFamily="34" charset="0"/>
                </a:rPr>
                <a:t>memberitahu</a:t>
              </a:r>
              <a:r>
                <a:rPr lang="en-US" sz="1050" dirty="0">
                  <a:latin typeface="Tahoma" panose="020B0604030504040204" pitchFamily="34" charset="0"/>
                  <a:ea typeface="Tahoma" panose="020B0604030504040204" pitchFamily="34" charset="0"/>
                  <a:cs typeface="Tahoma" panose="020B0604030504040204" pitchFamily="34" charset="0"/>
                </a:rPr>
                <a:t> para pekerja agar pada </a:t>
              </a:r>
              <a:r>
                <a:rPr lang="en-US" sz="1050" dirty="0" err="1">
                  <a:latin typeface="Tahoma" panose="020B0604030504040204" pitchFamily="34" charset="0"/>
                  <a:ea typeface="Tahoma" panose="020B0604030504040204" pitchFamily="34" charset="0"/>
                  <a:cs typeface="Tahoma" panose="020B0604030504040204" pitchFamily="34" charset="0"/>
                </a:rPr>
                <a:t>saat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melakukan</a:t>
              </a:r>
              <a:r>
                <a:rPr lang="en-US" sz="1050" dirty="0">
                  <a:latin typeface="Tahoma" panose="020B0604030504040204" pitchFamily="34" charset="0"/>
                  <a:ea typeface="Tahoma" panose="020B0604030504040204" pitchFamily="34" charset="0"/>
                  <a:cs typeface="Tahoma" panose="020B0604030504040204" pitchFamily="34" charset="0"/>
                </a:rPr>
                <a:t> pekerjaan </a:t>
              </a:r>
              <a:r>
                <a:rPr lang="en-US" sz="1050" dirty="0" err="1">
                  <a:latin typeface="Tahoma" panose="020B0604030504040204" pitchFamily="34" charset="0"/>
                  <a:ea typeface="Tahoma" panose="020B0604030504040204" pitchFamily="34" charset="0"/>
                  <a:cs typeface="Tahoma" panose="020B0604030504040204" pitchFamily="34" charset="0"/>
                </a:rPr>
                <a:t>dapat</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mengenali</a:t>
              </a:r>
              <a:r>
                <a:rPr lang="en-US" sz="1050" dirty="0">
                  <a:latin typeface="Tahoma" panose="020B0604030504040204" pitchFamily="34" charset="0"/>
                  <a:ea typeface="Tahoma" panose="020B0604030504040204" pitchFamily="34" charset="0"/>
                  <a:cs typeface="Tahoma" panose="020B0604030504040204" pitchFamily="34" charset="0"/>
                </a:rPr>
                <a:t> </a:t>
              </a:r>
              <a:r>
                <a:rPr lang="en-US" sz="1050" dirty="0" err="1">
                  <a:latin typeface="Tahoma" panose="020B0604030504040204" pitchFamily="34" charset="0"/>
                  <a:ea typeface="Tahoma" panose="020B0604030504040204" pitchFamily="34" charset="0"/>
                  <a:cs typeface="Tahoma" panose="020B0604030504040204" pitchFamily="34" charset="0"/>
                </a:rPr>
                <a:t>situasi</a:t>
              </a:r>
              <a:r>
                <a:rPr lang="en-US" sz="1050" dirty="0">
                  <a:latin typeface="Tahoma" panose="020B0604030504040204" pitchFamily="34" charset="0"/>
                  <a:ea typeface="Tahoma" panose="020B0604030504040204" pitchFamily="34" charset="0"/>
                  <a:cs typeface="Tahoma" panose="020B0604030504040204" pitchFamily="34" charset="0"/>
                </a:rPr>
                <a:t> yang </a:t>
              </a:r>
              <a:r>
                <a:rPr lang="en-US" sz="1050" dirty="0" err="1">
                  <a:latin typeface="Tahoma" panose="020B0604030504040204" pitchFamily="34" charset="0"/>
                  <a:ea typeface="Tahoma" panose="020B0604030504040204" pitchFamily="34" charset="0"/>
                  <a:cs typeface="Tahoma" panose="020B0604030504040204" pitchFamily="34" charset="0"/>
                </a:rPr>
                <a:t>terjadi</a:t>
              </a:r>
              <a:r>
                <a:rPr lang="en-US" sz="1050" dirty="0">
                  <a:latin typeface="Tahoma" panose="020B0604030504040204" pitchFamily="34" charset="0"/>
                  <a:ea typeface="Tahoma" panose="020B0604030504040204" pitchFamily="34" charset="0"/>
                  <a:cs typeface="Tahoma" panose="020B0604030504040204" pitchFamily="34" charset="0"/>
                </a:rPr>
                <a:t> di area.</a:t>
              </a:r>
            </a:p>
            <a:p>
              <a:pPr algn="just"/>
              <a:endParaRPr lang="en-US" sz="1050" dirty="0">
                <a:latin typeface="Tahoma" panose="020B0604030504040204" pitchFamily="34" charset="0"/>
                <a:ea typeface="Tahoma" panose="020B0604030504040204" pitchFamily="34" charset="0"/>
                <a:cs typeface="Tahoma" panose="020B0604030504040204" pitchFamily="34" charset="0"/>
              </a:endParaRPr>
            </a:p>
          </p:txBody>
        </p:sp>
      </p:grpSp>
      <p:grpSp>
        <p:nvGrpSpPr>
          <p:cNvPr id="28" name="Group 27">
            <a:extLst>
              <a:ext uri="{FF2B5EF4-FFF2-40B4-BE49-F238E27FC236}">
                <a16:creationId xmlns:a16="http://schemas.microsoft.com/office/drawing/2014/main" id="{51255EC4-697A-D05D-8F72-F1EEF134C656}"/>
              </a:ext>
            </a:extLst>
          </p:cNvPr>
          <p:cNvGrpSpPr/>
          <p:nvPr/>
        </p:nvGrpSpPr>
        <p:grpSpPr>
          <a:xfrm>
            <a:off x="1115414" y="1794708"/>
            <a:ext cx="451702" cy="3067277"/>
            <a:chOff x="360234" y="-677437"/>
            <a:chExt cx="890238" cy="5999232"/>
          </a:xfrm>
          <a:solidFill>
            <a:srgbClr val="0070C0"/>
          </a:solidFill>
        </p:grpSpPr>
        <p:sp>
          <p:nvSpPr>
            <p:cNvPr id="29" name="Rectangle 28">
              <a:extLst>
                <a:ext uri="{FF2B5EF4-FFF2-40B4-BE49-F238E27FC236}">
                  <a16:creationId xmlns:a16="http://schemas.microsoft.com/office/drawing/2014/main" id="{D2620399-A72A-1C29-A5B5-31BA626147D2}"/>
                </a:ext>
              </a:extLst>
            </p:cNvPr>
            <p:cNvSpPr/>
            <p:nvPr/>
          </p:nvSpPr>
          <p:spPr>
            <a:xfrm rot="16200000">
              <a:off x="-1505370" y="1865603"/>
              <a:ext cx="4606429" cy="875221"/>
            </a:xfrm>
            <a:prstGeom prst="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30" name="TextBox 29">
              <a:extLst>
                <a:ext uri="{FF2B5EF4-FFF2-40B4-BE49-F238E27FC236}">
                  <a16:creationId xmlns:a16="http://schemas.microsoft.com/office/drawing/2014/main" id="{B34829DA-45C2-4BCB-C2CC-C9AE475158BD}"/>
                </a:ext>
              </a:extLst>
            </p:cNvPr>
            <p:cNvSpPr txBox="1"/>
            <p:nvPr/>
          </p:nvSpPr>
          <p:spPr>
            <a:xfrm rot="16200000">
              <a:off x="-2186753" y="1884569"/>
              <a:ext cx="5999232" cy="87521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25400" tIns="25400" rIns="25400" bIns="25400" numCol="1" spcCol="1270" anchor="ctr" anchorCtr="0">
              <a:noAutofit/>
            </a:bodyPr>
            <a:lstStyle/>
            <a:p>
              <a:pPr algn="ctr" defTabSz="1778000">
                <a:lnSpc>
                  <a:spcPct val="90000"/>
                </a:lnSpc>
                <a:spcBef>
                  <a:spcPct val="0"/>
                </a:spcBef>
                <a:spcAft>
                  <a:spcPct val="35000"/>
                </a:spcAft>
              </a:pPr>
              <a:r>
                <a:rPr lang="en-US" sz="2000" b="1" dirty="0">
                  <a:solidFill>
                    <a:srgbClr val="F5F7F6"/>
                  </a:solidFill>
                </a:rPr>
                <a:t>Pekerjaan </a:t>
              </a:r>
              <a:r>
                <a:rPr lang="en-US" sz="2000" b="1" dirty="0" err="1">
                  <a:solidFill>
                    <a:srgbClr val="F5F7F6"/>
                  </a:solidFill>
                </a:rPr>
                <a:t>Persiapan</a:t>
              </a:r>
              <a:endParaRPr lang="en-US" sz="2000" b="1" dirty="0">
                <a:solidFill>
                  <a:srgbClr val="F5F7F6"/>
                </a:solidFill>
              </a:endParaRPr>
            </a:p>
          </p:txBody>
        </p:sp>
      </p:grpSp>
      <p:grpSp>
        <p:nvGrpSpPr>
          <p:cNvPr id="34" name="Group 33">
            <a:extLst>
              <a:ext uri="{FF2B5EF4-FFF2-40B4-BE49-F238E27FC236}">
                <a16:creationId xmlns:a16="http://schemas.microsoft.com/office/drawing/2014/main" id="{20DAE92E-20A8-40B3-2F9F-6BB9592D75D2}"/>
              </a:ext>
            </a:extLst>
          </p:cNvPr>
          <p:cNvGrpSpPr/>
          <p:nvPr/>
        </p:nvGrpSpPr>
        <p:grpSpPr>
          <a:xfrm>
            <a:off x="408444" y="80397"/>
            <a:ext cx="5297838" cy="687155"/>
            <a:chOff x="1544574" y="576718"/>
            <a:chExt cx="5297838" cy="687155"/>
          </a:xfrm>
        </p:grpSpPr>
        <p:sp>
          <p:nvSpPr>
            <p:cNvPr id="35" name="Rectangle: Rounded Corners 34">
              <a:extLst>
                <a:ext uri="{FF2B5EF4-FFF2-40B4-BE49-F238E27FC236}">
                  <a16:creationId xmlns:a16="http://schemas.microsoft.com/office/drawing/2014/main" id="{B9A22866-5EBF-286E-556A-2AD91FE86521}"/>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Oval 35">
              <a:extLst>
                <a:ext uri="{FF2B5EF4-FFF2-40B4-BE49-F238E27FC236}">
                  <a16:creationId xmlns:a16="http://schemas.microsoft.com/office/drawing/2014/main" id="{ED3DEE20-DD65-0475-60F7-7A41D8AE56FA}"/>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4B23B051-7AF5-883D-179A-A1F0DA8E39E9}"/>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A7A21684-6CB9-2F8D-A489-62D494B78670}"/>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5481C243-525B-754B-AD6F-0A66B1507D46}"/>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40" name="TextBox 39">
              <a:extLst>
                <a:ext uri="{FF2B5EF4-FFF2-40B4-BE49-F238E27FC236}">
                  <a16:creationId xmlns:a16="http://schemas.microsoft.com/office/drawing/2014/main" id="{15D30BEC-357B-2F6B-23AD-A8917AD02B66}"/>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a:t>
              </a:r>
              <a:r>
                <a:rPr lang="id-ID" sz="3200" dirty="0">
                  <a:solidFill>
                    <a:schemeClr val="accent2">
                      <a:lumMod val="50000"/>
                    </a:schemeClr>
                  </a:solidFill>
                </a:rPr>
                <a:t>1</a:t>
              </a:r>
              <a:endParaRPr lang="en-US" sz="3200" dirty="0">
                <a:solidFill>
                  <a:schemeClr val="accent2">
                    <a:lumMod val="50000"/>
                  </a:schemeClr>
                </a:solidFill>
              </a:endParaRPr>
            </a:p>
          </p:txBody>
        </p:sp>
      </p:grpSp>
      <p:grpSp>
        <p:nvGrpSpPr>
          <p:cNvPr id="41" name="Group 40">
            <a:extLst>
              <a:ext uri="{FF2B5EF4-FFF2-40B4-BE49-F238E27FC236}">
                <a16:creationId xmlns:a16="http://schemas.microsoft.com/office/drawing/2014/main" id="{E3275FE0-8D5C-20E3-B814-99CEF2F83A4A}"/>
              </a:ext>
            </a:extLst>
          </p:cNvPr>
          <p:cNvGrpSpPr/>
          <p:nvPr/>
        </p:nvGrpSpPr>
        <p:grpSpPr>
          <a:xfrm>
            <a:off x="-28280" y="564125"/>
            <a:ext cx="11421639" cy="5741470"/>
            <a:chOff x="-25810" y="558265"/>
            <a:chExt cx="11421639" cy="5741470"/>
          </a:xfrm>
        </p:grpSpPr>
        <p:sp>
          <p:nvSpPr>
            <p:cNvPr id="42" name="Rectangle 41">
              <a:extLst>
                <a:ext uri="{FF2B5EF4-FFF2-40B4-BE49-F238E27FC236}">
                  <a16:creationId xmlns:a16="http://schemas.microsoft.com/office/drawing/2014/main" id="{72BFF467-1B2C-CF40-59E4-A55CF3ABC5CA}"/>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3" name="Group 42">
              <a:extLst>
                <a:ext uri="{FF2B5EF4-FFF2-40B4-BE49-F238E27FC236}">
                  <a16:creationId xmlns:a16="http://schemas.microsoft.com/office/drawing/2014/main" id="{91211CD2-FE7E-8C49-9E45-2BBFCCCA289C}"/>
                </a:ext>
              </a:extLst>
            </p:cNvPr>
            <p:cNvGrpSpPr/>
            <p:nvPr/>
          </p:nvGrpSpPr>
          <p:grpSpPr>
            <a:xfrm>
              <a:off x="-25810" y="567070"/>
              <a:ext cx="543980" cy="5732665"/>
              <a:chOff x="-62386" y="567070"/>
              <a:chExt cx="543980" cy="5732665"/>
            </a:xfrm>
          </p:grpSpPr>
          <p:sp>
            <p:nvSpPr>
              <p:cNvPr id="45" name="Oval 44">
                <a:extLst>
                  <a:ext uri="{FF2B5EF4-FFF2-40B4-BE49-F238E27FC236}">
                    <a16:creationId xmlns:a16="http://schemas.microsoft.com/office/drawing/2014/main" id="{E4F68399-5E46-B1E2-5CFC-B753709519F7}"/>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Top Corners Snipped 45">
                <a:extLst>
                  <a:ext uri="{FF2B5EF4-FFF2-40B4-BE49-F238E27FC236}">
                    <a16:creationId xmlns:a16="http://schemas.microsoft.com/office/drawing/2014/main" id="{8A5FD159-3E3B-6F7E-E472-B62F76343569}"/>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TextBox 46">
                <a:extLst>
                  <a:ext uri="{FF2B5EF4-FFF2-40B4-BE49-F238E27FC236}">
                    <a16:creationId xmlns:a16="http://schemas.microsoft.com/office/drawing/2014/main" id="{80012A7F-5E7E-9384-534C-1B675AE64782}"/>
                  </a:ext>
                </a:extLst>
              </p:cNvPr>
              <p:cNvSpPr txBox="1"/>
              <p:nvPr/>
            </p:nvSpPr>
            <p:spPr>
              <a:xfrm rot="16200000">
                <a:off x="-1273934" y="3242482"/>
                <a:ext cx="2792428"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48" name="Straight Connector 47">
                <a:extLst>
                  <a:ext uri="{FF2B5EF4-FFF2-40B4-BE49-F238E27FC236}">
                    <a16:creationId xmlns:a16="http://schemas.microsoft.com/office/drawing/2014/main" id="{1287F892-CF6D-975B-5721-8C874DA58864}"/>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44" name="Rectangle 43">
              <a:extLst>
                <a:ext uri="{FF2B5EF4-FFF2-40B4-BE49-F238E27FC236}">
                  <a16:creationId xmlns:a16="http://schemas.microsoft.com/office/drawing/2014/main" id="{9E6332ED-042C-1768-4F51-C62054169390}"/>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9" name="Group 48">
            <a:extLst>
              <a:ext uri="{FF2B5EF4-FFF2-40B4-BE49-F238E27FC236}">
                <a16:creationId xmlns:a16="http://schemas.microsoft.com/office/drawing/2014/main" id="{F38D8726-97C2-8B7A-4B6D-EDF5A9592A6E}"/>
              </a:ext>
            </a:extLst>
          </p:cNvPr>
          <p:cNvGrpSpPr/>
          <p:nvPr/>
        </p:nvGrpSpPr>
        <p:grpSpPr>
          <a:xfrm>
            <a:off x="269614" y="574040"/>
            <a:ext cx="11421639" cy="5741470"/>
            <a:chOff x="-25810" y="558265"/>
            <a:chExt cx="11421639" cy="5741470"/>
          </a:xfrm>
        </p:grpSpPr>
        <p:sp>
          <p:nvSpPr>
            <p:cNvPr id="50" name="Rectangle 49">
              <a:extLst>
                <a:ext uri="{FF2B5EF4-FFF2-40B4-BE49-F238E27FC236}">
                  <a16:creationId xmlns:a16="http://schemas.microsoft.com/office/drawing/2014/main" id="{87A9E8B2-DD13-0E5E-C846-ECF9E5FB570F}"/>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697683EC-7365-4540-2E69-E1EDF9F6F96C}"/>
                </a:ext>
              </a:extLst>
            </p:cNvPr>
            <p:cNvGrpSpPr/>
            <p:nvPr/>
          </p:nvGrpSpPr>
          <p:grpSpPr>
            <a:xfrm>
              <a:off x="-25810" y="567070"/>
              <a:ext cx="543980" cy="5732665"/>
              <a:chOff x="-62386" y="567070"/>
              <a:chExt cx="543980" cy="5732665"/>
            </a:xfrm>
          </p:grpSpPr>
          <p:sp>
            <p:nvSpPr>
              <p:cNvPr id="58" name="Oval 57">
                <a:extLst>
                  <a:ext uri="{FF2B5EF4-FFF2-40B4-BE49-F238E27FC236}">
                    <a16:creationId xmlns:a16="http://schemas.microsoft.com/office/drawing/2014/main" id="{382E4DA5-8866-1FBB-CDFC-FBE03A1E9E98}"/>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Top Corners Snipped 58">
                <a:extLst>
                  <a:ext uri="{FF2B5EF4-FFF2-40B4-BE49-F238E27FC236}">
                    <a16:creationId xmlns:a16="http://schemas.microsoft.com/office/drawing/2014/main" id="{D42BAB98-FE3B-57F4-04F1-67EB7E156124}"/>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extBox 59">
                <a:extLst>
                  <a:ext uri="{FF2B5EF4-FFF2-40B4-BE49-F238E27FC236}">
                    <a16:creationId xmlns:a16="http://schemas.microsoft.com/office/drawing/2014/main" id="{1E1A071B-5F4F-FF10-0268-7A4A6FFA4C44}"/>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61" name="Straight Connector 60">
                <a:extLst>
                  <a:ext uri="{FF2B5EF4-FFF2-40B4-BE49-F238E27FC236}">
                    <a16:creationId xmlns:a16="http://schemas.microsoft.com/office/drawing/2014/main" id="{3DFDD53D-2D23-639E-E7ED-D68B609F1110}"/>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52" name="Rectangle 51">
              <a:extLst>
                <a:ext uri="{FF2B5EF4-FFF2-40B4-BE49-F238E27FC236}">
                  <a16:creationId xmlns:a16="http://schemas.microsoft.com/office/drawing/2014/main" id="{F3604EA0-5690-475A-2325-57E404E65C0D}"/>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47032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E4194-B8DD-D0CD-7615-FC32AFC03185}"/>
            </a:ext>
          </a:extLst>
        </p:cNvPr>
        <p:cNvGrpSpPr/>
        <p:nvPr/>
      </p:nvGrpSpPr>
      <p:grpSpPr>
        <a:xfrm>
          <a:off x="0" y="0"/>
          <a:ext cx="0" cy="0"/>
          <a:chOff x="0" y="0"/>
          <a:chExt cx="0" cy="0"/>
        </a:xfrm>
      </p:grpSpPr>
      <p:grpSp>
        <p:nvGrpSpPr>
          <p:cNvPr id="9" name="Grup 91">
            <a:extLst>
              <a:ext uri="{FF2B5EF4-FFF2-40B4-BE49-F238E27FC236}">
                <a16:creationId xmlns:a16="http://schemas.microsoft.com/office/drawing/2014/main" id="{2243DF33-F808-0441-7A50-1A87D0AACE3E}"/>
              </a:ext>
            </a:extLst>
          </p:cNvPr>
          <p:cNvGrpSpPr/>
          <p:nvPr/>
        </p:nvGrpSpPr>
        <p:grpSpPr>
          <a:xfrm>
            <a:off x="1027984" y="1552340"/>
            <a:ext cx="2893848" cy="3772152"/>
            <a:chOff x="526458" y="1552340"/>
            <a:chExt cx="2893848" cy="3772152"/>
          </a:xfrm>
        </p:grpSpPr>
        <p:grpSp>
          <p:nvGrpSpPr>
            <p:cNvPr id="10" name="Grup 57">
              <a:extLst>
                <a:ext uri="{FF2B5EF4-FFF2-40B4-BE49-F238E27FC236}">
                  <a16:creationId xmlns:a16="http://schemas.microsoft.com/office/drawing/2014/main" id="{726D1258-75D4-26C4-B836-7D5A5EA584A9}"/>
                </a:ext>
              </a:extLst>
            </p:cNvPr>
            <p:cNvGrpSpPr/>
            <p:nvPr/>
          </p:nvGrpSpPr>
          <p:grpSpPr>
            <a:xfrm rot="15671648">
              <a:off x="1450245" y="1895294"/>
              <a:ext cx="2313015" cy="1627107"/>
              <a:chOff x="557898" y="1392659"/>
              <a:chExt cx="2313015" cy="1627107"/>
            </a:xfrm>
          </p:grpSpPr>
          <p:cxnSp>
            <p:nvCxnSpPr>
              <p:cNvPr id="25" name="Straight Connector 85">
                <a:extLst>
                  <a:ext uri="{FF2B5EF4-FFF2-40B4-BE49-F238E27FC236}">
                    <a16:creationId xmlns:a16="http://schemas.microsoft.com/office/drawing/2014/main" id="{337281EE-5648-CEEE-FF08-A0679E220737}"/>
                  </a:ext>
                </a:extLst>
              </p:cNvPr>
              <p:cNvCxnSpPr>
                <a:cxnSpLocks/>
                <a:stCxn id="28" idx="0"/>
              </p:cNvCxnSpPr>
              <p:nvPr/>
            </p:nvCxnSpPr>
            <p:spPr>
              <a:xfrm>
                <a:off x="1974675" y="1504156"/>
                <a:ext cx="475453" cy="381297"/>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nvGrpSpPr>
              <p:cNvPr id="26" name="Grup 56">
                <a:extLst>
                  <a:ext uri="{FF2B5EF4-FFF2-40B4-BE49-F238E27FC236}">
                    <a16:creationId xmlns:a16="http://schemas.microsoft.com/office/drawing/2014/main" id="{935B2A60-8CC8-CFA3-30BA-94BB77CB3A82}"/>
                  </a:ext>
                </a:extLst>
              </p:cNvPr>
              <p:cNvGrpSpPr/>
              <p:nvPr/>
            </p:nvGrpSpPr>
            <p:grpSpPr>
              <a:xfrm>
                <a:off x="557898" y="1392659"/>
                <a:ext cx="2313015" cy="1627107"/>
                <a:chOff x="602109" y="2240629"/>
                <a:chExt cx="2313015" cy="1627107"/>
              </a:xfrm>
            </p:grpSpPr>
            <p:sp>
              <p:nvSpPr>
                <p:cNvPr id="27" name="Freeform: Shape 117">
                  <a:extLst>
                    <a:ext uri="{FF2B5EF4-FFF2-40B4-BE49-F238E27FC236}">
                      <a16:creationId xmlns:a16="http://schemas.microsoft.com/office/drawing/2014/main" id="{8E877231-2D39-9CE3-24AD-1D08D50A011D}"/>
                    </a:ext>
                  </a:extLst>
                </p:cNvPr>
                <p:cNvSpPr/>
                <p:nvPr/>
              </p:nvSpPr>
              <p:spPr>
                <a:xfrm>
                  <a:off x="2070304" y="2303993"/>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a:gsLst>
                      <a:gs pos="15000">
                        <a:srgbClr val="484848"/>
                      </a:gs>
                      <a:gs pos="86000">
                        <a:schemeClr val="accent5"/>
                      </a:gs>
                    </a:gsLst>
                    <a:lin ang="3000000" scaled="0"/>
                  </a:gradFill>
                  <a:prstDash val="solid"/>
                  <a:miter/>
                </a:ln>
              </p:spPr>
              <p:txBody>
                <a:bodyPr rtlCol="0" anchor="ctr"/>
                <a:lstStyle/>
                <a:p>
                  <a:pPr defTabSz="685800"/>
                  <a:endParaRPr lang="en-US" sz="1350" dirty="0">
                    <a:solidFill>
                      <a:prstClr val="black"/>
                    </a:solidFill>
                    <a:latin typeface="Calibri" panose="020F0502020204030204"/>
                  </a:endParaRPr>
                </a:p>
              </p:txBody>
            </p:sp>
            <p:sp>
              <p:nvSpPr>
                <p:cNvPr id="28" name="Freeform: Shape 97">
                  <a:extLst>
                    <a:ext uri="{FF2B5EF4-FFF2-40B4-BE49-F238E27FC236}">
                      <a16:creationId xmlns:a16="http://schemas.microsoft.com/office/drawing/2014/main" id="{081F2F9A-3A5E-B3B3-EE41-2BB6FC5DD05D}"/>
                    </a:ext>
                  </a:extLst>
                </p:cNvPr>
                <p:cNvSpPr/>
                <p:nvPr/>
              </p:nvSpPr>
              <p:spPr>
                <a:xfrm rot="2152959">
                  <a:off x="1891639" y="2240629"/>
                  <a:ext cx="140588" cy="140588"/>
                </a:xfrm>
                <a:custGeom>
                  <a:avLst/>
                  <a:gdLst>
                    <a:gd name="connsiteX0" fmla="*/ 187452 w 187451"/>
                    <a:gd name="connsiteY0" fmla="*/ 93726 h 187451"/>
                    <a:gd name="connsiteX1" fmla="*/ 93726 w 187451"/>
                    <a:gd name="connsiteY1" fmla="*/ 187452 h 187451"/>
                    <a:gd name="connsiteX2" fmla="*/ 0 w 187451"/>
                    <a:gd name="connsiteY2" fmla="*/ 93726 h 187451"/>
                    <a:gd name="connsiteX3" fmla="*/ 93726 w 187451"/>
                    <a:gd name="connsiteY3" fmla="*/ 0 h 187451"/>
                    <a:gd name="connsiteX4" fmla="*/ 187452 w 187451"/>
                    <a:gd name="connsiteY4" fmla="*/ 93726 h 187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 h="187451">
                      <a:moveTo>
                        <a:pt x="187452" y="93726"/>
                      </a:moveTo>
                      <a:cubicBezTo>
                        <a:pt x="187452" y="145489"/>
                        <a:pt x="145490" y="187452"/>
                        <a:pt x="93726" y="187452"/>
                      </a:cubicBezTo>
                      <a:cubicBezTo>
                        <a:pt x="41963" y="187452"/>
                        <a:pt x="0" y="145489"/>
                        <a:pt x="0" y="93726"/>
                      </a:cubicBezTo>
                      <a:cubicBezTo>
                        <a:pt x="0" y="41962"/>
                        <a:pt x="41963" y="0"/>
                        <a:pt x="93726" y="0"/>
                      </a:cubicBezTo>
                      <a:cubicBezTo>
                        <a:pt x="145490" y="0"/>
                        <a:pt x="187452" y="41962"/>
                        <a:pt x="187452" y="93726"/>
                      </a:cubicBezTo>
                      <a:close/>
                    </a:path>
                  </a:pathLst>
                </a:custGeom>
                <a:solidFill>
                  <a:schemeClr val="accent5"/>
                </a:solidFill>
                <a:ln w="9525" cap="flat">
                  <a:noFill/>
                  <a:prstDash val="solid"/>
                  <a:miter/>
                </a:ln>
              </p:spPr>
              <p:txBody>
                <a:bodyPr rtlCol="0" anchor="ctr"/>
                <a:lstStyle/>
                <a:p>
                  <a:pPr defTabSz="685800"/>
                  <a:endParaRPr lang="en-US" sz="1350">
                    <a:solidFill>
                      <a:prstClr val="black"/>
                    </a:solidFill>
                    <a:latin typeface="Calibri" panose="020F0502020204030204"/>
                  </a:endParaRPr>
                </a:p>
              </p:txBody>
            </p:sp>
            <p:sp>
              <p:nvSpPr>
                <p:cNvPr id="29" name="Freeform: Shape 106">
                  <a:extLst>
                    <a:ext uri="{FF2B5EF4-FFF2-40B4-BE49-F238E27FC236}">
                      <a16:creationId xmlns:a16="http://schemas.microsoft.com/office/drawing/2014/main" id="{271666A4-AEBE-750C-48BB-00512703C14C}"/>
                    </a:ext>
                  </a:extLst>
                </p:cNvPr>
                <p:cNvSpPr/>
                <p:nvPr/>
              </p:nvSpPr>
              <p:spPr>
                <a:xfrm rot="5928352">
                  <a:off x="2211894" y="2445583"/>
                  <a:ext cx="561641" cy="561642"/>
                </a:xfrm>
                <a:custGeom>
                  <a:avLst/>
                  <a:gdLst>
                    <a:gd name="connsiteX0" fmla="*/ 748855 w 748855"/>
                    <a:gd name="connsiteY0" fmla="*/ 374428 h 748855"/>
                    <a:gd name="connsiteX1" fmla="*/ 374428 w 748855"/>
                    <a:gd name="connsiteY1" fmla="*/ 748855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5"/>
                        <a:pt x="374428" y="748855"/>
                      </a:cubicBezTo>
                      <a:cubicBezTo>
                        <a:pt x="167637" y="748855"/>
                        <a:pt x="0" y="581218"/>
                        <a:pt x="0" y="374428"/>
                      </a:cubicBezTo>
                      <a:cubicBezTo>
                        <a:pt x="0" y="167637"/>
                        <a:pt x="167637" y="0"/>
                        <a:pt x="374428" y="0"/>
                      </a:cubicBezTo>
                      <a:cubicBezTo>
                        <a:pt x="581219" y="0"/>
                        <a:pt x="748855" y="167637"/>
                        <a:pt x="748855" y="374428"/>
                      </a:cubicBezTo>
                      <a:close/>
                    </a:path>
                  </a:pathLst>
                </a:custGeom>
                <a:gradFill>
                  <a:gsLst>
                    <a:gs pos="0">
                      <a:schemeClr val="accent5"/>
                    </a:gs>
                    <a:gs pos="100000">
                      <a:schemeClr val="accent5">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solidFill>
                        <a:prstClr val="white"/>
                      </a:solidFill>
                      <a:latin typeface="Calibri" panose="020F0502020204030204"/>
                    </a:rPr>
                    <a:t>0</a:t>
                  </a:r>
                  <a:r>
                    <a:rPr lang="id-ID" sz="1350" b="1" dirty="0">
                      <a:solidFill>
                        <a:prstClr val="white"/>
                      </a:solidFill>
                      <a:latin typeface="Calibri" panose="020F0502020204030204"/>
                    </a:rPr>
                    <a:t>1</a:t>
                  </a:r>
                  <a:endParaRPr lang="en-US" sz="1350" b="1" dirty="0">
                    <a:solidFill>
                      <a:prstClr val="white"/>
                    </a:solidFill>
                    <a:latin typeface="Calibri" panose="020F0502020204030204"/>
                  </a:endParaRPr>
                </a:p>
              </p:txBody>
            </p:sp>
            <p:sp>
              <p:nvSpPr>
                <p:cNvPr id="6" name="Freeform: Shape 117">
                  <a:extLst>
                    <a:ext uri="{FF2B5EF4-FFF2-40B4-BE49-F238E27FC236}">
                      <a16:creationId xmlns:a16="http://schemas.microsoft.com/office/drawing/2014/main" id="{F26C5265-78FD-609E-DA8B-8330DD17569D}"/>
                    </a:ext>
                  </a:extLst>
                </p:cNvPr>
                <p:cNvSpPr/>
                <p:nvPr/>
              </p:nvSpPr>
              <p:spPr>
                <a:xfrm>
                  <a:off x="602109" y="3022916"/>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7"/>
                        <a:pt x="0" y="563213"/>
                      </a:cubicBezTo>
                      <a:cubicBezTo>
                        <a:pt x="0" y="252159"/>
                        <a:pt x="252159" y="0"/>
                        <a:pt x="563213" y="0"/>
                      </a:cubicBezTo>
                      <a:cubicBezTo>
                        <a:pt x="874267" y="0"/>
                        <a:pt x="1126427" y="252159"/>
                        <a:pt x="1126427" y="563213"/>
                      </a:cubicBezTo>
                      <a:close/>
                    </a:path>
                  </a:pathLst>
                </a:custGeom>
                <a:noFill/>
                <a:ln w="66590" cap="flat">
                  <a:gradFill>
                    <a:gsLst>
                      <a:gs pos="15000">
                        <a:srgbClr val="484848"/>
                      </a:gs>
                      <a:gs pos="86000">
                        <a:schemeClr val="accent5"/>
                      </a:gs>
                    </a:gsLst>
                    <a:lin ang="3000000" scaled="0"/>
                  </a:gradFill>
                  <a:prstDash val="solid"/>
                  <a:miter/>
                </a:ln>
              </p:spPr>
              <p:txBody>
                <a:bodyPr rtlCol="0" anchor="ctr"/>
                <a:lstStyle/>
                <a:p>
                  <a:pPr defTabSz="685800"/>
                  <a:endParaRPr lang="en-US" sz="1350" dirty="0">
                    <a:solidFill>
                      <a:prstClr val="black"/>
                    </a:solidFill>
                    <a:latin typeface="Calibri" panose="020F0502020204030204"/>
                  </a:endParaRPr>
                </a:p>
              </p:txBody>
            </p:sp>
            <p:sp>
              <p:nvSpPr>
                <p:cNvPr id="11" name="Freeform: Shape 106">
                  <a:extLst>
                    <a:ext uri="{FF2B5EF4-FFF2-40B4-BE49-F238E27FC236}">
                      <a16:creationId xmlns:a16="http://schemas.microsoft.com/office/drawing/2014/main" id="{E6391EA5-9FF4-D9F3-5DC7-2CE86F5B6B3B}"/>
                    </a:ext>
                  </a:extLst>
                </p:cNvPr>
                <p:cNvSpPr/>
                <p:nvPr/>
              </p:nvSpPr>
              <p:spPr>
                <a:xfrm rot="5928352">
                  <a:off x="747116" y="3159937"/>
                  <a:ext cx="561641" cy="561642"/>
                </a:xfrm>
                <a:custGeom>
                  <a:avLst/>
                  <a:gdLst>
                    <a:gd name="connsiteX0" fmla="*/ 748855 w 748855"/>
                    <a:gd name="connsiteY0" fmla="*/ 374428 h 748855"/>
                    <a:gd name="connsiteX1" fmla="*/ 374428 w 748855"/>
                    <a:gd name="connsiteY1" fmla="*/ 748855 h 748855"/>
                    <a:gd name="connsiteX2" fmla="*/ 0 w 748855"/>
                    <a:gd name="connsiteY2" fmla="*/ 374428 h 748855"/>
                    <a:gd name="connsiteX3" fmla="*/ 374428 w 748855"/>
                    <a:gd name="connsiteY3" fmla="*/ 0 h 748855"/>
                    <a:gd name="connsiteX4" fmla="*/ 748855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5" y="374428"/>
                      </a:moveTo>
                      <a:cubicBezTo>
                        <a:pt x="748855" y="581219"/>
                        <a:pt x="581218" y="748855"/>
                        <a:pt x="374428" y="748855"/>
                      </a:cubicBezTo>
                      <a:cubicBezTo>
                        <a:pt x="167637" y="748855"/>
                        <a:pt x="0" y="581218"/>
                        <a:pt x="0" y="374428"/>
                      </a:cubicBezTo>
                      <a:cubicBezTo>
                        <a:pt x="0" y="167637"/>
                        <a:pt x="167637" y="0"/>
                        <a:pt x="374428" y="0"/>
                      </a:cubicBezTo>
                      <a:cubicBezTo>
                        <a:pt x="581219" y="0"/>
                        <a:pt x="748855" y="167637"/>
                        <a:pt x="748855" y="374428"/>
                      </a:cubicBezTo>
                      <a:close/>
                    </a:path>
                  </a:pathLst>
                </a:custGeom>
                <a:gradFill>
                  <a:gsLst>
                    <a:gs pos="0">
                      <a:schemeClr val="accent5"/>
                    </a:gs>
                    <a:gs pos="100000">
                      <a:schemeClr val="accent5">
                        <a:lumMod val="75000"/>
                      </a:schemeClr>
                    </a:gs>
                  </a:gsLst>
                  <a:lin ang="0" scaled="0"/>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solidFill>
                        <a:prstClr val="white"/>
                      </a:solidFill>
                      <a:latin typeface="Calibri" panose="020F0502020204030204"/>
                    </a:rPr>
                    <a:t>02</a:t>
                  </a:r>
                </a:p>
              </p:txBody>
            </p:sp>
          </p:grpSp>
          <p:cxnSp>
            <p:nvCxnSpPr>
              <p:cNvPr id="5" name="Straight Connector 85">
                <a:extLst>
                  <a:ext uri="{FF2B5EF4-FFF2-40B4-BE49-F238E27FC236}">
                    <a16:creationId xmlns:a16="http://schemas.microsoft.com/office/drawing/2014/main" id="{45334274-6A2D-B5EC-26AD-CFF28AD0111B}"/>
                  </a:ext>
                </a:extLst>
              </p:cNvPr>
              <p:cNvCxnSpPr>
                <a:cxnSpLocks/>
                <a:endCxn id="11" idx="2"/>
              </p:cNvCxnSpPr>
              <p:nvPr/>
            </p:nvCxnSpPr>
            <p:spPr>
              <a:xfrm rot="5928352" flipV="1">
                <a:off x="862574" y="2123750"/>
                <a:ext cx="368531" cy="16363"/>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2" name="Grup 90">
              <a:extLst>
                <a:ext uri="{FF2B5EF4-FFF2-40B4-BE49-F238E27FC236}">
                  <a16:creationId xmlns:a16="http://schemas.microsoft.com/office/drawing/2014/main" id="{56751BF1-A0D4-AFDB-8E40-E0BAE7B450E5}"/>
                </a:ext>
              </a:extLst>
            </p:cNvPr>
            <p:cNvGrpSpPr/>
            <p:nvPr/>
          </p:nvGrpSpPr>
          <p:grpSpPr>
            <a:xfrm>
              <a:off x="526458" y="2563742"/>
              <a:ext cx="1933956" cy="1933957"/>
              <a:chOff x="526458" y="2563742"/>
              <a:chExt cx="1933956" cy="1933957"/>
            </a:xfrm>
          </p:grpSpPr>
          <p:sp>
            <p:nvSpPr>
              <p:cNvPr id="18" name="Arc 89">
                <a:extLst>
                  <a:ext uri="{FF2B5EF4-FFF2-40B4-BE49-F238E27FC236}">
                    <a16:creationId xmlns:a16="http://schemas.microsoft.com/office/drawing/2014/main" id="{86EC872B-7550-CA3D-0339-70F0DBCA09E3}"/>
                  </a:ext>
                </a:extLst>
              </p:cNvPr>
              <p:cNvSpPr/>
              <p:nvPr/>
            </p:nvSpPr>
            <p:spPr>
              <a:xfrm flipH="1">
                <a:off x="526458" y="2563742"/>
                <a:ext cx="1933956" cy="1933957"/>
              </a:xfrm>
              <a:prstGeom prst="arc">
                <a:avLst>
                  <a:gd name="adj1" fmla="val 3397586"/>
                  <a:gd name="adj2" fmla="val 18544872"/>
                </a:avLst>
              </a:prstGeom>
              <a:ln w="19050">
                <a:gradFill flip="none" rotWithShape="1">
                  <a:gsLst>
                    <a:gs pos="0">
                      <a:srgbClr val="484848"/>
                    </a:gs>
                    <a:gs pos="38000">
                      <a:schemeClr val="accent3">
                        <a:lumMod val="50000"/>
                      </a:schemeClr>
                    </a:gs>
                    <a:gs pos="59000">
                      <a:schemeClr val="accent3">
                        <a:lumMod val="75000"/>
                      </a:schemeClr>
                    </a:gs>
                    <a:gs pos="97345">
                      <a:schemeClr val="accent3"/>
                    </a:gs>
                  </a:gsLst>
                  <a:lin ang="108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endParaRPr lang="en-US" sz="1350">
                  <a:solidFill>
                    <a:prstClr val="black"/>
                  </a:solidFill>
                  <a:latin typeface="Calibri" panose="020F0502020204030204"/>
                </a:endParaRPr>
              </a:p>
            </p:txBody>
          </p:sp>
          <p:sp>
            <p:nvSpPr>
              <p:cNvPr id="19" name="Freeform: Shape 92">
                <a:extLst>
                  <a:ext uri="{FF2B5EF4-FFF2-40B4-BE49-F238E27FC236}">
                    <a16:creationId xmlns:a16="http://schemas.microsoft.com/office/drawing/2014/main" id="{DE49B860-2AF9-41E5-0BEF-8541D91BFEFA}"/>
                  </a:ext>
                </a:extLst>
              </p:cNvPr>
              <p:cNvSpPr/>
              <p:nvPr/>
            </p:nvSpPr>
            <p:spPr>
              <a:xfrm>
                <a:off x="714005" y="2871224"/>
                <a:ext cx="1621515" cy="1322452"/>
              </a:xfrm>
              <a:custGeom>
                <a:avLst/>
                <a:gdLst>
                  <a:gd name="connsiteX0" fmla="*/ 1763268 w 1763267"/>
                  <a:gd name="connsiteY0" fmla="*/ 881634 h 1763268"/>
                  <a:gd name="connsiteX1" fmla="*/ 881634 w 1763267"/>
                  <a:gd name="connsiteY1" fmla="*/ 1763268 h 1763268"/>
                  <a:gd name="connsiteX2" fmla="*/ 0 w 1763267"/>
                  <a:gd name="connsiteY2" fmla="*/ 881634 h 1763268"/>
                  <a:gd name="connsiteX3" fmla="*/ 881634 w 1763267"/>
                  <a:gd name="connsiteY3" fmla="*/ 0 h 1763268"/>
                  <a:gd name="connsiteX4" fmla="*/ 1763268 w 1763267"/>
                  <a:gd name="connsiteY4" fmla="*/ 881634 h 17632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3267" h="1763268">
                    <a:moveTo>
                      <a:pt x="1763268" y="881634"/>
                    </a:moveTo>
                    <a:cubicBezTo>
                      <a:pt x="1763268" y="1368547"/>
                      <a:pt x="1368547" y="1763268"/>
                      <a:pt x="881634" y="1763268"/>
                    </a:cubicBezTo>
                    <a:cubicBezTo>
                      <a:pt x="394721" y="1763268"/>
                      <a:pt x="0" y="1368547"/>
                      <a:pt x="0" y="881634"/>
                    </a:cubicBezTo>
                    <a:cubicBezTo>
                      <a:pt x="0" y="394721"/>
                      <a:pt x="394721" y="0"/>
                      <a:pt x="881634" y="0"/>
                    </a:cubicBezTo>
                    <a:cubicBezTo>
                      <a:pt x="1368547" y="0"/>
                      <a:pt x="1763268" y="394721"/>
                      <a:pt x="1763268" y="881634"/>
                    </a:cubicBezTo>
                    <a:close/>
                  </a:path>
                </a:pathLst>
              </a:custGeom>
              <a:solidFill>
                <a:srgbClr val="484848"/>
              </a:solidFill>
              <a:ln w="9525" cap="flat">
                <a:noFill/>
                <a:prstDash val="solid"/>
                <a:miter/>
              </a:ln>
              <a:effectLst>
                <a:outerShdw blurRad="152400" dist="101600" dir="2700000" algn="tl" rotWithShape="0">
                  <a:prstClr val="black">
                    <a:alpha val="40000"/>
                  </a:prstClr>
                </a:outerShdw>
              </a:effectLst>
            </p:spPr>
            <p:txBody>
              <a:bodyPr rtlCol="0" anchor="ctr"/>
              <a:lstStyle/>
              <a:p>
                <a:pPr algn="ctr"/>
                <a:r>
                  <a:rPr lang="en-US" dirty="0" err="1">
                    <a:solidFill>
                      <a:schemeClr val="bg1"/>
                    </a:solidFill>
                  </a:rPr>
                  <a:t>Pekerjaan</a:t>
                </a:r>
                <a:r>
                  <a:rPr lang="en-US" dirty="0">
                    <a:solidFill>
                      <a:schemeClr val="bg1"/>
                    </a:solidFill>
                  </a:rPr>
                  <a:t> Cleaning </a:t>
                </a:r>
                <a:r>
                  <a:rPr lang="en-US" dirty="0" err="1">
                    <a:solidFill>
                      <a:schemeClr val="bg1"/>
                    </a:solidFill>
                  </a:rPr>
                  <a:t>Tangki</a:t>
                </a:r>
                <a:r>
                  <a:rPr lang="en-US" dirty="0">
                    <a:solidFill>
                      <a:schemeClr val="bg1"/>
                    </a:solidFill>
                  </a:rPr>
                  <a:t> </a:t>
                </a:r>
                <a:r>
                  <a:rPr lang="en-US" dirty="0" err="1">
                    <a:solidFill>
                      <a:schemeClr val="bg1"/>
                    </a:solidFill>
                  </a:rPr>
                  <a:t>Timbun</a:t>
                </a:r>
                <a:endParaRPr lang="en-US" dirty="0">
                  <a:solidFill>
                    <a:schemeClr val="bg1"/>
                  </a:solidFill>
                </a:endParaRPr>
              </a:p>
            </p:txBody>
          </p:sp>
          <p:sp>
            <p:nvSpPr>
              <p:cNvPr id="20" name="Freeform: Shape 103">
                <a:extLst>
                  <a:ext uri="{FF2B5EF4-FFF2-40B4-BE49-F238E27FC236}">
                    <a16:creationId xmlns:a16="http://schemas.microsoft.com/office/drawing/2014/main" id="{46578B7C-A7CB-C14E-37BA-B7087E4BD8BF}"/>
                  </a:ext>
                </a:extLst>
              </p:cNvPr>
              <p:cNvSpPr/>
              <p:nvPr/>
            </p:nvSpPr>
            <p:spPr>
              <a:xfrm rot="2700000">
                <a:off x="661026" y="2706965"/>
                <a:ext cx="1666209" cy="1666209"/>
              </a:xfrm>
              <a:custGeom>
                <a:avLst/>
                <a:gdLst>
                  <a:gd name="connsiteX0" fmla="*/ 2221611 w 2221611"/>
                  <a:gd name="connsiteY0" fmla="*/ 1110805 h 2221611"/>
                  <a:gd name="connsiteX1" fmla="*/ 1110806 w 2221611"/>
                  <a:gd name="connsiteY1" fmla="*/ 2221611 h 2221611"/>
                  <a:gd name="connsiteX2" fmla="*/ 0 w 2221611"/>
                  <a:gd name="connsiteY2" fmla="*/ 1110805 h 2221611"/>
                  <a:gd name="connsiteX3" fmla="*/ 1110806 w 2221611"/>
                  <a:gd name="connsiteY3" fmla="*/ 0 h 2221611"/>
                  <a:gd name="connsiteX4" fmla="*/ 2221611 w 2221611"/>
                  <a:gd name="connsiteY4" fmla="*/ 1110805 h 2221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1611" h="2221611">
                    <a:moveTo>
                      <a:pt x="2221611" y="1110805"/>
                    </a:moveTo>
                    <a:cubicBezTo>
                      <a:pt x="2221611" y="1724286"/>
                      <a:pt x="1724287" y="2221611"/>
                      <a:pt x="1110806" y="2221611"/>
                    </a:cubicBezTo>
                    <a:cubicBezTo>
                      <a:pt x="497325" y="2221611"/>
                      <a:pt x="0" y="1724286"/>
                      <a:pt x="0" y="1110805"/>
                    </a:cubicBezTo>
                    <a:cubicBezTo>
                      <a:pt x="0" y="497325"/>
                      <a:pt x="497325" y="0"/>
                      <a:pt x="1110806" y="0"/>
                    </a:cubicBezTo>
                    <a:cubicBezTo>
                      <a:pt x="1724287" y="0"/>
                      <a:pt x="2221611" y="497325"/>
                      <a:pt x="2221611" y="1110805"/>
                    </a:cubicBezTo>
                    <a:close/>
                  </a:path>
                </a:pathLst>
              </a:custGeom>
              <a:noFill/>
              <a:ln w="66590" cap="flat">
                <a:gradFill flip="none" rotWithShape="1">
                  <a:gsLst>
                    <a:gs pos="35000">
                      <a:schemeClr val="accent2"/>
                    </a:gs>
                    <a:gs pos="65000">
                      <a:schemeClr val="accent6"/>
                    </a:gs>
                    <a:gs pos="50000">
                      <a:schemeClr val="accent4"/>
                    </a:gs>
                    <a:gs pos="20000">
                      <a:srgbClr val="484848"/>
                    </a:gs>
                    <a:gs pos="80000">
                      <a:schemeClr val="accent5"/>
                    </a:gs>
                    <a:gs pos="95000">
                      <a:schemeClr val="accent1"/>
                    </a:gs>
                  </a:gsLst>
                  <a:path path="circle">
                    <a:fillToRect l="100000" b="100000"/>
                  </a:path>
                  <a:tileRect t="-100000" r="-100000"/>
                </a:gradFill>
                <a:prstDash val="solid"/>
                <a:miter/>
              </a:ln>
            </p:spPr>
            <p:txBody>
              <a:bodyPr rtlCol="0" anchor="ctr"/>
              <a:lstStyle/>
              <a:p>
                <a:pPr defTabSz="685800"/>
                <a:endParaRPr lang="en-US" sz="1350" dirty="0">
                  <a:solidFill>
                    <a:prstClr val="black"/>
                  </a:solidFill>
                  <a:latin typeface="Calibri" panose="020F0502020204030204"/>
                </a:endParaRPr>
              </a:p>
            </p:txBody>
          </p:sp>
        </p:grpSp>
        <p:grpSp>
          <p:nvGrpSpPr>
            <p:cNvPr id="13" name="Grup 59">
              <a:extLst>
                <a:ext uri="{FF2B5EF4-FFF2-40B4-BE49-F238E27FC236}">
                  <a16:creationId xmlns:a16="http://schemas.microsoft.com/office/drawing/2014/main" id="{A1BD03B0-7645-575A-139B-4DE9F8B8A151}"/>
                </a:ext>
              </a:extLst>
            </p:cNvPr>
            <p:cNvGrpSpPr/>
            <p:nvPr/>
          </p:nvGrpSpPr>
          <p:grpSpPr>
            <a:xfrm rot="18658785">
              <a:off x="1403483" y="3773006"/>
              <a:ext cx="1833638" cy="1269334"/>
              <a:chOff x="775452" y="4376896"/>
              <a:chExt cx="1833638" cy="1269334"/>
            </a:xfrm>
          </p:grpSpPr>
          <p:sp>
            <p:nvSpPr>
              <p:cNvPr id="14" name="Freeform: Shape 101">
                <a:extLst>
                  <a:ext uri="{FF2B5EF4-FFF2-40B4-BE49-F238E27FC236}">
                    <a16:creationId xmlns:a16="http://schemas.microsoft.com/office/drawing/2014/main" id="{5BDBDD05-9AC5-B215-EC6B-F2477EFD2B6E}"/>
                  </a:ext>
                </a:extLst>
              </p:cNvPr>
              <p:cNvSpPr/>
              <p:nvPr/>
            </p:nvSpPr>
            <p:spPr>
              <a:xfrm rot="5218953">
                <a:off x="775452" y="4801410"/>
                <a:ext cx="844820" cy="844820"/>
              </a:xfrm>
              <a:custGeom>
                <a:avLst/>
                <a:gdLst>
                  <a:gd name="connsiteX0" fmla="*/ 1126427 w 1126426"/>
                  <a:gd name="connsiteY0" fmla="*/ 563213 h 1126426"/>
                  <a:gd name="connsiteX1" fmla="*/ 563213 w 1126426"/>
                  <a:gd name="connsiteY1" fmla="*/ 1126427 h 1126426"/>
                  <a:gd name="connsiteX2" fmla="*/ 0 w 1126426"/>
                  <a:gd name="connsiteY2" fmla="*/ 563213 h 1126426"/>
                  <a:gd name="connsiteX3" fmla="*/ 563213 w 1126426"/>
                  <a:gd name="connsiteY3" fmla="*/ 0 h 1126426"/>
                  <a:gd name="connsiteX4" fmla="*/ 1126427 w 1126426"/>
                  <a:gd name="connsiteY4" fmla="*/ 563213 h 1126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6426" h="1126426">
                    <a:moveTo>
                      <a:pt x="1126427" y="563213"/>
                    </a:moveTo>
                    <a:cubicBezTo>
                      <a:pt x="1126427" y="874267"/>
                      <a:pt x="874268" y="1126427"/>
                      <a:pt x="563213" y="1126427"/>
                    </a:cubicBezTo>
                    <a:cubicBezTo>
                      <a:pt x="252159" y="1126427"/>
                      <a:pt x="0" y="874268"/>
                      <a:pt x="0" y="563213"/>
                    </a:cubicBezTo>
                    <a:cubicBezTo>
                      <a:pt x="0" y="252159"/>
                      <a:pt x="252159" y="0"/>
                      <a:pt x="563213" y="0"/>
                    </a:cubicBezTo>
                    <a:cubicBezTo>
                      <a:pt x="874267" y="0"/>
                      <a:pt x="1126427" y="252159"/>
                      <a:pt x="1126427" y="563213"/>
                    </a:cubicBezTo>
                    <a:close/>
                  </a:path>
                </a:pathLst>
              </a:custGeom>
              <a:noFill/>
              <a:ln w="66590" cap="flat">
                <a:gradFill>
                  <a:gsLst>
                    <a:gs pos="15000">
                      <a:srgbClr val="484848"/>
                    </a:gs>
                    <a:gs pos="86000">
                      <a:schemeClr val="accent6"/>
                    </a:gs>
                  </a:gsLst>
                  <a:lin ang="600000" scaled="0"/>
                </a:gradFill>
                <a:prstDash val="solid"/>
                <a:miter/>
              </a:ln>
            </p:spPr>
            <p:txBody>
              <a:bodyPr rtlCol="0" anchor="ctr"/>
              <a:lstStyle/>
              <a:p>
                <a:pPr defTabSz="685800"/>
                <a:endParaRPr lang="en-US" sz="1350">
                  <a:solidFill>
                    <a:prstClr val="black"/>
                  </a:solidFill>
                  <a:latin typeface="Calibri" panose="020F0502020204030204"/>
                </a:endParaRPr>
              </a:p>
            </p:txBody>
          </p:sp>
          <p:cxnSp>
            <p:nvCxnSpPr>
              <p:cNvPr id="15" name="Straight Connector 102">
                <a:extLst>
                  <a:ext uri="{FF2B5EF4-FFF2-40B4-BE49-F238E27FC236}">
                    <a16:creationId xmlns:a16="http://schemas.microsoft.com/office/drawing/2014/main" id="{5146E0C2-C9ED-EE0D-F27B-4869B1A948E0}"/>
                  </a:ext>
                </a:extLst>
              </p:cNvPr>
              <p:cNvCxnSpPr>
                <a:cxnSpLocks/>
                <a:stCxn id="16" idx="3"/>
                <a:endCxn id="14" idx="2"/>
              </p:cNvCxnSpPr>
              <p:nvPr/>
            </p:nvCxnSpPr>
            <p:spPr>
              <a:xfrm rot="2941215">
                <a:off x="930205" y="4488794"/>
                <a:ext cx="388222" cy="201305"/>
              </a:xfrm>
              <a:prstGeom prst="line">
                <a:avLst/>
              </a:prstGeom>
              <a:ln w="1905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16" name="Freeform: Shape 105">
                <a:extLst>
                  <a:ext uri="{FF2B5EF4-FFF2-40B4-BE49-F238E27FC236}">
                    <a16:creationId xmlns:a16="http://schemas.microsoft.com/office/drawing/2014/main" id="{F969AEB2-7189-A153-BA84-C928D30E2EE0}"/>
                  </a:ext>
                </a:extLst>
              </p:cNvPr>
              <p:cNvSpPr/>
              <p:nvPr/>
            </p:nvSpPr>
            <p:spPr>
              <a:xfrm>
                <a:off x="1002713" y="4376896"/>
                <a:ext cx="140588" cy="140588"/>
              </a:xfrm>
              <a:custGeom>
                <a:avLst/>
                <a:gdLst>
                  <a:gd name="connsiteX0" fmla="*/ 187452 w 187451"/>
                  <a:gd name="connsiteY0" fmla="*/ 93726 h 187451"/>
                  <a:gd name="connsiteX1" fmla="*/ 93726 w 187451"/>
                  <a:gd name="connsiteY1" fmla="*/ 187452 h 187451"/>
                  <a:gd name="connsiteX2" fmla="*/ 0 w 187451"/>
                  <a:gd name="connsiteY2" fmla="*/ 93726 h 187451"/>
                  <a:gd name="connsiteX3" fmla="*/ 93726 w 187451"/>
                  <a:gd name="connsiteY3" fmla="*/ 0 h 187451"/>
                  <a:gd name="connsiteX4" fmla="*/ 187452 w 187451"/>
                  <a:gd name="connsiteY4" fmla="*/ 93726 h 187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 h="187451">
                    <a:moveTo>
                      <a:pt x="187452" y="93726"/>
                    </a:moveTo>
                    <a:cubicBezTo>
                      <a:pt x="187452" y="145489"/>
                      <a:pt x="145490" y="187452"/>
                      <a:pt x="93726" y="187452"/>
                    </a:cubicBezTo>
                    <a:cubicBezTo>
                      <a:pt x="41963" y="187452"/>
                      <a:pt x="0" y="145489"/>
                      <a:pt x="0" y="93726"/>
                    </a:cubicBezTo>
                    <a:cubicBezTo>
                      <a:pt x="0" y="41963"/>
                      <a:pt x="41963" y="0"/>
                      <a:pt x="93726" y="0"/>
                    </a:cubicBezTo>
                    <a:cubicBezTo>
                      <a:pt x="145490" y="0"/>
                      <a:pt x="187452" y="41963"/>
                      <a:pt x="187452" y="93726"/>
                    </a:cubicBezTo>
                    <a:close/>
                  </a:path>
                </a:pathLst>
              </a:custGeom>
              <a:solidFill>
                <a:schemeClr val="accent6"/>
              </a:solidFill>
              <a:ln w="9525" cap="flat">
                <a:noFill/>
                <a:prstDash val="solid"/>
                <a:miter/>
              </a:ln>
            </p:spPr>
            <p:txBody>
              <a:bodyPr rtlCol="0" anchor="ctr"/>
              <a:lstStyle/>
              <a:p>
                <a:pPr defTabSz="685800"/>
                <a:endParaRPr lang="en-US" sz="1350">
                  <a:solidFill>
                    <a:prstClr val="black"/>
                  </a:solidFill>
                  <a:latin typeface="Calibri" panose="020F0502020204030204"/>
                </a:endParaRPr>
              </a:p>
            </p:txBody>
          </p:sp>
          <p:sp>
            <p:nvSpPr>
              <p:cNvPr id="17" name="Freeform: Shape 107">
                <a:extLst>
                  <a:ext uri="{FF2B5EF4-FFF2-40B4-BE49-F238E27FC236}">
                    <a16:creationId xmlns:a16="http://schemas.microsoft.com/office/drawing/2014/main" id="{485B8FC2-3F27-59E9-FD40-573C08DEE2C1}"/>
                  </a:ext>
                </a:extLst>
              </p:cNvPr>
              <p:cNvSpPr/>
              <p:nvPr/>
            </p:nvSpPr>
            <p:spPr>
              <a:xfrm rot="2941215">
                <a:off x="917041" y="4943001"/>
                <a:ext cx="561641" cy="561641"/>
              </a:xfrm>
              <a:custGeom>
                <a:avLst/>
                <a:gdLst>
                  <a:gd name="connsiteX0" fmla="*/ 748856 w 748855"/>
                  <a:gd name="connsiteY0" fmla="*/ 374428 h 748855"/>
                  <a:gd name="connsiteX1" fmla="*/ 374428 w 748855"/>
                  <a:gd name="connsiteY1" fmla="*/ 748856 h 748855"/>
                  <a:gd name="connsiteX2" fmla="*/ 0 w 748855"/>
                  <a:gd name="connsiteY2" fmla="*/ 374428 h 748855"/>
                  <a:gd name="connsiteX3" fmla="*/ 374428 w 748855"/>
                  <a:gd name="connsiteY3" fmla="*/ 0 h 748855"/>
                  <a:gd name="connsiteX4" fmla="*/ 748856 w 748855"/>
                  <a:gd name="connsiteY4" fmla="*/ 374428 h 7488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8855" h="748855">
                    <a:moveTo>
                      <a:pt x="748856" y="374428"/>
                    </a:moveTo>
                    <a:cubicBezTo>
                      <a:pt x="748856" y="581219"/>
                      <a:pt x="581218" y="748856"/>
                      <a:pt x="374428" y="748856"/>
                    </a:cubicBezTo>
                    <a:cubicBezTo>
                      <a:pt x="167637" y="748856"/>
                      <a:pt x="0" y="581218"/>
                      <a:pt x="0" y="374428"/>
                    </a:cubicBezTo>
                    <a:cubicBezTo>
                      <a:pt x="0" y="167637"/>
                      <a:pt x="167637" y="0"/>
                      <a:pt x="374428" y="0"/>
                    </a:cubicBezTo>
                    <a:cubicBezTo>
                      <a:pt x="581219" y="0"/>
                      <a:pt x="748856" y="167637"/>
                      <a:pt x="748856" y="374428"/>
                    </a:cubicBezTo>
                    <a:close/>
                  </a:path>
                </a:pathLst>
              </a:custGeom>
              <a:gradFill flip="none" rotWithShape="1">
                <a:gsLst>
                  <a:gs pos="0">
                    <a:schemeClr val="accent6">
                      <a:lumMod val="67000"/>
                    </a:schemeClr>
                  </a:gs>
                  <a:gs pos="48000">
                    <a:schemeClr val="accent6">
                      <a:lumMod val="97000"/>
                      <a:lumOff val="3000"/>
                    </a:schemeClr>
                  </a:gs>
                  <a:gs pos="100000">
                    <a:schemeClr val="accent6">
                      <a:lumMod val="60000"/>
                      <a:lumOff val="40000"/>
                    </a:schemeClr>
                  </a:gs>
                </a:gsLst>
                <a:lin ang="16200000" scaled="1"/>
                <a:tileRect/>
              </a:gradFill>
              <a:ln w="9525" cap="flat">
                <a:noFill/>
                <a:prstDash val="solid"/>
                <a:miter/>
              </a:ln>
              <a:effectLst>
                <a:outerShdw blurRad="50800" dist="38100" dir="2700000" algn="tl" rotWithShape="0">
                  <a:prstClr val="black">
                    <a:alpha val="40000"/>
                  </a:prstClr>
                </a:outerShdw>
              </a:effectLst>
            </p:spPr>
            <p:txBody>
              <a:bodyPr rtlCol="0" anchor="ctr"/>
              <a:lstStyle/>
              <a:p>
                <a:pPr algn="ctr" defTabSz="685800"/>
                <a:r>
                  <a:rPr lang="en-US" sz="1350" b="1" dirty="0">
                    <a:solidFill>
                      <a:prstClr val="white"/>
                    </a:solidFill>
                    <a:latin typeface="Calibri" panose="020F0502020204030204"/>
                  </a:rPr>
                  <a:t>03</a:t>
                </a:r>
              </a:p>
            </p:txBody>
          </p:sp>
          <p:sp>
            <p:nvSpPr>
              <p:cNvPr id="23" name="Freeform: Shape 105">
                <a:extLst>
                  <a:ext uri="{FF2B5EF4-FFF2-40B4-BE49-F238E27FC236}">
                    <a16:creationId xmlns:a16="http://schemas.microsoft.com/office/drawing/2014/main" id="{49E7E92F-CF49-49EE-37D8-55002AD5B850}"/>
                  </a:ext>
                </a:extLst>
              </p:cNvPr>
              <p:cNvSpPr/>
              <p:nvPr/>
            </p:nvSpPr>
            <p:spPr>
              <a:xfrm>
                <a:off x="2468502" y="4391514"/>
                <a:ext cx="140588" cy="140588"/>
              </a:xfrm>
              <a:custGeom>
                <a:avLst/>
                <a:gdLst>
                  <a:gd name="connsiteX0" fmla="*/ 187452 w 187451"/>
                  <a:gd name="connsiteY0" fmla="*/ 93726 h 187451"/>
                  <a:gd name="connsiteX1" fmla="*/ 93726 w 187451"/>
                  <a:gd name="connsiteY1" fmla="*/ 187452 h 187451"/>
                  <a:gd name="connsiteX2" fmla="*/ 0 w 187451"/>
                  <a:gd name="connsiteY2" fmla="*/ 93726 h 187451"/>
                  <a:gd name="connsiteX3" fmla="*/ 93726 w 187451"/>
                  <a:gd name="connsiteY3" fmla="*/ 0 h 187451"/>
                  <a:gd name="connsiteX4" fmla="*/ 187452 w 187451"/>
                  <a:gd name="connsiteY4" fmla="*/ 93726 h 1874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451" h="187451">
                    <a:moveTo>
                      <a:pt x="187452" y="93726"/>
                    </a:moveTo>
                    <a:cubicBezTo>
                      <a:pt x="187452" y="145489"/>
                      <a:pt x="145490" y="187452"/>
                      <a:pt x="93726" y="187452"/>
                    </a:cubicBezTo>
                    <a:cubicBezTo>
                      <a:pt x="41963" y="187452"/>
                      <a:pt x="0" y="145489"/>
                      <a:pt x="0" y="93726"/>
                    </a:cubicBezTo>
                    <a:cubicBezTo>
                      <a:pt x="0" y="41963"/>
                      <a:pt x="41963" y="0"/>
                      <a:pt x="93726" y="0"/>
                    </a:cubicBezTo>
                    <a:cubicBezTo>
                      <a:pt x="145490" y="0"/>
                      <a:pt x="187452" y="41963"/>
                      <a:pt x="187452" y="93726"/>
                    </a:cubicBezTo>
                    <a:close/>
                  </a:path>
                </a:pathLst>
              </a:custGeom>
              <a:solidFill>
                <a:schemeClr val="accent6"/>
              </a:solidFill>
              <a:ln w="9525" cap="flat">
                <a:noFill/>
                <a:prstDash val="solid"/>
                <a:miter/>
              </a:ln>
            </p:spPr>
            <p:txBody>
              <a:bodyPr rtlCol="0" anchor="ctr"/>
              <a:lstStyle/>
              <a:p>
                <a:pPr defTabSz="685800"/>
                <a:endParaRPr lang="en-US" sz="1350">
                  <a:solidFill>
                    <a:prstClr val="black"/>
                  </a:solidFill>
                  <a:latin typeface="Calibri" panose="020F0502020204030204"/>
                </a:endParaRPr>
              </a:p>
            </p:txBody>
          </p:sp>
        </p:grpSp>
      </p:grpSp>
      <p:grpSp>
        <p:nvGrpSpPr>
          <p:cNvPr id="30" name="Grup 74">
            <a:extLst>
              <a:ext uri="{FF2B5EF4-FFF2-40B4-BE49-F238E27FC236}">
                <a16:creationId xmlns:a16="http://schemas.microsoft.com/office/drawing/2014/main" id="{3B277C2C-725D-A770-9A2D-2CF9EEFEEAC0}"/>
              </a:ext>
            </a:extLst>
          </p:cNvPr>
          <p:cNvGrpSpPr/>
          <p:nvPr/>
        </p:nvGrpSpPr>
        <p:grpSpPr>
          <a:xfrm>
            <a:off x="3062169" y="1268760"/>
            <a:ext cx="5502409" cy="1138952"/>
            <a:chOff x="3779912" y="889800"/>
            <a:chExt cx="5502409" cy="1138952"/>
          </a:xfrm>
        </p:grpSpPr>
        <p:sp>
          <p:nvSpPr>
            <p:cNvPr id="31" name="Oval 30">
              <a:extLst>
                <a:ext uri="{FF2B5EF4-FFF2-40B4-BE49-F238E27FC236}">
                  <a16:creationId xmlns:a16="http://schemas.microsoft.com/office/drawing/2014/main" id="{2A0CB39C-0BE6-6213-5E4C-B95E79FC0F9F}"/>
                </a:ext>
              </a:extLst>
            </p:cNvPr>
            <p:cNvSpPr/>
            <p:nvPr/>
          </p:nvSpPr>
          <p:spPr>
            <a:xfrm>
              <a:off x="3779912" y="966192"/>
              <a:ext cx="167802" cy="16780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grpSp>
          <p:nvGrpSpPr>
            <p:cNvPr id="32" name="Grup 73">
              <a:extLst>
                <a:ext uri="{FF2B5EF4-FFF2-40B4-BE49-F238E27FC236}">
                  <a16:creationId xmlns:a16="http://schemas.microsoft.com/office/drawing/2014/main" id="{3CD7C974-30D5-765B-DEED-60DA55773B85}"/>
                </a:ext>
              </a:extLst>
            </p:cNvPr>
            <p:cNvGrpSpPr/>
            <p:nvPr/>
          </p:nvGrpSpPr>
          <p:grpSpPr>
            <a:xfrm>
              <a:off x="3943699" y="889800"/>
              <a:ext cx="5338622" cy="1138952"/>
              <a:chOff x="6313183" y="915702"/>
              <a:chExt cx="5338622" cy="1138952"/>
            </a:xfrm>
          </p:grpSpPr>
          <p:sp>
            <p:nvSpPr>
              <p:cNvPr id="33" name="TextBox 113">
                <a:extLst>
                  <a:ext uri="{FF2B5EF4-FFF2-40B4-BE49-F238E27FC236}">
                    <a16:creationId xmlns:a16="http://schemas.microsoft.com/office/drawing/2014/main" id="{BEC71B60-FAAF-7C43-1597-F8E385593DE8}"/>
                  </a:ext>
                </a:extLst>
              </p:cNvPr>
              <p:cNvSpPr txBox="1"/>
              <p:nvPr/>
            </p:nvSpPr>
            <p:spPr>
              <a:xfrm>
                <a:off x="6405092" y="1188563"/>
                <a:ext cx="4904015" cy="261610"/>
              </a:xfrm>
              <a:prstGeom prst="rect">
                <a:avLst/>
              </a:prstGeom>
              <a:noFill/>
            </p:spPr>
            <p:txBody>
              <a:bodyPr wrap="square" rtlCol="0">
                <a:spAutoFit/>
              </a:bodyPr>
              <a:lstStyle/>
              <a:p>
                <a:pPr fontAlgn="base"/>
                <a:r>
                  <a:rPr lang="en-US" sz="1100" dirty="0">
                    <a:latin typeface="Calibri" panose="020F0502020204030204" pitchFamily="34" charset="0"/>
                    <a:ea typeface="Times New Roman" panose="02020603050405020304" pitchFamily="18" charset="0"/>
                    <a:cs typeface="Calibri" panose="020F0502020204030204" pitchFamily="34" charset="0"/>
                  </a:rPr>
                  <a:t>- </a:t>
                </a:r>
                <a:r>
                  <a:rPr lang="en-US" sz="1100" dirty="0">
                    <a:latin typeface="Tahoma" panose="020B0604030504040204" pitchFamily="34" charset="0"/>
                    <a:ea typeface="Tahoma" panose="020B0604030504040204" pitchFamily="34" charset="0"/>
                    <a:cs typeface="Tahoma" panose="020B0604030504040204" pitchFamily="34" charset="0"/>
                  </a:rPr>
                  <a:t>Drain </a:t>
                </a:r>
                <a:r>
                  <a:rPr lang="en-US" sz="1100" dirty="0" err="1">
                    <a:latin typeface="Tahoma" panose="020B0604030504040204" pitchFamily="34" charset="0"/>
                    <a:ea typeface="Tahoma" panose="020B0604030504040204" pitchFamily="34" charset="0"/>
                    <a:cs typeface="Tahoma" panose="020B0604030504040204" pitchFamily="34" charset="0"/>
                  </a:rPr>
                  <a:t>Produk</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avtur</a:t>
                </a:r>
                <a:r>
                  <a:rPr lang="en-US" sz="1100" dirty="0">
                    <a:latin typeface="Tahoma" panose="020B0604030504040204" pitchFamily="34" charset="0"/>
                    <a:ea typeface="Tahoma" panose="020B0604030504040204" pitchFamily="34" charset="0"/>
                    <a:cs typeface="Tahoma" panose="020B0604030504040204" pitchFamily="34" charset="0"/>
                  </a:rPr>
                  <a:t> </a:t>
                </a:r>
                <a:endParaRPr lang="en-US" sz="1100" dirty="0">
                  <a:latin typeface="Calibri" panose="020F0502020204030204" pitchFamily="34" charset="0"/>
                  <a:ea typeface="Times New Roman" panose="02020603050405020304" pitchFamily="18" charset="0"/>
                  <a:cs typeface="Calibri" panose="020F0502020204030204" pitchFamily="34" charset="0"/>
                </a:endParaRPr>
              </a:p>
            </p:txBody>
          </p:sp>
          <p:sp>
            <p:nvSpPr>
              <p:cNvPr id="34" name="TextBox 120">
                <a:extLst>
                  <a:ext uri="{FF2B5EF4-FFF2-40B4-BE49-F238E27FC236}">
                    <a16:creationId xmlns:a16="http://schemas.microsoft.com/office/drawing/2014/main" id="{FBBC6C04-374F-AE1B-62FD-A1783A893C93}"/>
                  </a:ext>
                </a:extLst>
              </p:cNvPr>
              <p:cNvSpPr txBox="1"/>
              <p:nvPr/>
            </p:nvSpPr>
            <p:spPr>
              <a:xfrm>
                <a:off x="6313183" y="915702"/>
                <a:ext cx="2808782" cy="307777"/>
              </a:xfrm>
              <a:prstGeom prst="rect">
                <a:avLst/>
              </a:prstGeom>
              <a:noFill/>
            </p:spPr>
            <p:txBody>
              <a:bodyPr wrap="none" rtlCol="0">
                <a:spAutoFit/>
              </a:bodyPr>
              <a:lstStyle/>
              <a:p>
                <a:pPr defTabSz="685800"/>
                <a:r>
                  <a:rPr lang="en-US" sz="1400" b="1" dirty="0">
                    <a:latin typeface="Tahoma" panose="020B0604030504040204" pitchFamily="34" charset="0"/>
                    <a:ea typeface="Tahoma" panose="020B0604030504040204" pitchFamily="34" charset="0"/>
                    <a:cs typeface="Tahoma" panose="020B0604030504040204" pitchFamily="34" charset="0"/>
                  </a:rPr>
                  <a:t>Pek. Cleaning </a:t>
                </a:r>
                <a:r>
                  <a:rPr lang="en-US" sz="1400" b="1" dirty="0" err="1">
                    <a:latin typeface="Tahoma" panose="020B0604030504040204" pitchFamily="34" charset="0"/>
                    <a:ea typeface="Tahoma" panose="020B0604030504040204" pitchFamily="34" charset="0"/>
                    <a:cs typeface="Tahoma" panose="020B0604030504040204" pitchFamily="34" charset="0"/>
                  </a:rPr>
                  <a:t>Tangki</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b="1" dirty="0" err="1">
                    <a:latin typeface="Tahoma" panose="020B0604030504040204" pitchFamily="34" charset="0"/>
                    <a:ea typeface="Tahoma" panose="020B0604030504040204" pitchFamily="34" charset="0"/>
                    <a:cs typeface="Tahoma" panose="020B0604030504040204" pitchFamily="34" charset="0"/>
                  </a:rPr>
                  <a:t>Timbun</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sp>
            <p:nvSpPr>
              <p:cNvPr id="2" name="TextBox 113">
                <a:extLst>
                  <a:ext uri="{FF2B5EF4-FFF2-40B4-BE49-F238E27FC236}">
                    <a16:creationId xmlns:a16="http://schemas.microsoft.com/office/drawing/2014/main" id="{65408943-7076-2C9F-FC15-FDF38BBEFAD1}"/>
                  </a:ext>
                </a:extLst>
              </p:cNvPr>
              <p:cNvSpPr txBox="1"/>
              <p:nvPr/>
            </p:nvSpPr>
            <p:spPr>
              <a:xfrm>
                <a:off x="6416328" y="1468823"/>
                <a:ext cx="5235477" cy="261610"/>
              </a:xfrm>
              <a:prstGeom prst="rect">
                <a:avLst/>
              </a:prstGeom>
              <a:noFill/>
            </p:spPr>
            <p:txBody>
              <a:bodyPr wrap="square" rtlCol="0">
                <a:spAutoFit/>
              </a:bodyPr>
              <a:lstStyle/>
              <a:p>
                <a:pPr fontAlgn="base"/>
                <a:r>
                  <a:rPr lang="en-US" sz="1100" dirty="0">
                    <a:latin typeface="Calibri" panose="020F0502020204030204" pitchFamily="34" charset="0"/>
                    <a:ea typeface="Times New Roman" panose="02020603050405020304" pitchFamily="18" charset="0"/>
                    <a:cs typeface="Calibri" panose="020F050202020403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Pencucian</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Tangki</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Timbun</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menggunakan</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Produk</a:t>
                </a:r>
                <a:r>
                  <a:rPr lang="en-US" sz="1100" dirty="0">
                    <a:latin typeface="Tahoma" panose="020B0604030504040204" pitchFamily="34" charset="0"/>
                    <a:ea typeface="Tahoma" panose="020B0604030504040204" pitchFamily="34" charset="0"/>
                    <a:cs typeface="Tahoma" panose="020B060403050404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avtur</a:t>
                </a:r>
                <a:r>
                  <a:rPr lang="en-US" sz="1100" dirty="0">
                    <a:latin typeface="Tahoma" panose="020B0604030504040204" pitchFamily="34" charset="0"/>
                    <a:ea typeface="Tahoma" panose="020B0604030504040204" pitchFamily="34" charset="0"/>
                    <a:cs typeface="Tahoma" panose="020B0604030504040204" pitchFamily="34" charset="0"/>
                  </a:rPr>
                  <a:t> (by </a:t>
                </a:r>
                <a:r>
                  <a:rPr lang="en-US" sz="1100" dirty="0" err="1">
                    <a:latin typeface="Tahoma" panose="020B0604030504040204" pitchFamily="34" charset="0"/>
                    <a:ea typeface="Tahoma" panose="020B0604030504040204" pitchFamily="34" charset="0"/>
                    <a:cs typeface="Tahoma" panose="020B0604030504040204" pitchFamily="34" charset="0"/>
                  </a:rPr>
                  <a:t>pertemina</a:t>
                </a:r>
                <a:r>
                  <a:rPr lang="en-US" sz="1100" dirty="0">
                    <a:latin typeface="Tahoma" panose="020B0604030504040204" pitchFamily="34" charset="0"/>
                    <a:ea typeface="Tahoma" panose="020B0604030504040204" pitchFamily="34" charset="0"/>
                    <a:cs typeface="Tahoma" panose="020B0604030504040204" pitchFamily="34" charset="0"/>
                  </a:rPr>
                  <a:t>)</a:t>
                </a:r>
                <a:endParaRPr lang="en-US" sz="1100" dirty="0">
                  <a:latin typeface="Calibri" panose="020F0502020204030204" pitchFamily="34" charset="0"/>
                  <a:ea typeface="Times New Roman" panose="02020603050405020304" pitchFamily="18" charset="0"/>
                  <a:cs typeface="Calibri" panose="020F0502020204030204" pitchFamily="34" charset="0"/>
                </a:endParaRPr>
              </a:p>
            </p:txBody>
          </p:sp>
          <p:sp>
            <p:nvSpPr>
              <p:cNvPr id="3" name="TextBox 113">
                <a:extLst>
                  <a:ext uri="{FF2B5EF4-FFF2-40B4-BE49-F238E27FC236}">
                    <a16:creationId xmlns:a16="http://schemas.microsoft.com/office/drawing/2014/main" id="{60078B39-8802-51AE-4068-8DCD45CB8EE7}"/>
                  </a:ext>
                </a:extLst>
              </p:cNvPr>
              <p:cNvSpPr txBox="1"/>
              <p:nvPr/>
            </p:nvSpPr>
            <p:spPr>
              <a:xfrm>
                <a:off x="6416328" y="1783947"/>
                <a:ext cx="5235477" cy="261610"/>
              </a:xfrm>
              <a:prstGeom prst="rect">
                <a:avLst/>
              </a:prstGeom>
              <a:noFill/>
            </p:spPr>
            <p:txBody>
              <a:bodyPr wrap="square" rtlCol="0">
                <a:spAutoFit/>
              </a:bodyPr>
              <a:lstStyle/>
              <a:p>
                <a:pPr fontAlgn="base"/>
                <a:endParaRPr lang="en-US" sz="1100" dirty="0">
                  <a:latin typeface="Calibri" panose="020F0502020204030204" pitchFamily="34" charset="0"/>
                  <a:ea typeface="Times New Roman" panose="02020603050405020304" pitchFamily="18" charset="0"/>
                  <a:cs typeface="Calibri" panose="020F0502020204030204" pitchFamily="34" charset="0"/>
                </a:endParaRPr>
              </a:p>
            </p:txBody>
          </p:sp>
          <p:sp>
            <p:nvSpPr>
              <p:cNvPr id="4" name="TextBox 113">
                <a:extLst>
                  <a:ext uri="{FF2B5EF4-FFF2-40B4-BE49-F238E27FC236}">
                    <a16:creationId xmlns:a16="http://schemas.microsoft.com/office/drawing/2014/main" id="{ED79CAE1-6E39-FDA0-12F5-BA0AA8055F76}"/>
                  </a:ext>
                </a:extLst>
              </p:cNvPr>
              <p:cNvSpPr txBox="1"/>
              <p:nvPr/>
            </p:nvSpPr>
            <p:spPr>
              <a:xfrm>
                <a:off x="6416328" y="1793044"/>
                <a:ext cx="5235477" cy="261610"/>
              </a:xfrm>
              <a:prstGeom prst="rect">
                <a:avLst/>
              </a:prstGeom>
              <a:noFill/>
            </p:spPr>
            <p:txBody>
              <a:bodyPr wrap="square" rtlCol="0">
                <a:spAutoFit/>
              </a:bodyPr>
              <a:lstStyle/>
              <a:p>
                <a:pPr fontAlgn="base"/>
                <a:r>
                  <a:rPr lang="en-US" sz="1100" dirty="0">
                    <a:latin typeface="Calibri" panose="020F0502020204030204" pitchFamily="34" charset="0"/>
                    <a:ea typeface="Times New Roman" panose="02020603050405020304" pitchFamily="18" charset="0"/>
                    <a:cs typeface="Calibri" panose="020F0502020204030204" pitchFamily="34" charset="0"/>
                  </a:rPr>
                  <a:t>- </a:t>
                </a:r>
                <a:r>
                  <a:rPr lang="en-US" sz="1100" dirty="0" err="1">
                    <a:latin typeface="Tahoma" panose="020B0604030504040204" pitchFamily="34" charset="0"/>
                    <a:ea typeface="Tahoma" panose="020B0604030504040204" pitchFamily="34" charset="0"/>
                    <a:cs typeface="Tahoma" panose="020B0604030504040204" pitchFamily="34" charset="0"/>
                  </a:rPr>
                  <a:t>Pergantian</a:t>
                </a:r>
                <a:r>
                  <a:rPr lang="en-US" sz="1100" dirty="0">
                    <a:latin typeface="Tahoma" panose="020B0604030504040204" pitchFamily="34" charset="0"/>
                    <a:ea typeface="Tahoma" panose="020B0604030504040204" pitchFamily="34" charset="0"/>
                    <a:cs typeface="Tahoma" panose="020B0604030504040204" pitchFamily="34" charset="0"/>
                  </a:rPr>
                  <a:t> Spiral wound Gasket </a:t>
                </a:r>
                <a:endParaRPr lang="en-US" sz="1100" dirty="0">
                  <a:latin typeface="Calibri" panose="020F0502020204030204" pitchFamily="34" charset="0"/>
                  <a:ea typeface="Times New Roman" panose="02020603050405020304" pitchFamily="18" charset="0"/>
                  <a:cs typeface="Calibri" panose="020F0502020204030204" pitchFamily="34" charset="0"/>
                </a:endParaRPr>
              </a:p>
            </p:txBody>
          </p:sp>
        </p:grpSp>
      </p:grpSp>
      <p:grpSp>
        <p:nvGrpSpPr>
          <p:cNvPr id="35" name="Grup 76">
            <a:extLst>
              <a:ext uri="{FF2B5EF4-FFF2-40B4-BE49-F238E27FC236}">
                <a16:creationId xmlns:a16="http://schemas.microsoft.com/office/drawing/2014/main" id="{E51AF590-82CE-1820-5425-B92ACCA48DF7}"/>
              </a:ext>
            </a:extLst>
          </p:cNvPr>
          <p:cNvGrpSpPr/>
          <p:nvPr/>
        </p:nvGrpSpPr>
        <p:grpSpPr>
          <a:xfrm>
            <a:off x="4207822" y="3253359"/>
            <a:ext cx="8611554" cy="1880634"/>
            <a:chOff x="3821085" y="4142098"/>
            <a:chExt cx="4996109" cy="2903486"/>
          </a:xfrm>
        </p:grpSpPr>
        <p:sp>
          <p:nvSpPr>
            <p:cNvPr id="36" name="TextBox 66">
              <a:extLst>
                <a:ext uri="{FF2B5EF4-FFF2-40B4-BE49-F238E27FC236}">
                  <a16:creationId xmlns:a16="http://schemas.microsoft.com/office/drawing/2014/main" id="{5CFD442F-DB46-CEC0-7EB5-D8023F8EA437}"/>
                </a:ext>
              </a:extLst>
            </p:cNvPr>
            <p:cNvSpPr txBox="1"/>
            <p:nvPr/>
          </p:nvSpPr>
          <p:spPr>
            <a:xfrm>
              <a:off x="3954722" y="4492239"/>
              <a:ext cx="4862472" cy="2553345"/>
            </a:xfrm>
            <a:prstGeom prst="rect">
              <a:avLst/>
            </a:prstGeom>
            <a:noFill/>
          </p:spPr>
          <p:txBody>
            <a:bodyPr wrap="square" rtlCol="0">
              <a:spAutoFit/>
            </a:bodyPr>
            <a:lstStyle/>
            <a:p>
              <a:pPr marL="171450" indent="-171450" fontAlgn="base">
                <a:buFont typeface="Wingdings" panose="05000000000000000000" pitchFamily="2" charset="2"/>
                <a:buChar char="Ø"/>
              </a:pPr>
              <a:r>
                <a:rPr lang="en-US" sz="1200" dirty="0" err="1">
                  <a:latin typeface="Arial" panose="020B0604020202020204" pitchFamily="34" charset="0"/>
                  <a:ea typeface="Tahoma" panose="020B0604030504040204" pitchFamily="34" charset="0"/>
                  <a:cs typeface="Arial" panose="020B0604020202020204" pitchFamily="34" charset="0"/>
                </a:rPr>
                <a:t>Pergantian</a:t>
              </a:r>
              <a:r>
                <a:rPr lang="en-US" sz="1200" dirty="0">
                  <a:latin typeface="Arial" panose="020B0604020202020204" pitchFamily="34" charset="0"/>
                  <a:ea typeface="Tahoma" panose="020B0604030504040204" pitchFamily="34" charset="0"/>
                  <a:cs typeface="Arial" panose="020B0604020202020204" pitchFamily="34" charset="0"/>
                </a:rPr>
                <a:t> Spiral wound gasket </a:t>
              </a:r>
            </a:p>
            <a:p>
              <a:pPr marL="171450" indent="-171450" fontAlgn="base">
                <a:buFont typeface="Wingdings" panose="05000000000000000000" pitchFamily="2" charset="2"/>
                <a:buChar char="Ø"/>
              </a:pPr>
              <a:r>
                <a:rPr lang="en-US" sz="1200" dirty="0" err="1">
                  <a:latin typeface="Arial" panose="020B0604020202020204" pitchFamily="34" charset="0"/>
                  <a:ea typeface="Tahoma" panose="020B0604030504040204" pitchFamily="34" charset="0"/>
                  <a:cs typeface="Arial" panose="020B0604020202020204" pitchFamily="34" charset="0"/>
                </a:rPr>
                <a:t>Pembiongkaran</a:t>
              </a:r>
              <a:r>
                <a:rPr lang="en-US" sz="1200" dirty="0">
                  <a:latin typeface="Arial" panose="020B0604020202020204" pitchFamily="34" charset="0"/>
                  <a:ea typeface="Tahoma" panose="020B0604030504040204" pitchFamily="34" charset="0"/>
                  <a:cs typeface="Arial" panose="020B0604020202020204" pitchFamily="34" charset="0"/>
                </a:rPr>
                <a:t> 2 flange</a:t>
              </a:r>
            </a:p>
            <a:p>
              <a:pPr marL="171450" indent="-171450" fontAlgn="base">
                <a:buFont typeface="Wingdings" panose="05000000000000000000" pitchFamily="2" charset="2"/>
                <a:buChar char="Ø"/>
              </a:pPr>
              <a:r>
                <a:rPr lang="en-US" sz="1200" dirty="0" err="1">
                  <a:latin typeface="Arial" panose="020B0604020202020204" pitchFamily="34" charset="0"/>
                  <a:ea typeface="Tahoma" panose="020B0604030504040204" pitchFamily="34" charset="0"/>
                  <a:cs typeface="Arial" panose="020B0604020202020204" pitchFamily="34" charset="0"/>
                </a:rPr>
                <a:t>Penyetelan</a:t>
              </a:r>
              <a:r>
                <a:rPr lang="en-US" sz="1200" dirty="0">
                  <a:latin typeface="Arial" panose="020B0604020202020204" pitchFamily="34" charset="0"/>
                  <a:ea typeface="Tahoma" panose="020B0604030504040204" pitchFamily="34" charset="0"/>
                  <a:cs typeface="Arial" panose="020B0604020202020204" pitchFamily="34" charset="0"/>
                </a:rPr>
                <a:t> dan </a:t>
              </a:r>
              <a:r>
                <a:rPr lang="en-US" sz="1200" dirty="0" err="1">
                  <a:latin typeface="Arial" panose="020B0604020202020204" pitchFamily="34" charset="0"/>
                  <a:ea typeface="Tahoma" panose="020B0604030504040204" pitchFamily="34" charset="0"/>
                  <a:cs typeface="Arial" panose="020B0604020202020204" pitchFamily="34" charset="0"/>
                </a:rPr>
                <a:t>pemasangan</a:t>
              </a:r>
              <a:r>
                <a:rPr lang="en-US" sz="1200" dirty="0">
                  <a:latin typeface="Arial" panose="020B0604020202020204" pitchFamily="34" charset="0"/>
                  <a:ea typeface="Tahoma" panose="020B0604030504040204" pitchFamily="34" charset="0"/>
                  <a:cs typeface="Arial" panose="020B0604020202020204" pitchFamily="34" charset="0"/>
                </a:rPr>
                <a:t> </a:t>
              </a:r>
              <a:r>
                <a:rPr lang="en-US" sz="1200" dirty="0" err="1">
                  <a:latin typeface="Arial" panose="020B0604020202020204" pitchFamily="34" charset="0"/>
                  <a:ea typeface="Tahoma" panose="020B0604030504040204" pitchFamily="34" charset="0"/>
                  <a:cs typeface="Arial" panose="020B0604020202020204" pitchFamily="34" charset="0"/>
                </a:rPr>
                <a:t>kembali</a:t>
              </a:r>
              <a:r>
                <a:rPr lang="en-US" sz="1200" dirty="0">
                  <a:latin typeface="Arial" panose="020B0604020202020204" pitchFamily="34" charset="0"/>
                  <a:ea typeface="Tahoma" panose="020B0604030504040204" pitchFamily="34" charset="0"/>
                  <a:cs typeface="Arial" panose="020B0604020202020204" pitchFamily="34" charset="0"/>
                </a:rPr>
                <a:t> stud bolt</a:t>
              </a:r>
              <a:br>
                <a:rPr lang="en-US" sz="1200" dirty="0">
                  <a:latin typeface="Arial" panose="020B0604020202020204" pitchFamily="34" charset="0"/>
                  <a:ea typeface="Tahoma" panose="020B0604030504040204" pitchFamily="34" charset="0"/>
                  <a:cs typeface="Arial" panose="020B0604020202020204" pitchFamily="34" charset="0"/>
                </a:rPr>
              </a:br>
              <a:br>
                <a:rPr lang="en-US" sz="1200" dirty="0">
                  <a:latin typeface="Arial" panose="020B0604020202020204" pitchFamily="34" charset="0"/>
                  <a:ea typeface="Tahoma" panose="020B0604030504040204" pitchFamily="34" charset="0"/>
                  <a:cs typeface="Arial" panose="020B0604020202020204" pitchFamily="34" charset="0"/>
                </a:rPr>
              </a:br>
              <a:endParaRPr lang="en-US" sz="1200" dirty="0">
                <a:latin typeface="Arial" panose="020B0604020202020204" pitchFamily="34" charset="0"/>
                <a:ea typeface="Tahoma" panose="020B0604030504040204" pitchFamily="34" charset="0"/>
                <a:cs typeface="Arial" panose="020B0604020202020204" pitchFamily="34" charset="0"/>
              </a:endParaRPr>
            </a:p>
            <a:p>
              <a:pPr fontAlgn="base">
                <a:lnSpc>
                  <a:spcPct val="150000"/>
                </a:lnSpc>
              </a:pPr>
              <a:br>
                <a:rPr lang="en-US" sz="1100" dirty="0"/>
              </a:br>
              <a:endParaRPr lang="en-US" sz="1100" dirty="0">
                <a:latin typeface="Tahoma" panose="020B0604030504040204" pitchFamily="34" charset="0"/>
                <a:ea typeface="Tahoma" panose="020B0604030504040204" pitchFamily="34" charset="0"/>
                <a:cs typeface="Tahoma" panose="020B0604030504040204" pitchFamily="34" charset="0"/>
              </a:endParaRPr>
            </a:p>
          </p:txBody>
        </p:sp>
        <p:sp>
          <p:nvSpPr>
            <p:cNvPr id="37" name="TextBox 65">
              <a:extLst>
                <a:ext uri="{FF2B5EF4-FFF2-40B4-BE49-F238E27FC236}">
                  <a16:creationId xmlns:a16="http://schemas.microsoft.com/office/drawing/2014/main" id="{0A72BF61-441F-AE38-2048-B4D6E7F391E0}"/>
                </a:ext>
              </a:extLst>
            </p:cNvPr>
            <p:cNvSpPr txBox="1"/>
            <p:nvPr/>
          </p:nvSpPr>
          <p:spPr>
            <a:xfrm>
              <a:off x="3947715" y="4142098"/>
              <a:ext cx="1851823" cy="527801"/>
            </a:xfrm>
            <a:prstGeom prst="rect">
              <a:avLst/>
            </a:prstGeom>
            <a:noFill/>
          </p:spPr>
          <p:txBody>
            <a:bodyPr wrap="none" rtlCol="0">
              <a:spAutoFit/>
            </a:bodyPr>
            <a:lstStyle/>
            <a:p>
              <a:pPr defTabSz="685800"/>
              <a:r>
                <a:rPr lang="en-US" sz="1400" b="1" dirty="0">
                  <a:latin typeface="Tahoma" panose="020B0604030504040204" pitchFamily="34" charset="0"/>
                  <a:ea typeface="Tahoma" panose="020B0604030504040204" pitchFamily="34" charset="0"/>
                  <a:cs typeface="Tahoma" panose="020B0604030504040204" pitchFamily="34" charset="0"/>
                </a:rPr>
                <a:t>Pek. </a:t>
              </a:r>
              <a:r>
                <a:rPr lang="en-US" sz="1400" b="1" dirty="0" err="1">
                  <a:latin typeface="Tahoma" panose="020B0604030504040204" pitchFamily="34" charset="0"/>
                  <a:ea typeface="Tahoma" panose="020B0604030504040204" pitchFamily="34" charset="0"/>
                  <a:cs typeface="Tahoma" panose="020B0604030504040204" pitchFamily="34" charset="0"/>
                </a:rPr>
                <a:t>Perbaikan</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b="1" dirty="0" err="1">
                  <a:latin typeface="Tahoma" panose="020B0604030504040204" pitchFamily="34" charset="0"/>
                  <a:ea typeface="Tahoma" panose="020B0604030504040204" pitchFamily="34" charset="0"/>
                  <a:cs typeface="Tahoma" panose="020B0604030504040204" pitchFamily="34" charset="0"/>
                </a:rPr>
                <a:t>Acsessoris</a:t>
              </a:r>
              <a:r>
                <a:rPr lang="en-US" sz="1400" b="1" dirty="0">
                  <a:latin typeface="Tahoma" panose="020B0604030504040204" pitchFamily="34" charset="0"/>
                  <a:ea typeface="Tahoma" panose="020B0604030504040204" pitchFamily="34" charset="0"/>
                  <a:cs typeface="Tahoma" panose="020B0604030504040204" pitchFamily="34" charset="0"/>
                </a:rPr>
                <a:t> </a:t>
              </a:r>
              <a:r>
                <a:rPr lang="en-US" sz="1400" b="1" dirty="0" err="1">
                  <a:latin typeface="Tahoma" panose="020B0604030504040204" pitchFamily="34" charset="0"/>
                  <a:ea typeface="Tahoma" panose="020B0604030504040204" pitchFamily="34" charset="0"/>
                  <a:cs typeface="Tahoma" panose="020B0604030504040204" pitchFamily="34" charset="0"/>
                </a:rPr>
                <a:t>Tangki</a:t>
              </a:r>
              <a:endParaRPr lang="en-US" sz="1400" b="1" dirty="0">
                <a:latin typeface="Tahoma" panose="020B0604030504040204" pitchFamily="34" charset="0"/>
                <a:ea typeface="Tahoma" panose="020B0604030504040204" pitchFamily="34" charset="0"/>
                <a:cs typeface="Tahoma" panose="020B0604030504040204" pitchFamily="34" charset="0"/>
              </a:endParaRPr>
            </a:p>
          </p:txBody>
        </p:sp>
        <p:sp>
          <p:nvSpPr>
            <p:cNvPr id="38" name="Oval 37">
              <a:extLst>
                <a:ext uri="{FF2B5EF4-FFF2-40B4-BE49-F238E27FC236}">
                  <a16:creationId xmlns:a16="http://schemas.microsoft.com/office/drawing/2014/main" id="{878102EF-1E19-9130-8212-2DBB1A2AC290}"/>
                </a:ext>
              </a:extLst>
            </p:cNvPr>
            <p:cNvSpPr/>
            <p:nvPr/>
          </p:nvSpPr>
          <p:spPr>
            <a:xfrm>
              <a:off x="3821085" y="4227854"/>
              <a:ext cx="123592" cy="285613"/>
            </a:xfrm>
            <a:prstGeom prst="ellipse">
              <a:avLst/>
            </a:prstGeom>
            <a:solidFill>
              <a:srgbClr val="92D050"/>
            </a:solidFill>
            <a:ln>
              <a:noFill/>
            </a:ln>
          </p:spPr>
          <p:style>
            <a:lnRef idx="0">
              <a:scrgbClr r="0" g="0" b="0"/>
            </a:lnRef>
            <a:fillRef idx="0">
              <a:scrgbClr r="0" g="0" b="0"/>
            </a:fillRef>
            <a:effectRef idx="0">
              <a:scrgbClr r="0" g="0" b="0"/>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grpSp>
      <p:grpSp>
        <p:nvGrpSpPr>
          <p:cNvPr id="39" name="Group 38">
            <a:extLst>
              <a:ext uri="{FF2B5EF4-FFF2-40B4-BE49-F238E27FC236}">
                <a16:creationId xmlns:a16="http://schemas.microsoft.com/office/drawing/2014/main" id="{8CBBFD78-5654-AD01-E4CB-0DA7E41F3B80}"/>
              </a:ext>
            </a:extLst>
          </p:cNvPr>
          <p:cNvGrpSpPr/>
          <p:nvPr/>
        </p:nvGrpSpPr>
        <p:grpSpPr>
          <a:xfrm>
            <a:off x="409418" y="130127"/>
            <a:ext cx="5297838" cy="687155"/>
            <a:chOff x="1544574" y="576718"/>
            <a:chExt cx="5297838" cy="687155"/>
          </a:xfrm>
        </p:grpSpPr>
        <p:sp>
          <p:nvSpPr>
            <p:cNvPr id="40" name="Rectangle: Rounded Corners 39">
              <a:extLst>
                <a:ext uri="{FF2B5EF4-FFF2-40B4-BE49-F238E27FC236}">
                  <a16:creationId xmlns:a16="http://schemas.microsoft.com/office/drawing/2014/main" id="{191D3680-256E-3E94-ABE8-653F05B8E592}"/>
                </a:ext>
              </a:extLst>
            </p:cNvPr>
            <p:cNvSpPr/>
            <p:nvPr/>
          </p:nvSpPr>
          <p:spPr>
            <a:xfrm>
              <a:off x="1553717" y="576718"/>
              <a:ext cx="4904016" cy="687155"/>
            </a:xfrm>
            <a:prstGeom prst="round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3D7AFB71-498D-BBFE-A301-9F14722CA3C3}"/>
                </a:ext>
              </a:extLst>
            </p:cNvPr>
            <p:cNvSpPr/>
            <p:nvPr/>
          </p:nvSpPr>
          <p:spPr>
            <a:xfrm>
              <a:off x="5928012" y="576718"/>
              <a:ext cx="914400" cy="687155"/>
            </a:xfrm>
            <a:prstGeom prst="ellips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Connector 41">
              <a:extLst>
                <a:ext uri="{FF2B5EF4-FFF2-40B4-BE49-F238E27FC236}">
                  <a16:creationId xmlns:a16="http://schemas.microsoft.com/office/drawing/2014/main" id="{4032FB0D-EE8C-2AD1-53B0-B7E517E71687}"/>
                </a:ext>
              </a:extLst>
            </p:cNvPr>
            <p:cNvCxnSpPr/>
            <p:nvPr/>
          </p:nvCxnSpPr>
          <p:spPr>
            <a:xfrm>
              <a:off x="3917069" y="619238"/>
              <a:ext cx="0" cy="599263"/>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Oval 42">
              <a:extLst>
                <a:ext uri="{FF2B5EF4-FFF2-40B4-BE49-F238E27FC236}">
                  <a16:creationId xmlns:a16="http://schemas.microsoft.com/office/drawing/2014/main" id="{7D85EEF5-32AE-F7D7-9181-33407F7E0188}"/>
                </a:ext>
              </a:extLst>
            </p:cNvPr>
            <p:cNvSpPr/>
            <p:nvPr/>
          </p:nvSpPr>
          <p:spPr>
            <a:xfrm>
              <a:off x="6025836" y="647549"/>
              <a:ext cx="731520" cy="5497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3BDA81E7-409E-71D9-45C5-5B44F158260A}"/>
                </a:ext>
              </a:extLst>
            </p:cNvPr>
            <p:cNvSpPr txBox="1"/>
            <p:nvPr/>
          </p:nvSpPr>
          <p:spPr>
            <a:xfrm>
              <a:off x="1544574" y="706550"/>
              <a:ext cx="2390801" cy="400110"/>
            </a:xfrm>
            <a:prstGeom prst="rect">
              <a:avLst/>
            </a:prstGeom>
            <a:noFill/>
          </p:spPr>
          <p:txBody>
            <a:bodyPr wrap="square" rtlCol="0">
              <a:spAutoFit/>
            </a:bodyPr>
            <a:lstStyle/>
            <a:p>
              <a:pPr algn="ctr"/>
              <a:r>
                <a:rPr lang="id-ID" sz="2000" b="1" dirty="0">
                  <a:solidFill>
                    <a:schemeClr val="bg1"/>
                  </a:solidFill>
                </a:rPr>
                <a:t>PROSEDURE</a:t>
              </a:r>
              <a:endParaRPr lang="en-US" sz="2000" b="1" dirty="0">
                <a:solidFill>
                  <a:schemeClr val="bg1"/>
                </a:solidFill>
              </a:endParaRPr>
            </a:p>
          </p:txBody>
        </p:sp>
        <p:sp>
          <p:nvSpPr>
            <p:cNvPr id="45" name="TextBox 44">
              <a:extLst>
                <a:ext uri="{FF2B5EF4-FFF2-40B4-BE49-F238E27FC236}">
                  <a16:creationId xmlns:a16="http://schemas.microsoft.com/office/drawing/2014/main" id="{8779F762-5F61-A10A-9617-0C0C3BA65915}"/>
                </a:ext>
              </a:extLst>
            </p:cNvPr>
            <p:cNvSpPr txBox="1"/>
            <p:nvPr/>
          </p:nvSpPr>
          <p:spPr>
            <a:xfrm>
              <a:off x="6097067" y="612065"/>
              <a:ext cx="731520" cy="584775"/>
            </a:xfrm>
            <a:prstGeom prst="rect">
              <a:avLst/>
            </a:prstGeom>
            <a:noFill/>
          </p:spPr>
          <p:txBody>
            <a:bodyPr wrap="square" rtlCol="0">
              <a:spAutoFit/>
            </a:bodyPr>
            <a:lstStyle/>
            <a:p>
              <a:r>
                <a:rPr lang="en-US" sz="3200" dirty="0">
                  <a:solidFill>
                    <a:schemeClr val="accent2">
                      <a:lumMod val="50000"/>
                    </a:schemeClr>
                  </a:solidFill>
                </a:rPr>
                <a:t>03</a:t>
              </a:r>
            </a:p>
          </p:txBody>
        </p:sp>
      </p:grpSp>
      <p:grpSp>
        <p:nvGrpSpPr>
          <p:cNvPr id="46" name="Group 45">
            <a:extLst>
              <a:ext uri="{FF2B5EF4-FFF2-40B4-BE49-F238E27FC236}">
                <a16:creationId xmlns:a16="http://schemas.microsoft.com/office/drawing/2014/main" id="{C84BD2CD-E6A2-1E47-9906-AC137619DE09}"/>
              </a:ext>
            </a:extLst>
          </p:cNvPr>
          <p:cNvGrpSpPr/>
          <p:nvPr/>
        </p:nvGrpSpPr>
        <p:grpSpPr>
          <a:xfrm>
            <a:off x="-28280" y="564125"/>
            <a:ext cx="11421639" cy="5741470"/>
            <a:chOff x="-25810" y="558265"/>
            <a:chExt cx="11421639" cy="5741470"/>
          </a:xfrm>
        </p:grpSpPr>
        <p:sp>
          <p:nvSpPr>
            <p:cNvPr id="47" name="Rectangle 46">
              <a:extLst>
                <a:ext uri="{FF2B5EF4-FFF2-40B4-BE49-F238E27FC236}">
                  <a16:creationId xmlns:a16="http://schemas.microsoft.com/office/drawing/2014/main" id="{DE694D87-A720-1981-B7DC-124EF3424FCF}"/>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2DE01016-AF18-A5E7-88F3-5061571D50F5}"/>
                </a:ext>
              </a:extLst>
            </p:cNvPr>
            <p:cNvGrpSpPr/>
            <p:nvPr/>
          </p:nvGrpSpPr>
          <p:grpSpPr>
            <a:xfrm>
              <a:off x="-25810" y="567070"/>
              <a:ext cx="543980" cy="5732665"/>
              <a:chOff x="-62386" y="567070"/>
              <a:chExt cx="543980" cy="5732665"/>
            </a:xfrm>
          </p:grpSpPr>
          <p:sp>
            <p:nvSpPr>
              <p:cNvPr id="50" name="Oval 49">
                <a:extLst>
                  <a:ext uri="{FF2B5EF4-FFF2-40B4-BE49-F238E27FC236}">
                    <a16:creationId xmlns:a16="http://schemas.microsoft.com/office/drawing/2014/main" id="{21A87685-6F6D-F379-FC95-A6C54AAA1BC7}"/>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Top Corners Snipped 50">
                <a:extLst>
                  <a:ext uri="{FF2B5EF4-FFF2-40B4-BE49-F238E27FC236}">
                    <a16:creationId xmlns:a16="http://schemas.microsoft.com/office/drawing/2014/main" id="{036ACC47-1AB3-EF2A-ED56-D777D9E6A879}"/>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extBox 51">
                <a:extLst>
                  <a:ext uri="{FF2B5EF4-FFF2-40B4-BE49-F238E27FC236}">
                    <a16:creationId xmlns:a16="http://schemas.microsoft.com/office/drawing/2014/main" id="{85203B43-E994-8FB8-061E-BDF2B18102E6}"/>
                  </a:ext>
                </a:extLst>
              </p:cNvPr>
              <p:cNvSpPr txBox="1"/>
              <p:nvPr/>
            </p:nvSpPr>
            <p:spPr>
              <a:xfrm rot="16200000">
                <a:off x="-1204195" y="3249229"/>
                <a:ext cx="2652950"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58" name="Straight Connector 57">
                <a:extLst>
                  <a:ext uri="{FF2B5EF4-FFF2-40B4-BE49-F238E27FC236}">
                    <a16:creationId xmlns:a16="http://schemas.microsoft.com/office/drawing/2014/main" id="{7FFB51B4-8EBF-1DFE-7AE9-74CB86F91FAC}"/>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A2C4AB5D-9D9D-7367-8754-793F3931A37F}"/>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9" name="Group 58">
            <a:extLst>
              <a:ext uri="{FF2B5EF4-FFF2-40B4-BE49-F238E27FC236}">
                <a16:creationId xmlns:a16="http://schemas.microsoft.com/office/drawing/2014/main" id="{D03566EF-E8C2-3E47-DA52-DA9C4082895A}"/>
              </a:ext>
            </a:extLst>
          </p:cNvPr>
          <p:cNvGrpSpPr/>
          <p:nvPr/>
        </p:nvGrpSpPr>
        <p:grpSpPr>
          <a:xfrm>
            <a:off x="269614" y="574040"/>
            <a:ext cx="11421639" cy="5741470"/>
            <a:chOff x="-25810" y="558265"/>
            <a:chExt cx="11421639" cy="5741470"/>
          </a:xfrm>
        </p:grpSpPr>
        <p:sp>
          <p:nvSpPr>
            <p:cNvPr id="60" name="Rectangle 59">
              <a:extLst>
                <a:ext uri="{FF2B5EF4-FFF2-40B4-BE49-F238E27FC236}">
                  <a16:creationId xmlns:a16="http://schemas.microsoft.com/office/drawing/2014/main" id="{FD257D32-5A01-03F0-A601-8EABB40AB0A5}"/>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1" name="Group 60">
              <a:extLst>
                <a:ext uri="{FF2B5EF4-FFF2-40B4-BE49-F238E27FC236}">
                  <a16:creationId xmlns:a16="http://schemas.microsoft.com/office/drawing/2014/main" id="{7903F391-E824-E188-09C9-9100564C4023}"/>
                </a:ext>
              </a:extLst>
            </p:cNvPr>
            <p:cNvGrpSpPr/>
            <p:nvPr/>
          </p:nvGrpSpPr>
          <p:grpSpPr>
            <a:xfrm>
              <a:off x="-25810" y="567070"/>
              <a:ext cx="543980" cy="5732665"/>
              <a:chOff x="-62386" y="567070"/>
              <a:chExt cx="543980" cy="5732665"/>
            </a:xfrm>
          </p:grpSpPr>
          <p:sp>
            <p:nvSpPr>
              <p:cNvPr id="63" name="Oval 62">
                <a:extLst>
                  <a:ext uri="{FF2B5EF4-FFF2-40B4-BE49-F238E27FC236}">
                    <a16:creationId xmlns:a16="http://schemas.microsoft.com/office/drawing/2014/main" id="{6942E175-8601-AFB6-20D4-CB4E6FF0D5C2}"/>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Rectangle: Top Corners Snipped 63">
                <a:extLst>
                  <a:ext uri="{FF2B5EF4-FFF2-40B4-BE49-F238E27FC236}">
                    <a16:creationId xmlns:a16="http://schemas.microsoft.com/office/drawing/2014/main" id="{7B9412C9-8235-6A17-1613-7EA6BEF505A9}"/>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extBox 64">
                <a:extLst>
                  <a:ext uri="{FF2B5EF4-FFF2-40B4-BE49-F238E27FC236}">
                    <a16:creationId xmlns:a16="http://schemas.microsoft.com/office/drawing/2014/main" id="{84D30417-EDE6-0EA9-489A-FAE54BF6BC5B}"/>
                  </a:ext>
                </a:extLst>
              </p:cNvPr>
              <p:cNvSpPr txBox="1"/>
              <p:nvPr/>
            </p:nvSpPr>
            <p:spPr>
              <a:xfrm rot="16200000">
                <a:off x="-991287" y="3248777"/>
                <a:ext cx="2227134"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66" name="Straight Connector 65">
                <a:extLst>
                  <a:ext uri="{FF2B5EF4-FFF2-40B4-BE49-F238E27FC236}">
                    <a16:creationId xmlns:a16="http://schemas.microsoft.com/office/drawing/2014/main" id="{BF966281-70BD-6583-245D-7F6A874C2B47}"/>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62" name="Rectangle 61">
              <a:extLst>
                <a:ext uri="{FF2B5EF4-FFF2-40B4-BE49-F238E27FC236}">
                  <a16:creationId xmlns:a16="http://schemas.microsoft.com/office/drawing/2014/main" id="{9A8A7B7F-2446-6C50-D187-017459ED6635}"/>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4" name="Grup 74">
            <a:extLst>
              <a:ext uri="{FF2B5EF4-FFF2-40B4-BE49-F238E27FC236}">
                <a16:creationId xmlns:a16="http://schemas.microsoft.com/office/drawing/2014/main" id="{C27864F3-4E51-EBA9-30F3-BA32334BA135}"/>
              </a:ext>
            </a:extLst>
          </p:cNvPr>
          <p:cNvGrpSpPr/>
          <p:nvPr/>
        </p:nvGrpSpPr>
        <p:grpSpPr>
          <a:xfrm>
            <a:off x="3274976" y="4682108"/>
            <a:ext cx="5502409" cy="1129855"/>
            <a:chOff x="3779912" y="889800"/>
            <a:chExt cx="5502409" cy="1129855"/>
          </a:xfrm>
        </p:grpSpPr>
        <p:sp>
          <p:nvSpPr>
            <p:cNvPr id="53" name="Oval 52">
              <a:extLst>
                <a:ext uri="{FF2B5EF4-FFF2-40B4-BE49-F238E27FC236}">
                  <a16:creationId xmlns:a16="http://schemas.microsoft.com/office/drawing/2014/main" id="{9FE18577-E309-45FC-1F21-22A0470F08F9}"/>
                </a:ext>
              </a:extLst>
            </p:cNvPr>
            <p:cNvSpPr/>
            <p:nvPr/>
          </p:nvSpPr>
          <p:spPr>
            <a:xfrm>
              <a:off x="3779912" y="966192"/>
              <a:ext cx="167802" cy="167802"/>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panose="020F0502020204030204"/>
              </a:endParaRPr>
            </a:p>
          </p:txBody>
        </p:sp>
        <p:grpSp>
          <p:nvGrpSpPr>
            <p:cNvPr id="54" name="Grup 73">
              <a:extLst>
                <a:ext uri="{FF2B5EF4-FFF2-40B4-BE49-F238E27FC236}">
                  <a16:creationId xmlns:a16="http://schemas.microsoft.com/office/drawing/2014/main" id="{C4AA0D9D-7F36-E464-2A59-8E37847E0F27}"/>
                </a:ext>
              </a:extLst>
            </p:cNvPr>
            <p:cNvGrpSpPr/>
            <p:nvPr/>
          </p:nvGrpSpPr>
          <p:grpSpPr>
            <a:xfrm>
              <a:off x="3943699" y="889800"/>
              <a:ext cx="5338622" cy="1129855"/>
              <a:chOff x="6313183" y="915702"/>
              <a:chExt cx="5338622" cy="1129855"/>
            </a:xfrm>
          </p:grpSpPr>
          <p:sp>
            <p:nvSpPr>
              <p:cNvPr id="55" name="TextBox 113">
                <a:extLst>
                  <a:ext uri="{FF2B5EF4-FFF2-40B4-BE49-F238E27FC236}">
                    <a16:creationId xmlns:a16="http://schemas.microsoft.com/office/drawing/2014/main" id="{3E46624F-8909-F535-A9DC-911E1A931C20}"/>
                  </a:ext>
                </a:extLst>
              </p:cNvPr>
              <p:cNvSpPr txBox="1"/>
              <p:nvPr/>
            </p:nvSpPr>
            <p:spPr>
              <a:xfrm>
                <a:off x="6405092" y="1188563"/>
                <a:ext cx="4904015" cy="261610"/>
              </a:xfrm>
              <a:prstGeom prst="rect">
                <a:avLst/>
              </a:prstGeom>
              <a:noFill/>
            </p:spPr>
            <p:txBody>
              <a:bodyPr wrap="square" rtlCol="0">
                <a:spAutoFit/>
              </a:bodyPr>
              <a:lstStyle/>
              <a:p>
                <a:pPr fontAlgn="base"/>
                <a:r>
                  <a:rPr lang="en-US" sz="1100" dirty="0">
                    <a:latin typeface="Calibri" panose="020F0502020204030204" pitchFamily="34" charset="0"/>
                    <a:ea typeface="Times New Roman" panose="02020603050405020304" pitchFamily="18" charset="0"/>
                    <a:cs typeface="Calibri" panose="020F0502020204030204" pitchFamily="34" charset="0"/>
                  </a:rPr>
                  <a:t>Top coat 50 mikron</a:t>
                </a:r>
              </a:p>
            </p:txBody>
          </p:sp>
          <p:sp>
            <p:nvSpPr>
              <p:cNvPr id="56" name="TextBox 120">
                <a:extLst>
                  <a:ext uri="{FF2B5EF4-FFF2-40B4-BE49-F238E27FC236}">
                    <a16:creationId xmlns:a16="http://schemas.microsoft.com/office/drawing/2014/main" id="{E973307E-4ADA-12A0-59E5-707CCF3FA32C}"/>
                  </a:ext>
                </a:extLst>
              </p:cNvPr>
              <p:cNvSpPr txBox="1"/>
              <p:nvPr/>
            </p:nvSpPr>
            <p:spPr>
              <a:xfrm>
                <a:off x="6313183" y="915702"/>
                <a:ext cx="1446230" cy="307777"/>
              </a:xfrm>
              <a:prstGeom prst="rect">
                <a:avLst/>
              </a:prstGeom>
              <a:noFill/>
            </p:spPr>
            <p:txBody>
              <a:bodyPr wrap="none" rtlCol="0">
                <a:spAutoFit/>
              </a:bodyPr>
              <a:lstStyle/>
              <a:p>
                <a:pPr defTabSz="685800"/>
                <a:r>
                  <a:rPr lang="en-US" sz="1400" b="1" dirty="0">
                    <a:latin typeface="Tahoma" panose="020B0604030504040204" pitchFamily="34" charset="0"/>
                    <a:ea typeface="Tahoma" panose="020B0604030504040204" pitchFamily="34" charset="0"/>
                    <a:cs typeface="Tahoma" panose="020B0604030504040204" pitchFamily="34" charset="0"/>
                  </a:rPr>
                  <a:t>Pek. Finishing</a:t>
                </a:r>
              </a:p>
            </p:txBody>
          </p:sp>
          <p:sp>
            <p:nvSpPr>
              <p:cNvPr id="67" name="TextBox 113">
                <a:extLst>
                  <a:ext uri="{FF2B5EF4-FFF2-40B4-BE49-F238E27FC236}">
                    <a16:creationId xmlns:a16="http://schemas.microsoft.com/office/drawing/2014/main" id="{C9F39C30-2BEA-FD33-930B-5C809361CB14}"/>
                  </a:ext>
                </a:extLst>
              </p:cNvPr>
              <p:cNvSpPr txBox="1"/>
              <p:nvPr/>
            </p:nvSpPr>
            <p:spPr>
              <a:xfrm>
                <a:off x="6416328" y="1783947"/>
                <a:ext cx="5235477" cy="261610"/>
              </a:xfrm>
              <a:prstGeom prst="rect">
                <a:avLst/>
              </a:prstGeom>
              <a:noFill/>
            </p:spPr>
            <p:txBody>
              <a:bodyPr wrap="square" rtlCol="0">
                <a:spAutoFit/>
              </a:bodyPr>
              <a:lstStyle/>
              <a:p>
                <a:pPr fontAlgn="base"/>
                <a:endParaRPr lang="en-US" sz="1100" dirty="0">
                  <a:latin typeface="Calibri" panose="020F0502020204030204" pitchFamily="34" charset="0"/>
                  <a:ea typeface="Times New Roman" panose="02020603050405020304" pitchFamily="18" charset="0"/>
                  <a:cs typeface="Calibri" panose="020F0502020204030204" pitchFamily="34" charset="0"/>
                </a:endParaRPr>
              </a:p>
            </p:txBody>
          </p:sp>
        </p:grpSp>
      </p:grpSp>
    </p:spTree>
    <p:extLst>
      <p:ext uri="{BB962C8B-B14F-4D97-AF65-F5344CB8AC3E}">
        <p14:creationId xmlns:p14="http://schemas.microsoft.com/office/powerpoint/2010/main" val="2790028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54BC2-71A9-BDCA-33DA-98403C96699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FEB7E7F-E938-B31A-E99D-C8E87D50CF25}"/>
              </a:ext>
            </a:extLst>
          </p:cNvPr>
          <p:cNvGrpSpPr/>
          <p:nvPr/>
        </p:nvGrpSpPr>
        <p:grpSpPr>
          <a:xfrm>
            <a:off x="-3363" y="528030"/>
            <a:ext cx="11421639" cy="5741470"/>
            <a:chOff x="-25810" y="558265"/>
            <a:chExt cx="11421639" cy="5741470"/>
          </a:xfrm>
        </p:grpSpPr>
        <p:sp>
          <p:nvSpPr>
            <p:cNvPr id="5" name="Rectangle 4">
              <a:extLst>
                <a:ext uri="{FF2B5EF4-FFF2-40B4-BE49-F238E27FC236}">
                  <a16:creationId xmlns:a16="http://schemas.microsoft.com/office/drawing/2014/main" id="{F6037DF5-8F37-9957-F4CC-896E3AA4AEEA}"/>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9C68BA1-B507-1259-8626-2675CFC27FE4}"/>
                </a:ext>
              </a:extLst>
            </p:cNvPr>
            <p:cNvGrpSpPr/>
            <p:nvPr/>
          </p:nvGrpSpPr>
          <p:grpSpPr>
            <a:xfrm>
              <a:off x="-25810" y="567070"/>
              <a:ext cx="543980" cy="5732665"/>
              <a:chOff x="-62386" y="567070"/>
              <a:chExt cx="543980" cy="5732665"/>
            </a:xfrm>
          </p:grpSpPr>
          <p:sp>
            <p:nvSpPr>
              <p:cNvPr id="8" name="Oval 7">
                <a:extLst>
                  <a:ext uri="{FF2B5EF4-FFF2-40B4-BE49-F238E27FC236}">
                    <a16:creationId xmlns:a16="http://schemas.microsoft.com/office/drawing/2014/main" id="{EA60E850-84E1-1D26-2CD4-B4E1B62A15E6}"/>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Top Corners Snipped 8">
                <a:extLst>
                  <a:ext uri="{FF2B5EF4-FFF2-40B4-BE49-F238E27FC236}">
                    <a16:creationId xmlns:a16="http://schemas.microsoft.com/office/drawing/2014/main" id="{E5D0B895-3DAB-62EA-BE86-8872D9BB417D}"/>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24459702-8A41-9ECF-E387-6273F3B9810A}"/>
                  </a:ext>
                </a:extLst>
              </p:cNvPr>
              <p:cNvSpPr txBox="1"/>
              <p:nvPr/>
            </p:nvSpPr>
            <p:spPr>
              <a:xfrm rot="16200000">
                <a:off x="-1182338" y="3238067"/>
                <a:ext cx="2609235"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11" name="Straight Connector 10">
                <a:extLst>
                  <a:ext uri="{FF2B5EF4-FFF2-40B4-BE49-F238E27FC236}">
                    <a16:creationId xmlns:a16="http://schemas.microsoft.com/office/drawing/2014/main" id="{5E3E110A-3EA5-1FC7-0986-088AAAD934A7}"/>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683FCAB4-8D07-2BAA-F066-501F71EEC3A6}"/>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11">
            <a:extLst>
              <a:ext uri="{FF2B5EF4-FFF2-40B4-BE49-F238E27FC236}">
                <a16:creationId xmlns:a16="http://schemas.microsoft.com/office/drawing/2014/main" id="{23E75B0E-4D10-8EAF-D6CB-A77F92326574}"/>
              </a:ext>
            </a:extLst>
          </p:cNvPr>
          <p:cNvGrpSpPr/>
          <p:nvPr/>
        </p:nvGrpSpPr>
        <p:grpSpPr>
          <a:xfrm>
            <a:off x="269614" y="574040"/>
            <a:ext cx="11421639" cy="5741470"/>
            <a:chOff x="-25810" y="558265"/>
            <a:chExt cx="11421639" cy="5741470"/>
          </a:xfrm>
        </p:grpSpPr>
        <p:sp>
          <p:nvSpPr>
            <p:cNvPr id="13" name="Rectangle 12">
              <a:extLst>
                <a:ext uri="{FF2B5EF4-FFF2-40B4-BE49-F238E27FC236}">
                  <a16:creationId xmlns:a16="http://schemas.microsoft.com/office/drawing/2014/main" id="{6E58519F-5D5A-4DEF-8F12-6474BFDE3960}"/>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50970FE5-B206-2B69-0A36-64316674138B}"/>
                </a:ext>
              </a:extLst>
            </p:cNvPr>
            <p:cNvGrpSpPr/>
            <p:nvPr/>
          </p:nvGrpSpPr>
          <p:grpSpPr>
            <a:xfrm>
              <a:off x="-25810" y="567070"/>
              <a:ext cx="543980" cy="5732665"/>
              <a:chOff x="-62386" y="567070"/>
              <a:chExt cx="543980" cy="5732665"/>
            </a:xfrm>
          </p:grpSpPr>
          <p:sp>
            <p:nvSpPr>
              <p:cNvPr id="16" name="Oval 15">
                <a:extLst>
                  <a:ext uri="{FF2B5EF4-FFF2-40B4-BE49-F238E27FC236}">
                    <a16:creationId xmlns:a16="http://schemas.microsoft.com/office/drawing/2014/main" id="{B370DEDC-807E-6CD1-F1A0-D55759E059E6}"/>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Top Corners Snipped 16">
                <a:extLst>
                  <a:ext uri="{FF2B5EF4-FFF2-40B4-BE49-F238E27FC236}">
                    <a16:creationId xmlns:a16="http://schemas.microsoft.com/office/drawing/2014/main" id="{EBB803E4-A1ED-74C3-B284-E1A970928686}"/>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CC41E236-86E8-2E99-A488-AD8ECECAA4AC}"/>
                  </a:ext>
                </a:extLst>
              </p:cNvPr>
              <p:cNvSpPr txBox="1"/>
              <p:nvPr/>
            </p:nvSpPr>
            <p:spPr>
              <a:xfrm rot="16200000">
                <a:off x="-947568" y="324423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19" name="Straight Connector 18">
                <a:extLst>
                  <a:ext uri="{FF2B5EF4-FFF2-40B4-BE49-F238E27FC236}">
                    <a16:creationId xmlns:a16="http://schemas.microsoft.com/office/drawing/2014/main" id="{9DC37CD0-8D86-4FE5-C61C-B39318C6EBE8}"/>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94A856D0-DFEF-B052-0213-556C840FBD9D}"/>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 name="Google Shape;1957;p41">
            <a:extLst>
              <a:ext uri="{FF2B5EF4-FFF2-40B4-BE49-F238E27FC236}">
                <a16:creationId xmlns:a16="http://schemas.microsoft.com/office/drawing/2014/main" id="{1AC33330-6C1B-8A3F-F578-E9661BD03BE6}"/>
              </a:ext>
            </a:extLst>
          </p:cNvPr>
          <p:cNvSpPr txBox="1"/>
          <p:nvPr/>
        </p:nvSpPr>
        <p:spPr>
          <a:xfrm>
            <a:off x="894939" y="615451"/>
            <a:ext cx="4623702" cy="455700"/>
          </a:xfrm>
          <a:prstGeom prst="rect">
            <a:avLst/>
          </a:prstGeom>
          <a:noFill/>
          <a:ln>
            <a:noFill/>
          </a:ln>
        </p:spPr>
        <p:txBody>
          <a:bodyPr spcFirstLastPara="1" wrap="square" lIns="91425" tIns="91425" rIns="91425" bIns="91425" anchor="ctr" anchorCtr="0">
            <a:noAutofit/>
          </a:bodyPr>
          <a:lstStyle/>
          <a:p>
            <a:pPr marL="342900" indent="-342900" defTabSz="685800">
              <a:buFont typeface="Wingdings" panose="05000000000000000000" pitchFamily="2" charset="2"/>
              <a:buChar char="v"/>
            </a:pPr>
            <a:r>
              <a:rPr lang="en-US" sz="2000" b="1" dirty="0">
                <a:solidFill>
                  <a:srgbClr val="FF0000"/>
                </a:solidFill>
              </a:rPr>
              <a:t>PEKERJAAN CLEANING TANGKI</a:t>
            </a:r>
          </a:p>
        </p:txBody>
      </p:sp>
      <p:sp>
        <p:nvSpPr>
          <p:cNvPr id="23" name="TextBox 81">
            <a:extLst>
              <a:ext uri="{FF2B5EF4-FFF2-40B4-BE49-F238E27FC236}">
                <a16:creationId xmlns:a16="http://schemas.microsoft.com/office/drawing/2014/main" id="{FBCC5F14-AD86-51D0-8A59-F3E51091A5F3}"/>
              </a:ext>
            </a:extLst>
          </p:cNvPr>
          <p:cNvSpPr txBox="1"/>
          <p:nvPr/>
        </p:nvSpPr>
        <p:spPr>
          <a:xfrm>
            <a:off x="810248" y="1264371"/>
            <a:ext cx="10835286" cy="4616648"/>
          </a:xfrm>
          <a:prstGeom prst="rect">
            <a:avLst/>
          </a:prstGeom>
          <a:noFill/>
        </p:spPr>
        <p:txBody>
          <a:bodyPr wrap="square" rtlCol="0">
            <a:spAutoFit/>
          </a:bodyPr>
          <a:lstStyle/>
          <a:p>
            <a:r>
              <a:rPr lang="en-US" sz="1400" b="1" dirty="0">
                <a:latin typeface="Tahoma" panose="020B0604030504040204" pitchFamily="34" charset="0"/>
                <a:ea typeface="Tahoma" panose="020B0604030504040204" pitchFamily="34" charset="0"/>
                <a:cs typeface="Tahoma" panose="020B0604030504040204" pitchFamily="34" charset="0"/>
              </a:rPr>
              <a:t>	</a:t>
            </a:r>
            <a:r>
              <a:rPr lang="id-ID" dirty="0"/>
              <a:t>Sebelum dilakukan  tank cleaning/pembersihan  dalam tangki,pastikan  kondisi dalam tangki sudah bebas dari gas beracun</a:t>
            </a:r>
            <a:r>
              <a:rPr lang="en-US" dirty="0"/>
              <a:t> </a:t>
            </a:r>
            <a:r>
              <a:rPr lang="id-ID" dirty="0"/>
              <a:t>H2S atau gas free</a:t>
            </a:r>
            <a:r>
              <a:rPr lang="en-US" dirty="0"/>
              <a:t>, </a:t>
            </a:r>
            <a:r>
              <a:rPr lang="en-US" dirty="0" err="1"/>
              <a:t>Gunakan</a:t>
            </a:r>
            <a:r>
              <a:rPr lang="en-US" dirty="0"/>
              <a:t> Alat </a:t>
            </a:r>
            <a:r>
              <a:rPr lang="en-US" dirty="0" err="1"/>
              <a:t>pelindung</a:t>
            </a:r>
            <a:r>
              <a:rPr lang="en-US" dirty="0"/>
              <a:t> </a:t>
            </a:r>
            <a:r>
              <a:rPr lang="en-US" dirty="0" err="1"/>
              <a:t>diri</a:t>
            </a:r>
            <a:r>
              <a:rPr lang="en-US" dirty="0"/>
              <a:t>  dan </a:t>
            </a:r>
            <a:r>
              <a:rPr lang="en-US" dirty="0" err="1"/>
              <a:t>alat</a:t>
            </a:r>
            <a:r>
              <a:rPr lang="en-US" dirty="0"/>
              <a:t> </a:t>
            </a:r>
            <a:r>
              <a:rPr lang="en-US" dirty="0" err="1"/>
              <a:t>kerja</a:t>
            </a:r>
            <a:r>
              <a:rPr lang="en-US" dirty="0"/>
              <a:t> yang </a:t>
            </a:r>
            <a:r>
              <a:rPr lang="en-US" dirty="0" err="1"/>
              <a:t>sesuai</a:t>
            </a:r>
            <a:r>
              <a:rPr lang="en-US" dirty="0"/>
              <a:t> </a:t>
            </a:r>
            <a:r>
              <a:rPr lang="en-US" dirty="0" err="1"/>
              <a:t>seperti</a:t>
            </a:r>
            <a:r>
              <a:rPr lang="en-US" dirty="0"/>
              <a:t> coverall, helm, </a:t>
            </a:r>
            <a:r>
              <a:rPr lang="en-US" dirty="0" err="1"/>
              <a:t>sarung</a:t>
            </a:r>
            <a:r>
              <a:rPr lang="en-US" dirty="0"/>
              <a:t> </a:t>
            </a:r>
            <a:r>
              <a:rPr lang="en-US" dirty="0" err="1"/>
              <a:t>tangan</a:t>
            </a:r>
            <a:r>
              <a:rPr lang="en-US" dirty="0"/>
              <a:t>, Sepatu safety, masker dan pasang blower </a:t>
            </a:r>
            <a:r>
              <a:rPr lang="en-US" dirty="0" err="1"/>
              <a:t>untuk</a:t>
            </a:r>
            <a:r>
              <a:rPr lang="en-US" dirty="0"/>
              <a:t> </a:t>
            </a:r>
            <a:r>
              <a:rPr lang="en-US" dirty="0" err="1"/>
              <a:t>membantu</a:t>
            </a:r>
            <a:r>
              <a:rPr lang="en-US" dirty="0"/>
              <a:t> </a:t>
            </a:r>
            <a:r>
              <a:rPr lang="en-US" dirty="0" err="1"/>
              <a:t>sirkulasi</a:t>
            </a:r>
            <a:r>
              <a:rPr lang="en-US" dirty="0"/>
              <a:t> </a:t>
            </a:r>
            <a:r>
              <a:rPr lang="en-US" dirty="0" err="1"/>
              <a:t>udara</a:t>
            </a:r>
            <a:r>
              <a:rPr lang="en-US" dirty="0"/>
              <a:t> </a:t>
            </a:r>
            <a:r>
              <a:rPr lang="en-US" dirty="0" err="1"/>
              <a:t>didalam</a:t>
            </a:r>
            <a:r>
              <a:rPr lang="en-US" dirty="0"/>
              <a:t> </a:t>
            </a:r>
            <a:r>
              <a:rPr lang="en-US" dirty="0" err="1"/>
              <a:t>tangki</a:t>
            </a:r>
            <a:r>
              <a:rPr lang="en-US" dirty="0"/>
              <a:t>. </a:t>
            </a:r>
            <a:r>
              <a:rPr lang="en-US" dirty="0" err="1"/>
              <a:t>Pastikan</a:t>
            </a:r>
            <a:r>
              <a:rPr lang="en-US" dirty="0"/>
              <a:t> </a:t>
            </a:r>
            <a:r>
              <a:rPr lang="en-US" dirty="0" err="1"/>
              <a:t>seluruh</a:t>
            </a:r>
            <a:r>
              <a:rPr lang="en-US" dirty="0"/>
              <a:t> system </a:t>
            </a:r>
            <a:r>
              <a:rPr lang="en-US" dirty="0" err="1"/>
              <a:t>perpipaan</a:t>
            </a:r>
            <a:r>
              <a:rPr lang="en-US" dirty="0"/>
              <a:t> </a:t>
            </a:r>
            <a:r>
              <a:rPr lang="en-US" dirty="0" err="1"/>
              <a:t>sudah</a:t>
            </a:r>
            <a:r>
              <a:rPr lang="en-US" dirty="0"/>
              <a:t> </a:t>
            </a:r>
            <a:r>
              <a:rPr lang="en-US" dirty="0" err="1"/>
              <a:t>diisolasi</a:t>
            </a:r>
            <a:r>
              <a:rPr lang="en-US" dirty="0"/>
              <a:t>,</a:t>
            </a:r>
          </a:p>
          <a:p>
            <a:r>
              <a:rPr lang="en-US" dirty="0"/>
              <a:t>	P</a:t>
            </a:r>
            <a:r>
              <a:rPr lang="id-ID" dirty="0"/>
              <a:t>roses  pembersihan   kotoran   yang  menempel   di  dinding tangki,dibersihkan  </a:t>
            </a:r>
            <a:r>
              <a:rPr lang="en-US" dirty="0" err="1"/>
              <a:t>dengan</a:t>
            </a:r>
            <a:r>
              <a:rPr lang="en-US" dirty="0"/>
              <a:t> </a:t>
            </a:r>
            <a:r>
              <a:rPr lang="en-US" dirty="0" err="1"/>
              <a:t>produk</a:t>
            </a:r>
            <a:r>
              <a:rPr lang="en-US" dirty="0"/>
              <a:t> </a:t>
            </a:r>
            <a:r>
              <a:rPr lang="en-US" dirty="0" err="1"/>
              <a:t>avtur</a:t>
            </a:r>
            <a:r>
              <a:rPr lang="en-US" dirty="0"/>
              <a:t> yang </a:t>
            </a:r>
            <a:r>
              <a:rPr lang="en-US" dirty="0" err="1"/>
              <a:t>disediakan</a:t>
            </a:r>
            <a:r>
              <a:rPr lang="en-US" dirty="0"/>
              <a:t> oleh PT. PERTAMINA PATRA NIAGA</a:t>
            </a:r>
            <a:r>
              <a:rPr lang="id-ID" dirty="0"/>
              <a:t> </a:t>
            </a:r>
            <a:r>
              <a:rPr lang="en-US" dirty="0" err="1"/>
              <a:t>secara</a:t>
            </a:r>
            <a:r>
              <a:rPr lang="en-US" dirty="0"/>
              <a:t> vertical dan horizontal </a:t>
            </a:r>
            <a:r>
              <a:rPr lang="en-US" dirty="0" err="1"/>
              <a:t>mengelilingi</a:t>
            </a:r>
            <a:r>
              <a:rPr lang="en-US" dirty="0"/>
              <a:t> </a:t>
            </a:r>
            <a:r>
              <a:rPr lang="en-US" dirty="0" err="1"/>
              <a:t>tangki</a:t>
            </a:r>
            <a:r>
              <a:rPr lang="en-US" dirty="0"/>
              <a:t>.</a:t>
            </a:r>
          </a:p>
          <a:p>
            <a:endParaRPr lang="en-US" dirty="0"/>
          </a:p>
          <a:p>
            <a:endParaRPr lang="en-US" sz="1400" dirty="0"/>
          </a:p>
          <a:p>
            <a:pPr indent="-285750">
              <a:buFont typeface="Wingdings" panose="05000000000000000000" pitchFamily="2" charset="2"/>
              <a:buChar char="v"/>
            </a:pPr>
            <a:r>
              <a:rPr lang="en-US" b="1" dirty="0">
                <a:solidFill>
                  <a:srgbClr val="FF0000"/>
                </a:solidFill>
              </a:rPr>
              <a:t>PEKERJAAN COATING</a:t>
            </a:r>
          </a:p>
          <a:p>
            <a:pPr indent="-285750">
              <a:buFont typeface="Wingdings" panose="05000000000000000000" pitchFamily="2" charset="2"/>
              <a:buChar char="v"/>
            </a:pPr>
            <a:endParaRPr lang="en-US" b="1" dirty="0"/>
          </a:p>
          <a:p>
            <a:r>
              <a:rPr lang="en-US" dirty="0"/>
              <a:t>	</a:t>
            </a:r>
            <a:r>
              <a:rPr lang="en-US" dirty="0" err="1"/>
              <a:t>Melakukan</a:t>
            </a:r>
            <a:r>
              <a:rPr lang="en-US" dirty="0"/>
              <a:t> </a:t>
            </a:r>
            <a:r>
              <a:rPr lang="en-US" dirty="0" err="1"/>
              <a:t>pembersihan</a:t>
            </a:r>
            <a:r>
              <a:rPr lang="en-US" dirty="0"/>
              <a:t> </a:t>
            </a:r>
            <a:r>
              <a:rPr lang="en-US" dirty="0" err="1"/>
              <a:t>permukaan</a:t>
            </a:r>
            <a:r>
              <a:rPr lang="en-US" dirty="0"/>
              <a:t> </a:t>
            </a:r>
            <a:r>
              <a:rPr lang="en-US" dirty="0" err="1"/>
              <a:t>dengan</a:t>
            </a:r>
            <a:r>
              <a:rPr lang="en-US" dirty="0"/>
              <a:t> </a:t>
            </a:r>
            <a:r>
              <a:rPr lang="en-US" dirty="0" err="1"/>
              <a:t>menggunakan</a:t>
            </a:r>
            <a:r>
              <a:rPr lang="en-US" dirty="0"/>
              <a:t> </a:t>
            </a:r>
            <a:r>
              <a:rPr lang="en-US" dirty="0" err="1"/>
              <a:t>metode</a:t>
            </a:r>
            <a:r>
              <a:rPr lang="en-US" dirty="0"/>
              <a:t> hand tools, </a:t>
            </a:r>
            <a:r>
              <a:rPr lang="en-US" dirty="0" err="1"/>
              <a:t>permukaan</a:t>
            </a:r>
            <a:r>
              <a:rPr lang="en-US" dirty="0"/>
              <a:t> di </a:t>
            </a:r>
            <a:r>
              <a:rPr lang="en-US" dirty="0" err="1"/>
              <a:t>amplas</a:t>
            </a:r>
            <a:r>
              <a:rPr lang="en-US" dirty="0"/>
              <a:t> &amp; </a:t>
            </a:r>
            <a:r>
              <a:rPr lang="en-US" dirty="0" err="1"/>
              <a:t>dibersihkan</a:t>
            </a:r>
            <a:r>
              <a:rPr lang="en-US" dirty="0"/>
              <a:t>. </a:t>
            </a:r>
            <a:r>
              <a:rPr lang="en-US" dirty="0" err="1"/>
              <a:t>Pastikan</a:t>
            </a:r>
            <a:r>
              <a:rPr lang="en-US" dirty="0"/>
              <a:t> </a:t>
            </a:r>
            <a:r>
              <a:rPr lang="en-US" dirty="0" err="1"/>
              <a:t>permukaan</a:t>
            </a:r>
            <a:r>
              <a:rPr lang="en-US" dirty="0"/>
              <a:t> yang </a:t>
            </a:r>
            <a:r>
              <a:rPr lang="en-US" dirty="0" err="1"/>
              <a:t>akan</a:t>
            </a:r>
            <a:r>
              <a:rPr lang="en-US" dirty="0"/>
              <a:t> di finish coat </a:t>
            </a:r>
            <a:r>
              <a:rPr lang="en-US" dirty="0" err="1"/>
              <a:t>bersih</a:t>
            </a:r>
            <a:r>
              <a:rPr lang="en-US" dirty="0"/>
              <a:t> </a:t>
            </a:r>
            <a:r>
              <a:rPr lang="en-US" dirty="0" err="1"/>
              <a:t>dari</a:t>
            </a:r>
            <a:r>
              <a:rPr lang="en-US" dirty="0"/>
              <a:t> </a:t>
            </a:r>
            <a:r>
              <a:rPr lang="en-US" dirty="0" err="1"/>
              <a:t>kotoran</a:t>
            </a:r>
            <a:r>
              <a:rPr lang="en-US" dirty="0"/>
              <a:t> dan </a:t>
            </a:r>
            <a:r>
              <a:rPr lang="en-US" dirty="0" err="1"/>
              <a:t>debu</a:t>
            </a:r>
            <a:r>
              <a:rPr lang="en-US" dirty="0"/>
              <a:t>. </a:t>
            </a:r>
            <a:r>
              <a:rPr lang="en-US" dirty="0" err="1"/>
              <a:t>Tahapan</a:t>
            </a:r>
            <a:r>
              <a:rPr lang="en-US" dirty="0"/>
              <a:t> Top Coat </a:t>
            </a:r>
            <a:r>
              <a:rPr lang="en-US" dirty="0" err="1"/>
              <a:t>hingga</a:t>
            </a:r>
            <a:r>
              <a:rPr lang="en-US" dirty="0"/>
              <a:t> </a:t>
            </a:r>
            <a:r>
              <a:rPr lang="en-US" dirty="0" err="1"/>
              <a:t>ketebalan</a:t>
            </a:r>
            <a:r>
              <a:rPr lang="en-US" dirty="0"/>
              <a:t> 50 micron dan di </a:t>
            </a:r>
            <a:r>
              <a:rPr lang="en-US" dirty="0" err="1"/>
              <a:t>aplikasikan</a:t>
            </a:r>
            <a:r>
              <a:rPr lang="en-US" dirty="0"/>
              <a:t> </a:t>
            </a:r>
            <a:r>
              <a:rPr lang="en-US" dirty="0" err="1"/>
              <a:t>menggunakan</a:t>
            </a:r>
            <a:r>
              <a:rPr lang="en-US" dirty="0"/>
              <a:t> </a:t>
            </a:r>
            <a:r>
              <a:rPr lang="en-US" dirty="0" err="1"/>
              <a:t>kuas</a:t>
            </a:r>
            <a:r>
              <a:rPr lang="en-US" dirty="0"/>
              <a:t>.</a:t>
            </a:r>
            <a:endParaRPr lang="en-ID" dirty="0"/>
          </a:p>
          <a:p>
            <a:endParaRPr lang="en-ID" dirty="0"/>
          </a:p>
          <a:p>
            <a:pPr defTabSz="685800"/>
            <a:endParaRPr lang="en-US" b="1" dirty="0"/>
          </a:p>
          <a:p>
            <a:endParaRPr lang="en-ID" sz="1400" dirty="0"/>
          </a:p>
          <a:p>
            <a:pPr defTabSz="685800"/>
            <a:endParaRPr lang="en-US" sz="1400" b="1" dirty="0">
              <a:latin typeface="Tahoma" panose="020B0604030504040204" pitchFamily="34" charset="0"/>
              <a:ea typeface="Tahoma" panose="020B0604030504040204" pitchFamily="34" charset="0"/>
              <a:cs typeface="Tahoma" panose="020B0604030504040204" pitchFamily="34" charset="0"/>
            </a:endParaRPr>
          </a:p>
        </p:txBody>
      </p:sp>
      <p:sp>
        <p:nvSpPr>
          <p:cNvPr id="25" name="Parallelogram 15">
            <a:extLst>
              <a:ext uri="{FF2B5EF4-FFF2-40B4-BE49-F238E27FC236}">
                <a16:creationId xmlns:a16="http://schemas.microsoft.com/office/drawing/2014/main" id="{3BBE775A-5451-760D-5AAC-B5AA5BB24371}"/>
              </a:ext>
            </a:extLst>
          </p:cNvPr>
          <p:cNvSpPr/>
          <p:nvPr/>
        </p:nvSpPr>
        <p:spPr>
          <a:xfrm>
            <a:off x="191344" y="6421684"/>
            <a:ext cx="324023" cy="354841"/>
          </a:xfrm>
          <a:prstGeom prst="parallelogram">
            <a:avLst>
              <a:gd name="adj" fmla="val 64317"/>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1619240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7AEF-D60E-9F50-A32D-D98BE4571D0A}"/>
            </a:ext>
          </a:extLst>
        </p:cNvPr>
        <p:cNvGrpSpPr/>
        <p:nvPr/>
      </p:nvGrpSpPr>
      <p:grpSpPr>
        <a:xfrm>
          <a:off x="0" y="0"/>
          <a:ext cx="0" cy="0"/>
          <a:chOff x="0" y="0"/>
          <a:chExt cx="0" cy="0"/>
        </a:xfrm>
      </p:grpSpPr>
      <p:sp>
        <p:nvSpPr>
          <p:cNvPr id="4" name="Parallelogram 15">
            <a:extLst>
              <a:ext uri="{FF2B5EF4-FFF2-40B4-BE49-F238E27FC236}">
                <a16:creationId xmlns:a16="http://schemas.microsoft.com/office/drawing/2014/main" id="{896F2888-8A34-C8D6-A72A-A2DD50DD28A1}"/>
              </a:ext>
            </a:extLst>
          </p:cNvPr>
          <p:cNvSpPr/>
          <p:nvPr/>
        </p:nvSpPr>
        <p:spPr>
          <a:xfrm>
            <a:off x="219624" y="6377060"/>
            <a:ext cx="324023" cy="354841"/>
          </a:xfrm>
          <a:prstGeom prst="parallelogram">
            <a:avLst>
              <a:gd name="adj" fmla="val 64317"/>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grpSp>
        <p:nvGrpSpPr>
          <p:cNvPr id="6" name="Group 5">
            <a:extLst>
              <a:ext uri="{FF2B5EF4-FFF2-40B4-BE49-F238E27FC236}">
                <a16:creationId xmlns:a16="http://schemas.microsoft.com/office/drawing/2014/main" id="{CF109B78-42F4-B0A2-4C09-D13D58B0CBC5}"/>
              </a:ext>
            </a:extLst>
          </p:cNvPr>
          <p:cNvGrpSpPr/>
          <p:nvPr/>
        </p:nvGrpSpPr>
        <p:grpSpPr>
          <a:xfrm>
            <a:off x="0" y="519501"/>
            <a:ext cx="11421639" cy="5741470"/>
            <a:chOff x="-25810" y="558265"/>
            <a:chExt cx="11421639" cy="5741470"/>
          </a:xfrm>
        </p:grpSpPr>
        <p:sp>
          <p:nvSpPr>
            <p:cNvPr id="7" name="Rectangle 6">
              <a:extLst>
                <a:ext uri="{FF2B5EF4-FFF2-40B4-BE49-F238E27FC236}">
                  <a16:creationId xmlns:a16="http://schemas.microsoft.com/office/drawing/2014/main" id="{13FEC8F5-23A1-F817-C53E-FB4ACBE5C19A}"/>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59068C5A-F85B-3B71-B786-CBC25B1530E0}"/>
                </a:ext>
              </a:extLst>
            </p:cNvPr>
            <p:cNvGrpSpPr/>
            <p:nvPr/>
          </p:nvGrpSpPr>
          <p:grpSpPr>
            <a:xfrm>
              <a:off x="-25810" y="567070"/>
              <a:ext cx="543980" cy="5732665"/>
              <a:chOff x="-62386" y="567070"/>
              <a:chExt cx="543980" cy="5732665"/>
            </a:xfrm>
          </p:grpSpPr>
          <p:sp>
            <p:nvSpPr>
              <p:cNvPr id="10" name="Oval 9">
                <a:extLst>
                  <a:ext uri="{FF2B5EF4-FFF2-40B4-BE49-F238E27FC236}">
                    <a16:creationId xmlns:a16="http://schemas.microsoft.com/office/drawing/2014/main" id="{341C7C57-1B4D-1307-85A1-AE189BD7E532}"/>
                  </a:ext>
                </a:extLst>
              </p:cNvPr>
              <p:cNvSpPr/>
              <p:nvPr/>
            </p:nvSpPr>
            <p:spPr>
              <a:xfrm>
                <a:off x="-15044" y="2864718"/>
                <a:ext cx="496638" cy="114300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Top Corners Snipped 10">
                <a:extLst>
                  <a:ext uri="{FF2B5EF4-FFF2-40B4-BE49-F238E27FC236}">
                    <a16:creationId xmlns:a16="http://schemas.microsoft.com/office/drawing/2014/main" id="{CA15F061-E44D-23FD-3E46-F007E3D5BAE9}"/>
                  </a:ext>
                </a:extLst>
              </p:cNvPr>
              <p:cNvSpPr/>
              <p:nvPr/>
            </p:nvSpPr>
            <p:spPr>
              <a:xfrm rot="5400000">
                <a:off x="-1743908" y="3275527"/>
                <a:ext cx="3794762" cy="306946"/>
              </a:xfrm>
              <a:prstGeom prst="snip2SameRect">
                <a:avLst/>
              </a:prstGeom>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D6D107A-31B6-5988-DE88-E43FA01884A7}"/>
                  </a:ext>
                </a:extLst>
              </p:cNvPr>
              <p:cNvSpPr txBox="1"/>
              <p:nvPr/>
            </p:nvSpPr>
            <p:spPr>
              <a:xfrm rot="16200000">
                <a:off x="-1070123" y="3230901"/>
                <a:ext cx="2384806" cy="369332"/>
              </a:xfrm>
              <a:prstGeom prst="rect">
                <a:avLst/>
              </a:prstGeom>
              <a:noFill/>
              <a:ln>
                <a:noFill/>
              </a:ln>
            </p:spPr>
            <p:txBody>
              <a:bodyPr wrap="square" rtlCol="0" anchor="ctr">
                <a:spAutoFit/>
              </a:bodyPr>
              <a:lstStyle/>
              <a:p>
                <a:pPr algn="ctr"/>
                <a:r>
                  <a:rPr lang="en-US" dirty="0">
                    <a:solidFill>
                      <a:schemeClr val="bg1"/>
                    </a:solidFill>
                  </a:rPr>
                  <a:t>OVERVIEW PROJECT</a:t>
                </a:r>
              </a:p>
            </p:txBody>
          </p:sp>
          <p:cxnSp>
            <p:nvCxnSpPr>
              <p:cNvPr id="13" name="Straight Connector 12">
                <a:extLst>
                  <a:ext uri="{FF2B5EF4-FFF2-40B4-BE49-F238E27FC236}">
                    <a16:creationId xmlns:a16="http://schemas.microsoft.com/office/drawing/2014/main" id="{EA2732D7-D80F-2559-4B88-726D8EA3D5E5}"/>
                  </a:ext>
                </a:extLst>
              </p:cNvPr>
              <p:cNvCxnSpPr>
                <a:cxnSpLocks/>
              </p:cNvCxnSpPr>
              <p:nvPr/>
            </p:nvCxnSpPr>
            <p:spPr>
              <a:xfrm>
                <a:off x="-7088" y="567070"/>
                <a:ext cx="7088" cy="5732665"/>
              </a:xfrm>
              <a:prstGeom prst="line">
                <a:avLst/>
              </a:prstGeom>
              <a:ln w="50800"/>
            </p:spPr>
            <p:style>
              <a:lnRef idx="1">
                <a:schemeClr val="accent1"/>
              </a:lnRef>
              <a:fillRef idx="0">
                <a:schemeClr val="accent1"/>
              </a:fillRef>
              <a:effectRef idx="0">
                <a:schemeClr val="accent1"/>
              </a:effectRef>
              <a:fontRef idx="minor">
                <a:schemeClr val="tx1"/>
              </a:fontRef>
            </p:style>
          </p:cxnSp>
        </p:grpSp>
        <p:sp>
          <p:nvSpPr>
            <p:cNvPr id="9" name="Rectangle 8">
              <a:extLst>
                <a:ext uri="{FF2B5EF4-FFF2-40B4-BE49-F238E27FC236}">
                  <a16:creationId xmlns:a16="http://schemas.microsoft.com/office/drawing/2014/main" id="{084EC9DC-3FFD-E8D0-10CA-FA4FA6F19BF2}"/>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4" name="Group 13">
            <a:extLst>
              <a:ext uri="{FF2B5EF4-FFF2-40B4-BE49-F238E27FC236}">
                <a16:creationId xmlns:a16="http://schemas.microsoft.com/office/drawing/2014/main" id="{D885FACE-D28D-7597-DDF1-3B8363F23394}"/>
              </a:ext>
            </a:extLst>
          </p:cNvPr>
          <p:cNvGrpSpPr/>
          <p:nvPr/>
        </p:nvGrpSpPr>
        <p:grpSpPr>
          <a:xfrm>
            <a:off x="297894" y="529416"/>
            <a:ext cx="11421639" cy="5741470"/>
            <a:chOff x="-25810" y="558265"/>
            <a:chExt cx="11421639" cy="5741470"/>
          </a:xfrm>
        </p:grpSpPr>
        <p:sp>
          <p:nvSpPr>
            <p:cNvPr id="15" name="Rectangle 14">
              <a:extLst>
                <a:ext uri="{FF2B5EF4-FFF2-40B4-BE49-F238E27FC236}">
                  <a16:creationId xmlns:a16="http://schemas.microsoft.com/office/drawing/2014/main" id="{C9311439-71A9-73BB-F940-B75C3772EECD}"/>
                </a:ext>
              </a:extLst>
            </p:cNvPr>
            <p:cNvSpPr/>
            <p:nvPr/>
          </p:nvSpPr>
          <p:spPr>
            <a:xfrm>
              <a:off x="0" y="558265"/>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14655375-5262-1451-EB04-2FDF6325E195}"/>
                </a:ext>
              </a:extLst>
            </p:cNvPr>
            <p:cNvGrpSpPr/>
            <p:nvPr/>
          </p:nvGrpSpPr>
          <p:grpSpPr>
            <a:xfrm>
              <a:off x="-25810" y="567070"/>
              <a:ext cx="543980" cy="5732665"/>
              <a:chOff x="-62386" y="567070"/>
              <a:chExt cx="543980" cy="5732665"/>
            </a:xfrm>
          </p:grpSpPr>
          <p:sp>
            <p:nvSpPr>
              <p:cNvPr id="18" name="Oval 17">
                <a:extLst>
                  <a:ext uri="{FF2B5EF4-FFF2-40B4-BE49-F238E27FC236}">
                    <a16:creationId xmlns:a16="http://schemas.microsoft.com/office/drawing/2014/main" id="{949FC3FB-EB22-4CB0-DD5E-92F8066D8979}"/>
                  </a:ext>
                </a:extLst>
              </p:cNvPr>
              <p:cNvSpPr/>
              <p:nvPr/>
            </p:nvSpPr>
            <p:spPr>
              <a:xfrm>
                <a:off x="-15044" y="2864718"/>
                <a:ext cx="496638" cy="114300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Top Corners Snipped 18">
                <a:extLst>
                  <a:ext uri="{FF2B5EF4-FFF2-40B4-BE49-F238E27FC236}">
                    <a16:creationId xmlns:a16="http://schemas.microsoft.com/office/drawing/2014/main" id="{82FB328F-AEFF-326E-1FC2-12F49F0B7DD9}"/>
                  </a:ext>
                </a:extLst>
              </p:cNvPr>
              <p:cNvSpPr/>
              <p:nvPr/>
            </p:nvSpPr>
            <p:spPr>
              <a:xfrm rot="5400000">
                <a:off x="-1743908" y="3275527"/>
                <a:ext cx="3794762" cy="306946"/>
              </a:xfrm>
              <a:prstGeom prst="snip2SameRect">
                <a:avLst/>
              </a:prstGeom>
              <a:solidFill>
                <a:schemeClr val="accent2">
                  <a:lumMod val="60000"/>
                  <a:lumOff val="40000"/>
                </a:schemeClr>
              </a:solidFill>
              <a:ln>
                <a:no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extBox 19">
                <a:extLst>
                  <a:ext uri="{FF2B5EF4-FFF2-40B4-BE49-F238E27FC236}">
                    <a16:creationId xmlns:a16="http://schemas.microsoft.com/office/drawing/2014/main" id="{7AA16829-E499-6F06-5533-0CECE9143077}"/>
                  </a:ext>
                </a:extLst>
              </p:cNvPr>
              <p:cNvSpPr txBox="1"/>
              <p:nvPr/>
            </p:nvSpPr>
            <p:spPr>
              <a:xfrm rot="16200000">
                <a:off x="-947568" y="3251856"/>
                <a:ext cx="2139696" cy="369332"/>
              </a:xfrm>
              <a:prstGeom prst="rect">
                <a:avLst/>
              </a:prstGeom>
              <a:noFill/>
              <a:ln>
                <a:noFill/>
              </a:ln>
            </p:spPr>
            <p:txBody>
              <a:bodyPr wrap="square" rtlCol="0" anchor="ctr">
                <a:spAutoFit/>
              </a:bodyPr>
              <a:lstStyle/>
              <a:p>
                <a:pPr algn="ctr"/>
                <a:r>
                  <a:rPr lang="en-US" dirty="0">
                    <a:solidFill>
                      <a:schemeClr val="bg1"/>
                    </a:solidFill>
                  </a:rPr>
                  <a:t>PROGRESS</a:t>
                </a:r>
              </a:p>
            </p:txBody>
          </p:sp>
          <p:cxnSp>
            <p:nvCxnSpPr>
              <p:cNvPr id="21" name="Straight Connector 20">
                <a:extLst>
                  <a:ext uri="{FF2B5EF4-FFF2-40B4-BE49-F238E27FC236}">
                    <a16:creationId xmlns:a16="http://schemas.microsoft.com/office/drawing/2014/main" id="{5DDC2930-5809-AE10-A3EE-552FF4F754C2}"/>
                  </a:ext>
                </a:extLst>
              </p:cNvPr>
              <p:cNvCxnSpPr>
                <a:cxnSpLocks/>
              </p:cNvCxnSpPr>
              <p:nvPr/>
            </p:nvCxnSpPr>
            <p:spPr>
              <a:xfrm>
                <a:off x="-7088" y="567070"/>
                <a:ext cx="7088" cy="5732665"/>
              </a:xfrm>
              <a:prstGeom prst="line">
                <a:avLst/>
              </a:prstGeom>
              <a:ln w="508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C59A3B01-7B14-D0FF-6063-337F0179ED15}"/>
                </a:ext>
              </a:extLst>
            </p:cNvPr>
            <p:cNvSpPr/>
            <p:nvPr/>
          </p:nvSpPr>
          <p:spPr>
            <a:xfrm>
              <a:off x="9143" y="567409"/>
              <a:ext cx="11386686" cy="57053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Google Shape;1975;p41">
            <a:extLst>
              <a:ext uri="{FF2B5EF4-FFF2-40B4-BE49-F238E27FC236}">
                <a16:creationId xmlns:a16="http://schemas.microsoft.com/office/drawing/2014/main" id="{09853EAC-0999-A50B-AA43-EA68F5E82F69}"/>
              </a:ext>
            </a:extLst>
          </p:cNvPr>
          <p:cNvSpPr txBox="1"/>
          <p:nvPr/>
        </p:nvSpPr>
        <p:spPr>
          <a:xfrm>
            <a:off x="1107073" y="653486"/>
            <a:ext cx="3843918" cy="455700"/>
          </a:xfrm>
          <a:prstGeom prst="rect">
            <a:avLst/>
          </a:prstGeom>
          <a:noFill/>
          <a:ln>
            <a:noFill/>
          </a:ln>
        </p:spPr>
        <p:txBody>
          <a:bodyPr spcFirstLastPara="1" wrap="square" lIns="91425" tIns="91425" rIns="91425" bIns="91425" anchor="ctr" anchorCtr="0">
            <a:noAutofit/>
          </a:bodyPr>
          <a:lstStyle/>
          <a:p>
            <a:pPr marL="285750" lvl="0" indent="-285750">
              <a:buFont typeface="Wingdings" panose="05000000000000000000" pitchFamily="2" charset="2"/>
              <a:buChar char="v"/>
            </a:pPr>
            <a:r>
              <a:rPr lang="en-US" b="1" dirty="0">
                <a:solidFill>
                  <a:srgbClr val="FF0000"/>
                </a:solidFill>
              </a:rPr>
              <a:t>PEMBERSIHAN LOKASI KERJA </a:t>
            </a:r>
            <a:endParaRPr lang="en-ID" dirty="0">
              <a:solidFill>
                <a:srgbClr val="FF0000"/>
              </a:solidFill>
            </a:endParaRPr>
          </a:p>
        </p:txBody>
      </p:sp>
      <p:sp>
        <p:nvSpPr>
          <p:cNvPr id="27" name="Content Placeholder 2">
            <a:extLst>
              <a:ext uri="{FF2B5EF4-FFF2-40B4-BE49-F238E27FC236}">
                <a16:creationId xmlns:a16="http://schemas.microsoft.com/office/drawing/2014/main" id="{1A158F60-2CB6-D92C-61F5-6D5A6DD3668D}"/>
              </a:ext>
            </a:extLst>
          </p:cNvPr>
          <p:cNvSpPr txBox="1">
            <a:spLocks/>
          </p:cNvSpPr>
          <p:nvPr/>
        </p:nvSpPr>
        <p:spPr>
          <a:xfrm>
            <a:off x="937686" y="1224112"/>
            <a:ext cx="11235265" cy="1960738"/>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lvl="0">
              <a:buFont typeface="Wingdings" panose="05000000000000000000" pitchFamily="2" charset="2"/>
              <a:buChar char="ü"/>
            </a:pPr>
            <a:r>
              <a:rPr lang="en-US" dirty="0"/>
              <a:t>  </a:t>
            </a:r>
            <a:r>
              <a:rPr lang="id-ID" dirty="0"/>
              <a:t>Setelah pekerjaan </a:t>
            </a:r>
            <a:r>
              <a:rPr lang="en-US" dirty="0"/>
              <a:t>Cleaning </a:t>
            </a:r>
            <a:r>
              <a:rPr lang="id-ID" dirty="0"/>
              <a:t>dan commissioning selesai, vendor selanjutnya membuat</a:t>
            </a:r>
            <a:endParaRPr lang="en-US" dirty="0"/>
          </a:p>
          <a:p>
            <a:pPr marL="0" lvl="0" indent="0">
              <a:buNone/>
            </a:pPr>
            <a:r>
              <a:rPr lang="en-US" dirty="0"/>
              <a:t>  </a:t>
            </a:r>
            <a:r>
              <a:rPr lang="id-ID" dirty="0"/>
              <a:t> </a:t>
            </a:r>
            <a:r>
              <a:rPr lang="en-US" dirty="0"/>
              <a:t>  </a:t>
            </a:r>
            <a:r>
              <a:rPr lang="id-ID" dirty="0"/>
              <a:t>final report terkait pekerjaan yang sudah dilaksanakan.</a:t>
            </a:r>
            <a:endParaRPr lang="en-US" dirty="0"/>
          </a:p>
          <a:p>
            <a:pPr>
              <a:buFont typeface="Wingdings" panose="05000000000000000000" pitchFamily="2" charset="2"/>
              <a:buChar char="ü"/>
            </a:pPr>
            <a:r>
              <a:rPr lang="en-US" dirty="0"/>
              <a:t> </a:t>
            </a:r>
            <a:r>
              <a:rPr lang="id-ID" dirty="0"/>
              <a:t>Jika Final Report sudah dibuat, serahkan hasil final report ke pengawas pekerjaan.</a:t>
            </a:r>
            <a:endParaRPr lang="en-ID" sz="1800" dirty="0"/>
          </a:p>
          <a:p>
            <a:pPr>
              <a:buFont typeface="Wingdings" panose="05000000000000000000" pitchFamily="2" charset="2"/>
              <a:buChar char="ü"/>
            </a:pPr>
            <a:r>
              <a:rPr lang="en-US" dirty="0"/>
              <a:t> </a:t>
            </a:r>
            <a:r>
              <a:rPr lang="en-US" dirty="0" err="1"/>
              <a:t>Bersihkan</a:t>
            </a:r>
            <a:r>
              <a:rPr lang="en-US" dirty="0"/>
              <a:t> dan </a:t>
            </a:r>
            <a:r>
              <a:rPr lang="en-US" dirty="0" err="1"/>
              <a:t>rapikan</a:t>
            </a:r>
            <a:r>
              <a:rPr lang="en-US" dirty="0"/>
              <a:t> </a:t>
            </a:r>
            <a:r>
              <a:rPr lang="en-US" dirty="0" err="1"/>
              <a:t>lokasi</a:t>
            </a:r>
            <a:r>
              <a:rPr lang="en-US" dirty="0"/>
              <a:t> </a:t>
            </a:r>
            <a:r>
              <a:rPr lang="en-US" dirty="0" err="1"/>
              <a:t>kerja</a:t>
            </a:r>
            <a:r>
              <a:rPr lang="en-US" dirty="0"/>
              <a:t> </a:t>
            </a:r>
            <a:r>
              <a:rPr lang="en-US" dirty="0" err="1"/>
              <a:t>dari</a:t>
            </a:r>
            <a:r>
              <a:rPr lang="en-US" dirty="0"/>
              <a:t> </a:t>
            </a:r>
            <a:r>
              <a:rPr lang="en-US" dirty="0" err="1"/>
              <a:t>sisa-sisa</a:t>
            </a:r>
            <a:r>
              <a:rPr lang="en-US" dirty="0"/>
              <a:t> material di </a:t>
            </a:r>
            <a:r>
              <a:rPr lang="en-US" dirty="0" err="1"/>
              <a:t>sekitar</a:t>
            </a:r>
            <a:r>
              <a:rPr lang="en-US" dirty="0"/>
              <a:t> </a:t>
            </a:r>
            <a:r>
              <a:rPr lang="en-US" dirty="0" err="1"/>
              <a:t>lokasi</a:t>
            </a:r>
            <a:r>
              <a:rPr lang="en-US" dirty="0"/>
              <a:t> </a:t>
            </a:r>
            <a:r>
              <a:rPr lang="en-US" dirty="0" err="1"/>
              <a:t>kerja</a:t>
            </a:r>
            <a:r>
              <a:rPr lang="en-US" dirty="0"/>
              <a:t>.</a:t>
            </a:r>
            <a:endParaRPr lang="en-ID" dirty="0"/>
          </a:p>
          <a:p>
            <a:pPr>
              <a:buFont typeface="Wingdings" panose="05000000000000000000" pitchFamily="2" charset="2"/>
              <a:buChar char="ü"/>
            </a:pPr>
            <a:r>
              <a:rPr lang="en-US" dirty="0"/>
              <a:t> </a:t>
            </a:r>
            <a:r>
              <a:rPr lang="id-ID" dirty="0"/>
              <a:t>Pastikan kondisi kembali seperti awal (bersih dan rapi).	</a:t>
            </a:r>
            <a:endParaRPr lang="en-ID" dirty="0"/>
          </a:p>
          <a:p>
            <a:pPr lvl="0">
              <a:buFont typeface="Wingdings" panose="05000000000000000000" pitchFamily="2" charset="2"/>
              <a:buChar char="ü"/>
            </a:pPr>
            <a:endParaRPr lang="en-ID" dirty="0"/>
          </a:p>
          <a:p>
            <a:pPr marL="0" indent="0">
              <a:buNone/>
            </a:pPr>
            <a:endParaRPr lang="en-ID" sz="1400" dirty="0"/>
          </a:p>
        </p:txBody>
      </p:sp>
    </p:spTree>
    <p:extLst>
      <p:ext uri="{BB962C8B-B14F-4D97-AF65-F5344CB8AC3E}">
        <p14:creationId xmlns:p14="http://schemas.microsoft.com/office/powerpoint/2010/main" val="1484925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1D768-A4FC-481B-5E5A-EC75974B7F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A83F6-9075-1021-DAAA-F684C081E92B}"/>
              </a:ext>
            </a:extLst>
          </p:cNvPr>
          <p:cNvSpPr>
            <a:spLocks noGrp="1"/>
          </p:cNvSpPr>
          <p:nvPr>
            <p:ph type="title"/>
          </p:nvPr>
        </p:nvSpPr>
        <p:spPr>
          <a:xfrm>
            <a:off x="289560" y="247656"/>
            <a:ext cx="10226040" cy="492519"/>
          </a:xfrm>
        </p:spPr>
        <p:txBody>
          <a:bodyPr>
            <a:noAutofit/>
          </a:bodyPr>
          <a:lstStyle/>
          <a:p>
            <a:r>
              <a:rPr lang="id-ID" sz="2400" b="1" dirty="0">
                <a:solidFill>
                  <a:schemeClr val="tx1"/>
                </a:solidFill>
                <a:latin typeface="Arial Narrow" panose="020B0606020202030204" pitchFamily="34" charset="0"/>
                <a:ea typeface="Times New Roman" panose="02020603050405020304" pitchFamily="18" charset="0"/>
                <a:cs typeface="Arial" panose="020B0604020202020204" pitchFamily="34" charset="0"/>
              </a:rPr>
              <a:t>PENCAPAIAN HSSE PERFORMANCE INDICATOR (KPI) PELAKSANA KONTRAK</a:t>
            </a:r>
            <a:endParaRPr lang="id-ID" sz="2400" b="1" dirty="0">
              <a:solidFill>
                <a:schemeClr val="tx1"/>
              </a:solidFill>
            </a:endParaRPr>
          </a:p>
        </p:txBody>
      </p:sp>
      <p:pic>
        <p:nvPicPr>
          <p:cNvPr id="6" name="Picture 5">
            <a:extLst>
              <a:ext uri="{FF2B5EF4-FFF2-40B4-BE49-F238E27FC236}">
                <a16:creationId xmlns:a16="http://schemas.microsoft.com/office/drawing/2014/main" id="{1BDAA60B-7448-23BD-20F1-BA65DA59C6A3}"/>
              </a:ext>
            </a:extLst>
          </p:cNvPr>
          <p:cNvPicPr>
            <a:picLocks noChangeAspect="1"/>
          </p:cNvPicPr>
          <p:nvPr/>
        </p:nvPicPr>
        <p:blipFill>
          <a:blip r:embed="rId2"/>
          <a:stretch>
            <a:fillRect/>
          </a:stretch>
        </p:blipFill>
        <p:spPr>
          <a:xfrm>
            <a:off x="289560" y="666510"/>
            <a:ext cx="11612880" cy="5524979"/>
          </a:xfrm>
          <a:prstGeom prst="rect">
            <a:avLst/>
          </a:prstGeom>
        </p:spPr>
      </p:pic>
    </p:spTree>
    <p:extLst>
      <p:ext uri="{BB962C8B-B14F-4D97-AF65-F5344CB8AC3E}">
        <p14:creationId xmlns:p14="http://schemas.microsoft.com/office/powerpoint/2010/main" val="2621921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F501D-25E5-16A8-91BC-249C3914A94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112743-8F61-F31A-ED16-022AFEB4CF18}"/>
              </a:ext>
            </a:extLst>
          </p:cNvPr>
          <p:cNvPicPr>
            <a:picLocks noChangeAspect="1"/>
          </p:cNvPicPr>
          <p:nvPr/>
        </p:nvPicPr>
        <p:blipFill>
          <a:blip r:embed="rId2"/>
          <a:stretch>
            <a:fillRect/>
          </a:stretch>
        </p:blipFill>
        <p:spPr>
          <a:xfrm>
            <a:off x="49162" y="719855"/>
            <a:ext cx="12064181" cy="5418290"/>
          </a:xfrm>
          <a:prstGeom prst="rect">
            <a:avLst/>
          </a:prstGeom>
        </p:spPr>
      </p:pic>
    </p:spTree>
    <p:extLst>
      <p:ext uri="{BB962C8B-B14F-4D97-AF65-F5344CB8AC3E}">
        <p14:creationId xmlns:p14="http://schemas.microsoft.com/office/powerpoint/2010/main" val="2678857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7096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3762</TotalTime>
  <Words>763</Words>
  <Application>Microsoft Office PowerPoint</Application>
  <PresentationFormat>Widescreen</PresentationFormat>
  <Paragraphs>189</Paragraphs>
  <Slides>14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Aptos</vt:lpstr>
      <vt:lpstr>Aptos Display</vt:lpstr>
      <vt:lpstr>Arial</vt:lpstr>
      <vt:lpstr>Arial Narrow</vt:lpstr>
      <vt:lpstr>Calibri</vt:lpstr>
      <vt:lpstr>Futura-Bold</vt:lpstr>
      <vt:lpstr>Roboto Black</vt:lpstr>
      <vt:lpstr>Tahoma</vt:lpstr>
      <vt:lpstr>Wingdings</vt:lpstr>
      <vt:lpstr>Office Theme</vt:lpstr>
      <vt:lpstr>KICK OFF METTING</vt:lpstr>
      <vt:lpstr>TARGET 75 HARI KALENDER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PENCAPAIAN HSSE PERFORMANCE INDICATOR (KPI) PELAKSANA KONTRAK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PNEUMATIC TEST</dc:title>
  <dc:creator>Muhammad Reza Febriyanto</dc:creator>
  <cp:lastModifiedBy>ASUS</cp:lastModifiedBy>
  <cp:revision>80</cp:revision>
  <dcterms:created xsi:type="dcterms:W3CDTF">2024-11-13T05:46:50Z</dcterms:created>
  <dcterms:modified xsi:type="dcterms:W3CDTF">2025-07-30T22:33:37Z</dcterms:modified>
</cp:coreProperties>
</file>