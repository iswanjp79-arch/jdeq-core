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handoutMasterIdLst>
    <p:handoutMasterId r:id="rId16"/>
  </p:handoutMasterIdLst>
  <p:sldIdLst>
    <p:sldId id="281" r:id="rId2"/>
    <p:sldId id="282" r:id="rId3"/>
    <p:sldId id="284" r:id="rId4"/>
    <p:sldId id="276" r:id="rId5"/>
    <p:sldId id="285" r:id="rId6"/>
    <p:sldId id="286" r:id="rId7"/>
    <p:sldId id="289" r:id="rId8"/>
    <p:sldId id="290" r:id="rId9"/>
    <p:sldId id="297" r:id="rId10"/>
    <p:sldId id="291" r:id="rId11"/>
    <p:sldId id="292" r:id="rId12"/>
    <p:sldId id="293" r:id="rId13"/>
    <p:sldId id="28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B23D"/>
    <a:srgbClr val="114D67"/>
    <a:srgbClr val="E97132"/>
    <a:srgbClr val="5E9765"/>
    <a:srgbClr val="F09B6F"/>
    <a:srgbClr val="FFFFFF"/>
    <a:srgbClr val="5B8F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90" autoAdjust="0"/>
  </p:normalViewPr>
  <p:slideViewPr>
    <p:cSldViewPr snapToGrid="0">
      <p:cViewPr>
        <p:scale>
          <a:sx n="50" d="100"/>
          <a:sy n="50" d="100"/>
        </p:scale>
        <p:origin x="29" y="605"/>
      </p:cViewPr>
      <p:guideLst/>
    </p:cSldViewPr>
  </p:slideViewPr>
  <p:outlineViewPr>
    <p:cViewPr>
      <p:scale>
        <a:sx n="33" d="100"/>
        <a:sy n="33" d="100"/>
      </p:scale>
      <p:origin x="0" y="-662"/>
    </p:cViewPr>
  </p:outlineViewPr>
  <p:notesTextViewPr>
    <p:cViewPr>
      <p:scale>
        <a:sx n="1" d="1"/>
        <a:sy n="1" d="1"/>
      </p:scale>
      <p:origin x="0" y="0"/>
    </p:cViewPr>
  </p:notesTextViewPr>
  <p:sorterViewPr>
    <p:cViewPr>
      <p:scale>
        <a:sx n="100" d="100"/>
        <a:sy n="100" d="100"/>
      </p:scale>
      <p:origin x="0" y="-6091"/>
    </p:cViewPr>
  </p:sorterViewPr>
  <p:notesViewPr>
    <p:cSldViewPr snapToGrid="0">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a:extLst>
              <a:ext uri="{FF2B5EF4-FFF2-40B4-BE49-F238E27FC236}">
                <a16:creationId xmlns:a16="http://schemas.microsoft.com/office/drawing/2014/main" id="{F56F36C2-BD4B-4EF5-AD06-3CB2E41E678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Tampungan Tanggal 2">
            <a:extLst>
              <a:ext uri="{FF2B5EF4-FFF2-40B4-BE49-F238E27FC236}">
                <a16:creationId xmlns:a16="http://schemas.microsoft.com/office/drawing/2014/main" id="{9E84B5C3-1705-BE61-69E1-B5161393FC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DE9C5C-AA8B-46CF-96BE-460E12B55A3F}" type="datetimeFigureOut">
              <a:rPr lang="id-ID" smtClean="0"/>
              <a:t>20/07/2025</a:t>
            </a:fld>
            <a:endParaRPr lang="id-ID"/>
          </a:p>
        </p:txBody>
      </p:sp>
      <p:sp>
        <p:nvSpPr>
          <p:cNvPr id="4" name="Tampungan Kaki 3">
            <a:extLst>
              <a:ext uri="{FF2B5EF4-FFF2-40B4-BE49-F238E27FC236}">
                <a16:creationId xmlns:a16="http://schemas.microsoft.com/office/drawing/2014/main" id="{9E0F3DF3-176D-FE60-0D8F-1FCE8C59BA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Tampungan Nomor Slide 4">
            <a:extLst>
              <a:ext uri="{FF2B5EF4-FFF2-40B4-BE49-F238E27FC236}">
                <a16:creationId xmlns:a16="http://schemas.microsoft.com/office/drawing/2014/main" id="{114D5E8F-3370-6EC0-2EB0-A0EF57134B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3DD1E4-9C08-4790-B46A-9E6183F1C018}" type="slidenum">
              <a:rPr lang="id-ID" smtClean="0"/>
              <a:t>‹#›</a:t>
            </a:fld>
            <a:endParaRPr lang="id-ID"/>
          </a:p>
        </p:txBody>
      </p:sp>
    </p:spTree>
    <p:extLst>
      <p:ext uri="{BB962C8B-B14F-4D97-AF65-F5344CB8AC3E}">
        <p14:creationId xmlns:p14="http://schemas.microsoft.com/office/powerpoint/2010/main" val="6191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3A79CA-FC32-B742-A70B-E8D30071E3A2}" type="datetimeFigureOut">
              <a:rPr lang="en-US" smtClean="0"/>
              <a:t>7/20/2025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30FA1F-E585-0B47-8C16-67D0BE956B58}" type="slidenum">
              <a:rPr lang="en-US" smtClean="0"/>
              <a:t>‹#›</a:t>
            </a:fld>
            <a:endParaRPr lang="en-US"/>
          </a:p>
        </p:txBody>
      </p:sp>
    </p:spTree>
    <p:extLst>
      <p:ext uri="{BB962C8B-B14F-4D97-AF65-F5344CB8AC3E}">
        <p14:creationId xmlns:p14="http://schemas.microsoft.com/office/powerpoint/2010/main" val="3297297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A0E8-7BB9-5E5E-1BFD-18AFECD55D98}"/>
              </a:ext>
            </a:extLst>
          </p:cNvPr>
          <p:cNvSpPr>
            <a:spLocks noGrp="1"/>
          </p:cNvSpPr>
          <p:nvPr>
            <p:ph type="ctrTitle"/>
          </p:nvPr>
        </p:nvSpPr>
        <p:spPr>
          <a:xfrm>
            <a:off x="1524000" y="1122362"/>
            <a:ext cx="9144000" cy="1300797"/>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7B42C8D9-821A-2954-DB04-BF7A4F55CD8E}"/>
              </a:ext>
            </a:extLst>
          </p:cNvPr>
          <p:cNvSpPr>
            <a:spLocks noGrp="1"/>
          </p:cNvSpPr>
          <p:nvPr>
            <p:ph type="subTitle" idx="1"/>
          </p:nvPr>
        </p:nvSpPr>
        <p:spPr>
          <a:xfrm>
            <a:off x="1524000" y="2423159"/>
            <a:ext cx="9144000" cy="90208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9135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A70A-3C91-2482-CC03-98DA83137A91}"/>
              </a:ext>
            </a:extLst>
          </p:cNvPr>
          <p:cNvSpPr>
            <a:spLocks noGrp="1"/>
          </p:cNvSpPr>
          <p:nvPr>
            <p:ph type="title"/>
          </p:nvPr>
        </p:nvSpPr>
        <p:spPr>
          <a:xfrm>
            <a:off x="4038600" y="1073150"/>
            <a:ext cx="7315200" cy="1325563"/>
          </a:xfrm>
        </p:spPr>
        <p:txBody>
          <a:bodyPr/>
          <a:lstStyle>
            <a:lvl1pPr algn="l">
              <a:defRPr/>
            </a:lvl1pPr>
          </a:lstStyle>
          <a:p>
            <a:r>
              <a:rPr lang="en-US"/>
              <a:t>Click to edit Master title style</a:t>
            </a:r>
          </a:p>
        </p:txBody>
      </p:sp>
      <p:sp>
        <p:nvSpPr>
          <p:cNvPr id="3" name="Content Placeholder 2">
            <a:extLst>
              <a:ext uri="{FF2B5EF4-FFF2-40B4-BE49-F238E27FC236}">
                <a16:creationId xmlns:a16="http://schemas.microsoft.com/office/drawing/2014/main" id="{7BAE67E3-2117-815A-62F2-F4253937FA51}"/>
              </a:ext>
            </a:extLst>
          </p:cNvPr>
          <p:cNvSpPr>
            <a:spLocks noGrp="1"/>
          </p:cNvSpPr>
          <p:nvPr>
            <p:ph idx="1"/>
          </p:nvPr>
        </p:nvSpPr>
        <p:spPr>
          <a:xfrm>
            <a:off x="4038600" y="2398713"/>
            <a:ext cx="7315200" cy="3778250"/>
          </a:xfrm>
        </p:spPr>
        <p:txBody>
          <a:bodyPr/>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2BA0EDE-C873-3D09-0F53-25CBFEDCA88D}"/>
              </a:ext>
            </a:extLst>
          </p:cNvPr>
          <p:cNvSpPr>
            <a:spLocks noGrp="1"/>
          </p:cNvSpPr>
          <p:nvPr>
            <p:ph type="dt" sz="half" idx="10"/>
          </p:nvPr>
        </p:nvSpPr>
        <p:spPr/>
        <p:txBody>
          <a:bodyPr/>
          <a:lstStyle/>
          <a:p>
            <a:fld id="{DD3D1EC9-772C-D447-B0BC-8878E13AD991}" type="datetimeFigureOut">
              <a:rPr lang="en-US" smtClean="0"/>
              <a:t>7/20/2025</a:t>
            </a:fld>
            <a:endParaRPr lang="en-US"/>
          </a:p>
        </p:txBody>
      </p:sp>
      <p:sp>
        <p:nvSpPr>
          <p:cNvPr id="5" name="Footer Placeholder 4">
            <a:extLst>
              <a:ext uri="{FF2B5EF4-FFF2-40B4-BE49-F238E27FC236}">
                <a16:creationId xmlns:a16="http://schemas.microsoft.com/office/drawing/2014/main" id="{F23B335B-EBDA-D796-A567-5CD9DB399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F1CCBE-A30B-94D5-8E2C-68500EE09F1A}"/>
              </a:ext>
            </a:extLst>
          </p:cNvPr>
          <p:cNvSpPr>
            <a:spLocks noGrp="1"/>
          </p:cNvSpPr>
          <p:nvPr>
            <p:ph type="sldNum" sz="quarter" idx="12"/>
          </p:nvPr>
        </p:nvSpPr>
        <p:spPr/>
        <p:txBody>
          <a:bodyPr/>
          <a:lstStyle/>
          <a:p>
            <a:fld id="{D7412CF8-9496-C741-9A19-CFC46C0C0D9D}" type="slidenum">
              <a:rPr lang="en-US" smtClean="0"/>
              <a:t>‹#›</a:t>
            </a:fld>
            <a:endParaRPr lang="en-US"/>
          </a:p>
        </p:txBody>
      </p:sp>
    </p:spTree>
    <p:extLst>
      <p:ext uri="{BB962C8B-B14F-4D97-AF65-F5344CB8AC3E}">
        <p14:creationId xmlns:p14="http://schemas.microsoft.com/office/powerpoint/2010/main" val="2255383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6DB6-B16F-2087-1349-EEC1B4D09EFB}"/>
              </a:ext>
            </a:extLst>
          </p:cNvPr>
          <p:cNvSpPr>
            <a:spLocks noGrp="1"/>
          </p:cNvSpPr>
          <p:nvPr>
            <p:ph type="title"/>
          </p:nvPr>
        </p:nvSpPr>
        <p:spPr>
          <a:xfrm>
            <a:off x="571023" y="219870"/>
            <a:ext cx="8977313" cy="592138"/>
          </a:xfrm>
        </p:spPr>
        <p:txBody>
          <a:bodyPr/>
          <a:lstStyle/>
          <a:p>
            <a:r>
              <a:rPr lang="en-US" dirty="0"/>
              <a:t>Click to edit Master title style</a:t>
            </a:r>
          </a:p>
        </p:txBody>
      </p:sp>
    </p:spTree>
    <p:extLst>
      <p:ext uri="{BB962C8B-B14F-4D97-AF65-F5344CB8AC3E}">
        <p14:creationId xmlns:p14="http://schemas.microsoft.com/office/powerpoint/2010/main" val="1328312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694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1001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2C1799-20A1-B311-EF25-6236DC241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20D60D-4B6E-03D9-EC79-B83A8048DF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D9037-2662-07F2-FEDF-51DEFFEF7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3D1EC9-772C-D447-B0BC-8878E13AD991}" type="datetimeFigureOut">
              <a:rPr lang="en-US" smtClean="0"/>
              <a:t>7/20/2025</a:t>
            </a:fld>
            <a:endParaRPr lang="en-US"/>
          </a:p>
        </p:txBody>
      </p:sp>
      <p:sp>
        <p:nvSpPr>
          <p:cNvPr id="5" name="Footer Placeholder 4">
            <a:extLst>
              <a:ext uri="{FF2B5EF4-FFF2-40B4-BE49-F238E27FC236}">
                <a16:creationId xmlns:a16="http://schemas.microsoft.com/office/drawing/2014/main" id="{2F85988B-8C12-9161-2E0C-0EFE42D251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EA17EC-F41C-8172-36ED-FE2184ED5B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412CF8-9496-C741-9A19-CFC46C0C0D9D}" type="slidenum">
              <a:rPr lang="en-US" smtClean="0"/>
              <a:t>‹#›</a:t>
            </a:fld>
            <a:endParaRPr lang="en-US"/>
          </a:p>
        </p:txBody>
      </p:sp>
    </p:spTree>
    <p:extLst>
      <p:ext uri="{BB962C8B-B14F-4D97-AF65-F5344CB8AC3E}">
        <p14:creationId xmlns:p14="http://schemas.microsoft.com/office/powerpoint/2010/main" val="4070043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1" r:id="rId4"/>
    <p:sldLayoutId id="214748365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3886D4E-8FCC-2591-2B61-0F35BE5CCCFC}"/>
              </a:ext>
            </a:extLst>
          </p:cNvPr>
          <p:cNvSpPr>
            <a:spLocks noGrp="1"/>
          </p:cNvSpPr>
          <p:nvPr>
            <p:ph type="ctrTitle"/>
          </p:nvPr>
        </p:nvSpPr>
        <p:spPr/>
        <p:txBody>
          <a:bodyPr/>
          <a:lstStyle/>
          <a:p>
            <a:r>
              <a:rPr lang="en-US" dirty="0"/>
              <a:t>KICK OFF MEETING</a:t>
            </a:r>
            <a:endParaRPr lang="id-ID" dirty="0"/>
          </a:p>
        </p:txBody>
      </p:sp>
      <p:sp>
        <p:nvSpPr>
          <p:cNvPr id="3" name="Subjudul 2">
            <a:extLst>
              <a:ext uri="{FF2B5EF4-FFF2-40B4-BE49-F238E27FC236}">
                <a16:creationId xmlns:a16="http://schemas.microsoft.com/office/drawing/2014/main" id="{302934AC-0341-679C-C031-5057F0C609A3}"/>
              </a:ext>
            </a:extLst>
          </p:cNvPr>
          <p:cNvSpPr>
            <a:spLocks noGrp="1"/>
          </p:cNvSpPr>
          <p:nvPr>
            <p:ph type="subTitle" idx="1"/>
          </p:nvPr>
        </p:nvSpPr>
        <p:spPr/>
        <p:txBody>
          <a:bodyPr/>
          <a:lstStyle/>
          <a:p>
            <a:r>
              <a:rPr lang="en-US" dirty="0"/>
              <a:t>PROTECTIVE COATING TANGKI TIMBUN NO. 05 &amp; NO.18</a:t>
            </a:r>
          </a:p>
          <a:p>
            <a:r>
              <a:rPr lang="en-US" dirty="0"/>
              <a:t> IT SEMARANG </a:t>
            </a:r>
            <a:endParaRPr lang="id-ID" dirty="0"/>
          </a:p>
        </p:txBody>
      </p:sp>
    </p:spTree>
    <p:extLst>
      <p:ext uri="{BB962C8B-B14F-4D97-AF65-F5344CB8AC3E}">
        <p14:creationId xmlns:p14="http://schemas.microsoft.com/office/powerpoint/2010/main" val="2769820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EA088D6-D9E7-ECF2-A9FF-8BBF00A053B4}"/>
              </a:ext>
            </a:extLst>
          </p:cNvPr>
          <p:cNvSpPr>
            <a:spLocks noGrp="1"/>
          </p:cNvSpPr>
          <p:nvPr>
            <p:ph type="title"/>
          </p:nvPr>
        </p:nvSpPr>
        <p:spPr>
          <a:xfrm>
            <a:off x="320040" y="2240915"/>
            <a:ext cx="2052638" cy="807403"/>
          </a:xfrm>
        </p:spPr>
        <p:txBody>
          <a:bodyPr>
            <a:normAutofit/>
          </a:bodyPr>
          <a:lstStyle/>
          <a:p>
            <a:r>
              <a:rPr lang="en-US" sz="2800" b="1" dirty="0"/>
              <a:t>DAFTAR ISI :</a:t>
            </a:r>
            <a:endParaRPr lang="id-ID" sz="2800" b="1" dirty="0"/>
          </a:p>
        </p:txBody>
      </p:sp>
      <p:sp>
        <p:nvSpPr>
          <p:cNvPr id="3" name="Tampungan Konten 2">
            <a:extLst>
              <a:ext uri="{FF2B5EF4-FFF2-40B4-BE49-F238E27FC236}">
                <a16:creationId xmlns:a16="http://schemas.microsoft.com/office/drawing/2014/main" id="{CF9D4468-F671-780E-101D-383E89279068}"/>
              </a:ext>
            </a:extLst>
          </p:cNvPr>
          <p:cNvSpPr>
            <a:spLocks noGrp="1"/>
          </p:cNvSpPr>
          <p:nvPr>
            <p:ph idx="1"/>
          </p:nvPr>
        </p:nvSpPr>
        <p:spPr>
          <a:xfrm>
            <a:off x="320040" y="3048318"/>
            <a:ext cx="6568440" cy="2478087"/>
          </a:xfrm>
        </p:spPr>
        <p:txBody>
          <a:bodyPr>
            <a:normAutofit lnSpcReduction="10000"/>
          </a:bodyPr>
          <a:lstStyle/>
          <a:p>
            <a:r>
              <a:rPr lang="en-US" dirty="0" err="1"/>
              <a:t>Struktur</a:t>
            </a:r>
            <a:r>
              <a:rPr lang="en-US" dirty="0"/>
              <a:t> </a:t>
            </a:r>
            <a:r>
              <a:rPr lang="en-US" dirty="0" err="1"/>
              <a:t>Organisasi</a:t>
            </a:r>
            <a:endParaRPr lang="en-US" dirty="0"/>
          </a:p>
          <a:p>
            <a:r>
              <a:rPr lang="en-US" dirty="0"/>
              <a:t>Time Schedule</a:t>
            </a:r>
          </a:p>
          <a:p>
            <a:r>
              <a:rPr lang="en-US" dirty="0"/>
              <a:t>Tools &amp; </a:t>
            </a:r>
            <a:r>
              <a:rPr lang="en-US" dirty="0" err="1"/>
              <a:t>Resoursce</a:t>
            </a:r>
            <a:endParaRPr lang="en-US" dirty="0"/>
          </a:p>
          <a:p>
            <a:r>
              <a:rPr lang="en-US" dirty="0" err="1"/>
              <a:t>Prosedur</a:t>
            </a:r>
            <a:r>
              <a:rPr lang="en-US" dirty="0"/>
              <a:t> </a:t>
            </a:r>
            <a:r>
              <a:rPr lang="en-US" dirty="0" err="1"/>
              <a:t>Pekerjaan</a:t>
            </a:r>
            <a:r>
              <a:rPr lang="en-US" dirty="0"/>
              <a:t> </a:t>
            </a:r>
          </a:p>
          <a:p>
            <a:r>
              <a:rPr lang="en-US" dirty="0"/>
              <a:t>Lain </a:t>
            </a:r>
            <a:r>
              <a:rPr lang="en-US" dirty="0" err="1"/>
              <a:t>Lain</a:t>
            </a:r>
            <a:endParaRPr lang="id-ID" dirty="0"/>
          </a:p>
        </p:txBody>
      </p:sp>
      <p:sp>
        <p:nvSpPr>
          <p:cNvPr id="4" name="Judul 1">
            <a:extLst>
              <a:ext uri="{FF2B5EF4-FFF2-40B4-BE49-F238E27FC236}">
                <a16:creationId xmlns:a16="http://schemas.microsoft.com/office/drawing/2014/main" id="{1F0C1742-DE3F-0CAD-572E-B0ED5675C8B7}"/>
              </a:ext>
            </a:extLst>
          </p:cNvPr>
          <p:cNvSpPr txBox="1">
            <a:spLocks/>
          </p:cNvSpPr>
          <p:nvPr/>
        </p:nvSpPr>
        <p:spPr>
          <a:xfrm>
            <a:off x="137160" y="1211025"/>
            <a:ext cx="10896600" cy="428466"/>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PROTECTIVE COATING TANGKI TIMBUN NO. 05 &amp; NO.18</a:t>
            </a:r>
          </a:p>
          <a:p>
            <a:endParaRPr lang="id-ID" dirty="0"/>
          </a:p>
        </p:txBody>
      </p:sp>
      <p:sp>
        <p:nvSpPr>
          <p:cNvPr id="5" name="Judul 1">
            <a:extLst>
              <a:ext uri="{FF2B5EF4-FFF2-40B4-BE49-F238E27FC236}">
                <a16:creationId xmlns:a16="http://schemas.microsoft.com/office/drawing/2014/main" id="{AA1F10E0-2C85-D0FA-B12F-764F6A076CC5}"/>
              </a:ext>
            </a:extLst>
          </p:cNvPr>
          <p:cNvSpPr txBox="1">
            <a:spLocks/>
          </p:cNvSpPr>
          <p:nvPr/>
        </p:nvSpPr>
        <p:spPr>
          <a:xfrm>
            <a:off x="137160" y="1211025"/>
            <a:ext cx="5699760" cy="8704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srgbClr val="FF0000"/>
                </a:solidFill>
              </a:rPr>
              <a:t>TARGET PEKERJAAN 135 HARI KALENDER</a:t>
            </a:r>
            <a:endParaRPr lang="id-ID" sz="2400" b="1" dirty="0">
              <a:solidFill>
                <a:srgbClr val="FF0000"/>
              </a:solidFill>
            </a:endParaRPr>
          </a:p>
        </p:txBody>
      </p:sp>
    </p:spTree>
    <p:extLst>
      <p:ext uri="{BB962C8B-B14F-4D97-AF65-F5344CB8AC3E}">
        <p14:creationId xmlns:p14="http://schemas.microsoft.com/office/powerpoint/2010/main" val="2360072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754D4-BE06-D75E-085F-1A0DC28ED4D0}"/>
            </a:ext>
          </a:extLst>
        </p:cNvPr>
        <p:cNvGrpSpPr/>
        <p:nvPr/>
      </p:nvGrpSpPr>
      <p:grpSpPr>
        <a:xfrm>
          <a:off x="0" y="0"/>
          <a:ext cx="0" cy="0"/>
          <a:chOff x="0" y="0"/>
          <a:chExt cx="0" cy="0"/>
        </a:xfrm>
      </p:grpSpPr>
      <p:grpSp>
        <p:nvGrpSpPr>
          <p:cNvPr id="53" name="Grup 52">
            <a:extLst>
              <a:ext uri="{FF2B5EF4-FFF2-40B4-BE49-F238E27FC236}">
                <a16:creationId xmlns:a16="http://schemas.microsoft.com/office/drawing/2014/main" id="{D7984CCC-EC8E-33D8-82C0-2C8DB7F85617}"/>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2CF5C466-3044-E08C-35E0-03F7DDBD79D2}"/>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2F3A5B54-F7EB-0EF9-680C-1643A5BAB78B}"/>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C25ACAFA-3843-C347-6CB5-6AD803FB3819}"/>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48479375-0177-5CEA-7E9D-C304946B998C}"/>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pic>
        <p:nvPicPr>
          <p:cNvPr id="3" name="Picture 2">
            <a:extLst>
              <a:ext uri="{FF2B5EF4-FFF2-40B4-BE49-F238E27FC236}">
                <a16:creationId xmlns:a16="http://schemas.microsoft.com/office/drawing/2014/main" id="{B091034B-7D19-49AD-5305-A9B8560474F5}"/>
              </a:ext>
            </a:extLst>
          </p:cNvPr>
          <p:cNvPicPr>
            <a:picLocks noChangeAspect="1"/>
          </p:cNvPicPr>
          <p:nvPr/>
        </p:nvPicPr>
        <p:blipFill>
          <a:blip r:embed="rId2"/>
          <a:srcRect t="12055"/>
          <a:stretch>
            <a:fillRect/>
          </a:stretch>
        </p:blipFill>
        <p:spPr>
          <a:xfrm>
            <a:off x="46893" y="824971"/>
            <a:ext cx="12098214" cy="5039330"/>
          </a:xfrm>
          <a:prstGeom prst="rect">
            <a:avLst/>
          </a:prstGeom>
        </p:spPr>
      </p:pic>
      <p:sp>
        <p:nvSpPr>
          <p:cNvPr id="13" name="Rectangle: Rounded Corners 12">
            <a:extLst>
              <a:ext uri="{FF2B5EF4-FFF2-40B4-BE49-F238E27FC236}">
                <a16:creationId xmlns:a16="http://schemas.microsoft.com/office/drawing/2014/main" id="{D7DDF5F4-47D4-4F04-D74C-B40290557844}"/>
              </a:ext>
            </a:extLst>
          </p:cNvPr>
          <p:cNvSpPr/>
          <p:nvPr/>
        </p:nvSpPr>
        <p:spPr>
          <a:xfrm>
            <a:off x="79588" y="201027"/>
            <a:ext cx="8830522" cy="488589"/>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E48E226-1A88-6984-347A-B607473F0A84}"/>
              </a:ext>
            </a:extLst>
          </p:cNvPr>
          <p:cNvSpPr/>
          <p:nvPr/>
        </p:nvSpPr>
        <p:spPr>
          <a:xfrm>
            <a:off x="7995710" y="201027"/>
            <a:ext cx="914400" cy="48858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FFA5720-1ACC-CDE6-F848-02D69B3B68A6}"/>
              </a:ext>
            </a:extLst>
          </p:cNvPr>
          <p:cNvSpPr/>
          <p:nvPr/>
        </p:nvSpPr>
        <p:spPr>
          <a:xfrm>
            <a:off x="8093534" y="201027"/>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6" name="TextBox 15">
            <a:extLst>
              <a:ext uri="{FF2B5EF4-FFF2-40B4-BE49-F238E27FC236}">
                <a16:creationId xmlns:a16="http://schemas.microsoft.com/office/drawing/2014/main" id="{FB526C8E-C4D7-C27B-BE63-A1CEB5698211}"/>
              </a:ext>
            </a:extLst>
          </p:cNvPr>
          <p:cNvSpPr txBox="1"/>
          <p:nvPr/>
        </p:nvSpPr>
        <p:spPr>
          <a:xfrm>
            <a:off x="128464" y="227951"/>
            <a:ext cx="7916158" cy="461665"/>
          </a:xfrm>
          <a:prstGeom prst="rect">
            <a:avLst/>
          </a:prstGeom>
          <a:noFill/>
        </p:spPr>
        <p:txBody>
          <a:bodyPr wrap="square" rtlCol="0">
            <a:spAutoFit/>
          </a:bodyPr>
          <a:lstStyle/>
          <a:p>
            <a:r>
              <a:rPr lang="en-US" sz="2400" b="1" dirty="0"/>
              <a:t>STRUKTUR ORGANISASI</a:t>
            </a:r>
          </a:p>
        </p:txBody>
      </p:sp>
    </p:spTree>
    <p:extLst>
      <p:ext uri="{BB962C8B-B14F-4D97-AF65-F5344CB8AC3E}">
        <p14:creationId xmlns:p14="http://schemas.microsoft.com/office/powerpoint/2010/main" val="537366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up 52">
            <a:extLst>
              <a:ext uri="{FF2B5EF4-FFF2-40B4-BE49-F238E27FC236}">
                <a16:creationId xmlns:a16="http://schemas.microsoft.com/office/drawing/2014/main" id="{06D20EC3-F484-AC9E-E369-BB73D2EAE25E}"/>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F944C62E-DC07-A522-1839-104A544DAA5A}"/>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AA4882EA-15F9-CFF6-B133-EFE1F06D4DE8}"/>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97707846-369E-A18C-394D-CB4B78B9C2BE}"/>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2F998381-338C-80B1-4C07-757DB7C20FEA}"/>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pic>
        <p:nvPicPr>
          <p:cNvPr id="3" name="Picture 2">
            <a:extLst>
              <a:ext uri="{FF2B5EF4-FFF2-40B4-BE49-F238E27FC236}">
                <a16:creationId xmlns:a16="http://schemas.microsoft.com/office/drawing/2014/main" id="{943E1FC3-DB49-BF06-886F-BA5AFB436AAD}"/>
              </a:ext>
            </a:extLst>
          </p:cNvPr>
          <p:cNvPicPr>
            <a:picLocks noChangeAspect="1"/>
          </p:cNvPicPr>
          <p:nvPr/>
        </p:nvPicPr>
        <p:blipFill>
          <a:blip r:embed="rId2"/>
          <a:srcRect t="12909" b="25575"/>
          <a:stretch>
            <a:fillRect/>
          </a:stretch>
        </p:blipFill>
        <p:spPr>
          <a:xfrm>
            <a:off x="126629" y="824567"/>
            <a:ext cx="11975869" cy="5208866"/>
          </a:xfrm>
          <a:prstGeom prst="rect">
            <a:avLst/>
          </a:prstGeom>
        </p:spPr>
      </p:pic>
      <p:sp>
        <p:nvSpPr>
          <p:cNvPr id="8" name="Rectangle: Rounded Corners 7">
            <a:extLst>
              <a:ext uri="{FF2B5EF4-FFF2-40B4-BE49-F238E27FC236}">
                <a16:creationId xmlns:a16="http://schemas.microsoft.com/office/drawing/2014/main" id="{6912AB54-967A-14C7-2112-2AB6FCBEF09E}"/>
              </a:ext>
            </a:extLst>
          </p:cNvPr>
          <p:cNvSpPr/>
          <p:nvPr/>
        </p:nvSpPr>
        <p:spPr>
          <a:xfrm>
            <a:off x="77753" y="203550"/>
            <a:ext cx="8830522" cy="488589"/>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FFC901E1-9AA1-7D80-C4BF-0135AF828CB9}"/>
              </a:ext>
            </a:extLst>
          </p:cNvPr>
          <p:cNvSpPr/>
          <p:nvPr/>
        </p:nvSpPr>
        <p:spPr>
          <a:xfrm>
            <a:off x="7993875" y="203550"/>
            <a:ext cx="914400" cy="48858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85475E5-759B-EADA-E5BA-247CA561B9B5}"/>
              </a:ext>
            </a:extLst>
          </p:cNvPr>
          <p:cNvSpPr/>
          <p:nvPr/>
        </p:nvSpPr>
        <p:spPr>
          <a:xfrm>
            <a:off x="8091699" y="2035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1" name="TextBox 10">
            <a:extLst>
              <a:ext uri="{FF2B5EF4-FFF2-40B4-BE49-F238E27FC236}">
                <a16:creationId xmlns:a16="http://schemas.microsoft.com/office/drawing/2014/main" id="{55D78EBB-0274-203A-88A8-723848689DF2}"/>
              </a:ext>
            </a:extLst>
          </p:cNvPr>
          <p:cNvSpPr txBox="1"/>
          <p:nvPr/>
        </p:nvSpPr>
        <p:spPr>
          <a:xfrm>
            <a:off x="126629" y="230474"/>
            <a:ext cx="7916158" cy="461665"/>
          </a:xfrm>
          <a:prstGeom prst="rect">
            <a:avLst/>
          </a:prstGeom>
          <a:noFill/>
        </p:spPr>
        <p:txBody>
          <a:bodyPr wrap="square" rtlCol="0">
            <a:spAutoFit/>
          </a:bodyPr>
          <a:lstStyle/>
          <a:p>
            <a:r>
              <a:rPr lang="en-US" sz="2400" b="1" dirty="0"/>
              <a:t>TIME SCHEDULE</a:t>
            </a:r>
          </a:p>
        </p:txBody>
      </p:sp>
    </p:spTree>
    <p:extLst>
      <p:ext uri="{BB962C8B-B14F-4D97-AF65-F5344CB8AC3E}">
        <p14:creationId xmlns:p14="http://schemas.microsoft.com/office/powerpoint/2010/main" val="3155077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86B28-FBDE-5974-884E-CAA90D6C72E6}"/>
            </a:ext>
          </a:extLst>
        </p:cNvPr>
        <p:cNvGrpSpPr/>
        <p:nvPr/>
      </p:nvGrpSpPr>
      <p:grpSpPr>
        <a:xfrm>
          <a:off x="0" y="0"/>
          <a:ext cx="0" cy="0"/>
          <a:chOff x="0" y="0"/>
          <a:chExt cx="0" cy="0"/>
        </a:xfrm>
      </p:grpSpPr>
      <p:grpSp>
        <p:nvGrpSpPr>
          <p:cNvPr id="53" name="Grup 52">
            <a:extLst>
              <a:ext uri="{FF2B5EF4-FFF2-40B4-BE49-F238E27FC236}">
                <a16:creationId xmlns:a16="http://schemas.microsoft.com/office/drawing/2014/main" id="{7C142753-3F28-E6E5-B34D-5A6271EA46E8}"/>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362C5264-BCE9-4187-467E-C56BFD2D302F}"/>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CABB10EC-9B7E-180D-4E02-86B7C1C8009F}"/>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B595D214-E3D9-2CB8-171C-4299AE75997F}"/>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CEACC79E-0F8F-9AE5-1294-6009B9E7E752}"/>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aphicFrame>
        <p:nvGraphicFramePr>
          <p:cNvPr id="4" name="Table 3">
            <a:extLst>
              <a:ext uri="{FF2B5EF4-FFF2-40B4-BE49-F238E27FC236}">
                <a16:creationId xmlns:a16="http://schemas.microsoft.com/office/drawing/2014/main" id="{0EA46FCD-B19A-7099-EA85-C6B34428FA2D}"/>
              </a:ext>
            </a:extLst>
          </p:cNvPr>
          <p:cNvGraphicFramePr>
            <a:graphicFrameLocks noGrp="1"/>
          </p:cNvGraphicFramePr>
          <p:nvPr>
            <p:extLst>
              <p:ext uri="{D42A27DB-BD31-4B8C-83A1-F6EECF244321}">
                <p14:modId xmlns:p14="http://schemas.microsoft.com/office/powerpoint/2010/main" val="2407278483"/>
              </p:ext>
            </p:extLst>
          </p:nvPr>
        </p:nvGraphicFramePr>
        <p:xfrm>
          <a:off x="136201" y="860513"/>
          <a:ext cx="11919597" cy="5426105"/>
        </p:xfrm>
        <a:graphic>
          <a:graphicData uri="http://schemas.openxmlformats.org/drawingml/2006/table">
            <a:tbl>
              <a:tblPr firstRow="1" bandRow="1">
                <a:tableStyleId>{5C22544A-7EE6-4342-B048-85BDC9FD1C3A}</a:tableStyleId>
              </a:tblPr>
              <a:tblGrid>
                <a:gridCol w="622992">
                  <a:extLst>
                    <a:ext uri="{9D8B030D-6E8A-4147-A177-3AD203B41FA5}">
                      <a16:colId xmlns:a16="http://schemas.microsoft.com/office/drawing/2014/main" val="2203692190"/>
                    </a:ext>
                  </a:extLst>
                </a:gridCol>
                <a:gridCol w="5336807">
                  <a:extLst>
                    <a:ext uri="{9D8B030D-6E8A-4147-A177-3AD203B41FA5}">
                      <a16:colId xmlns:a16="http://schemas.microsoft.com/office/drawing/2014/main" val="2453505277"/>
                    </a:ext>
                  </a:extLst>
                </a:gridCol>
                <a:gridCol w="2979899">
                  <a:extLst>
                    <a:ext uri="{9D8B030D-6E8A-4147-A177-3AD203B41FA5}">
                      <a16:colId xmlns:a16="http://schemas.microsoft.com/office/drawing/2014/main" val="2779849467"/>
                    </a:ext>
                  </a:extLst>
                </a:gridCol>
                <a:gridCol w="2979899">
                  <a:extLst>
                    <a:ext uri="{9D8B030D-6E8A-4147-A177-3AD203B41FA5}">
                      <a16:colId xmlns:a16="http://schemas.microsoft.com/office/drawing/2014/main" val="3602907528"/>
                    </a:ext>
                  </a:extLst>
                </a:gridCol>
              </a:tblGrid>
              <a:tr h="412109">
                <a:tc>
                  <a:txBody>
                    <a:bodyPr/>
                    <a:lstStyle/>
                    <a:p>
                      <a:pPr algn="ctr"/>
                      <a:r>
                        <a:rPr lang="en-US" dirty="0"/>
                        <a:t>NO</a:t>
                      </a:r>
                      <a:endParaRPr lang="en-ID" dirty="0"/>
                    </a:p>
                  </a:txBody>
                  <a:tcPr/>
                </a:tc>
                <a:tc>
                  <a:txBody>
                    <a:bodyPr/>
                    <a:lstStyle/>
                    <a:p>
                      <a:pPr algn="ctr"/>
                      <a:r>
                        <a:rPr lang="en-US" dirty="0"/>
                        <a:t>URAIAN</a:t>
                      </a:r>
                      <a:endParaRPr lang="en-ID" dirty="0"/>
                    </a:p>
                  </a:txBody>
                  <a:tcPr/>
                </a:tc>
                <a:tc>
                  <a:txBody>
                    <a:bodyPr/>
                    <a:lstStyle/>
                    <a:p>
                      <a:pPr algn="ctr"/>
                      <a:r>
                        <a:rPr lang="en-US" dirty="0"/>
                        <a:t>JUMLAH</a:t>
                      </a:r>
                      <a:endParaRPr lang="en-ID" dirty="0"/>
                    </a:p>
                  </a:txBody>
                  <a:tcPr/>
                </a:tc>
                <a:tc>
                  <a:txBody>
                    <a:bodyPr/>
                    <a:lstStyle/>
                    <a:p>
                      <a:pPr algn="ctr"/>
                      <a:r>
                        <a:rPr lang="en-US" dirty="0"/>
                        <a:t>KET</a:t>
                      </a:r>
                      <a:endParaRPr lang="en-ID" dirty="0"/>
                    </a:p>
                  </a:txBody>
                  <a:tcPr/>
                </a:tc>
                <a:extLst>
                  <a:ext uri="{0D108BD9-81ED-4DB2-BD59-A6C34878D82A}">
                    <a16:rowId xmlns:a16="http://schemas.microsoft.com/office/drawing/2014/main" val="4126986525"/>
                  </a:ext>
                </a:extLst>
              </a:tr>
              <a:tr h="417833">
                <a:tc>
                  <a:txBody>
                    <a:bodyPr/>
                    <a:lstStyle/>
                    <a:p>
                      <a:pPr algn="ctr"/>
                      <a:r>
                        <a:rPr lang="en-US" dirty="0"/>
                        <a:t>1</a:t>
                      </a:r>
                      <a:endParaRPr lang="en-ID" dirty="0"/>
                    </a:p>
                  </a:txBody>
                  <a:tcPr/>
                </a:tc>
                <a:tc>
                  <a:txBody>
                    <a:bodyPr/>
                    <a:lstStyle/>
                    <a:p>
                      <a:r>
                        <a:rPr lang="en-US" dirty="0"/>
                        <a:t>PROJECT MANAGER</a:t>
                      </a:r>
                      <a:endParaRPr lang="en-ID" dirty="0"/>
                    </a:p>
                  </a:txBody>
                  <a:tcPr/>
                </a:tc>
                <a:tc>
                  <a:txBody>
                    <a:bodyPr/>
                    <a:lstStyle/>
                    <a:p>
                      <a:pPr algn="ctr"/>
                      <a:r>
                        <a:rPr lang="en-US" dirty="0"/>
                        <a:t>1 Orang</a:t>
                      </a:r>
                      <a:endParaRPr lang="en-ID" dirty="0"/>
                    </a:p>
                  </a:txBody>
                  <a:tcPr/>
                </a:tc>
                <a:tc>
                  <a:txBody>
                    <a:bodyPr/>
                    <a:lstStyle/>
                    <a:p>
                      <a:pPr algn="ctr"/>
                      <a:r>
                        <a:rPr lang="en-US" dirty="0"/>
                        <a:t>READY</a:t>
                      </a:r>
                      <a:endParaRPr lang="en-ID" dirty="0"/>
                    </a:p>
                  </a:txBody>
                  <a:tcPr/>
                </a:tc>
                <a:extLst>
                  <a:ext uri="{0D108BD9-81ED-4DB2-BD59-A6C34878D82A}">
                    <a16:rowId xmlns:a16="http://schemas.microsoft.com/office/drawing/2014/main" val="3027933317"/>
                  </a:ext>
                </a:extLst>
              </a:tr>
              <a:tr h="417833">
                <a:tc>
                  <a:txBody>
                    <a:bodyPr/>
                    <a:lstStyle/>
                    <a:p>
                      <a:pPr algn="ctr"/>
                      <a:r>
                        <a:rPr lang="en-US" dirty="0"/>
                        <a:t>2</a:t>
                      </a:r>
                      <a:endParaRPr lang="en-ID" dirty="0"/>
                    </a:p>
                  </a:txBody>
                  <a:tcPr/>
                </a:tc>
                <a:tc>
                  <a:txBody>
                    <a:bodyPr/>
                    <a:lstStyle/>
                    <a:p>
                      <a:r>
                        <a:rPr lang="en-US" dirty="0"/>
                        <a:t>AREA MANAGER / ENGINEERING AREA</a:t>
                      </a:r>
                      <a:endParaRPr lang="en-ID" dirty="0"/>
                    </a:p>
                  </a:txBody>
                  <a:tcPr/>
                </a:tc>
                <a:tc>
                  <a:txBody>
                    <a:bodyPr/>
                    <a:lstStyle/>
                    <a:p>
                      <a:pPr algn="ctr"/>
                      <a:r>
                        <a:rPr lang="en-US" dirty="0"/>
                        <a:t>1 Orang</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READY</a:t>
                      </a:r>
                      <a:endParaRPr lang="en-ID" dirty="0"/>
                    </a:p>
                  </a:txBody>
                  <a:tcPr/>
                </a:tc>
                <a:extLst>
                  <a:ext uri="{0D108BD9-81ED-4DB2-BD59-A6C34878D82A}">
                    <a16:rowId xmlns:a16="http://schemas.microsoft.com/office/drawing/2014/main" val="525309250"/>
                  </a:ext>
                </a:extLst>
              </a:tr>
              <a:tr h="417833">
                <a:tc>
                  <a:txBody>
                    <a:bodyPr/>
                    <a:lstStyle/>
                    <a:p>
                      <a:pPr algn="ctr"/>
                      <a:r>
                        <a:rPr lang="en-US" dirty="0"/>
                        <a:t>3</a:t>
                      </a:r>
                      <a:endParaRPr lang="en-ID" dirty="0"/>
                    </a:p>
                  </a:txBody>
                  <a:tcPr/>
                </a:tc>
                <a:tc>
                  <a:txBody>
                    <a:bodyPr/>
                    <a:lstStyle/>
                    <a:p>
                      <a:r>
                        <a:rPr lang="en-US" dirty="0"/>
                        <a:t>SITE MANAGER</a:t>
                      </a:r>
                      <a:endParaRPr lang="en-ID" dirty="0"/>
                    </a:p>
                  </a:txBody>
                  <a:tcPr/>
                </a:tc>
                <a:tc>
                  <a:txBody>
                    <a:bodyPr/>
                    <a:lstStyle/>
                    <a:p>
                      <a:pPr algn="ctr"/>
                      <a:r>
                        <a:rPr lang="en-US" dirty="0"/>
                        <a:t>1 Orang</a:t>
                      </a:r>
                      <a:endParaRPr lang="en-ID" dirty="0"/>
                    </a:p>
                  </a:txBody>
                  <a:tcPr/>
                </a:tc>
                <a:tc>
                  <a:txBody>
                    <a:bodyPr/>
                    <a:lstStyle/>
                    <a:p>
                      <a:pPr algn="ctr"/>
                      <a:r>
                        <a:rPr lang="en-US" dirty="0"/>
                        <a:t>N/A</a:t>
                      </a:r>
                      <a:endParaRPr lang="en-ID" dirty="0"/>
                    </a:p>
                  </a:txBody>
                  <a:tcPr/>
                </a:tc>
                <a:extLst>
                  <a:ext uri="{0D108BD9-81ED-4DB2-BD59-A6C34878D82A}">
                    <a16:rowId xmlns:a16="http://schemas.microsoft.com/office/drawing/2014/main" val="177392807"/>
                  </a:ext>
                </a:extLst>
              </a:tr>
              <a:tr h="417833">
                <a:tc>
                  <a:txBody>
                    <a:bodyPr/>
                    <a:lstStyle/>
                    <a:p>
                      <a:pPr algn="ctr"/>
                      <a:r>
                        <a:rPr lang="en-US" dirty="0"/>
                        <a:t>4</a:t>
                      </a:r>
                      <a:endParaRPr lang="en-ID" dirty="0"/>
                    </a:p>
                  </a:txBody>
                  <a:tcPr/>
                </a:tc>
                <a:tc>
                  <a:txBody>
                    <a:bodyPr/>
                    <a:lstStyle/>
                    <a:p>
                      <a:r>
                        <a:rPr lang="en-US" dirty="0"/>
                        <a:t>KEUANGAN</a:t>
                      </a:r>
                      <a:endParaRPr lang="en-ID" dirty="0"/>
                    </a:p>
                  </a:txBody>
                  <a:tcPr/>
                </a:tc>
                <a:tc>
                  <a:txBody>
                    <a:bodyPr/>
                    <a:lstStyle/>
                    <a:p>
                      <a:pPr algn="ctr"/>
                      <a:r>
                        <a:rPr lang="en-US" dirty="0"/>
                        <a:t>1 Orang</a:t>
                      </a:r>
                      <a:endParaRPr lang="en-ID" dirty="0"/>
                    </a:p>
                  </a:txBody>
                  <a:tcPr/>
                </a:tc>
                <a:tc>
                  <a:txBody>
                    <a:bodyPr/>
                    <a:lstStyle/>
                    <a:p>
                      <a:pPr algn="ctr"/>
                      <a:r>
                        <a:rPr lang="en-US" dirty="0"/>
                        <a:t>READY</a:t>
                      </a:r>
                      <a:endParaRPr lang="en-ID" dirty="0"/>
                    </a:p>
                  </a:txBody>
                  <a:tcPr/>
                </a:tc>
                <a:extLst>
                  <a:ext uri="{0D108BD9-81ED-4DB2-BD59-A6C34878D82A}">
                    <a16:rowId xmlns:a16="http://schemas.microsoft.com/office/drawing/2014/main" val="890743022"/>
                  </a:ext>
                </a:extLst>
              </a:tr>
              <a:tr h="417833">
                <a:tc>
                  <a:txBody>
                    <a:bodyPr/>
                    <a:lstStyle/>
                    <a:p>
                      <a:pPr algn="ctr"/>
                      <a:r>
                        <a:rPr lang="en-US" dirty="0"/>
                        <a:t>5</a:t>
                      </a:r>
                      <a:endParaRPr lang="en-ID" dirty="0"/>
                    </a:p>
                  </a:txBody>
                  <a:tcPr/>
                </a:tc>
                <a:tc>
                  <a:txBody>
                    <a:bodyPr/>
                    <a:lstStyle/>
                    <a:p>
                      <a:r>
                        <a:rPr lang="en-US" dirty="0"/>
                        <a:t>SAFETY OFFICER</a:t>
                      </a:r>
                      <a:endParaRPr lang="en-ID" dirty="0"/>
                    </a:p>
                  </a:txBody>
                  <a:tcPr/>
                </a:tc>
                <a:tc>
                  <a:txBody>
                    <a:bodyPr/>
                    <a:lstStyle/>
                    <a:p>
                      <a:pPr algn="ctr"/>
                      <a:r>
                        <a:rPr lang="en-US" dirty="0"/>
                        <a:t>1 Orang</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READY</a:t>
                      </a:r>
                      <a:endParaRPr lang="en-ID" dirty="0"/>
                    </a:p>
                  </a:txBody>
                  <a:tcPr/>
                </a:tc>
                <a:extLst>
                  <a:ext uri="{0D108BD9-81ED-4DB2-BD59-A6C34878D82A}">
                    <a16:rowId xmlns:a16="http://schemas.microsoft.com/office/drawing/2014/main" val="753270205"/>
                  </a:ext>
                </a:extLst>
              </a:tr>
              <a:tr h="417833">
                <a:tc>
                  <a:txBody>
                    <a:bodyPr/>
                    <a:lstStyle/>
                    <a:p>
                      <a:pPr algn="ctr"/>
                      <a:r>
                        <a:rPr lang="en-US" dirty="0"/>
                        <a:t>6</a:t>
                      </a:r>
                      <a:endParaRPr lang="en-ID" dirty="0"/>
                    </a:p>
                  </a:txBody>
                  <a:tcPr/>
                </a:tc>
                <a:tc>
                  <a:txBody>
                    <a:bodyPr/>
                    <a:lstStyle/>
                    <a:p>
                      <a:r>
                        <a:rPr lang="en-US" dirty="0"/>
                        <a:t>FOREMAN</a:t>
                      </a:r>
                      <a:endParaRPr lang="en-ID" dirty="0"/>
                    </a:p>
                  </a:txBody>
                  <a:tcPr/>
                </a:tc>
                <a:tc>
                  <a:txBody>
                    <a:bodyPr/>
                    <a:lstStyle/>
                    <a:p>
                      <a:pPr algn="ctr"/>
                      <a:r>
                        <a:rPr lang="en-US" dirty="0"/>
                        <a:t>1 Orang</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READY</a:t>
                      </a:r>
                      <a:endParaRPr lang="en-ID" dirty="0"/>
                    </a:p>
                  </a:txBody>
                  <a:tcPr/>
                </a:tc>
                <a:extLst>
                  <a:ext uri="{0D108BD9-81ED-4DB2-BD59-A6C34878D82A}">
                    <a16:rowId xmlns:a16="http://schemas.microsoft.com/office/drawing/2014/main" val="388548230"/>
                  </a:ext>
                </a:extLst>
              </a:tr>
              <a:tr h="417833">
                <a:tc>
                  <a:txBody>
                    <a:bodyPr/>
                    <a:lstStyle/>
                    <a:p>
                      <a:pPr algn="ctr"/>
                      <a:r>
                        <a:rPr lang="en-US" dirty="0"/>
                        <a:t>7</a:t>
                      </a:r>
                      <a:endParaRPr lang="en-ID" dirty="0"/>
                    </a:p>
                  </a:txBody>
                  <a:tcPr/>
                </a:tc>
                <a:tc>
                  <a:txBody>
                    <a:bodyPr/>
                    <a:lstStyle/>
                    <a:p>
                      <a:r>
                        <a:rPr lang="en-US" dirty="0"/>
                        <a:t>DRAFTER</a:t>
                      </a:r>
                      <a:endParaRPr lang="en-ID" dirty="0"/>
                    </a:p>
                  </a:txBody>
                  <a:tcPr/>
                </a:tc>
                <a:tc>
                  <a:txBody>
                    <a:bodyPr/>
                    <a:lstStyle/>
                    <a:p>
                      <a:pPr algn="ctr"/>
                      <a:r>
                        <a:rPr lang="en-US" dirty="0"/>
                        <a:t>2 Orang</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READY</a:t>
                      </a:r>
                      <a:endParaRPr lang="en-ID" dirty="0"/>
                    </a:p>
                  </a:txBody>
                  <a:tcPr/>
                </a:tc>
                <a:extLst>
                  <a:ext uri="{0D108BD9-81ED-4DB2-BD59-A6C34878D82A}">
                    <a16:rowId xmlns:a16="http://schemas.microsoft.com/office/drawing/2014/main" val="2784762252"/>
                  </a:ext>
                </a:extLst>
              </a:tr>
              <a:tr h="417833">
                <a:tc>
                  <a:txBody>
                    <a:bodyPr/>
                    <a:lstStyle/>
                    <a:p>
                      <a:pPr algn="ctr"/>
                      <a:r>
                        <a:rPr lang="en-US" dirty="0"/>
                        <a:t>8</a:t>
                      </a:r>
                      <a:endParaRPr lang="en-ID" dirty="0"/>
                    </a:p>
                  </a:txBody>
                  <a:tcPr/>
                </a:tc>
                <a:tc>
                  <a:txBody>
                    <a:bodyPr/>
                    <a:lstStyle/>
                    <a:p>
                      <a:r>
                        <a:rPr lang="en-US" dirty="0"/>
                        <a:t>PROJECT CONTROL</a:t>
                      </a:r>
                      <a:endParaRPr lang="en-ID" dirty="0"/>
                    </a:p>
                  </a:txBody>
                  <a:tcPr/>
                </a:tc>
                <a:tc>
                  <a:txBody>
                    <a:bodyPr/>
                    <a:lstStyle/>
                    <a:p>
                      <a:pPr algn="ctr"/>
                      <a:r>
                        <a:rPr lang="en-US" dirty="0"/>
                        <a:t>1 Orang</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READY</a:t>
                      </a:r>
                      <a:endParaRPr lang="en-ID" dirty="0"/>
                    </a:p>
                  </a:txBody>
                  <a:tcPr/>
                </a:tc>
                <a:extLst>
                  <a:ext uri="{0D108BD9-81ED-4DB2-BD59-A6C34878D82A}">
                    <a16:rowId xmlns:a16="http://schemas.microsoft.com/office/drawing/2014/main" val="3799881844"/>
                  </a:ext>
                </a:extLst>
              </a:tr>
              <a:tr h="417833">
                <a:tc>
                  <a:txBody>
                    <a:bodyPr/>
                    <a:lstStyle/>
                    <a:p>
                      <a:pPr algn="ctr"/>
                      <a:r>
                        <a:rPr lang="en-US" dirty="0"/>
                        <a:t>9</a:t>
                      </a:r>
                      <a:endParaRPr lang="en-ID" dirty="0"/>
                    </a:p>
                  </a:txBody>
                  <a:tcPr/>
                </a:tc>
                <a:tc>
                  <a:txBody>
                    <a:bodyPr/>
                    <a:lstStyle/>
                    <a:p>
                      <a:r>
                        <a:rPr lang="en-US" dirty="0"/>
                        <a:t>SAFETY MAN</a:t>
                      </a:r>
                      <a:endParaRPr lang="en-ID" dirty="0"/>
                    </a:p>
                  </a:txBody>
                  <a:tcPr/>
                </a:tc>
                <a:tc>
                  <a:txBody>
                    <a:bodyPr/>
                    <a:lstStyle/>
                    <a:p>
                      <a:pPr algn="ctr"/>
                      <a:r>
                        <a:rPr lang="en-US" dirty="0"/>
                        <a:t>1 Orang</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READY</a:t>
                      </a:r>
                      <a:endParaRPr lang="en-ID" dirty="0"/>
                    </a:p>
                  </a:txBody>
                  <a:tcPr/>
                </a:tc>
                <a:extLst>
                  <a:ext uri="{0D108BD9-81ED-4DB2-BD59-A6C34878D82A}">
                    <a16:rowId xmlns:a16="http://schemas.microsoft.com/office/drawing/2014/main" val="59857983"/>
                  </a:ext>
                </a:extLst>
              </a:tr>
              <a:tr h="417833">
                <a:tc>
                  <a:txBody>
                    <a:bodyPr/>
                    <a:lstStyle/>
                    <a:p>
                      <a:pPr algn="ctr"/>
                      <a:r>
                        <a:rPr lang="en-US" dirty="0"/>
                        <a:t>10</a:t>
                      </a:r>
                      <a:endParaRPr lang="en-ID" dirty="0"/>
                    </a:p>
                  </a:txBody>
                  <a:tcPr/>
                </a:tc>
                <a:tc>
                  <a:txBody>
                    <a:bodyPr/>
                    <a:lstStyle/>
                    <a:p>
                      <a:r>
                        <a:rPr lang="en-US" dirty="0"/>
                        <a:t>FIRST AIDER</a:t>
                      </a:r>
                      <a:endParaRPr lang="en-ID" dirty="0"/>
                    </a:p>
                  </a:txBody>
                  <a:tcPr/>
                </a:tc>
                <a:tc>
                  <a:txBody>
                    <a:bodyPr/>
                    <a:lstStyle/>
                    <a:p>
                      <a:pPr algn="ctr"/>
                      <a:r>
                        <a:rPr lang="en-US" dirty="0"/>
                        <a:t>1 Orang</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READY</a:t>
                      </a:r>
                      <a:endParaRPr lang="en-ID" dirty="0"/>
                    </a:p>
                  </a:txBody>
                  <a:tcPr/>
                </a:tc>
                <a:extLst>
                  <a:ext uri="{0D108BD9-81ED-4DB2-BD59-A6C34878D82A}">
                    <a16:rowId xmlns:a16="http://schemas.microsoft.com/office/drawing/2014/main" val="2480281732"/>
                  </a:ext>
                </a:extLst>
              </a:tr>
              <a:tr h="417833">
                <a:tc>
                  <a:txBody>
                    <a:bodyPr/>
                    <a:lstStyle/>
                    <a:p>
                      <a:pPr algn="ctr"/>
                      <a:r>
                        <a:rPr lang="en-US" dirty="0"/>
                        <a:t>11</a:t>
                      </a:r>
                      <a:endParaRPr lang="en-ID" dirty="0"/>
                    </a:p>
                  </a:txBody>
                  <a:tcPr/>
                </a:tc>
                <a:tc>
                  <a:txBody>
                    <a:bodyPr/>
                    <a:lstStyle/>
                    <a:p>
                      <a:r>
                        <a:rPr lang="en-US" dirty="0"/>
                        <a:t>MANPOWER</a:t>
                      </a:r>
                      <a:endParaRPr lang="en-ID" dirty="0"/>
                    </a:p>
                  </a:txBody>
                  <a:tcPr/>
                </a:tc>
                <a:tc>
                  <a:txBody>
                    <a:bodyPr/>
                    <a:lstStyle/>
                    <a:p>
                      <a:pPr algn="ctr"/>
                      <a:r>
                        <a:rPr lang="en-US" dirty="0"/>
                        <a:t>20 Orang</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READY</a:t>
                      </a:r>
                      <a:endParaRPr lang="en-ID" dirty="0"/>
                    </a:p>
                  </a:txBody>
                  <a:tcPr/>
                </a:tc>
                <a:extLst>
                  <a:ext uri="{0D108BD9-81ED-4DB2-BD59-A6C34878D82A}">
                    <a16:rowId xmlns:a16="http://schemas.microsoft.com/office/drawing/2014/main" val="235904073"/>
                  </a:ext>
                </a:extLst>
              </a:tr>
              <a:tr h="417833">
                <a:tc>
                  <a:txBody>
                    <a:bodyPr/>
                    <a:lstStyle/>
                    <a:p>
                      <a:endParaRPr lang="en-ID" dirty="0"/>
                    </a:p>
                  </a:txBody>
                  <a:tcPr/>
                </a:tc>
                <a:tc>
                  <a:txBody>
                    <a:bodyPr/>
                    <a:lstStyle/>
                    <a:p>
                      <a:pPr algn="r"/>
                      <a:r>
                        <a:rPr lang="en-US" b="1" dirty="0"/>
                        <a:t>TOTAL</a:t>
                      </a:r>
                      <a:endParaRPr lang="en-ID" b="1" dirty="0"/>
                    </a:p>
                  </a:txBody>
                  <a:tcPr/>
                </a:tc>
                <a:tc>
                  <a:txBody>
                    <a:bodyPr/>
                    <a:lstStyle/>
                    <a:p>
                      <a:pPr algn="ctr"/>
                      <a:r>
                        <a:rPr lang="en-US" b="1" dirty="0"/>
                        <a:t>31 Orang</a:t>
                      </a:r>
                      <a:endParaRPr lang="en-ID" b="1" dirty="0"/>
                    </a:p>
                  </a:txBody>
                  <a:tcPr/>
                </a:tc>
                <a:tc>
                  <a:txBody>
                    <a:bodyPr/>
                    <a:lstStyle/>
                    <a:p>
                      <a:endParaRPr lang="en-ID" dirty="0"/>
                    </a:p>
                  </a:txBody>
                  <a:tcPr/>
                </a:tc>
                <a:extLst>
                  <a:ext uri="{0D108BD9-81ED-4DB2-BD59-A6C34878D82A}">
                    <a16:rowId xmlns:a16="http://schemas.microsoft.com/office/drawing/2014/main" val="3546755977"/>
                  </a:ext>
                </a:extLst>
              </a:tr>
            </a:tbl>
          </a:graphicData>
        </a:graphic>
      </p:graphicFrame>
      <p:sp>
        <p:nvSpPr>
          <p:cNvPr id="9" name="Rectangle: Rounded Corners 8">
            <a:extLst>
              <a:ext uri="{FF2B5EF4-FFF2-40B4-BE49-F238E27FC236}">
                <a16:creationId xmlns:a16="http://schemas.microsoft.com/office/drawing/2014/main" id="{64FAC1CC-1DE9-605A-9965-DB49ED6CE9F3}"/>
              </a:ext>
            </a:extLst>
          </p:cNvPr>
          <p:cNvSpPr/>
          <p:nvPr/>
        </p:nvSpPr>
        <p:spPr>
          <a:xfrm>
            <a:off x="77753" y="203550"/>
            <a:ext cx="8830522" cy="488589"/>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5AFDC752-D551-C602-FDAB-BC5760F107F2}"/>
              </a:ext>
            </a:extLst>
          </p:cNvPr>
          <p:cNvSpPr/>
          <p:nvPr/>
        </p:nvSpPr>
        <p:spPr>
          <a:xfrm>
            <a:off x="7993875" y="203550"/>
            <a:ext cx="914400" cy="48858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6D41851-3864-2C5D-BCD2-B347B232E075}"/>
              </a:ext>
            </a:extLst>
          </p:cNvPr>
          <p:cNvSpPr/>
          <p:nvPr/>
        </p:nvSpPr>
        <p:spPr>
          <a:xfrm>
            <a:off x="8091699" y="2035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2" name="TextBox 11">
            <a:extLst>
              <a:ext uri="{FF2B5EF4-FFF2-40B4-BE49-F238E27FC236}">
                <a16:creationId xmlns:a16="http://schemas.microsoft.com/office/drawing/2014/main" id="{C3C7067A-DBD7-EA0C-49F2-1BB049FE3727}"/>
              </a:ext>
            </a:extLst>
          </p:cNvPr>
          <p:cNvSpPr txBox="1"/>
          <p:nvPr/>
        </p:nvSpPr>
        <p:spPr>
          <a:xfrm>
            <a:off x="126629" y="230474"/>
            <a:ext cx="7916158" cy="461665"/>
          </a:xfrm>
          <a:prstGeom prst="rect">
            <a:avLst/>
          </a:prstGeom>
          <a:noFill/>
        </p:spPr>
        <p:txBody>
          <a:bodyPr wrap="square" rtlCol="0">
            <a:spAutoFit/>
          </a:bodyPr>
          <a:lstStyle/>
          <a:p>
            <a:r>
              <a:rPr lang="en-US" sz="2400" b="1" dirty="0"/>
              <a:t>MANPOWER</a:t>
            </a:r>
          </a:p>
        </p:txBody>
      </p:sp>
    </p:spTree>
    <p:extLst>
      <p:ext uri="{BB962C8B-B14F-4D97-AF65-F5344CB8AC3E}">
        <p14:creationId xmlns:p14="http://schemas.microsoft.com/office/powerpoint/2010/main" val="4150247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B06CB-D24F-D553-BE0E-67B819F8DDE7}"/>
            </a:ext>
          </a:extLst>
        </p:cNvPr>
        <p:cNvGrpSpPr/>
        <p:nvPr/>
      </p:nvGrpSpPr>
      <p:grpSpPr>
        <a:xfrm>
          <a:off x="0" y="0"/>
          <a:ext cx="0" cy="0"/>
          <a:chOff x="0" y="0"/>
          <a:chExt cx="0" cy="0"/>
        </a:xfrm>
      </p:grpSpPr>
      <p:grpSp>
        <p:nvGrpSpPr>
          <p:cNvPr id="53" name="Grup 52">
            <a:extLst>
              <a:ext uri="{FF2B5EF4-FFF2-40B4-BE49-F238E27FC236}">
                <a16:creationId xmlns:a16="http://schemas.microsoft.com/office/drawing/2014/main" id="{9863AD90-52C4-BFD2-91BF-215C916F8FCD}"/>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A997FB99-BC66-C126-B2E2-FDCAFD7752BD}"/>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7407EC55-8DB5-4BEE-6B74-F1FB3D0624EE}"/>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528C6F39-E67C-56AB-2471-6377B63DA3D3}"/>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C613C9DB-932D-EC59-B047-1DB17EF0C7A7}"/>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7" name="Rectangle: Rounded Corners 6">
            <a:extLst>
              <a:ext uri="{FF2B5EF4-FFF2-40B4-BE49-F238E27FC236}">
                <a16:creationId xmlns:a16="http://schemas.microsoft.com/office/drawing/2014/main" id="{5FF23219-8508-A6DC-57FC-A594EE0F0F0B}"/>
              </a:ext>
            </a:extLst>
          </p:cNvPr>
          <p:cNvSpPr/>
          <p:nvPr/>
        </p:nvSpPr>
        <p:spPr>
          <a:xfrm>
            <a:off x="77753" y="203550"/>
            <a:ext cx="8830522" cy="488589"/>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297435FF-E203-8B0A-5365-9A062D987C91}"/>
              </a:ext>
            </a:extLst>
          </p:cNvPr>
          <p:cNvSpPr/>
          <p:nvPr/>
        </p:nvSpPr>
        <p:spPr>
          <a:xfrm>
            <a:off x="7993875" y="203550"/>
            <a:ext cx="914400" cy="48858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0B974D8-128C-8CA3-411C-EA0BAF582979}"/>
              </a:ext>
            </a:extLst>
          </p:cNvPr>
          <p:cNvSpPr/>
          <p:nvPr/>
        </p:nvSpPr>
        <p:spPr>
          <a:xfrm>
            <a:off x="8091699" y="2035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0" name="TextBox 9">
            <a:extLst>
              <a:ext uri="{FF2B5EF4-FFF2-40B4-BE49-F238E27FC236}">
                <a16:creationId xmlns:a16="http://schemas.microsoft.com/office/drawing/2014/main" id="{7A2DB250-7A09-4298-54E3-83C5454692A0}"/>
              </a:ext>
            </a:extLst>
          </p:cNvPr>
          <p:cNvSpPr txBox="1"/>
          <p:nvPr/>
        </p:nvSpPr>
        <p:spPr>
          <a:xfrm>
            <a:off x="126629" y="230474"/>
            <a:ext cx="7916158" cy="461665"/>
          </a:xfrm>
          <a:prstGeom prst="rect">
            <a:avLst/>
          </a:prstGeom>
          <a:noFill/>
        </p:spPr>
        <p:txBody>
          <a:bodyPr wrap="square" rtlCol="0">
            <a:spAutoFit/>
          </a:bodyPr>
          <a:lstStyle/>
          <a:p>
            <a:r>
              <a:rPr lang="en-US" sz="2400" b="1" dirty="0"/>
              <a:t>PERALATAN</a:t>
            </a:r>
          </a:p>
        </p:txBody>
      </p:sp>
      <p:graphicFrame>
        <p:nvGraphicFramePr>
          <p:cNvPr id="11" name="Table 10">
            <a:extLst>
              <a:ext uri="{FF2B5EF4-FFF2-40B4-BE49-F238E27FC236}">
                <a16:creationId xmlns:a16="http://schemas.microsoft.com/office/drawing/2014/main" id="{EAD45963-5CDD-0660-BC23-23835D0AB956}"/>
              </a:ext>
            </a:extLst>
          </p:cNvPr>
          <p:cNvGraphicFramePr>
            <a:graphicFrameLocks noGrp="1"/>
          </p:cNvGraphicFramePr>
          <p:nvPr>
            <p:extLst>
              <p:ext uri="{D42A27DB-BD31-4B8C-83A1-F6EECF244321}">
                <p14:modId xmlns:p14="http://schemas.microsoft.com/office/powerpoint/2010/main" val="308130776"/>
              </p:ext>
            </p:extLst>
          </p:nvPr>
        </p:nvGraphicFramePr>
        <p:xfrm>
          <a:off x="136201" y="860513"/>
          <a:ext cx="11919597" cy="2083441"/>
        </p:xfrm>
        <a:graphic>
          <a:graphicData uri="http://schemas.openxmlformats.org/drawingml/2006/table">
            <a:tbl>
              <a:tblPr firstRow="1" bandRow="1">
                <a:tableStyleId>{5C22544A-7EE6-4342-B048-85BDC9FD1C3A}</a:tableStyleId>
              </a:tblPr>
              <a:tblGrid>
                <a:gridCol w="622992">
                  <a:extLst>
                    <a:ext uri="{9D8B030D-6E8A-4147-A177-3AD203B41FA5}">
                      <a16:colId xmlns:a16="http://schemas.microsoft.com/office/drawing/2014/main" val="2203692190"/>
                    </a:ext>
                  </a:extLst>
                </a:gridCol>
                <a:gridCol w="5336807">
                  <a:extLst>
                    <a:ext uri="{9D8B030D-6E8A-4147-A177-3AD203B41FA5}">
                      <a16:colId xmlns:a16="http://schemas.microsoft.com/office/drawing/2014/main" val="2453505277"/>
                    </a:ext>
                  </a:extLst>
                </a:gridCol>
                <a:gridCol w="2979899">
                  <a:extLst>
                    <a:ext uri="{9D8B030D-6E8A-4147-A177-3AD203B41FA5}">
                      <a16:colId xmlns:a16="http://schemas.microsoft.com/office/drawing/2014/main" val="2779849467"/>
                    </a:ext>
                  </a:extLst>
                </a:gridCol>
                <a:gridCol w="2979899">
                  <a:extLst>
                    <a:ext uri="{9D8B030D-6E8A-4147-A177-3AD203B41FA5}">
                      <a16:colId xmlns:a16="http://schemas.microsoft.com/office/drawing/2014/main" val="3602907528"/>
                    </a:ext>
                  </a:extLst>
                </a:gridCol>
              </a:tblGrid>
              <a:tr h="412109">
                <a:tc>
                  <a:txBody>
                    <a:bodyPr/>
                    <a:lstStyle/>
                    <a:p>
                      <a:pPr algn="ctr"/>
                      <a:r>
                        <a:rPr lang="en-US" dirty="0"/>
                        <a:t>NO</a:t>
                      </a:r>
                      <a:endParaRPr lang="en-ID" dirty="0"/>
                    </a:p>
                  </a:txBody>
                  <a:tcPr/>
                </a:tc>
                <a:tc>
                  <a:txBody>
                    <a:bodyPr/>
                    <a:lstStyle/>
                    <a:p>
                      <a:pPr algn="ctr"/>
                      <a:r>
                        <a:rPr lang="en-US" dirty="0"/>
                        <a:t>URAIAN</a:t>
                      </a:r>
                      <a:endParaRPr lang="en-ID" dirty="0"/>
                    </a:p>
                  </a:txBody>
                  <a:tcPr/>
                </a:tc>
                <a:tc>
                  <a:txBody>
                    <a:bodyPr/>
                    <a:lstStyle/>
                    <a:p>
                      <a:pPr algn="ctr"/>
                      <a:r>
                        <a:rPr lang="en-US" dirty="0"/>
                        <a:t>JUMLAH</a:t>
                      </a:r>
                      <a:endParaRPr lang="en-ID" dirty="0"/>
                    </a:p>
                  </a:txBody>
                  <a:tcPr/>
                </a:tc>
                <a:tc>
                  <a:txBody>
                    <a:bodyPr/>
                    <a:lstStyle/>
                    <a:p>
                      <a:pPr algn="ctr"/>
                      <a:r>
                        <a:rPr lang="en-US" dirty="0"/>
                        <a:t>KET</a:t>
                      </a:r>
                      <a:endParaRPr lang="en-ID" dirty="0"/>
                    </a:p>
                  </a:txBody>
                  <a:tcPr/>
                </a:tc>
                <a:extLst>
                  <a:ext uri="{0D108BD9-81ED-4DB2-BD59-A6C34878D82A}">
                    <a16:rowId xmlns:a16="http://schemas.microsoft.com/office/drawing/2014/main" val="4126986525"/>
                  </a:ext>
                </a:extLst>
              </a:tr>
              <a:tr h="417833">
                <a:tc>
                  <a:txBody>
                    <a:bodyPr/>
                    <a:lstStyle/>
                    <a:p>
                      <a:pPr algn="ctr"/>
                      <a:r>
                        <a:rPr lang="en-US" dirty="0"/>
                        <a:t>1</a:t>
                      </a:r>
                      <a:endParaRPr lang="en-ID" dirty="0"/>
                    </a:p>
                  </a:txBody>
                  <a:tcPr/>
                </a:tc>
                <a:tc>
                  <a:txBody>
                    <a:bodyPr/>
                    <a:lstStyle/>
                    <a:p>
                      <a:r>
                        <a:rPr lang="en-US" dirty="0"/>
                        <a:t>SIKAT TEMBAGA</a:t>
                      </a:r>
                      <a:endParaRPr lang="en-ID" dirty="0"/>
                    </a:p>
                  </a:txBody>
                  <a:tcPr/>
                </a:tc>
                <a:tc>
                  <a:txBody>
                    <a:bodyPr/>
                    <a:lstStyle/>
                    <a:p>
                      <a:pPr algn="ctr"/>
                      <a:r>
                        <a:rPr lang="en-US" dirty="0"/>
                        <a:t>10 Pcs</a:t>
                      </a:r>
                      <a:endParaRPr lang="en-ID" dirty="0"/>
                    </a:p>
                  </a:txBody>
                  <a:tcPr/>
                </a:tc>
                <a:tc>
                  <a:txBody>
                    <a:bodyPr/>
                    <a:lstStyle/>
                    <a:p>
                      <a:pPr algn="ctr"/>
                      <a:r>
                        <a:rPr lang="en-US" dirty="0"/>
                        <a:t>MILIK PERUSAHAAN</a:t>
                      </a:r>
                      <a:endParaRPr lang="en-ID" dirty="0"/>
                    </a:p>
                  </a:txBody>
                  <a:tcPr/>
                </a:tc>
                <a:extLst>
                  <a:ext uri="{0D108BD9-81ED-4DB2-BD59-A6C34878D82A}">
                    <a16:rowId xmlns:a16="http://schemas.microsoft.com/office/drawing/2014/main" val="3027933317"/>
                  </a:ext>
                </a:extLst>
              </a:tr>
              <a:tr h="417833">
                <a:tc>
                  <a:txBody>
                    <a:bodyPr/>
                    <a:lstStyle/>
                    <a:p>
                      <a:pPr algn="ctr"/>
                      <a:r>
                        <a:rPr lang="en-US" dirty="0"/>
                        <a:t>2</a:t>
                      </a:r>
                      <a:endParaRPr lang="en-ID" dirty="0"/>
                    </a:p>
                  </a:txBody>
                  <a:tcPr/>
                </a:tc>
                <a:tc>
                  <a:txBody>
                    <a:bodyPr/>
                    <a:lstStyle/>
                    <a:p>
                      <a:r>
                        <a:rPr lang="en-US" dirty="0"/>
                        <a:t>AMPLAS KASAR </a:t>
                      </a:r>
                      <a:endParaRPr lang="en-ID" dirty="0"/>
                    </a:p>
                  </a:txBody>
                  <a:tcPr/>
                </a:tc>
                <a:tc>
                  <a:txBody>
                    <a:bodyPr/>
                    <a:lstStyle/>
                    <a:p>
                      <a:pPr algn="ctr"/>
                      <a:r>
                        <a:rPr lang="en-US" dirty="0"/>
                        <a:t>20 Rol</a:t>
                      </a:r>
                      <a:endParaRPr lang="en-ID"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MILIK PERUSAHAAN</a:t>
                      </a:r>
                      <a:endParaRPr lang="en-ID" dirty="0"/>
                    </a:p>
                  </a:txBody>
                  <a:tcPr/>
                </a:tc>
                <a:extLst>
                  <a:ext uri="{0D108BD9-81ED-4DB2-BD59-A6C34878D82A}">
                    <a16:rowId xmlns:a16="http://schemas.microsoft.com/office/drawing/2014/main" val="525309250"/>
                  </a:ext>
                </a:extLst>
              </a:tr>
              <a:tr h="417833">
                <a:tc>
                  <a:txBody>
                    <a:bodyPr/>
                    <a:lstStyle/>
                    <a:p>
                      <a:pPr algn="ctr"/>
                      <a:r>
                        <a:rPr lang="en-US" dirty="0"/>
                        <a:t>3</a:t>
                      </a:r>
                      <a:endParaRPr lang="en-ID" dirty="0"/>
                    </a:p>
                  </a:txBody>
                  <a:tcPr/>
                </a:tc>
                <a:tc>
                  <a:txBody>
                    <a:bodyPr/>
                    <a:lstStyle/>
                    <a:p>
                      <a:r>
                        <a:rPr lang="en-US" dirty="0"/>
                        <a:t>ROLLER BRUSH</a:t>
                      </a:r>
                      <a:endParaRPr lang="en-ID" dirty="0"/>
                    </a:p>
                  </a:txBody>
                  <a:tcPr/>
                </a:tc>
                <a:tc>
                  <a:txBody>
                    <a:bodyPr/>
                    <a:lstStyle/>
                    <a:p>
                      <a:pPr algn="ctr"/>
                      <a:r>
                        <a:rPr lang="en-US" dirty="0"/>
                        <a:t>20 Rol</a:t>
                      </a:r>
                      <a:endParaRPr lang="en-ID" dirty="0"/>
                    </a:p>
                  </a:txBody>
                  <a:tcPr/>
                </a:tc>
                <a:tc>
                  <a:txBody>
                    <a:bodyPr/>
                    <a:lstStyle/>
                    <a:p>
                      <a:pPr algn="ctr"/>
                      <a:r>
                        <a:rPr lang="en-US" dirty="0"/>
                        <a:t>MILIK PERUSAHAAN</a:t>
                      </a:r>
                      <a:endParaRPr lang="en-ID" dirty="0"/>
                    </a:p>
                  </a:txBody>
                  <a:tcPr/>
                </a:tc>
                <a:extLst>
                  <a:ext uri="{0D108BD9-81ED-4DB2-BD59-A6C34878D82A}">
                    <a16:rowId xmlns:a16="http://schemas.microsoft.com/office/drawing/2014/main" val="177392807"/>
                  </a:ext>
                </a:extLst>
              </a:tr>
              <a:tr h="417833">
                <a:tc>
                  <a:txBody>
                    <a:bodyPr/>
                    <a:lstStyle/>
                    <a:p>
                      <a:pPr algn="ctr"/>
                      <a:r>
                        <a:rPr lang="en-US" dirty="0"/>
                        <a:t>4</a:t>
                      </a:r>
                      <a:endParaRPr lang="en-ID" dirty="0"/>
                    </a:p>
                  </a:txBody>
                  <a:tcPr/>
                </a:tc>
                <a:tc>
                  <a:txBody>
                    <a:bodyPr/>
                    <a:lstStyle/>
                    <a:p>
                      <a:r>
                        <a:rPr lang="en-US" dirty="0"/>
                        <a:t>SCAFFOLDING</a:t>
                      </a:r>
                      <a:endParaRPr lang="en-ID" dirty="0"/>
                    </a:p>
                  </a:txBody>
                  <a:tcPr/>
                </a:tc>
                <a:tc>
                  <a:txBody>
                    <a:bodyPr/>
                    <a:lstStyle/>
                    <a:p>
                      <a:pPr algn="ctr"/>
                      <a:r>
                        <a:rPr lang="en-US" dirty="0"/>
                        <a:t>1 Ls</a:t>
                      </a:r>
                      <a:endParaRPr lang="en-ID" dirty="0"/>
                    </a:p>
                  </a:txBody>
                  <a:tcPr/>
                </a:tc>
                <a:tc>
                  <a:txBody>
                    <a:bodyPr/>
                    <a:lstStyle/>
                    <a:p>
                      <a:pPr algn="ctr"/>
                      <a:r>
                        <a:rPr lang="en-US" dirty="0"/>
                        <a:t>MILIK PERUSAHAAN / SEWA</a:t>
                      </a:r>
                      <a:endParaRPr lang="en-ID" dirty="0"/>
                    </a:p>
                  </a:txBody>
                  <a:tcPr/>
                </a:tc>
                <a:extLst>
                  <a:ext uri="{0D108BD9-81ED-4DB2-BD59-A6C34878D82A}">
                    <a16:rowId xmlns:a16="http://schemas.microsoft.com/office/drawing/2014/main" val="890743022"/>
                  </a:ext>
                </a:extLst>
              </a:tr>
            </a:tbl>
          </a:graphicData>
        </a:graphic>
      </p:graphicFrame>
    </p:spTree>
    <p:extLst>
      <p:ext uri="{BB962C8B-B14F-4D97-AF65-F5344CB8AC3E}">
        <p14:creationId xmlns:p14="http://schemas.microsoft.com/office/powerpoint/2010/main" val="4221490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E02D49D1-5C61-82FD-815F-B38DA23479D3}"/>
              </a:ext>
            </a:extLst>
          </p:cNvPr>
          <p:cNvSpPr/>
          <p:nvPr/>
        </p:nvSpPr>
        <p:spPr>
          <a:xfrm>
            <a:off x="4075043" y="1366629"/>
            <a:ext cx="3667539" cy="1262270"/>
          </a:xfrm>
          <a:prstGeom prst="ellips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400" dirty="0"/>
          </a:p>
        </p:txBody>
      </p:sp>
      <p:sp>
        <p:nvSpPr>
          <p:cNvPr id="7" name="Oval 6">
            <a:extLst>
              <a:ext uri="{FF2B5EF4-FFF2-40B4-BE49-F238E27FC236}">
                <a16:creationId xmlns:a16="http://schemas.microsoft.com/office/drawing/2014/main" id="{913304B2-F08B-524E-F049-01FE7AF16C59}"/>
              </a:ext>
            </a:extLst>
          </p:cNvPr>
          <p:cNvSpPr/>
          <p:nvPr/>
        </p:nvSpPr>
        <p:spPr>
          <a:xfrm>
            <a:off x="4502426" y="670890"/>
            <a:ext cx="2812774" cy="1958009"/>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SCOPE OF WORK</a:t>
            </a:r>
            <a:endParaRPr lang="en-ID" b="1" dirty="0"/>
          </a:p>
        </p:txBody>
      </p:sp>
      <p:sp>
        <p:nvSpPr>
          <p:cNvPr id="9" name="Rectangle 8">
            <a:extLst>
              <a:ext uri="{FF2B5EF4-FFF2-40B4-BE49-F238E27FC236}">
                <a16:creationId xmlns:a16="http://schemas.microsoft.com/office/drawing/2014/main" id="{816813FA-DCC5-58B4-0EBB-33622C22C96E}"/>
              </a:ext>
            </a:extLst>
          </p:cNvPr>
          <p:cNvSpPr/>
          <p:nvPr/>
        </p:nvSpPr>
        <p:spPr>
          <a:xfrm>
            <a:off x="546649" y="1714499"/>
            <a:ext cx="3001617" cy="914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1"/>
              </a:solidFill>
            </a:endParaRPr>
          </a:p>
        </p:txBody>
      </p:sp>
      <p:sp>
        <p:nvSpPr>
          <p:cNvPr id="13" name="Oval 12">
            <a:extLst>
              <a:ext uri="{FF2B5EF4-FFF2-40B4-BE49-F238E27FC236}">
                <a16:creationId xmlns:a16="http://schemas.microsoft.com/office/drawing/2014/main" id="{278AC991-1C6E-904C-F62C-112FFF913BBE}"/>
              </a:ext>
            </a:extLst>
          </p:cNvPr>
          <p:cNvSpPr/>
          <p:nvPr/>
        </p:nvSpPr>
        <p:spPr>
          <a:xfrm>
            <a:off x="124234" y="2628899"/>
            <a:ext cx="3791783" cy="1759227"/>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1. PEKERJAAN PERSIAPAN</a:t>
            </a:r>
            <a:endParaRPr lang="en-ID" sz="1600" b="1" dirty="0">
              <a:solidFill>
                <a:schemeClr val="tx1"/>
              </a:solidFill>
            </a:endParaRPr>
          </a:p>
        </p:txBody>
      </p:sp>
      <p:sp>
        <p:nvSpPr>
          <p:cNvPr id="17" name="Oval 16">
            <a:extLst>
              <a:ext uri="{FF2B5EF4-FFF2-40B4-BE49-F238E27FC236}">
                <a16:creationId xmlns:a16="http://schemas.microsoft.com/office/drawing/2014/main" id="{C1CADBBF-145E-1293-6570-AC614E938AEE}"/>
              </a:ext>
            </a:extLst>
          </p:cNvPr>
          <p:cNvSpPr/>
          <p:nvPr/>
        </p:nvSpPr>
        <p:spPr>
          <a:xfrm>
            <a:off x="4012920" y="4003812"/>
            <a:ext cx="3791783" cy="1759227"/>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2. SURFACE PREPARATION</a:t>
            </a:r>
            <a:endParaRPr lang="en-ID" sz="1600" b="1" dirty="0">
              <a:solidFill>
                <a:schemeClr val="tx1"/>
              </a:solidFill>
            </a:endParaRPr>
          </a:p>
        </p:txBody>
      </p:sp>
      <p:sp>
        <p:nvSpPr>
          <p:cNvPr id="18" name="Oval 17">
            <a:extLst>
              <a:ext uri="{FF2B5EF4-FFF2-40B4-BE49-F238E27FC236}">
                <a16:creationId xmlns:a16="http://schemas.microsoft.com/office/drawing/2014/main" id="{B12A5407-EC18-4EDC-64C3-AC9F9FB1D800}"/>
              </a:ext>
            </a:extLst>
          </p:cNvPr>
          <p:cNvSpPr/>
          <p:nvPr/>
        </p:nvSpPr>
        <p:spPr>
          <a:xfrm>
            <a:off x="7901606" y="2638838"/>
            <a:ext cx="3791783" cy="1759227"/>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3. PEKERJAAN PAINTING</a:t>
            </a:r>
            <a:endParaRPr lang="en-ID" sz="1600" b="1" dirty="0">
              <a:solidFill>
                <a:schemeClr val="tx1"/>
              </a:solidFill>
            </a:endParaRPr>
          </a:p>
        </p:txBody>
      </p:sp>
    </p:spTree>
    <p:extLst>
      <p:ext uri="{BB962C8B-B14F-4D97-AF65-F5344CB8AC3E}">
        <p14:creationId xmlns:p14="http://schemas.microsoft.com/office/powerpoint/2010/main" val="125171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40A64CAE-D6B0-F968-B88D-24B48100251C}"/>
              </a:ext>
            </a:extLst>
          </p:cNvPr>
          <p:cNvSpPr/>
          <p:nvPr/>
        </p:nvSpPr>
        <p:spPr>
          <a:xfrm>
            <a:off x="77753" y="203550"/>
            <a:ext cx="8830522" cy="488589"/>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F74AE3D4-8272-EE2A-70DF-3988FEF558B1}"/>
              </a:ext>
            </a:extLst>
          </p:cNvPr>
          <p:cNvSpPr/>
          <p:nvPr/>
        </p:nvSpPr>
        <p:spPr>
          <a:xfrm>
            <a:off x="7993875" y="203550"/>
            <a:ext cx="914400" cy="48858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87CF79F-611C-3E54-1E21-06C6EB7E83A7}"/>
              </a:ext>
            </a:extLst>
          </p:cNvPr>
          <p:cNvSpPr/>
          <p:nvPr/>
        </p:nvSpPr>
        <p:spPr>
          <a:xfrm>
            <a:off x="8091699" y="2035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10" name="TextBox 9">
            <a:extLst>
              <a:ext uri="{FF2B5EF4-FFF2-40B4-BE49-F238E27FC236}">
                <a16:creationId xmlns:a16="http://schemas.microsoft.com/office/drawing/2014/main" id="{DB3194A0-1C8A-F923-CD31-5CA1B1529E28}"/>
              </a:ext>
            </a:extLst>
          </p:cNvPr>
          <p:cNvSpPr txBox="1"/>
          <p:nvPr/>
        </p:nvSpPr>
        <p:spPr>
          <a:xfrm>
            <a:off x="126629" y="230474"/>
            <a:ext cx="7916158" cy="461665"/>
          </a:xfrm>
          <a:prstGeom prst="rect">
            <a:avLst/>
          </a:prstGeom>
          <a:noFill/>
        </p:spPr>
        <p:txBody>
          <a:bodyPr wrap="square" rtlCol="0">
            <a:spAutoFit/>
          </a:bodyPr>
          <a:lstStyle/>
          <a:p>
            <a:r>
              <a:rPr lang="en-US" sz="2400" b="1" dirty="0"/>
              <a:t>PEKERJAAN PERSIAPAN</a:t>
            </a:r>
          </a:p>
        </p:txBody>
      </p:sp>
      <p:sp>
        <p:nvSpPr>
          <p:cNvPr id="13" name="Arrow: Right 12">
            <a:extLst>
              <a:ext uri="{FF2B5EF4-FFF2-40B4-BE49-F238E27FC236}">
                <a16:creationId xmlns:a16="http://schemas.microsoft.com/office/drawing/2014/main" id="{A3A0CEEF-B76B-2888-7148-A84C90C8AB2C}"/>
              </a:ext>
            </a:extLst>
          </p:cNvPr>
          <p:cNvSpPr/>
          <p:nvPr/>
        </p:nvSpPr>
        <p:spPr>
          <a:xfrm>
            <a:off x="608518" y="3049517"/>
            <a:ext cx="10524362" cy="46534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14" name="TextBox 13">
            <a:extLst>
              <a:ext uri="{FF2B5EF4-FFF2-40B4-BE49-F238E27FC236}">
                <a16:creationId xmlns:a16="http://schemas.microsoft.com/office/drawing/2014/main" id="{2CE188EC-0264-59EE-6340-45E7E0243BBF}"/>
              </a:ext>
            </a:extLst>
          </p:cNvPr>
          <p:cNvSpPr txBox="1"/>
          <p:nvPr/>
        </p:nvSpPr>
        <p:spPr>
          <a:xfrm>
            <a:off x="2347541" y="4648915"/>
            <a:ext cx="1533536" cy="175626"/>
          </a:xfrm>
          <a:prstGeom prst="rect">
            <a:avLst/>
          </a:prstGeom>
          <a:noFill/>
        </p:spPr>
        <p:txBody>
          <a:bodyPr wrap="square" lIns="0" rIns="0" rtlCol="0">
            <a:spAutoFit/>
          </a:bodyPr>
          <a:lstStyle/>
          <a:p>
            <a:pPr marL="914400" indent="457200" algn="ctr">
              <a:lnSpc>
                <a:spcPct val="115000"/>
              </a:lnSpc>
              <a:spcAft>
                <a:spcPts val="1000"/>
              </a:spcAft>
            </a:pPr>
            <a:endParaRPr lang="en-US" sz="5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15" name="Grup 9">
            <a:extLst>
              <a:ext uri="{FF2B5EF4-FFF2-40B4-BE49-F238E27FC236}">
                <a16:creationId xmlns:a16="http://schemas.microsoft.com/office/drawing/2014/main" id="{0753B0E2-2E3A-5BA1-0480-8E49DF862BBF}"/>
              </a:ext>
            </a:extLst>
          </p:cNvPr>
          <p:cNvGrpSpPr/>
          <p:nvPr/>
        </p:nvGrpSpPr>
        <p:grpSpPr>
          <a:xfrm>
            <a:off x="1363517" y="2891275"/>
            <a:ext cx="1273259" cy="793507"/>
            <a:chOff x="2610557" y="2851518"/>
            <a:chExt cx="1273259" cy="793507"/>
          </a:xfrm>
        </p:grpSpPr>
        <p:sp>
          <p:nvSpPr>
            <p:cNvPr id="16" name="Rounded Rectangle 5">
              <a:extLst>
                <a:ext uri="{FF2B5EF4-FFF2-40B4-BE49-F238E27FC236}">
                  <a16:creationId xmlns:a16="http://schemas.microsoft.com/office/drawing/2014/main" id="{83B8ECF2-97E3-0B82-DB1D-4BE0A919E1C8}"/>
                </a:ext>
              </a:extLst>
            </p:cNvPr>
            <p:cNvSpPr/>
            <p:nvPr/>
          </p:nvSpPr>
          <p:spPr>
            <a:xfrm>
              <a:off x="2610557" y="2851518"/>
              <a:ext cx="1273259" cy="79350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7" name="TextBox 16">
              <a:extLst>
                <a:ext uri="{FF2B5EF4-FFF2-40B4-BE49-F238E27FC236}">
                  <a16:creationId xmlns:a16="http://schemas.microsoft.com/office/drawing/2014/main" id="{E55B9CC0-6F5A-AAD4-19A3-E4B1768414FA}"/>
                </a:ext>
              </a:extLst>
            </p:cNvPr>
            <p:cNvSpPr txBox="1"/>
            <p:nvPr/>
          </p:nvSpPr>
          <p:spPr>
            <a:xfrm>
              <a:off x="2667786" y="2996953"/>
              <a:ext cx="1123958" cy="461665"/>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Mobilisasi</a:t>
              </a:r>
              <a:r>
                <a:rPr lang="en-US" altLang="ko-KR" sz="1200" b="1" dirty="0">
                  <a:solidFill>
                    <a:srgbClr val="000000">
                      <a:lumMod val="75000"/>
                      <a:lumOff val="25000"/>
                    </a:srgbClr>
                  </a:solidFill>
                  <a:latin typeface="Arial"/>
                  <a:cs typeface="Arial" pitchFamily="34" charset="0"/>
                </a:rPr>
                <a:t> &amp; </a:t>
              </a:r>
              <a:r>
                <a:rPr lang="en-US" altLang="ko-KR" sz="1200" b="1" dirty="0" err="1">
                  <a:solidFill>
                    <a:srgbClr val="000000">
                      <a:lumMod val="75000"/>
                      <a:lumOff val="25000"/>
                    </a:srgbClr>
                  </a:solidFill>
                  <a:latin typeface="Arial"/>
                  <a:cs typeface="Arial" pitchFamily="34" charset="0"/>
                </a:rPr>
                <a:t>Demobilisasi</a:t>
              </a:r>
              <a:endParaRPr lang="ko-KR" altLang="en-US" sz="1200" b="1" dirty="0">
                <a:solidFill>
                  <a:srgbClr val="000000">
                    <a:lumMod val="75000"/>
                    <a:lumOff val="25000"/>
                  </a:srgbClr>
                </a:solidFill>
                <a:latin typeface="Arial"/>
                <a:cs typeface="Arial" pitchFamily="34" charset="0"/>
              </a:endParaRPr>
            </a:p>
          </p:txBody>
        </p:sp>
      </p:grpSp>
      <p:grpSp>
        <p:nvGrpSpPr>
          <p:cNvPr id="18" name="Grup 11">
            <a:extLst>
              <a:ext uri="{FF2B5EF4-FFF2-40B4-BE49-F238E27FC236}">
                <a16:creationId xmlns:a16="http://schemas.microsoft.com/office/drawing/2014/main" id="{B90B3CE7-44A6-E064-E777-1A486520A057}"/>
              </a:ext>
            </a:extLst>
          </p:cNvPr>
          <p:cNvGrpSpPr/>
          <p:nvPr/>
        </p:nvGrpSpPr>
        <p:grpSpPr>
          <a:xfrm>
            <a:off x="3883797" y="2891275"/>
            <a:ext cx="1273259" cy="793507"/>
            <a:chOff x="4153713" y="2851518"/>
            <a:chExt cx="1273259" cy="793507"/>
          </a:xfrm>
        </p:grpSpPr>
        <p:sp>
          <p:nvSpPr>
            <p:cNvPr id="19" name="Rounded Rectangle 2">
              <a:extLst>
                <a:ext uri="{FF2B5EF4-FFF2-40B4-BE49-F238E27FC236}">
                  <a16:creationId xmlns:a16="http://schemas.microsoft.com/office/drawing/2014/main" id="{6F81632A-B284-B8D6-D198-929CE0E8866F}"/>
                </a:ext>
              </a:extLst>
            </p:cNvPr>
            <p:cNvSpPr/>
            <p:nvPr/>
          </p:nvSpPr>
          <p:spPr>
            <a:xfrm>
              <a:off x="4153713" y="2851518"/>
              <a:ext cx="1273259" cy="793507"/>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20" name="TextBox 19">
              <a:extLst>
                <a:ext uri="{FF2B5EF4-FFF2-40B4-BE49-F238E27FC236}">
                  <a16:creationId xmlns:a16="http://schemas.microsoft.com/office/drawing/2014/main" id="{0E49E8E6-45EB-20A7-4042-4515E9F3CF07}"/>
                </a:ext>
              </a:extLst>
            </p:cNvPr>
            <p:cNvSpPr txBox="1"/>
            <p:nvPr/>
          </p:nvSpPr>
          <p:spPr>
            <a:xfrm>
              <a:off x="4295800" y="2996953"/>
              <a:ext cx="959880" cy="461665"/>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Direksi</a:t>
              </a:r>
              <a:r>
                <a:rPr lang="en-US" altLang="ko-KR" sz="1200" b="1" dirty="0">
                  <a:solidFill>
                    <a:srgbClr val="000000">
                      <a:lumMod val="75000"/>
                      <a:lumOff val="25000"/>
                    </a:srgbClr>
                  </a:solidFill>
                  <a:latin typeface="Arial"/>
                  <a:cs typeface="Arial" pitchFamily="34" charset="0"/>
                </a:rPr>
                <a:t> </a:t>
              </a:r>
              <a:r>
                <a:rPr lang="en-US" altLang="ko-KR" sz="1200" b="1" dirty="0" err="1">
                  <a:solidFill>
                    <a:srgbClr val="000000">
                      <a:lumMod val="75000"/>
                      <a:lumOff val="25000"/>
                    </a:srgbClr>
                  </a:solidFill>
                  <a:latin typeface="Arial"/>
                  <a:cs typeface="Arial" pitchFamily="34" charset="0"/>
                </a:rPr>
                <a:t>Keet</a:t>
              </a:r>
              <a:r>
                <a:rPr lang="en-US" altLang="ko-KR" sz="1200" b="1" dirty="0">
                  <a:solidFill>
                    <a:srgbClr val="000000">
                      <a:lumMod val="75000"/>
                      <a:lumOff val="25000"/>
                    </a:srgbClr>
                  </a:solidFill>
                  <a:latin typeface="Arial"/>
                  <a:cs typeface="Arial" pitchFamily="34" charset="0"/>
                </a:rPr>
                <a:t> </a:t>
              </a:r>
              <a:endParaRPr lang="ko-KR" altLang="en-US" sz="1200" b="1" dirty="0">
                <a:solidFill>
                  <a:srgbClr val="000000">
                    <a:lumMod val="75000"/>
                    <a:lumOff val="25000"/>
                  </a:srgbClr>
                </a:solidFill>
                <a:latin typeface="Arial"/>
                <a:cs typeface="Arial" pitchFamily="34" charset="0"/>
              </a:endParaRPr>
            </a:p>
          </p:txBody>
        </p:sp>
      </p:grpSp>
      <p:grpSp>
        <p:nvGrpSpPr>
          <p:cNvPr id="21" name="Grup 13">
            <a:extLst>
              <a:ext uri="{FF2B5EF4-FFF2-40B4-BE49-F238E27FC236}">
                <a16:creationId xmlns:a16="http://schemas.microsoft.com/office/drawing/2014/main" id="{A4484112-9319-3E80-7AB1-46430A8D10CA}"/>
              </a:ext>
            </a:extLst>
          </p:cNvPr>
          <p:cNvGrpSpPr/>
          <p:nvPr/>
        </p:nvGrpSpPr>
        <p:grpSpPr>
          <a:xfrm>
            <a:off x="6476085" y="2891275"/>
            <a:ext cx="1273259" cy="793507"/>
            <a:chOff x="5696869" y="2851518"/>
            <a:chExt cx="1273259" cy="793507"/>
          </a:xfrm>
        </p:grpSpPr>
        <p:sp>
          <p:nvSpPr>
            <p:cNvPr id="22" name="Rounded Rectangle 3">
              <a:extLst>
                <a:ext uri="{FF2B5EF4-FFF2-40B4-BE49-F238E27FC236}">
                  <a16:creationId xmlns:a16="http://schemas.microsoft.com/office/drawing/2014/main" id="{AD21077C-5E0E-3A24-8DF6-13868E7F3C9D}"/>
                </a:ext>
              </a:extLst>
            </p:cNvPr>
            <p:cNvSpPr/>
            <p:nvPr/>
          </p:nvSpPr>
          <p:spPr>
            <a:xfrm>
              <a:off x="5696869" y="2851518"/>
              <a:ext cx="1273259" cy="793507"/>
            </a:xfrm>
            <a:prstGeom prst="roundRect">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23" name="TextBox 22">
              <a:extLst>
                <a:ext uri="{FF2B5EF4-FFF2-40B4-BE49-F238E27FC236}">
                  <a16:creationId xmlns:a16="http://schemas.microsoft.com/office/drawing/2014/main" id="{3B391FF3-C78C-C318-E557-57499789390C}"/>
                </a:ext>
              </a:extLst>
            </p:cNvPr>
            <p:cNvSpPr txBox="1"/>
            <p:nvPr/>
          </p:nvSpPr>
          <p:spPr>
            <a:xfrm>
              <a:off x="5735960" y="2924945"/>
              <a:ext cx="1186730" cy="646331"/>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Rambu</a:t>
              </a:r>
              <a:r>
                <a:rPr lang="en-US" altLang="ko-KR" sz="1200" b="1" dirty="0">
                  <a:solidFill>
                    <a:srgbClr val="000000">
                      <a:lumMod val="75000"/>
                      <a:lumOff val="25000"/>
                    </a:srgbClr>
                  </a:solidFill>
                  <a:latin typeface="Arial"/>
                  <a:cs typeface="Arial" pitchFamily="34" charset="0"/>
                </a:rPr>
                <a:t> </a:t>
              </a:r>
              <a:r>
                <a:rPr lang="en-US" altLang="ko-KR" sz="1200" b="1" dirty="0" err="1">
                  <a:solidFill>
                    <a:srgbClr val="000000">
                      <a:lumMod val="75000"/>
                      <a:lumOff val="25000"/>
                    </a:srgbClr>
                  </a:solidFill>
                  <a:latin typeface="Arial"/>
                  <a:cs typeface="Arial" pitchFamily="34" charset="0"/>
                </a:rPr>
                <a:t>Proyek</a:t>
              </a:r>
              <a:r>
                <a:rPr lang="en-US" altLang="ko-KR" sz="1200" b="1" dirty="0">
                  <a:solidFill>
                    <a:srgbClr val="000000">
                      <a:lumMod val="75000"/>
                      <a:lumOff val="25000"/>
                    </a:srgbClr>
                  </a:solidFill>
                  <a:latin typeface="Arial"/>
                  <a:cs typeface="Arial" pitchFamily="34" charset="0"/>
                </a:rPr>
                <a:t> dan HSE</a:t>
              </a:r>
              <a:endParaRPr lang="ko-KR" altLang="en-US" sz="1200" b="1" dirty="0">
                <a:solidFill>
                  <a:srgbClr val="000000">
                    <a:lumMod val="75000"/>
                    <a:lumOff val="25000"/>
                  </a:srgbClr>
                </a:solidFill>
                <a:latin typeface="Arial"/>
                <a:cs typeface="Arial" pitchFamily="34" charset="0"/>
              </a:endParaRPr>
            </a:p>
          </p:txBody>
        </p:sp>
      </p:grpSp>
      <p:grpSp>
        <p:nvGrpSpPr>
          <p:cNvPr id="24" name="Grup 15">
            <a:extLst>
              <a:ext uri="{FF2B5EF4-FFF2-40B4-BE49-F238E27FC236}">
                <a16:creationId xmlns:a16="http://schemas.microsoft.com/office/drawing/2014/main" id="{35B6B076-98CA-BD9A-37D4-DC2B37FC2906}"/>
              </a:ext>
            </a:extLst>
          </p:cNvPr>
          <p:cNvGrpSpPr/>
          <p:nvPr/>
        </p:nvGrpSpPr>
        <p:grpSpPr>
          <a:xfrm>
            <a:off x="8852349" y="2891275"/>
            <a:ext cx="1273259" cy="793507"/>
            <a:chOff x="7240025" y="2851518"/>
            <a:chExt cx="1273259" cy="793507"/>
          </a:xfrm>
        </p:grpSpPr>
        <p:sp>
          <p:nvSpPr>
            <p:cNvPr id="25" name="Rounded Rectangle 4">
              <a:extLst>
                <a:ext uri="{FF2B5EF4-FFF2-40B4-BE49-F238E27FC236}">
                  <a16:creationId xmlns:a16="http://schemas.microsoft.com/office/drawing/2014/main" id="{3CED9625-B7A9-79EB-C13D-1A9EDE8B99C7}"/>
                </a:ext>
              </a:extLst>
            </p:cNvPr>
            <p:cNvSpPr/>
            <p:nvPr/>
          </p:nvSpPr>
          <p:spPr>
            <a:xfrm>
              <a:off x="7240025" y="2851518"/>
              <a:ext cx="1273259" cy="793507"/>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26" name="TextBox 25">
              <a:extLst>
                <a:ext uri="{FF2B5EF4-FFF2-40B4-BE49-F238E27FC236}">
                  <a16:creationId xmlns:a16="http://schemas.microsoft.com/office/drawing/2014/main" id="{D93E299E-3582-7A2D-ECF0-94E01B6B730E}"/>
                </a:ext>
              </a:extLst>
            </p:cNvPr>
            <p:cNvSpPr txBox="1"/>
            <p:nvPr/>
          </p:nvSpPr>
          <p:spPr>
            <a:xfrm>
              <a:off x="7248129" y="3068960"/>
              <a:ext cx="1214647" cy="276999"/>
            </a:xfrm>
            <a:prstGeom prst="rect">
              <a:avLst/>
            </a:prstGeom>
            <a:noFill/>
          </p:spPr>
          <p:txBody>
            <a:bodyPr wrap="square" rtlCol="0">
              <a:spAutoFit/>
            </a:bodyPr>
            <a:lstStyle/>
            <a:p>
              <a:pPr algn="ctr" defTabSz="685800"/>
              <a:r>
                <a:rPr lang="id-ID" altLang="ko-KR" sz="1200" b="1" dirty="0">
                  <a:solidFill>
                    <a:srgbClr val="000000">
                      <a:lumMod val="75000"/>
                      <a:lumOff val="25000"/>
                    </a:srgbClr>
                  </a:solidFill>
                  <a:latin typeface="Arial"/>
                  <a:cs typeface="Arial" pitchFamily="34" charset="0"/>
                </a:rPr>
                <a:t>Engineering</a:t>
              </a:r>
              <a:endParaRPr lang="ko-KR" altLang="en-US" sz="1200" b="1" dirty="0">
                <a:solidFill>
                  <a:srgbClr val="000000">
                    <a:lumMod val="75000"/>
                    <a:lumOff val="25000"/>
                  </a:srgbClr>
                </a:solidFill>
                <a:latin typeface="Arial"/>
                <a:cs typeface="Arial" pitchFamily="34" charset="0"/>
              </a:endParaRPr>
            </a:p>
          </p:txBody>
        </p:sp>
      </p:grpSp>
      <p:grpSp>
        <p:nvGrpSpPr>
          <p:cNvPr id="27" name="Grup 10">
            <a:extLst>
              <a:ext uri="{FF2B5EF4-FFF2-40B4-BE49-F238E27FC236}">
                <a16:creationId xmlns:a16="http://schemas.microsoft.com/office/drawing/2014/main" id="{E5E63D64-13AF-FEE1-B751-5E26168527E7}"/>
              </a:ext>
            </a:extLst>
          </p:cNvPr>
          <p:cNvGrpSpPr/>
          <p:nvPr/>
        </p:nvGrpSpPr>
        <p:grpSpPr>
          <a:xfrm>
            <a:off x="1584239" y="3942177"/>
            <a:ext cx="3716833" cy="1972387"/>
            <a:chOff x="2423593" y="3902420"/>
            <a:chExt cx="3716833" cy="1972387"/>
          </a:xfrm>
        </p:grpSpPr>
        <p:cxnSp>
          <p:nvCxnSpPr>
            <p:cNvPr id="28" name="Elbow Connector 14">
              <a:extLst>
                <a:ext uri="{FF2B5EF4-FFF2-40B4-BE49-F238E27FC236}">
                  <a16:creationId xmlns:a16="http://schemas.microsoft.com/office/drawing/2014/main" id="{2D7CCD3F-8763-AB6C-EE1F-4177F6341278}"/>
                </a:ext>
              </a:extLst>
            </p:cNvPr>
            <p:cNvCxnSpPr>
              <a:cxnSpLocks/>
            </p:cNvCxnSpPr>
            <p:nvPr/>
          </p:nvCxnSpPr>
          <p:spPr>
            <a:xfrm flipV="1">
              <a:off x="2423593" y="3902420"/>
              <a:ext cx="1146811" cy="390677"/>
            </a:xfrm>
            <a:prstGeom prst="bentConnector3">
              <a:avLst>
                <a:gd name="adj1" fmla="val -21013"/>
              </a:avLst>
            </a:prstGeom>
            <a:ln w="25400">
              <a:solidFill>
                <a:schemeClr val="accent1">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6F0C18D-FD09-1AD2-DACA-9EB5E4CA7E66}"/>
                </a:ext>
              </a:extLst>
            </p:cNvPr>
            <p:cNvSpPr txBox="1"/>
            <p:nvPr/>
          </p:nvSpPr>
          <p:spPr>
            <a:xfrm>
              <a:off x="2511237" y="4005064"/>
              <a:ext cx="3629189" cy="1869743"/>
            </a:xfrm>
            <a:prstGeom prst="rect">
              <a:avLst/>
            </a:prstGeom>
            <a:noFill/>
          </p:spPr>
          <p:txBody>
            <a:bodyPr wrap="square" rtlCol="0">
              <a:spAutoFit/>
            </a:bodyPr>
            <a:lstStyle/>
            <a:p>
              <a:pPr algn="just"/>
              <a:r>
                <a:rPr lang="id-ID" sz="1050" dirty="0">
                  <a:latin typeface="Tahoma" panose="020B0604030504040204" pitchFamily="34" charset="0"/>
                  <a:ea typeface="Tahoma" panose="020B0604030504040204" pitchFamily="34" charset="0"/>
                  <a:cs typeface="Tahoma" panose="020B0604030504040204" pitchFamily="34" charset="0"/>
                </a:rPr>
                <a:t>Kami akan mempersiapkan peralatan, tenaga kerja dan kelengkapan kerja di lapangan sesuai dengan kebutuhan dan petunjuk Pengawas. Waktu kedatangan maupun pengambilan kembali peralatan, tenaga kerja dan kelengkapan kerja tersebut harus mendapat ijin dan persetujuan Pengawas. Kami bertanggung jawab terhadap segala kerusakan yang terjadi, terjaganya kebersihan maupun hal-hal lain yang diakibatkan dalam pelaksanaan mobilisasi dan demobilisasi serta pelaksanaan pekerjaan secara keseluruhan.</a:t>
              </a:r>
              <a:endParaRPr lang="en-US" sz="1050" dirty="0">
                <a:latin typeface="Tahoma" panose="020B0604030504040204" pitchFamily="34" charset="0"/>
                <a:ea typeface="Tahoma" panose="020B0604030504040204" pitchFamily="34" charset="0"/>
                <a:cs typeface="Tahoma" panose="020B0604030504040204" pitchFamily="34" charset="0"/>
              </a:endParaRP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30" name="Grup 12">
            <a:extLst>
              <a:ext uri="{FF2B5EF4-FFF2-40B4-BE49-F238E27FC236}">
                <a16:creationId xmlns:a16="http://schemas.microsoft.com/office/drawing/2014/main" id="{D631935C-FFE5-C3FB-431C-510C49C051A9}"/>
              </a:ext>
            </a:extLst>
          </p:cNvPr>
          <p:cNvGrpSpPr/>
          <p:nvPr/>
        </p:nvGrpSpPr>
        <p:grpSpPr>
          <a:xfrm>
            <a:off x="2708784" y="1308518"/>
            <a:ext cx="3096344" cy="1296144"/>
            <a:chOff x="3387328" y="1268761"/>
            <a:chExt cx="3096344" cy="1296144"/>
          </a:xfrm>
        </p:grpSpPr>
        <p:cxnSp>
          <p:nvCxnSpPr>
            <p:cNvPr id="31" name="Elbow Connector 43">
              <a:extLst>
                <a:ext uri="{FF2B5EF4-FFF2-40B4-BE49-F238E27FC236}">
                  <a16:creationId xmlns:a16="http://schemas.microsoft.com/office/drawing/2014/main" id="{B9F4CEE5-CAB7-7E5E-2A2E-BE3C61199797}"/>
                </a:ext>
              </a:extLst>
            </p:cNvPr>
            <p:cNvCxnSpPr/>
            <p:nvPr/>
          </p:nvCxnSpPr>
          <p:spPr>
            <a:xfrm>
              <a:off x="3387328" y="1924236"/>
              <a:ext cx="1906760" cy="640669"/>
            </a:xfrm>
            <a:prstGeom prst="bentConnector3">
              <a:avLst>
                <a:gd name="adj1" fmla="val -6919"/>
              </a:avLst>
            </a:prstGeom>
            <a:ln w="25400">
              <a:solidFill>
                <a:schemeClr val="accent2">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BE6311D-B990-4FA5-F95C-FE64916BD533}"/>
                </a:ext>
              </a:extLst>
            </p:cNvPr>
            <p:cNvSpPr txBox="1"/>
            <p:nvPr/>
          </p:nvSpPr>
          <p:spPr>
            <a:xfrm>
              <a:off x="3500588" y="1268761"/>
              <a:ext cx="2983084" cy="1223412"/>
            </a:xfrm>
            <a:prstGeom prst="rect">
              <a:avLst/>
            </a:prstGeom>
            <a:noFill/>
          </p:spPr>
          <p:txBody>
            <a:bodyPr wrap="square" rtlCol="0">
              <a:spAutoFit/>
            </a:bodyPr>
            <a:lstStyle/>
            <a:p>
              <a:pPr algn="just"/>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Direksi</a:t>
              </a:r>
              <a:r>
                <a:rPr lang="en-US" sz="1050" dirty="0">
                  <a:latin typeface="Tahoma" panose="020B0604030504040204" pitchFamily="34" charset="0"/>
                  <a:ea typeface="Tahoma" panose="020B0604030504040204" pitchFamily="34" charset="0"/>
                  <a:cs typeface="Tahoma" panose="020B0604030504040204" pitchFamily="34" charset="0"/>
                </a:rPr>
                <a:t> Kit </a:t>
              </a:r>
              <a:r>
                <a:rPr lang="en-US" sz="1050" dirty="0" err="1">
                  <a:latin typeface="Tahoma" panose="020B0604030504040204" pitchFamily="34" charset="0"/>
                  <a:ea typeface="Tahoma" panose="020B0604030504040204" pitchFamily="34" charset="0"/>
                  <a:cs typeface="Tahoma" panose="020B0604030504040204" pitchFamily="34" charset="0"/>
                </a:rPr>
                <a:t>bertujuan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sebagai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tempat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penyimpanan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alat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ataupun</a:t>
              </a:r>
              <a:r>
                <a:rPr lang="en-US" sz="1050" dirty="0">
                  <a:latin typeface="Tahoma" panose="020B0604030504040204" pitchFamily="34" charset="0"/>
                  <a:ea typeface="Tahoma" panose="020B0604030504040204" pitchFamily="34" charset="0"/>
                  <a:cs typeface="Tahoma" panose="020B0604030504040204" pitchFamily="34" charset="0"/>
                </a:rPr>
                <a:t> material yang sudah On site pada area pekerjaan, dan juga bisa </a:t>
              </a:r>
              <a:r>
                <a:rPr lang="en-US" sz="1050" dirty="0" err="1">
                  <a:latin typeface="Tahoma" panose="020B0604030504040204" pitchFamily="34" charset="0"/>
                  <a:ea typeface="Tahoma" panose="020B0604030504040204" pitchFamily="34" charset="0"/>
                  <a:cs typeface="Tahoma" panose="020B0604030504040204" pitchFamily="34" charset="0"/>
                </a:rPr>
                <a:t>digunakan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sebagai</a:t>
              </a:r>
              <a:r>
                <a:rPr lang="en-US" sz="1050" dirty="0">
                  <a:latin typeface="Tahoma" panose="020B0604030504040204" pitchFamily="34" charset="0"/>
                  <a:ea typeface="Tahoma" panose="020B0604030504040204" pitchFamily="34" charset="0"/>
                  <a:cs typeface="Tahoma" panose="020B0604030504040204" pitchFamily="34" charset="0"/>
                </a:rPr>
                <a:t> area </a:t>
              </a:r>
              <a:r>
                <a:rPr lang="en-US" sz="1050" dirty="0" err="1">
                  <a:latin typeface="Tahoma" panose="020B0604030504040204" pitchFamily="34" charset="0"/>
                  <a:ea typeface="Tahoma" panose="020B0604030504040204" pitchFamily="34" charset="0"/>
                  <a:cs typeface="Tahoma" panose="020B0604030504040204" pitchFamily="34" charset="0"/>
                </a:rPr>
                <a:t>perkantoran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sementara</a:t>
              </a:r>
              <a:r>
                <a:rPr lang="en-US" sz="1050" dirty="0">
                  <a:latin typeface="Tahoma" panose="020B0604030504040204" pitchFamily="34" charset="0"/>
                  <a:ea typeface="Tahoma" panose="020B0604030504040204" pitchFamily="34" charset="0"/>
                  <a:cs typeface="Tahoma" panose="020B0604030504040204" pitchFamily="34" charset="0"/>
                </a:rPr>
                <a:t> untuk </a:t>
              </a:r>
              <a:r>
                <a:rPr lang="en-US" sz="1050" dirty="0" err="1">
                  <a:latin typeface="Tahoma" panose="020B0604030504040204" pitchFamily="34" charset="0"/>
                  <a:ea typeface="Tahoma" panose="020B0604030504040204" pitchFamily="34" charset="0"/>
                  <a:cs typeface="Tahoma" panose="020B0604030504040204" pitchFamily="34" charset="0"/>
                </a:rPr>
                <a:t>membahas</a:t>
              </a:r>
              <a:r>
                <a:rPr lang="en-US" sz="1050" dirty="0">
                  <a:latin typeface="Tahoma" panose="020B0604030504040204" pitchFamily="34" charset="0"/>
                  <a:ea typeface="Tahoma" panose="020B0604030504040204" pitchFamily="34" charset="0"/>
                  <a:cs typeface="Tahoma" panose="020B0604030504040204" pitchFamily="34" charset="0"/>
                </a:rPr>
                <a:t> progress dan </a:t>
              </a:r>
              <a:r>
                <a:rPr lang="en-US" sz="1050" dirty="0" err="1">
                  <a:latin typeface="Tahoma" panose="020B0604030504040204" pitchFamily="34" charset="0"/>
                  <a:ea typeface="Tahoma" panose="020B0604030504040204" pitchFamily="34" charset="0"/>
                  <a:cs typeface="Tahoma" panose="020B0604030504040204" pitchFamily="34" charset="0"/>
                </a:rPr>
                <a:t>scadule</a:t>
              </a:r>
              <a:r>
                <a:rPr lang="en-US" sz="1050" dirty="0">
                  <a:latin typeface="Tahoma" panose="020B0604030504040204" pitchFamily="34" charset="0"/>
                  <a:ea typeface="Tahoma" panose="020B0604030504040204" pitchFamily="34" charset="0"/>
                  <a:cs typeface="Tahoma" panose="020B0604030504040204" pitchFamily="34" charset="0"/>
                </a:rPr>
                <a:t> pekerjaan.</a:t>
              </a: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33" name="Grup 17">
            <a:extLst>
              <a:ext uri="{FF2B5EF4-FFF2-40B4-BE49-F238E27FC236}">
                <a16:creationId xmlns:a16="http://schemas.microsoft.com/office/drawing/2014/main" id="{767D9431-06D8-0EB1-1E74-53A67C9ACB7C}"/>
              </a:ext>
            </a:extLst>
          </p:cNvPr>
          <p:cNvGrpSpPr/>
          <p:nvPr/>
        </p:nvGrpSpPr>
        <p:grpSpPr>
          <a:xfrm>
            <a:off x="7042678" y="1452534"/>
            <a:ext cx="3803010" cy="1247649"/>
            <a:chOff x="5591945" y="1412777"/>
            <a:chExt cx="3803010" cy="1247649"/>
          </a:xfrm>
        </p:grpSpPr>
        <p:cxnSp>
          <p:nvCxnSpPr>
            <p:cNvPr id="34" name="Elbow Connector 55">
              <a:extLst>
                <a:ext uri="{FF2B5EF4-FFF2-40B4-BE49-F238E27FC236}">
                  <a16:creationId xmlns:a16="http://schemas.microsoft.com/office/drawing/2014/main" id="{60F28312-C4A0-4CD4-24D5-A5F41B8C7402}"/>
                </a:ext>
              </a:extLst>
            </p:cNvPr>
            <p:cNvCxnSpPr/>
            <p:nvPr/>
          </p:nvCxnSpPr>
          <p:spPr>
            <a:xfrm flipV="1">
              <a:off x="7328147" y="1719802"/>
              <a:ext cx="2066808" cy="694676"/>
            </a:xfrm>
            <a:prstGeom prst="bentConnector3">
              <a:avLst>
                <a:gd name="adj1" fmla="val 117007"/>
              </a:avLst>
            </a:prstGeom>
            <a:ln w="25400">
              <a:solidFill>
                <a:schemeClr val="accent4">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D086979-82F5-5FC1-00EF-DC030C494A70}"/>
                </a:ext>
              </a:extLst>
            </p:cNvPr>
            <p:cNvSpPr txBox="1"/>
            <p:nvPr/>
          </p:nvSpPr>
          <p:spPr>
            <a:xfrm>
              <a:off x="5591945" y="1412777"/>
              <a:ext cx="3718175" cy="1247649"/>
            </a:xfrm>
            <a:prstGeom prst="rect">
              <a:avLst/>
            </a:prstGeom>
            <a:noFill/>
          </p:spPr>
          <p:txBody>
            <a:bodyPr wrap="square" rtlCol="0">
              <a:spAutoFit/>
            </a:bodyPr>
            <a:lstStyle/>
            <a:p>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Engginering</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pengadaan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meliputi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Shop Drawing dan </a:t>
              </a:r>
              <a:r>
                <a:rPr lang="en-US" sz="1050" dirty="0" err="1">
                  <a:latin typeface="Tahoma" panose="020B0604030504040204" pitchFamily="34" charset="0"/>
                  <a:ea typeface="Tahoma" panose="020B0604030504040204" pitchFamily="34" charset="0"/>
                  <a:cs typeface="Tahoma" panose="020B0604030504040204" pitchFamily="34" charset="0"/>
                </a:rPr>
                <a:t>Prosedur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Kerja</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dikerjakan</a:t>
              </a:r>
              <a:r>
                <a:rPr lang="en-US" sz="1050" dirty="0">
                  <a:latin typeface="Tahoma" panose="020B0604030504040204" pitchFamily="34" charset="0"/>
                  <a:ea typeface="Tahoma" panose="020B0604030504040204" pitchFamily="34" charset="0"/>
                  <a:cs typeface="Tahoma" panose="020B0604030504040204" pitchFamily="34" charset="0"/>
                </a:rPr>
                <a:t> pada </a:t>
              </a:r>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ini</a:t>
              </a:r>
              <a:r>
                <a:rPr lang="en-US" sz="1050" dirty="0">
                  <a:latin typeface="Tahoma" panose="020B0604030504040204" pitchFamily="34" charset="0"/>
                  <a:ea typeface="Tahoma" panose="020B0604030504040204" pitchFamily="34" charset="0"/>
                  <a:cs typeface="Tahoma" panose="020B0604030504040204" pitchFamily="34" charset="0"/>
                </a:rPr>
                <a:t>, Engineering </a:t>
              </a:r>
              <a:r>
                <a:rPr lang="en-US" sz="1050" dirty="0" err="1">
                  <a:latin typeface="Tahoma" panose="020B0604030504040204" pitchFamily="34" charset="0"/>
                  <a:ea typeface="Tahoma" panose="020B0604030504040204" pitchFamily="34" charset="0"/>
                  <a:cs typeface="Tahoma" panose="020B0604030504040204" pitchFamily="34" charset="0"/>
                </a:rPr>
                <a:t>dari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kontraktor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sebelum</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menyerahkan</a:t>
              </a:r>
              <a:r>
                <a:rPr lang="en-US" sz="1050" dirty="0">
                  <a:latin typeface="Tahoma" panose="020B0604030504040204" pitchFamily="34" charset="0"/>
                  <a:ea typeface="Tahoma" panose="020B0604030504040204" pitchFamily="34" charset="0"/>
                  <a:cs typeface="Tahoma" panose="020B0604030504040204" pitchFamily="34" charset="0"/>
                </a:rPr>
                <a:t> Shop Drawing </a:t>
              </a:r>
              <a:r>
                <a:rPr lang="en-US" sz="1050" dirty="0" err="1">
                  <a:latin typeface="Tahoma" panose="020B0604030504040204" pitchFamily="34" charset="0"/>
                  <a:ea typeface="Tahoma" panose="020B0604030504040204" pitchFamily="34" charset="0"/>
                  <a:cs typeface="Tahoma" panose="020B0604030504040204" pitchFamily="34" charset="0"/>
                </a:rPr>
                <a:t>terlebih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dahulu</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harus</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sudah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melakukan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pengecekan</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pengukuran</a:t>
              </a:r>
              <a:r>
                <a:rPr lang="en-US" sz="1050" dirty="0">
                  <a:latin typeface="Tahoma" panose="020B0604030504040204" pitchFamily="34" charset="0"/>
                  <a:ea typeface="Tahoma" panose="020B0604030504040204" pitchFamily="34" charset="0"/>
                  <a:cs typeface="Tahoma" panose="020B0604030504040204" pitchFamily="34" charset="0"/>
                </a:rPr>
                <a:t> di </a:t>
              </a:r>
              <a:r>
                <a:rPr lang="en-US" sz="1050" dirty="0" err="1">
                  <a:latin typeface="Tahoma" panose="020B0604030504040204" pitchFamily="34" charset="0"/>
                  <a:ea typeface="Tahoma" panose="020B0604030504040204" pitchFamily="34" charset="0"/>
                  <a:cs typeface="Tahoma" panose="020B0604030504040204" pitchFamily="34" charset="0"/>
                </a:rPr>
                <a:t>lapangan</a:t>
              </a:r>
              <a:r>
                <a:rPr lang="en-US" sz="1050" dirty="0">
                  <a:latin typeface="Tahoma" panose="020B0604030504040204" pitchFamily="34" charset="0"/>
                  <a:ea typeface="Tahoma" panose="020B0604030504040204" pitchFamily="34" charset="0"/>
                  <a:cs typeface="Tahoma" panose="020B0604030504040204" pitchFamily="34" charset="0"/>
                </a:rPr>
                <a:t>.</a:t>
              </a:r>
            </a:p>
            <a:p>
              <a:pPr marL="914400" algn="r">
                <a:lnSpc>
                  <a:spcPct val="115000"/>
                </a:lnSpc>
              </a:pPr>
              <a:r>
                <a:rPr lang="en-US" sz="1050" dirty="0">
                  <a:latin typeface="Tahoma" panose="020B0604030504040204" pitchFamily="34" charset="0"/>
                  <a:ea typeface="Tahoma" panose="020B0604030504040204" pitchFamily="34" charset="0"/>
                  <a:cs typeface="Tahoma" panose="020B0604030504040204" pitchFamily="34" charset="0"/>
                </a:rPr>
                <a:t> </a:t>
              </a:r>
            </a:p>
            <a:p>
              <a:pPr algn="r"/>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36" name="Grup 18">
            <a:extLst>
              <a:ext uri="{FF2B5EF4-FFF2-40B4-BE49-F238E27FC236}">
                <a16:creationId xmlns:a16="http://schemas.microsoft.com/office/drawing/2014/main" id="{997DB46C-C469-0EDD-021F-17453F3E455E}"/>
              </a:ext>
            </a:extLst>
          </p:cNvPr>
          <p:cNvGrpSpPr/>
          <p:nvPr/>
        </p:nvGrpSpPr>
        <p:grpSpPr>
          <a:xfrm>
            <a:off x="6237176" y="3972814"/>
            <a:ext cx="3168352" cy="1295420"/>
            <a:chOff x="5187529" y="3933057"/>
            <a:chExt cx="3168352" cy="1295420"/>
          </a:xfrm>
        </p:grpSpPr>
        <p:cxnSp>
          <p:nvCxnSpPr>
            <p:cNvPr id="37" name="Elbow Connector 30">
              <a:extLst>
                <a:ext uri="{FF2B5EF4-FFF2-40B4-BE49-F238E27FC236}">
                  <a16:creationId xmlns:a16="http://schemas.microsoft.com/office/drawing/2014/main" id="{231C2BDE-101A-7763-53FB-610456F145F8}"/>
                </a:ext>
              </a:extLst>
            </p:cNvPr>
            <p:cNvCxnSpPr>
              <a:cxnSpLocks/>
            </p:cNvCxnSpPr>
            <p:nvPr/>
          </p:nvCxnSpPr>
          <p:spPr>
            <a:xfrm flipV="1">
              <a:off x="5187529" y="3933057"/>
              <a:ext cx="1073447" cy="418835"/>
            </a:xfrm>
            <a:prstGeom prst="bentConnector3">
              <a:avLst>
                <a:gd name="adj1" fmla="val -15731"/>
              </a:avLst>
            </a:prstGeom>
            <a:ln w="25400">
              <a:solidFill>
                <a:schemeClr val="accent3">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FD5858B4-628F-B4FE-B5DE-ED4A841BEB98}"/>
                </a:ext>
              </a:extLst>
            </p:cNvPr>
            <p:cNvSpPr txBox="1"/>
            <p:nvPr/>
          </p:nvSpPr>
          <p:spPr>
            <a:xfrm>
              <a:off x="5330341" y="4005065"/>
              <a:ext cx="3025540" cy="1223412"/>
            </a:xfrm>
            <a:prstGeom prst="rect">
              <a:avLst/>
            </a:prstGeom>
            <a:noFill/>
          </p:spPr>
          <p:txBody>
            <a:bodyPr wrap="square" rtlCol="0">
              <a:spAutoFit/>
            </a:bodyPr>
            <a:lstStyle/>
            <a:p>
              <a:pPr algn="just"/>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pemasangan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rambu</a:t>
              </a:r>
              <a:r>
                <a:rPr lang="en-US" sz="1050" dirty="0">
                  <a:latin typeface="Tahoma" panose="020B0604030504040204" pitchFamily="34" charset="0"/>
                  <a:ea typeface="Tahoma" panose="020B0604030504040204" pitchFamily="34" charset="0"/>
                  <a:cs typeface="Tahoma" panose="020B0604030504040204" pitchFamily="34" charset="0"/>
                </a:rPr>
                <a:t> pada </a:t>
              </a:r>
              <a:r>
                <a:rPr lang="en-US" sz="1050" dirty="0" err="1">
                  <a:latin typeface="Tahoma" panose="020B0604030504040204" pitchFamily="34" charset="0"/>
                  <a:ea typeface="Tahoma" panose="020B0604030504040204" pitchFamily="34" charset="0"/>
                  <a:cs typeface="Tahoma" panose="020B0604030504040204" pitchFamily="34" charset="0"/>
                </a:rPr>
                <a:t>suatu</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proyek</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bertujuan</a:t>
              </a:r>
              <a:r>
                <a:rPr lang="en-US" sz="1050" dirty="0">
                  <a:latin typeface="Tahoma" panose="020B0604030504040204" pitchFamily="34" charset="0"/>
                  <a:ea typeface="Tahoma" panose="020B0604030504040204" pitchFamily="34" charset="0"/>
                  <a:cs typeface="Tahoma" panose="020B0604030504040204" pitchFamily="34" charset="0"/>
                </a:rPr>
                <a:t> untuk </a:t>
              </a:r>
              <a:r>
                <a:rPr lang="en-US" sz="1050" dirty="0" err="1">
                  <a:latin typeface="Tahoma" panose="020B0604030504040204" pitchFamily="34" charset="0"/>
                  <a:ea typeface="Tahoma" panose="020B0604030504040204" pitchFamily="34" charset="0"/>
                  <a:cs typeface="Tahoma" panose="020B0604030504040204" pitchFamily="34" charset="0"/>
                </a:rPr>
                <a:t>memberitahukan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bahwa</a:t>
              </a:r>
              <a:r>
                <a:rPr lang="en-US" sz="1050" dirty="0">
                  <a:latin typeface="Tahoma" panose="020B0604030504040204" pitchFamily="34" charset="0"/>
                  <a:ea typeface="Tahoma" panose="020B0604030504040204" pitchFamily="34" charset="0"/>
                  <a:cs typeface="Tahoma" panose="020B0604030504040204" pitchFamily="34" charset="0"/>
                </a:rPr>
                <a:t> di area </a:t>
              </a:r>
              <a:r>
                <a:rPr lang="en-US" sz="1050" dirty="0" err="1">
                  <a:latin typeface="Tahoma" panose="020B0604030504040204" pitchFamily="34" charset="0"/>
                  <a:ea typeface="Tahoma" panose="020B0604030504040204" pitchFamily="34" charset="0"/>
                  <a:cs typeface="Tahoma" panose="020B0604030504040204" pitchFamily="34" charset="0"/>
                </a:rPr>
                <a:t>tersebut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sedang</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dilakukan</a:t>
              </a:r>
              <a:r>
                <a:rPr lang="en-US" sz="1050" dirty="0">
                  <a:latin typeface="Tahoma" panose="020B0604030504040204" pitchFamily="34" charset="0"/>
                  <a:ea typeface="Tahoma" panose="020B0604030504040204" pitchFamily="34" charset="0"/>
                  <a:cs typeface="Tahoma" panose="020B0604030504040204" pitchFamily="34" charset="0"/>
                </a:rPr>
                <a:t> pekerjaan, </a:t>
              </a:r>
              <a:r>
                <a:rPr lang="en-US" sz="1050" dirty="0" err="1">
                  <a:latin typeface="Tahoma" panose="020B0604030504040204" pitchFamily="34" charset="0"/>
                  <a:ea typeface="Tahoma" panose="020B0604030504040204" pitchFamily="34" charset="0"/>
                  <a:cs typeface="Tahoma" panose="020B0604030504040204" pitchFamily="34" charset="0"/>
                </a:rPr>
                <a:t>rambu</a:t>
              </a:r>
              <a:r>
                <a:rPr lang="en-US" sz="1050" dirty="0">
                  <a:latin typeface="Tahoma" panose="020B0604030504040204" pitchFamily="34" charset="0"/>
                  <a:ea typeface="Tahoma" panose="020B0604030504040204" pitchFamily="34" charset="0"/>
                  <a:cs typeface="Tahoma" panose="020B0604030504040204" pitchFamily="34" charset="0"/>
                </a:rPr>
                <a:t> HSE untuk </a:t>
              </a:r>
              <a:r>
                <a:rPr lang="en-US" sz="1050" dirty="0" err="1">
                  <a:latin typeface="Tahoma" panose="020B0604030504040204" pitchFamily="34" charset="0"/>
                  <a:ea typeface="Tahoma" panose="020B0604030504040204" pitchFamily="34" charset="0"/>
                  <a:cs typeface="Tahoma" panose="020B0604030504040204" pitchFamily="34" charset="0"/>
                </a:rPr>
                <a:t>memberitahu</a:t>
              </a:r>
              <a:r>
                <a:rPr lang="en-US" sz="1050" dirty="0">
                  <a:latin typeface="Tahoma" panose="020B0604030504040204" pitchFamily="34" charset="0"/>
                  <a:ea typeface="Tahoma" panose="020B0604030504040204" pitchFamily="34" charset="0"/>
                  <a:cs typeface="Tahoma" panose="020B0604030504040204" pitchFamily="34" charset="0"/>
                </a:rPr>
                <a:t> para pekerja agar pada </a:t>
              </a:r>
              <a:r>
                <a:rPr lang="en-US" sz="1050" dirty="0" err="1">
                  <a:latin typeface="Tahoma" panose="020B0604030504040204" pitchFamily="34" charset="0"/>
                  <a:ea typeface="Tahoma" panose="020B0604030504040204" pitchFamily="34" charset="0"/>
                  <a:cs typeface="Tahoma" panose="020B0604030504040204" pitchFamily="34" charset="0"/>
                </a:rPr>
                <a:t>saat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melakukan</a:t>
              </a:r>
              <a:r>
                <a:rPr lang="en-US" sz="1050" dirty="0">
                  <a:latin typeface="Tahoma" panose="020B0604030504040204" pitchFamily="34" charset="0"/>
                  <a:ea typeface="Tahoma" panose="020B0604030504040204" pitchFamily="34" charset="0"/>
                  <a:cs typeface="Tahoma" panose="020B0604030504040204" pitchFamily="34" charset="0"/>
                </a:rPr>
                <a:t> pekerjaan </a:t>
              </a:r>
              <a:r>
                <a:rPr lang="en-US" sz="1050" dirty="0" err="1">
                  <a:latin typeface="Tahoma" panose="020B0604030504040204" pitchFamily="34" charset="0"/>
                  <a:ea typeface="Tahoma" panose="020B0604030504040204" pitchFamily="34" charset="0"/>
                  <a:cs typeface="Tahoma" panose="020B0604030504040204" pitchFamily="34" charset="0"/>
                </a:rPr>
                <a:t>dapat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mengenali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situasi</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terjadi</a:t>
              </a:r>
              <a:r>
                <a:rPr lang="en-US" sz="1050" dirty="0">
                  <a:latin typeface="Tahoma" panose="020B0604030504040204" pitchFamily="34" charset="0"/>
                  <a:ea typeface="Tahoma" panose="020B0604030504040204" pitchFamily="34" charset="0"/>
                  <a:cs typeface="Tahoma" panose="020B0604030504040204" pitchFamily="34" charset="0"/>
                </a:rPr>
                <a:t> di area.</a:t>
              </a: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672456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E12BA-7E94-8FA2-15C4-AACD4B23D03B}"/>
            </a:ext>
          </a:extLst>
        </p:cNvPr>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8858FAA-0004-5FBB-52AF-D456E0930535}"/>
              </a:ext>
            </a:extLst>
          </p:cNvPr>
          <p:cNvSpPr/>
          <p:nvPr/>
        </p:nvSpPr>
        <p:spPr>
          <a:xfrm>
            <a:off x="77753" y="203550"/>
            <a:ext cx="8830522" cy="488589"/>
          </a:xfrm>
          <a:prstGeom prst="roundRect">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016A33E-C558-244D-FCA4-08D190E395E4}"/>
              </a:ext>
            </a:extLst>
          </p:cNvPr>
          <p:cNvSpPr/>
          <p:nvPr/>
        </p:nvSpPr>
        <p:spPr>
          <a:xfrm>
            <a:off x="7993875" y="203550"/>
            <a:ext cx="914400" cy="488589"/>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D2F5E6E-D412-B593-790E-7A1AFE925D0E}"/>
              </a:ext>
            </a:extLst>
          </p:cNvPr>
          <p:cNvSpPr/>
          <p:nvPr/>
        </p:nvSpPr>
        <p:spPr>
          <a:xfrm>
            <a:off x="8091699" y="2035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10" name="TextBox 9">
            <a:extLst>
              <a:ext uri="{FF2B5EF4-FFF2-40B4-BE49-F238E27FC236}">
                <a16:creationId xmlns:a16="http://schemas.microsoft.com/office/drawing/2014/main" id="{5EC5D4C1-9D40-1A84-7575-6754FDF895FB}"/>
              </a:ext>
            </a:extLst>
          </p:cNvPr>
          <p:cNvSpPr txBox="1"/>
          <p:nvPr/>
        </p:nvSpPr>
        <p:spPr>
          <a:xfrm>
            <a:off x="126629" y="230474"/>
            <a:ext cx="7916158" cy="461665"/>
          </a:xfrm>
          <a:prstGeom prst="rect">
            <a:avLst/>
          </a:prstGeom>
          <a:noFill/>
        </p:spPr>
        <p:txBody>
          <a:bodyPr wrap="square" rtlCol="0">
            <a:spAutoFit/>
          </a:bodyPr>
          <a:lstStyle/>
          <a:p>
            <a:r>
              <a:rPr lang="en-US" sz="2400" b="1" dirty="0"/>
              <a:t>PROSEDUR SURFACE PREPARATION &amp; PAINTING</a:t>
            </a:r>
          </a:p>
        </p:txBody>
      </p:sp>
      <p:sp>
        <p:nvSpPr>
          <p:cNvPr id="2" name="Arrow: Right 1">
            <a:extLst>
              <a:ext uri="{FF2B5EF4-FFF2-40B4-BE49-F238E27FC236}">
                <a16:creationId xmlns:a16="http://schemas.microsoft.com/office/drawing/2014/main" id="{85415AE6-2A9E-57F8-BD2A-D64FB5C55A92}"/>
              </a:ext>
            </a:extLst>
          </p:cNvPr>
          <p:cNvSpPr/>
          <p:nvPr/>
        </p:nvSpPr>
        <p:spPr>
          <a:xfrm>
            <a:off x="608518" y="3049517"/>
            <a:ext cx="10524362" cy="46534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3" name="TextBox 2">
            <a:extLst>
              <a:ext uri="{FF2B5EF4-FFF2-40B4-BE49-F238E27FC236}">
                <a16:creationId xmlns:a16="http://schemas.microsoft.com/office/drawing/2014/main" id="{C4A59D01-04E2-F827-9AC4-5B78F254418B}"/>
              </a:ext>
            </a:extLst>
          </p:cNvPr>
          <p:cNvSpPr txBox="1"/>
          <p:nvPr/>
        </p:nvSpPr>
        <p:spPr>
          <a:xfrm>
            <a:off x="2347541" y="4648915"/>
            <a:ext cx="1533536" cy="175626"/>
          </a:xfrm>
          <a:prstGeom prst="rect">
            <a:avLst/>
          </a:prstGeom>
          <a:noFill/>
        </p:spPr>
        <p:txBody>
          <a:bodyPr wrap="square" lIns="0" rIns="0" rtlCol="0">
            <a:spAutoFit/>
          </a:bodyPr>
          <a:lstStyle/>
          <a:p>
            <a:pPr marL="914400" indent="457200" algn="ctr">
              <a:lnSpc>
                <a:spcPct val="115000"/>
              </a:lnSpc>
              <a:spcAft>
                <a:spcPts val="1000"/>
              </a:spcAft>
            </a:pPr>
            <a:endParaRPr lang="en-US" sz="5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4" name="Grup 9">
            <a:extLst>
              <a:ext uri="{FF2B5EF4-FFF2-40B4-BE49-F238E27FC236}">
                <a16:creationId xmlns:a16="http://schemas.microsoft.com/office/drawing/2014/main" id="{E06DE56F-C1CE-1CF6-AEB7-EDD4E8BBEFB8}"/>
              </a:ext>
            </a:extLst>
          </p:cNvPr>
          <p:cNvGrpSpPr/>
          <p:nvPr/>
        </p:nvGrpSpPr>
        <p:grpSpPr>
          <a:xfrm>
            <a:off x="1363517" y="2891275"/>
            <a:ext cx="1729032" cy="793507"/>
            <a:chOff x="2610557" y="2851518"/>
            <a:chExt cx="1273259" cy="793507"/>
          </a:xfrm>
        </p:grpSpPr>
        <p:sp>
          <p:nvSpPr>
            <p:cNvPr id="5" name="Rounded Rectangle 5">
              <a:extLst>
                <a:ext uri="{FF2B5EF4-FFF2-40B4-BE49-F238E27FC236}">
                  <a16:creationId xmlns:a16="http://schemas.microsoft.com/office/drawing/2014/main" id="{863EF865-E739-4698-857C-30CDF68EFD86}"/>
                </a:ext>
              </a:extLst>
            </p:cNvPr>
            <p:cNvSpPr/>
            <p:nvPr/>
          </p:nvSpPr>
          <p:spPr>
            <a:xfrm>
              <a:off x="2610557" y="2851518"/>
              <a:ext cx="1273259" cy="79350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6" name="TextBox 5">
              <a:extLst>
                <a:ext uri="{FF2B5EF4-FFF2-40B4-BE49-F238E27FC236}">
                  <a16:creationId xmlns:a16="http://schemas.microsoft.com/office/drawing/2014/main" id="{4927D4CD-9D3C-33C0-E434-6C11F7862AC1}"/>
                </a:ext>
              </a:extLst>
            </p:cNvPr>
            <p:cNvSpPr txBox="1"/>
            <p:nvPr/>
          </p:nvSpPr>
          <p:spPr>
            <a:xfrm>
              <a:off x="2667786" y="2996953"/>
              <a:ext cx="1123958" cy="646331"/>
            </a:xfrm>
            <a:prstGeom prst="rect">
              <a:avLst/>
            </a:prstGeom>
            <a:noFill/>
          </p:spPr>
          <p:txBody>
            <a:bodyPr wrap="square" rtlCol="0">
              <a:spAutoFit/>
            </a:bodyPr>
            <a:lstStyle/>
            <a:p>
              <a:pPr algn="ctr" defTabSz="685800"/>
              <a:r>
                <a:rPr lang="en-US" altLang="ko-KR" sz="1200" b="1" dirty="0">
                  <a:solidFill>
                    <a:srgbClr val="000000">
                      <a:lumMod val="75000"/>
                      <a:lumOff val="25000"/>
                    </a:srgbClr>
                  </a:solidFill>
                  <a:latin typeface="Arial"/>
                  <a:cs typeface="Arial" pitchFamily="34" charset="0"/>
                </a:rPr>
                <a:t>SURFACE PREPARATION</a:t>
              </a:r>
              <a:endParaRPr lang="ko-KR" altLang="en-US" sz="1200" b="1" dirty="0">
                <a:solidFill>
                  <a:srgbClr val="000000">
                    <a:lumMod val="75000"/>
                    <a:lumOff val="25000"/>
                  </a:srgbClr>
                </a:solidFill>
                <a:latin typeface="Arial"/>
                <a:cs typeface="Arial" pitchFamily="34" charset="0"/>
              </a:endParaRPr>
            </a:p>
          </p:txBody>
        </p:sp>
      </p:grpSp>
      <p:grpSp>
        <p:nvGrpSpPr>
          <p:cNvPr id="14" name="Grup 13">
            <a:extLst>
              <a:ext uri="{FF2B5EF4-FFF2-40B4-BE49-F238E27FC236}">
                <a16:creationId xmlns:a16="http://schemas.microsoft.com/office/drawing/2014/main" id="{12D1815E-77E3-8831-77E6-ED8821A8A287}"/>
              </a:ext>
            </a:extLst>
          </p:cNvPr>
          <p:cNvGrpSpPr/>
          <p:nvPr/>
        </p:nvGrpSpPr>
        <p:grpSpPr>
          <a:xfrm>
            <a:off x="6476085" y="2891275"/>
            <a:ext cx="1996583" cy="793507"/>
            <a:chOff x="5696869" y="2851518"/>
            <a:chExt cx="1273259" cy="793507"/>
          </a:xfrm>
        </p:grpSpPr>
        <p:sp>
          <p:nvSpPr>
            <p:cNvPr id="15" name="Rounded Rectangle 3">
              <a:extLst>
                <a:ext uri="{FF2B5EF4-FFF2-40B4-BE49-F238E27FC236}">
                  <a16:creationId xmlns:a16="http://schemas.microsoft.com/office/drawing/2014/main" id="{488E2F9F-FAE6-9996-C3BF-C6BBDFC92700}"/>
                </a:ext>
              </a:extLst>
            </p:cNvPr>
            <p:cNvSpPr/>
            <p:nvPr/>
          </p:nvSpPr>
          <p:spPr>
            <a:xfrm>
              <a:off x="5696869" y="2851518"/>
              <a:ext cx="1273259" cy="793507"/>
            </a:xfrm>
            <a:prstGeom prst="roundRect">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6" name="TextBox 15">
              <a:extLst>
                <a:ext uri="{FF2B5EF4-FFF2-40B4-BE49-F238E27FC236}">
                  <a16:creationId xmlns:a16="http://schemas.microsoft.com/office/drawing/2014/main" id="{482221FB-208F-1429-0898-A10B0E5F0578}"/>
                </a:ext>
              </a:extLst>
            </p:cNvPr>
            <p:cNvSpPr txBox="1"/>
            <p:nvPr/>
          </p:nvSpPr>
          <p:spPr>
            <a:xfrm>
              <a:off x="5740133" y="2990037"/>
              <a:ext cx="1186730" cy="461665"/>
            </a:xfrm>
            <a:prstGeom prst="rect">
              <a:avLst/>
            </a:prstGeom>
            <a:noFill/>
          </p:spPr>
          <p:txBody>
            <a:bodyPr wrap="square" rtlCol="0">
              <a:spAutoFit/>
            </a:bodyPr>
            <a:lstStyle/>
            <a:p>
              <a:pPr algn="ctr" defTabSz="685800"/>
              <a:r>
                <a:rPr lang="en-US" altLang="ko-KR" sz="1200" b="1" dirty="0">
                  <a:solidFill>
                    <a:srgbClr val="000000">
                      <a:lumMod val="75000"/>
                      <a:lumOff val="25000"/>
                    </a:srgbClr>
                  </a:solidFill>
                  <a:latin typeface="Arial"/>
                  <a:cs typeface="Arial" pitchFamily="34" charset="0"/>
                </a:rPr>
                <a:t>PEKERJAAN PAINTING</a:t>
              </a:r>
              <a:endParaRPr lang="ko-KR" altLang="en-US" sz="1200" b="1" dirty="0">
                <a:solidFill>
                  <a:srgbClr val="000000">
                    <a:lumMod val="75000"/>
                    <a:lumOff val="25000"/>
                  </a:srgbClr>
                </a:solidFill>
                <a:latin typeface="Arial"/>
                <a:cs typeface="Arial" pitchFamily="34" charset="0"/>
              </a:endParaRPr>
            </a:p>
          </p:txBody>
        </p:sp>
      </p:grpSp>
      <p:grpSp>
        <p:nvGrpSpPr>
          <p:cNvPr id="20" name="Grup 10">
            <a:extLst>
              <a:ext uri="{FF2B5EF4-FFF2-40B4-BE49-F238E27FC236}">
                <a16:creationId xmlns:a16="http://schemas.microsoft.com/office/drawing/2014/main" id="{A86FB63E-4686-B30F-9A90-42398C050834}"/>
              </a:ext>
            </a:extLst>
          </p:cNvPr>
          <p:cNvGrpSpPr/>
          <p:nvPr/>
        </p:nvGrpSpPr>
        <p:grpSpPr>
          <a:xfrm>
            <a:off x="1089952" y="3812500"/>
            <a:ext cx="5137228" cy="1107492"/>
            <a:chOff x="420996" y="3815070"/>
            <a:chExt cx="3692162" cy="1481721"/>
          </a:xfrm>
        </p:grpSpPr>
        <p:cxnSp>
          <p:nvCxnSpPr>
            <p:cNvPr id="21" name="Elbow Connector 14">
              <a:extLst>
                <a:ext uri="{FF2B5EF4-FFF2-40B4-BE49-F238E27FC236}">
                  <a16:creationId xmlns:a16="http://schemas.microsoft.com/office/drawing/2014/main" id="{FDD8149D-3150-12B8-62DF-DADFC78D4C84}"/>
                </a:ext>
              </a:extLst>
            </p:cNvPr>
            <p:cNvCxnSpPr>
              <a:cxnSpLocks/>
            </p:cNvCxnSpPr>
            <p:nvPr/>
          </p:nvCxnSpPr>
          <p:spPr>
            <a:xfrm flipV="1">
              <a:off x="420996" y="3815070"/>
              <a:ext cx="1146811" cy="390677"/>
            </a:xfrm>
            <a:prstGeom prst="bentConnector3">
              <a:avLst>
                <a:gd name="adj1" fmla="val -21013"/>
              </a:avLst>
            </a:prstGeom>
            <a:ln w="25400">
              <a:solidFill>
                <a:schemeClr val="accent1">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B5529AF-2A9B-AB52-CDE0-7DD8868060DC}"/>
                </a:ext>
              </a:extLst>
            </p:cNvPr>
            <p:cNvSpPr txBox="1"/>
            <p:nvPr/>
          </p:nvSpPr>
          <p:spPr>
            <a:xfrm>
              <a:off x="483969" y="3893149"/>
              <a:ext cx="3629189" cy="1403642"/>
            </a:xfrm>
            <a:prstGeom prst="rect">
              <a:avLst/>
            </a:prstGeom>
            <a:noFill/>
          </p:spPr>
          <p:txBody>
            <a:bodyPr wrap="square" rtlCol="0">
              <a:spAutoFit/>
            </a:bodyPr>
            <a:lstStyle/>
            <a:p>
              <a:pPr fontAlgn="base">
                <a:lnSpc>
                  <a:spcPct val="115000"/>
                </a:lnSpc>
                <a:buSzPts val="1400"/>
              </a:pPr>
              <a:r>
                <a:rPr lang="en-US" sz="1100" dirty="0" err="1">
                  <a:latin typeface="Arial" panose="020B0604020202020204" pitchFamily="34" charset="0"/>
                  <a:cs typeface="Arial" panose="020B0604020202020204" pitchFamily="34" charset="0"/>
                </a:rPr>
                <a:t>Sebelum</a:t>
              </a:r>
              <a:r>
                <a:rPr lang="en-US" sz="1100" dirty="0">
                  <a:latin typeface="Arial" panose="020B0604020202020204" pitchFamily="34" charset="0"/>
                  <a:cs typeface="Arial" panose="020B0604020202020204" pitchFamily="34" charset="0"/>
                </a:rPr>
                <a:t> Proses, </a:t>
              </a:r>
              <a:r>
                <a:rPr lang="en-US" sz="1100" dirty="0" err="1">
                  <a:latin typeface="Arial" panose="020B0604020202020204" pitchFamily="34" charset="0"/>
                  <a:cs typeface="Arial" panose="020B0604020202020204" pitchFamily="34" charset="0"/>
                </a:rPr>
                <a:t>semua</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permukaan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harus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kering</a:t>
              </a:r>
              <a:r>
                <a:rPr lang="en-US" sz="1100" dirty="0">
                  <a:latin typeface="Arial" panose="020B0604020202020204" pitchFamily="34" charset="0"/>
                  <a:cs typeface="Arial" panose="020B0604020202020204" pitchFamily="34" charset="0"/>
                </a:rPr>
                <a:t> dan </a:t>
              </a:r>
              <a:r>
                <a:rPr lang="en-US" sz="1100" dirty="0" err="1">
                  <a:latin typeface="Arial" panose="020B0604020202020204" pitchFamily="34" charset="0"/>
                  <a:cs typeface="Arial" panose="020B0604020202020204" pitchFamily="34" charset="0"/>
                </a:rPr>
                <a:t>bebas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dari</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endapan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minyak</a:t>
              </a:r>
              <a:r>
                <a:rPr lang="en-US" sz="1100" dirty="0">
                  <a:latin typeface="Arial" panose="020B0604020202020204" pitchFamily="34" charset="0"/>
                  <a:cs typeface="Arial" panose="020B0604020202020204" pitchFamily="34" charset="0"/>
                </a:rPr>
                <a:t>, dan </a:t>
              </a:r>
              <a:r>
                <a:rPr lang="en-US" sz="1100" dirty="0" err="1">
                  <a:latin typeface="Arial" panose="020B0604020202020204" pitchFamily="34" charset="0"/>
                  <a:cs typeface="Arial" panose="020B0604020202020204" pitchFamily="34" charset="0"/>
                </a:rPr>
                <a:t>komtaminan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lainnya</a:t>
              </a:r>
              <a:r>
                <a:rPr lang="en-US" sz="1100" dirty="0">
                  <a:latin typeface="Arial" panose="020B0604020202020204" pitchFamily="34" charset="0"/>
                  <a:cs typeface="Arial" panose="020B0604020202020204" pitchFamily="34" charset="0"/>
                </a:rPr>
                <a:t>. </a:t>
              </a:r>
              <a:r>
                <a:rPr lang="id-ID" sz="1100" dirty="0">
                  <a:latin typeface="Arial" panose="020B0604020202020204" pitchFamily="34" charset="0"/>
                  <a:cs typeface="Arial" panose="020B0604020202020204" pitchFamily="34" charset="0"/>
                </a:rPr>
                <a:t>Melakukan pembersihan permukaan dengan menggunakan metode </a:t>
              </a:r>
              <a:r>
                <a:rPr lang="en-US" sz="1100" dirty="0">
                  <a:latin typeface="Arial" panose="020B0604020202020204" pitchFamily="34" charset="0"/>
                  <a:cs typeface="Arial" panose="020B0604020202020204" pitchFamily="34" charset="0"/>
                </a:rPr>
                <a:t>Hand Tool </a:t>
              </a:r>
              <a:r>
                <a:rPr lang="en-US" sz="1100" dirty="0" err="1">
                  <a:latin typeface="Arial" panose="020B0604020202020204" pitchFamily="34" charset="0"/>
                  <a:cs typeface="Arial" panose="020B0604020202020204" pitchFamily="34" charset="0"/>
                </a:rPr>
                <a:t>Menggunakan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Peralatan</a:t>
              </a:r>
              <a:r>
                <a:rPr lang="en-US" sz="1100" dirty="0">
                  <a:latin typeface="Arial" panose="020B0604020202020204" pitchFamily="34" charset="0"/>
                  <a:cs typeface="Arial" panose="020B0604020202020204" pitchFamily="34" charset="0"/>
                </a:rPr>
                <a:t> yang di </a:t>
              </a:r>
              <a:r>
                <a:rPr lang="en-US" sz="1100" dirty="0" err="1">
                  <a:latin typeface="Arial" panose="020B0604020202020204" pitchFamily="34" charset="0"/>
                  <a:cs typeface="Arial" panose="020B0604020202020204" pitchFamily="34" charset="0"/>
                </a:rPr>
                <a:t>gunakan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palu</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tembaga,Sikat</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Kawat</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Tembaga</a:t>
              </a:r>
              <a:r>
                <a:rPr lang="en-US" sz="1100" dirty="0">
                  <a:latin typeface="Arial" panose="020B0604020202020204" pitchFamily="34" charset="0"/>
                  <a:cs typeface="Arial" panose="020B0604020202020204" pitchFamily="34" charset="0"/>
                </a:rPr>
                <a:t> &amp; </a:t>
              </a:r>
              <a:r>
                <a:rPr lang="en-US" sz="1100" dirty="0" err="1">
                  <a:latin typeface="Arial" panose="020B0604020202020204" pitchFamily="34" charset="0"/>
                  <a:cs typeface="Arial" panose="020B0604020202020204" pitchFamily="34" charset="0"/>
                </a:rPr>
                <a:t>Amplas</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Setelah</a:t>
              </a:r>
              <a:r>
                <a:rPr lang="en-US" sz="1100" dirty="0">
                  <a:latin typeface="Arial" panose="020B0604020202020204" pitchFamily="34" charset="0"/>
                  <a:cs typeface="Arial" panose="020B0604020202020204" pitchFamily="34" charset="0"/>
                </a:rPr>
                <a:t> blasting </a:t>
              </a:r>
              <a:r>
                <a:rPr lang="en-US" sz="1100" dirty="0" err="1">
                  <a:latin typeface="Arial" panose="020B0604020202020204" pitchFamily="34" charset="0"/>
                  <a:cs typeface="Arial" panose="020B0604020202020204" pitchFamily="34" charset="0"/>
                </a:rPr>
                <a:t>selesai</a:t>
              </a:r>
              <a:r>
                <a:rPr lang="en-US" sz="1100" dirty="0">
                  <a:latin typeface="Arial" panose="020B0604020202020204" pitchFamily="34" charset="0"/>
                  <a:cs typeface="Arial" panose="020B0604020202020204" pitchFamily="34" charset="0"/>
                </a:rPr>
                <a:t> kami </a:t>
              </a:r>
              <a:r>
                <a:rPr lang="en-US" sz="1100" dirty="0" err="1">
                  <a:latin typeface="Arial" panose="020B0604020202020204" pitchFamily="34" charset="0"/>
                  <a:cs typeface="Arial" panose="020B0604020202020204" pitchFamily="34" charset="0"/>
                </a:rPr>
                <a:t>akan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melakukan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pengecekan</a:t>
              </a:r>
              <a:r>
                <a:rPr lang="en-US" sz="1100" dirty="0">
                  <a:latin typeface="Arial" panose="020B0604020202020204" pitchFamily="34" charset="0"/>
                  <a:cs typeface="Arial" panose="020B0604020202020204" pitchFamily="34" charset="0"/>
                </a:rPr>
                <a:t> </a:t>
              </a:r>
              <a:r>
                <a:rPr lang="en-US" sz="1100" dirty="0" err="1">
                  <a:latin typeface="Arial" panose="020B0604020202020204" pitchFamily="34" charset="0"/>
                  <a:cs typeface="Arial" panose="020B0604020202020204" pitchFamily="34" charset="0"/>
                </a:rPr>
                <a:t>bersama</a:t>
              </a:r>
              <a:r>
                <a:rPr lang="en-US" sz="1100" dirty="0">
                  <a:latin typeface="Arial" panose="020B0604020202020204" pitchFamily="34" charset="0"/>
                  <a:cs typeface="Arial" panose="020B0604020202020204" pitchFamily="34" charset="0"/>
                </a:rPr>
                <a:t> MK Lokasi.</a:t>
              </a:r>
            </a:p>
          </p:txBody>
        </p:sp>
      </p:grpSp>
      <p:cxnSp>
        <p:nvCxnSpPr>
          <p:cNvPr id="36" name="Elbow Connector 14">
            <a:extLst>
              <a:ext uri="{FF2B5EF4-FFF2-40B4-BE49-F238E27FC236}">
                <a16:creationId xmlns:a16="http://schemas.microsoft.com/office/drawing/2014/main" id="{2F341A73-B602-37D1-362F-FADB91E28FFA}"/>
              </a:ext>
            </a:extLst>
          </p:cNvPr>
          <p:cNvCxnSpPr>
            <a:cxnSpLocks/>
            <a:endCxn id="37" idx="3"/>
          </p:cNvCxnSpPr>
          <p:nvPr/>
        </p:nvCxnSpPr>
        <p:spPr>
          <a:xfrm flipV="1">
            <a:off x="7004779" y="1916923"/>
            <a:ext cx="1467889" cy="830790"/>
          </a:xfrm>
          <a:prstGeom prst="bentConnector3">
            <a:avLst>
              <a:gd name="adj1" fmla="val 115573"/>
            </a:avLst>
          </a:prstGeom>
          <a:ln w="25400">
            <a:solidFill>
              <a:schemeClr val="accent1">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A849F30-B90C-0791-E4CC-4093C9FC24C2}"/>
              </a:ext>
            </a:extLst>
          </p:cNvPr>
          <p:cNvSpPr txBox="1"/>
          <p:nvPr/>
        </p:nvSpPr>
        <p:spPr>
          <a:xfrm>
            <a:off x="3423060" y="982051"/>
            <a:ext cx="5049608" cy="1869743"/>
          </a:xfrm>
          <a:prstGeom prst="rect">
            <a:avLst/>
          </a:prstGeom>
          <a:noFill/>
        </p:spPr>
        <p:txBody>
          <a:bodyPr wrap="square" rtlCol="0">
            <a:spAutoFit/>
          </a:bodyPr>
          <a:lstStyle/>
          <a:p>
            <a:pPr algn="just" fontAlgn="base"/>
            <a:r>
              <a:rPr lang="en-US" sz="1050" dirty="0" err="1">
                <a:latin typeface="Tahoma" panose="020B0604030504040204" pitchFamily="34" charset="0"/>
                <a:ea typeface="Tahoma" panose="020B0604030504040204" pitchFamily="34" charset="0"/>
                <a:cs typeface="Tahoma" panose="020B0604030504040204" pitchFamily="34" charset="0"/>
              </a:rPr>
              <a:t>Sebelum</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dilakukan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pengecatan</a:t>
            </a:r>
            <a:r>
              <a:rPr lang="en-US" sz="1050" dirty="0">
                <a:latin typeface="Tahoma" panose="020B0604030504040204" pitchFamily="34" charset="0"/>
                <a:ea typeface="Tahoma" panose="020B0604030504040204" pitchFamily="34" charset="0"/>
                <a:cs typeface="Tahoma" panose="020B0604030504040204" pitchFamily="34" charset="0"/>
              </a:rPr>
              <a:t>, Material </a:t>
            </a:r>
            <a:r>
              <a:rPr lang="en-US" sz="1050" dirty="0" err="1">
                <a:latin typeface="Tahoma" panose="020B0604030504040204" pitchFamily="34" charset="0"/>
                <a:ea typeface="Tahoma" panose="020B0604030504040204" pitchFamily="34" charset="0"/>
                <a:cs typeface="Tahoma" panose="020B0604030504040204" pitchFamily="34" charset="0"/>
              </a:rPr>
              <a:t>harus</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betul-betul</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sudah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bersih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dari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kotoran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maupun</a:t>
            </a:r>
            <a:r>
              <a:rPr lang="en-US" sz="1050" dirty="0">
                <a:latin typeface="Tahoma" panose="020B0604030504040204" pitchFamily="34" charset="0"/>
                <a:ea typeface="Tahoma" panose="020B0604030504040204" pitchFamily="34" charset="0"/>
                <a:cs typeface="Tahoma" panose="020B0604030504040204" pitchFamily="34" charset="0"/>
              </a:rPr>
              <a:t> karat. Waktu </a:t>
            </a:r>
            <a:r>
              <a:rPr lang="en-US" sz="1050" dirty="0" err="1">
                <a:latin typeface="Tahoma" panose="020B0604030504040204" pitchFamily="34" charset="0"/>
                <a:ea typeface="Tahoma" panose="020B0604030504040204" pitchFamily="34" charset="0"/>
                <a:cs typeface="Tahoma" panose="020B0604030504040204" pitchFamily="34" charset="0"/>
              </a:rPr>
              <a:t>antara</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penyelesaian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persiapan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permukaan</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pengecatan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dasar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tidak</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boleh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lebih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dari</a:t>
            </a:r>
            <a:r>
              <a:rPr lang="en-US" sz="1050" dirty="0">
                <a:latin typeface="Tahoma" panose="020B0604030504040204" pitchFamily="34" charset="0"/>
                <a:ea typeface="Tahoma" panose="020B0604030504040204" pitchFamily="34" charset="0"/>
                <a:cs typeface="Tahoma" panose="020B0604030504040204" pitchFamily="34" charset="0"/>
              </a:rPr>
              <a:t> 3 jam.</a:t>
            </a:r>
          </a:p>
          <a:p>
            <a:pPr algn="just" fontAlgn="base"/>
            <a:r>
              <a:rPr lang="en-US" sz="1050" dirty="0" err="1">
                <a:latin typeface="Tahoma" panose="020B0604030504040204" pitchFamily="34" charset="0"/>
                <a:ea typeface="Tahoma" panose="020B0604030504040204" pitchFamily="34" charset="0"/>
                <a:cs typeface="Tahoma" panose="020B0604030504040204" pitchFamily="34" charset="0"/>
              </a:rPr>
              <a:t>Pengecatan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dasar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dilakukan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dengan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menggunakan</a:t>
            </a:r>
            <a:r>
              <a:rPr lang="en-US" sz="1050" dirty="0">
                <a:latin typeface="Tahoma" panose="020B0604030504040204" pitchFamily="34" charset="0"/>
                <a:ea typeface="Tahoma" panose="020B0604030504040204" pitchFamily="34" charset="0"/>
                <a:cs typeface="Tahoma" panose="020B0604030504040204" pitchFamily="34" charset="0"/>
              </a:rPr>
              <a:t> roller brush.</a:t>
            </a:r>
          </a:p>
          <a:p>
            <a:pPr algn="just" fontAlgn="base"/>
            <a:r>
              <a:rPr lang="en-US" sz="1050" dirty="0" err="1">
                <a:latin typeface="Tahoma" panose="020B0604030504040204" pitchFamily="34" charset="0"/>
                <a:ea typeface="Tahoma" panose="020B0604030504040204" pitchFamily="34" charset="0"/>
                <a:cs typeface="Tahoma" panose="020B0604030504040204" pitchFamily="34" charset="0"/>
              </a:rPr>
              <a:t>Sebelum</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digunakan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bahan</a:t>
            </a:r>
            <a:r>
              <a:rPr lang="en-US" sz="1050" dirty="0">
                <a:latin typeface="Tahoma" panose="020B0604030504040204" pitchFamily="34" charset="0"/>
                <a:ea typeface="Tahoma" panose="020B0604030504040204" pitchFamily="34" charset="0"/>
                <a:cs typeface="Tahoma" panose="020B0604030504040204" pitchFamily="34" charset="0"/>
              </a:rPr>
              <a:t> cat yang </a:t>
            </a:r>
            <a:r>
              <a:rPr lang="en-US" sz="1050" dirty="0" err="1">
                <a:latin typeface="Tahoma" panose="020B0604030504040204" pitchFamily="34" charset="0"/>
                <a:ea typeface="Tahoma" panose="020B0604030504040204" pitchFamily="34" charset="0"/>
                <a:cs typeface="Tahoma" panose="020B0604030504040204" pitchFamily="34" charset="0"/>
              </a:rPr>
              <a:t>terdiri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atas</a:t>
            </a:r>
            <a:r>
              <a:rPr lang="en-US" sz="1050" dirty="0">
                <a:latin typeface="Tahoma" panose="020B0604030504040204" pitchFamily="34" charset="0"/>
                <a:ea typeface="Tahoma" panose="020B0604030504040204" pitchFamily="34" charset="0"/>
                <a:cs typeface="Tahoma" panose="020B0604030504040204" pitchFamily="34" charset="0"/>
              </a:rPr>
              <a:t> 2 </a:t>
            </a:r>
            <a:r>
              <a:rPr lang="en-US" sz="1050" dirty="0" err="1">
                <a:latin typeface="Tahoma" panose="020B0604030504040204" pitchFamily="34" charset="0"/>
                <a:ea typeface="Tahoma" panose="020B0604030504040204" pitchFamily="34" charset="0"/>
                <a:cs typeface="Tahoma" panose="020B0604030504040204" pitchFamily="34" charset="0"/>
              </a:rPr>
              <a:t>komponen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diaduk</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secara</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terpisah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sebelum</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dicampur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dengan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perbandingan</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ditentukan</a:t>
            </a:r>
            <a:r>
              <a:rPr lang="en-US" sz="1050" dirty="0">
                <a:latin typeface="Tahoma" panose="020B0604030504040204" pitchFamily="34" charset="0"/>
                <a:ea typeface="Tahoma" panose="020B0604030504040204" pitchFamily="34" charset="0"/>
                <a:cs typeface="Tahoma" panose="020B0604030504040204" pitchFamily="34" charset="0"/>
              </a:rPr>
              <a:t> oleh </a:t>
            </a:r>
            <a:r>
              <a:rPr lang="en-US" sz="1050" dirty="0" err="1">
                <a:latin typeface="Tahoma" panose="020B0604030504040204" pitchFamily="34" charset="0"/>
                <a:ea typeface="Tahoma" panose="020B0604030504040204" pitchFamily="34" charset="0"/>
                <a:cs typeface="Tahoma" panose="020B0604030504040204" pitchFamily="34" charset="0"/>
              </a:rPr>
              <a:t>pabrik</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pembuat</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diawasi</a:t>
            </a:r>
            <a:r>
              <a:rPr lang="en-US" sz="1050" dirty="0">
                <a:latin typeface="Tahoma" panose="020B0604030504040204" pitchFamily="34" charset="0"/>
                <a:ea typeface="Tahoma" panose="020B0604030504040204" pitchFamily="34" charset="0"/>
                <a:cs typeface="Tahoma" panose="020B0604030504040204" pitchFamily="34" charset="0"/>
              </a:rPr>
              <a:t> oleh </a:t>
            </a:r>
            <a:r>
              <a:rPr lang="en-US" sz="1050" dirty="0" err="1">
                <a:latin typeface="Tahoma" panose="020B0604030504040204" pitchFamily="34" charset="0"/>
                <a:ea typeface="Tahoma" panose="020B0604030504040204" pitchFamily="34" charset="0"/>
                <a:cs typeface="Tahoma" panose="020B0604030504040204" pitchFamily="34" charset="0"/>
              </a:rPr>
              <a:t>seorang</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pengawas</a:t>
            </a:r>
            <a:r>
              <a:rPr lang="en-US" sz="1050" dirty="0">
                <a:latin typeface="Tahoma" panose="020B0604030504040204" pitchFamily="34" charset="0"/>
                <a:ea typeface="Tahoma" panose="020B0604030504040204" pitchFamily="34" charset="0"/>
                <a:cs typeface="Tahoma" panose="020B0604030504040204" pitchFamily="34" charset="0"/>
              </a:rPr>
              <a:t>.</a:t>
            </a:r>
          </a:p>
          <a:p>
            <a:pPr algn="just" fontAlgn="base"/>
            <a:r>
              <a:rPr lang="en-US" sz="1050" dirty="0" err="1">
                <a:latin typeface="Tahoma" panose="020B0604030504040204" pitchFamily="34" charset="0"/>
                <a:ea typeface="Tahoma" panose="020B0604030504040204" pitchFamily="34" charset="0"/>
                <a:cs typeface="Tahoma" panose="020B0604030504040204" pitchFamily="34" charset="0"/>
              </a:rPr>
              <a:t>Pengencer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dapat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ditambahkan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seperti</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telah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ditentukan</a:t>
            </a:r>
            <a:r>
              <a:rPr lang="en-US" sz="1050" dirty="0">
                <a:latin typeface="Tahoma" panose="020B0604030504040204" pitchFamily="34" charset="0"/>
                <a:ea typeface="Tahoma" panose="020B0604030504040204" pitchFamily="34" charset="0"/>
                <a:cs typeface="Tahoma" panose="020B0604030504040204" pitchFamily="34" charset="0"/>
              </a:rPr>
              <a:t>  oleh </a:t>
            </a:r>
            <a:r>
              <a:rPr lang="en-US" sz="1050" dirty="0" err="1">
                <a:latin typeface="Tahoma" panose="020B0604030504040204" pitchFamily="34" charset="0"/>
                <a:ea typeface="Tahoma" panose="020B0604030504040204" pitchFamily="34" charset="0"/>
                <a:cs typeface="Tahoma" panose="020B0604030504040204" pitchFamily="34" charset="0"/>
              </a:rPr>
              <a:t>pabrik</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pembuat</a:t>
            </a:r>
            <a:r>
              <a:rPr lang="en-US" sz="1050" dirty="0">
                <a:latin typeface="Tahoma" panose="020B0604030504040204" pitchFamily="34" charset="0"/>
                <a:ea typeface="Tahoma" panose="020B0604030504040204" pitchFamily="34" charset="0"/>
                <a:cs typeface="Tahoma" panose="020B0604030504040204" pitchFamily="34" charset="0"/>
              </a:rPr>
              <a:t>.</a:t>
            </a:r>
          </a:p>
          <a:p>
            <a:pPr algn="just" fontAlgn="base"/>
            <a:r>
              <a:rPr lang="en-US" sz="1050" dirty="0">
                <a:latin typeface="Tahoma" panose="020B0604030504040204" pitchFamily="34" charset="0"/>
                <a:ea typeface="Tahoma" panose="020B0604030504040204" pitchFamily="34" charset="0"/>
                <a:cs typeface="Tahoma" panose="020B0604030504040204" pitchFamily="34" charset="0"/>
              </a:rPr>
              <a:t>Pada </a:t>
            </a:r>
            <a:r>
              <a:rPr lang="en-US" sz="1050" dirty="0" err="1">
                <a:latin typeface="Tahoma" panose="020B0604030504040204" pitchFamily="34" charset="0"/>
                <a:ea typeface="Tahoma" panose="020B0604030504040204" pitchFamily="34" charset="0"/>
                <a:cs typeface="Tahoma" panose="020B0604030504040204" pitchFamily="34" charset="0"/>
              </a:rPr>
              <a:t>permukaan</a:t>
            </a:r>
            <a:r>
              <a:rPr lang="en-US" sz="1050" dirty="0">
                <a:latin typeface="Tahoma" panose="020B0604030504040204" pitchFamily="34" charset="0"/>
                <a:ea typeface="Tahoma" panose="020B0604030504040204" pitchFamily="34" charset="0"/>
                <a:cs typeface="Tahoma" panose="020B0604030504040204" pitchFamily="34" charset="0"/>
              </a:rPr>
              <a:t> baja yang </a:t>
            </a:r>
            <a:r>
              <a:rPr lang="en-US" sz="1050" dirty="0" err="1">
                <a:latin typeface="Tahoma" panose="020B0604030504040204" pitchFamily="34" charset="0"/>
                <a:ea typeface="Tahoma" panose="020B0604030504040204" pitchFamily="34" charset="0"/>
                <a:cs typeface="Tahoma" panose="020B0604030504040204" pitchFamily="34" charset="0"/>
              </a:rPr>
              <a:t>sudah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bersih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pengecatan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dasar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dilakukan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dengan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cara</a:t>
            </a:r>
            <a:r>
              <a:rPr lang="en-US" sz="1050" dirty="0">
                <a:latin typeface="Tahoma" panose="020B0604030504040204" pitchFamily="34" charset="0"/>
                <a:ea typeface="Tahoma" panose="020B0604030504040204" pitchFamily="34" charset="0"/>
                <a:cs typeface="Tahoma" panose="020B0604030504040204" pitchFamily="34" charset="0"/>
              </a:rPr>
              <a:t> cat </a:t>
            </a:r>
            <a:r>
              <a:rPr lang="en-US" sz="1050" dirty="0" err="1">
                <a:latin typeface="Tahoma" panose="020B0604030504040204" pitchFamily="34" charset="0"/>
                <a:ea typeface="Tahoma" panose="020B0604030504040204" pitchFamily="34" charset="0"/>
                <a:cs typeface="Tahoma" panose="020B0604030504040204" pitchFamily="34" charset="0"/>
              </a:rPr>
              <a:t>diratakan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dengan</a:t>
            </a:r>
            <a:r>
              <a:rPr lang="en-US" sz="1050" dirty="0">
                <a:latin typeface="Tahoma" panose="020B0604030504040204" pitchFamily="34" charset="0"/>
                <a:ea typeface="Tahoma" panose="020B0604030504040204" pitchFamily="34" charset="0"/>
                <a:cs typeface="Tahoma" panose="020B0604030504040204" pitchFamily="34" charset="0"/>
              </a:rPr>
              <a:t> roller brush cat. </a:t>
            </a:r>
          </a:p>
        </p:txBody>
      </p:sp>
    </p:spTree>
    <p:extLst>
      <p:ext uri="{BB962C8B-B14F-4D97-AF65-F5344CB8AC3E}">
        <p14:creationId xmlns:p14="http://schemas.microsoft.com/office/powerpoint/2010/main" val="3292869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92BE484-AB86-5FA5-9EEE-CFCE09D4233E}"/>
              </a:ext>
            </a:extLst>
          </p:cNvPr>
          <p:cNvPicPr>
            <a:picLocks noChangeAspect="1"/>
          </p:cNvPicPr>
          <p:nvPr/>
        </p:nvPicPr>
        <p:blipFill>
          <a:blip r:embed="rId2"/>
          <a:srcRect l="717" t="1611" r="7106" b="7072"/>
          <a:stretch>
            <a:fillRect/>
          </a:stretch>
        </p:blipFill>
        <p:spPr>
          <a:xfrm>
            <a:off x="658761" y="812008"/>
            <a:ext cx="7502013" cy="5255531"/>
          </a:xfrm>
          <a:prstGeom prst="rect">
            <a:avLst/>
          </a:prstGeom>
        </p:spPr>
      </p:pic>
      <p:sp>
        <p:nvSpPr>
          <p:cNvPr id="7" name="Rectangle: Rounded Corners 6">
            <a:extLst>
              <a:ext uri="{FF2B5EF4-FFF2-40B4-BE49-F238E27FC236}">
                <a16:creationId xmlns:a16="http://schemas.microsoft.com/office/drawing/2014/main" id="{602054EB-8689-C892-7759-FCA4FA5CC2C4}"/>
              </a:ext>
            </a:extLst>
          </p:cNvPr>
          <p:cNvSpPr/>
          <p:nvPr/>
        </p:nvSpPr>
        <p:spPr>
          <a:xfrm>
            <a:off x="77753" y="203550"/>
            <a:ext cx="8830522" cy="488589"/>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806E7BA-5F30-FB43-3808-D0F6ABFC49E4}"/>
              </a:ext>
            </a:extLst>
          </p:cNvPr>
          <p:cNvSpPr/>
          <p:nvPr/>
        </p:nvSpPr>
        <p:spPr>
          <a:xfrm>
            <a:off x="7993875" y="203550"/>
            <a:ext cx="914400" cy="488589"/>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38041AF-30B5-11B0-7C6F-357FD206C706}"/>
              </a:ext>
            </a:extLst>
          </p:cNvPr>
          <p:cNvSpPr/>
          <p:nvPr/>
        </p:nvSpPr>
        <p:spPr>
          <a:xfrm>
            <a:off x="8091699" y="20355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10" name="TextBox 9">
            <a:extLst>
              <a:ext uri="{FF2B5EF4-FFF2-40B4-BE49-F238E27FC236}">
                <a16:creationId xmlns:a16="http://schemas.microsoft.com/office/drawing/2014/main" id="{BB8D7EFD-B273-E134-03D5-4F1714AF6C26}"/>
              </a:ext>
            </a:extLst>
          </p:cNvPr>
          <p:cNvSpPr txBox="1"/>
          <p:nvPr/>
        </p:nvSpPr>
        <p:spPr>
          <a:xfrm>
            <a:off x="126629" y="23047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spTree>
    <p:extLst>
      <p:ext uri="{BB962C8B-B14F-4D97-AF65-F5344CB8AC3E}">
        <p14:creationId xmlns:p14="http://schemas.microsoft.com/office/powerpoint/2010/main" val="3298441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5BDC6FE-76AD-C78C-9447-AB1AE41BCDAA}"/>
              </a:ext>
            </a:extLst>
          </p:cNvPr>
          <p:cNvPicPr>
            <a:picLocks noChangeAspect="1"/>
          </p:cNvPicPr>
          <p:nvPr/>
        </p:nvPicPr>
        <p:blipFill>
          <a:blip r:embed="rId2"/>
          <a:srcRect l="970" t="1283" r="7494" b="3885"/>
          <a:stretch>
            <a:fillRect/>
          </a:stretch>
        </p:blipFill>
        <p:spPr>
          <a:xfrm>
            <a:off x="571023" y="884902"/>
            <a:ext cx="7541342" cy="5524941"/>
          </a:xfrm>
          <a:prstGeom prst="rect">
            <a:avLst/>
          </a:prstGeom>
        </p:spPr>
      </p:pic>
      <p:sp>
        <p:nvSpPr>
          <p:cNvPr id="5" name="Rectangle: Rounded Corners 4">
            <a:extLst>
              <a:ext uri="{FF2B5EF4-FFF2-40B4-BE49-F238E27FC236}">
                <a16:creationId xmlns:a16="http://schemas.microsoft.com/office/drawing/2014/main" id="{C9CA7856-5ACF-1967-AFB5-12F78C541D6C}"/>
              </a:ext>
            </a:extLst>
          </p:cNvPr>
          <p:cNvSpPr/>
          <p:nvPr/>
        </p:nvSpPr>
        <p:spPr>
          <a:xfrm>
            <a:off x="147331" y="190400"/>
            <a:ext cx="8830522" cy="488589"/>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B56D1809-72B3-F298-D149-731F0CB183F5}"/>
              </a:ext>
            </a:extLst>
          </p:cNvPr>
          <p:cNvSpPr/>
          <p:nvPr/>
        </p:nvSpPr>
        <p:spPr>
          <a:xfrm>
            <a:off x="8063453" y="190400"/>
            <a:ext cx="914400" cy="488589"/>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4E17822-80C2-CF33-BB11-F88797A6D781}"/>
              </a:ext>
            </a:extLst>
          </p:cNvPr>
          <p:cNvSpPr/>
          <p:nvPr/>
        </p:nvSpPr>
        <p:spPr>
          <a:xfrm>
            <a:off x="8161277" y="19040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8" name="TextBox 7">
            <a:extLst>
              <a:ext uri="{FF2B5EF4-FFF2-40B4-BE49-F238E27FC236}">
                <a16:creationId xmlns:a16="http://schemas.microsoft.com/office/drawing/2014/main" id="{CF572F86-1329-FDA6-8203-D20072A57ABF}"/>
              </a:ext>
            </a:extLst>
          </p:cNvPr>
          <p:cNvSpPr txBox="1"/>
          <p:nvPr/>
        </p:nvSpPr>
        <p:spPr>
          <a:xfrm>
            <a:off x="196207" y="21732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spTree>
    <p:extLst>
      <p:ext uri="{BB962C8B-B14F-4D97-AF65-F5344CB8AC3E}">
        <p14:creationId xmlns:p14="http://schemas.microsoft.com/office/powerpoint/2010/main" val="2710169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DD060C-56B7-C70C-7FEA-4EB5C9A9ADE6}"/>
              </a:ext>
            </a:extLst>
          </p:cNvPr>
          <p:cNvPicPr>
            <a:picLocks noChangeAspect="1"/>
          </p:cNvPicPr>
          <p:nvPr/>
        </p:nvPicPr>
        <p:blipFill>
          <a:blip r:embed="rId2"/>
          <a:srcRect r="6506" b="56272"/>
          <a:stretch>
            <a:fillRect/>
          </a:stretch>
        </p:blipFill>
        <p:spPr>
          <a:xfrm>
            <a:off x="481308" y="894736"/>
            <a:ext cx="8023595" cy="2653732"/>
          </a:xfrm>
          <a:prstGeom prst="rect">
            <a:avLst/>
          </a:prstGeom>
        </p:spPr>
      </p:pic>
      <p:sp>
        <p:nvSpPr>
          <p:cNvPr id="5" name="Rectangle: Rounded Corners 4">
            <a:extLst>
              <a:ext uri="{FF2B5EF4-FFF2-40B4-BE49-F238E27FC236}">
                <a16:creationId xmlns:a16="http://schemas.microsoft.com/office/drawing/2014/main" id="{574F04F5-CA85-3A70-D81D-FE512849225C}"/>
              </a:ext>
            </a:extLst>
          </p:cNvPr>
          <p:cNvSpPr/>
          <p:nvPr/>
        </p:nvSpPr>
        <p:spPr>
          <a:xfrm>
            <a:off x="147331" y="190400"/>
            <a:ext cx="8830522" cy="488589"/>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6B9C1DE3-4078-447C-02E3-4940562887E6}"/>
              </a:ext>
            </a:extLst>
          </p:cNvPr>
          <p:cNvSpPr/>
          <p:nvPr/>
        </p:nvSpPr>
        <p:spPr>
          <a:xfrm>
            <a:off x="8063453" y="190400"/>
            <a:ext cx="914400" cy="488589"/>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6574BAF-4144-0E77-F4FA-172993EAAB1E}"/>
              </a:ext>
            </a:extLst>
          </p:cNvPr>
          <p:cNvSpPr/>
          <p:nvPr/>
        </p:nvSpPr>
        <p:spPr>
          <a:xfrm>
            <a:off x="8161277" y="190400"/>
            <a:ext cx="731520" cy="4705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8" name="TextBox 7">
            <a:extLst>
              <a:ext uri="{FF2B5EF4-FFF2-40B4-BE49-F238E27FC236}">
                <a16:creationId xmlns:a16="http://schemas.microsoft.com/office/drawing/2014/main" id="{50F497AD-2848-134D-1B05-F68B13103E76}"/>
              </a:ext>
            </a:extLst>
          </p:cNvPr>
          <p:cNvSpPr txBox="1"/>
          <p:nvPr/>
        </p:nvSpPr>
        <p:spPr>
          <a:xfrm>
            <a:off x="196207" y="217324"/>
            <a:ext cx="7916158" cy="461665"/>
          </a:xfrm>
          <a:prstGeom prst="rect">
            <a:avLst/>
          </a:prstGeom>
          <a:noFill/>
        </p:spPr>
        <p:txBody>
          <a:bodyPr wrap="square" rtlCol="0">
            <a:spAutoFit/>
          </a:bodyPr>
          <a:lstStyle/>
          <a:p>
            <a:pPr algn="ctr"/>
            <a:r>
              <a:rPr lang="en-US" sz="2400" dirty="0"/>
              <a:t>EVALUASI PENCAPAIAN HSSE PERFORMANCE INDICATOR</a:t>
            </a:r>
            <a:endParaRPr lang="en-US" sz="2400" b="1" dirty="0"/>
          </a:p>
        </p:txBody>
      </p:sp>
    </p:spTree>
    <p:extLst>
      <p:ext uri="{BB962C8B-B14F-4D97-AF65-F5344CB8AC3E}">
        <p14:creationId xmlns:p14="http://schemas.microsoft.com/office/powerpoint/2010/main" val="2953386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096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3179</TotalTime>
  <Words>609</Words>
  <Application>Microsoft Office PowerPoint</Application>
  <PresentationFormat>Widescreen</PresentationFormat>
  <Paragraphs>140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Tahoma</vt:lpstr>
      <vt:lpstr>Office Theme</vt:lpstr>
      <vt:lpstr>KICK OFF MEETING</vt:lpstr>
      <vt:lpstr>DAFTAR ISI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PNEUMATIC TEST</dc:title>
  <dc:creator>Muhammad Reza Febriyanto</dc:creator>
  <cp:lastModifiedBy>Hafied Iqbal</cp:lastModifiedBy>
  <cp:revision>68</cp:revision>
  <dcterms:created xsi:type="dcterms:W3CDTF">2024-11-13T05:46:50Z</dcterms:created>
  <dcterms:modified xsi:type="dcterms:W3CDTF">2025-07-20T09:31:53Z</dcterms:modified>
</cp:coreProperties>
</file>