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281" r:id="rId2"/>
    <p:sldId id="282" r:id="rId3"/>
    <p:sldId id="276" r:id="rId4"/>
    <p:sldId id="284" r:id="rId5"/>
    <p:sldId id="285" r:id="rId6"/>
    <p:sldId id="286" r:id="rId7"/>
    <p:sldId id="287" r:id="rId8"/>
    <p:sldId id="288" r:id="rId9"/>
    <p:sldId id="289" r:id="rId10"/>
    <p:sldId id="291" r:id="rId11"/>
    <p:sldId id="295" r:id="rId12"/>
    <p:sldId id="296" r:id="rId13"/>
    <p:sldId id="292" r:id="rId14"/>
    <p:sldId id="293" r:id="rId15"/>
    <p:sldId id="294" r:id="rId16"/>
    <p:sldId id="28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B23D"/>
    <a:srgbClr val="114D67"/>
    <a:srgbClr val="E97132"/>
    <a:srgbClr val="5E9765"/>
    <a:srgbClr val="F09B6F"/>
    <a:srgbClr val="FFFFFF"/>
    <a:srgbClr val="5B8F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4" autoAdjust="0"/>
    <p:restoredTop sz="94690" autoAdjust="0"/>
  </p:normalViewPr>
  <p:slideViewPr>
    <p:cSldViewPr snapToGrid="0">
      <p:cViewPr varScale="1">
        <p:scale>
          <a:sx n="75" d="100"/>
          <a:sy n="75" d="100"/>
        </p:scale>
        <p:origin x="773" y="43"/>
      </p:cViewPr>
      <p:guideLst/>
    </p:cSldViewPr>
  </p:slideViewPr>
  <p:outlineViewPr>
    <p:cViewPr>
      <p:scale>
        <a:sx n="33" d="100"/>
        <a:sy n="33" d="100"/>
      </p:scale>
      <p:origin x="0" y="-662"/>
    </p:cViewPr>
  </p:outlineViewPr>
  <p:notesTextViewPr>
    <p:cViewPr>
      <p:scale>
        <a:sx n="1" d="1"/>
        <a:sy n="1" d="1"/>
      </p:scale>
      <p:origin x="0" y="0"/>
    </p:cViewPr>
  </p:notesTextViewPr>
  <p:sorterViewPr>
    <p:cViewPr>
      <p:scale>
        <a:sx n="100" d="100"/>
        <a:sy n="100" d="100"/>
      </p:scale>
      <p:origin x="0" y="-6091"/>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06937B-F926-4CA6-BF69-CD630050FE0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C7A8B48E-B7E6-41D9-8389-BC596459D15E}">
      <dgm:prSet phldrT="[Text]"/>
      <dgm:spPr/>
      <dgm:t>
        <a:bodyPr/>
        <a:lstStyle/>
        <a:p>
          <a:r>
            <a:rPr lang="en-US" dirty="0"/>
            <a:t>1. PEKERJAAN PERSIAPAN</a:t>
          </a:r>
        </a:p>
      </dgm:t>
    </dgm:pt>
    <dgm:pt modelId="{49EBE7D6-4CCF-4CF6-B51F-5BA8A4A6A182}" type="parTrans" cxnId="{35E23C4F-B26F-46F7-BE68-95C426F5D8F3}">
      <dgm:prSet/>
      <dgm:spPr/>
      <dgm:t>
        <a:bodyPr/>
        <a:lstStyle/>
        <a:p>
          <a:endParaRPr lang="en-US"/>
        </a:p>
      </dgm:t>
    </dgm:pt>
    <dgm:pt modelId="{35C6B5A7-0D8D-4364-A261-784BC757B495}" type="sibTrans" cxnId="{35E23C4F-B26F-46F7-BE68-95C426F5D8F3}">
      <dgm:prSet/>
      <dgm:spPr/>
      <dgm:t>
        <a:bodyPr/>
        <a:lstStyle/>
        <a:p>
          <a:endParaRPr lang="en-US"/>
        </a:p>
      </dgm:t>
    </dgm:pt>
    <dgm:pt modelId="{E25427D7-DB3B-4C69-8110-02D716FCCFF6}">
      <dgm:prSet phldrT="[Text]"/>
      <dgm:spPr/>
      <dgm:t>
        <a:bodyPr/>
        <a:lstStyle/>
        <a:p>
          <a:r>
            <a:rPr lang="en-US" dirty="0"/>
            <a:t>2. PEKERJAAN MEKANIKAL</a:t>
          </a:r>
        </a:p>
      </dgm:t>
    </dgm:pt>
    <dgm:pt modelId="{C78DDF5B-AF6E-45EE-82FC-BE0B9C82A0B7}" type="parTrans" cxnId="{5C7CE609-1F7B-4991-83F8-6D9CB4D4C8A5}">
      <dgm:prSet/>
      <dgm:spPr/>
      <dgm:t>
        <a:bodyPr/>
        <a:lstStyle/>
        <a:p>
          <a:endParaRPr lang="en-US"/>
        </a:p>
      </dgm:t>
    </dgm:pt>
    <dgm:pt modelId="{26A3184A-684C-4DE1-8B3B-D38913507CAB}" type="sibTrans" cxnId="{5C7CE609-1F7B-4991-83F8-6D9CB4D4C8A5}">
      <dgm:prSet/>
      <dgm:spPr/>
      <dgm:t>
        <a:bodyPr/>
        <a:lstStyle/>
        <a:p>
          <a:endParaRPr lang="en-US"/>
        </a:p>
      </dgm:t>
    </dgm:pt>
    <dgm:pt modelId="{6D4F5DB9-E195-41E3-B758-5D4A45B5ED51}">
      <dgm:prSet phldrT="[Text]"/>
      <dgm:spPr/>
      <dgm:t>
        <a:bodyPr/>
        <a:lstStyle/>
        <a:p>
          <a:r>
            <a:rPr lang="en-US" dirty="0"/>
            <a:t>3. PEKERJAAN FINISHING</a:t>
          </a:r>
        </a:p>
      </dgm:t>
    </dgm:pt>
    <dgm:pt modelId="{0EAAE369-5162-44FE-801B-F2F424424009}" type="parTrans" cxnId="{715AECAA-9796-4198-9175-70268BF4F064}">
      <dgm:prSet/>
      <dgm:spPr/>
      <dgm:t>
        <a:bodyPr/>
        <a:lstStyle/>
        <a:p>
          <a:endParaRPr lang="en-US"/>
        </a:p>
      </dgm:t>
    </dgm:pt>
    <dgm:pt modelId="{641BB5F7-5489-4D9A-BC52-6808829E72CC}" type="sibTrans" cxnId="{715AECAA-9796-4198-9175-70268BF4F064}">
      <dgm:prSet/>
      <dgm:spPr/>
      <dgm:t>
        <a:bodyPr/>
        <a:lstStyle/>
        <a:p>
          <a:endParaRPr lang="en-US"/>
        </a:p>
      </dgm:t>
    </dgm:pt>
    <dgm:pt modelId="{65D6846A-EBA7-4900-A78B-3F1D2BFBE9CF}" type="pres">
      <dgm:prSet presAssocID="{5906937B-F926-4CA6-BF69-CD630050FE0D}" presName="Name0" presStyleCnt="0">
        <dgm:presLayoutVars>
          <dgm:chMax val="7"/>
          <dgm:chPref val="7"/>
          <dgm:dir/>
        </dgm:presLayoutVars>
      </dgm:prSet>
      <dgm:spPr/>
    </dgm:pt>
    <dgm:pt modelId="{9277FD43-42E1-4E1E-ADD1-55638DD6D627}" type="pres">
      <dgm:prSet presAssocID="{5906937B-F926-4CA6-BF69-CD630050FE0D}" presName="Name1" presStyleCnt="0"/>
      <dgm:spPr/>
    </dgm:pt>
    <dgm:pt modelId="{AADFBBFF-BB30-4F29-AAE6-7535E61BC675}" type="pres">
      <dgm:prSet presAssocID="{5906937B-F926-4CA6-BF69-CD630050FE0D}" presName="cycle" presStyleCnt="0"/>
      <dgm:spPr/>
    </dgm:pt>
    <dgm:pt modelId="{79625EE3-2080-402F-8585-AE2A5EE477BE}" type="pres">
      <dgm:prSet presAssocID="{5906937B-F926-4CA6-BF69-CD630050FE0D}" presName="srcNode" presStyleLbl="node1" presStyleIdx="0" presStyleCnt="3"/>
      <dgm:spPr/>
    </dgm:pt>
    <dgm:pt modelId="{24C97ECF-4281-4707-9D2E-903C0EC2B58B}" type="pres">
      <dgm:prSet presAssocID="{5906937B-F926-4CA6-BF69-CD630050FE0D}" presName="conn" presStyleLbl="parChTrans1D2" presStyleIdx="0" presStyleCnt="1"/>
      <dgm:spPr/>
    </dgm:pt>
    <dgm:pt modelId="{CCE76817-5352-4990-9DC3-4EA0C890FFD2}" type="pres">
      <dgm:prSet presAssocID="{5906937B-F926-4CA6-BF69-CD630050FE0D}" presName="extraNode" presStyleLbl="node1" presStyleIdx="0" presStyleCnt="3"/>
      <dgm:spPr/>
    </dgm:pt>
    <dgm:pt modelId="{DBFAA6C4-7CC2-434D-B28A-24A0933C0109}" type="pres">
      <dgm:prSet presAssocID="{5906937B-F926-4CA6-BF69-CD630050FE0D}" presName="dstNode" presStyleLbl="node1" presStyleIdx="0" presStyleCnt="3"/>
      <dgm:spPr/>
    </dgm:pt>
    <dgm:pt modelId="{DE352AF2-9DDC-4974-9DD8-6D9D8FA80311}" type="pres">
      <dgm:prSet presAssocID="{C7A8B48E-B7E6-41D9-8389-BC596459D15E}" presName="text_1" presStyleLbl="node1" presStyleIdx="0" presStyleCnt="3">
        <dgm:presLayoutVars>
          <dgm:bulletEnabled val="1"/>
        </dgm:presLayoutVars>
      </dgm:prSet>
      <dgm:spPr/>
    </dgm:pt>
    <dgm:pt modelId="{7E62C52D-33A6-40AE-9034-72420D10AC81}" type="pres">
      <dgm:prSet presAssocID="{C7A8B48E-B7E6-41D9-8389-BC596459D15E}" presName="accent_1" presStyleCnt="0"/>
      <dgm:spPr/>
    </dgm:pt>
    <dgm:pt modelId="{C6CF269B-344C-4243-8BD4-1BF4EE71B45F}" type="pres">
      <dgm:prSet presAssocID="{C7A8B48E-B7E6-41D9-8389-BC596459D15E}" presName="accentRepeatNode" presStyleLbl="solidFgAcc1" presStyleIdx="0" presStyleCnt="3"/>
      <dgm:spPr/>
    </dgm:pt>
    <dgm:pt modelId="{CD52FA07-8B9A-47AB-B4DD-88260B1EE081}" type="pres">
      <dgm:prSet presAssocID="{E25427D7-DB3B-4C69-8110-02D716FCCFF6}" presName="text_2" presStyleLbl="node1" presStyleIdx="1" presStyleCnt="3">
        <dgm:presLayoutVars>
          <dgm:bulletEnabled val="1"/>
        </dgm:presLayoutVars>
      </dgm:prSet>
      <dgm:spPr/>
    </dgm:pt>
    <dgm:pt modelId="{F34FD35A-A71E-48C6-8441-B8FE4B71EE05}" type="pres">
      <dgm:prSet presAssocID="{E25427D7-DB3B-4C69-8110-02D716FCCFF6}" presName="accent_2" presStyleCnt="0"/>
      <dgm:spPr/>
    </dgm:pt>
    <dgm:pt modelId="{36DEE9B8-EC02-4F22-8E31-27AB6FDCB564}" type="pres">
      <dgm:prSet presAssocID="{E25427D7-DB3B-4C69-8110-02D716FCCFF6}" presName="accentRepeatNode" presStyleLbl="solidFgAcc1" presStyleIdx="1" presStyleCnt="3"/>
      <dgm:spPr/>
    </dgm:pt>
    <dgm:pt modelId="{0BC1E559-E65F-4F4A-8C7E-0B97802B037F}" type="pres">
      <dgm:prSet presAssocID="{6D4F5DB9-E195-41E3-B758-5D4A45B5ED51}" presName="text_3" presStyleLbl="node1" presStyleIdx="2" presStyleCnt="3">
        <dgm:presLayoutVars>
          <dgm:bulletEnabled val="1"/>
        </dgm:presLayoutVars>
      </dgm:prSet>
      <dgm:spPr/>
    </dgm:pt>
    <dgm:pt modelId="{1EB98D1F-6BB5-4823-8906-5CA7BFA7E034}" type="pres">
      <dgm:prSet presAssocID="{6D4F5DB9-E195-41E3-B758-5D4A45B5ED51}" presName="accent_3" presStyleCnt="0"/>
      <dgm:spPr/>
    </dgm:pt>
    <dgm:pt modelId="{E633FAB7-2B4B-4684-A61B-1A5F855D043B}" type="pres">
      <dgm:prSet presAssocID="{6D4F5DB9-E195-41E3-B758-5D4A45B5ED51}" presName="accentRepeatNode" presStyleLbl="solidFgAcc1" presStyleIdx="2" presStyleCnt="3"/>
      <dgm:spPr/>
    </dgm:pt>
  </dgm:ptLst>
  <dgm:cxnLst>
    <dgm:cxn modelId="{5C7CE609-1F7B-4991-83F8-6D9CB4D4C8A5}" srcId="{5906937B-F926-4CA6-BF69-CD630050FE0D}" destId="{E25427D7-DB3B-4C69-8110-02D716FCCFF6}" srcOrd="1" destOrd="0" parTransId="{C78DDF5B-AF6E-45EE-82FC-BE0B9C82A0B7}" sibTransId="{26A3184A-684C-4DE1-8B3B-D38913507CAB}"/>
    <dgm:cxn modelId="{5E9B3A3C-EE8E-40AE-B49F-186D5F2E6D86}" type="presOf" srcId="{E25427D7-DB3B-4C69-8110-02D716FCCFF6}" destId="{CD52FA07-8B9A-47AB-B4DD-88260B1EE081}" srcOrd="0" destOrd="0" presId="urn:microsoft.com/office/officeart/2008/layout/VerticalCurvedList"/>
    <dgm:cxn modelId="{35E23C4F-B26F-46F7-BE68-95C426F5D8F3}" srcId="{5906937B-F926-4CA6-BF69-CD630050FE0D}" destId="{C7A8B48E-B7E6-41D9-8389-BC596459D15E}" srcOrd="0" destOrd="0" parTransId="{49EBE7D6-4CCF-4CF6-B51F-5BA8A4A6A182}" sibTransId="{35C6B5A7-0D8D-4364-A261-784BC757B495}"/>
    <dgm:cxn modelId="{134FB771-A377-4621-B836-1BCDB16118F8}" type="presOf" srcId="{35C6B5A7-0D8D-4364-A261-784BC757B495}" destId="{24C97ECF-4281-4707-9D2E-903C0EC2B58B}" srcOrd="0" destOrd="0" presId="urn:microsoft.com/office/officeart/2008/layout/VerticalCurvedList"/>
    <dgm:cxn modelId="{402BE09F-E7E9-47D2-9C36-FCDB0A346B18}" type="presOf" srcId="{6D4F5DB9-E195-41E3-B758-5D4A45B5ED51}" destId="{0BC1E559-E65F-4F4A-8C7E-0B97802B037F}" srcOrd="0" destOrd="0" presId="urn:microsoft.com/office/officeart/2008/layout/VerticalCurvedList"/>
    <dgm:cxn modelId="{715AECAA-9796-4198-9175-70268BF4F064}" srcId="{5906937B-F926-4CA6-BF69-CD630050FE0D}" destId="{6D4F5DB9-E195-41E3-B758-5D4A45B5ED51}" srcOrd="2" destOrd="0" parTransId="{0EAAE369-5162-44FE-801B-F2F424424009}" sibTransId="{641BB5F7-5489-4D9A-BC52-6808829E72CC}"/>
    <dgm:cxn modelId="{5E8C9DCE-4189-4C67-81A5-50B29D8758E7}" type="presOf" srcId="{C7A8B48E-B7E6-41D9-8389-BC596459D15E}" destId="{DE352AF2-9DDC-4974-9DD8-6D9D8FA80311}" srcOrd="0" destOrd="0" presId="urn:microsoft.com/office/officeart/2008/layout/VerticalCurvedList"/>
    <dgm:cxn modelId="{5C1AB6F5-2222-41B1-9932-8BAE79371C55}" type="presOf" srcId="{5906937B-F926-4CA6-BF69-CD630050FE0D}" destId="{65D6846A-EBA7-4900-A78B-3F1D2BFBE9CF}" srcOrd="0" destOrd="0" presId="urn:microsoft.com/office/officeart/2008/layout/VerticalCurvedList"/>
    <dgm:cxn modelId="{F74DB1A0-3936-436A-8B76-F78F5CAF3530}" type="presParOf" srcId="{65D6846A-EBA7-4900-A78B-3F1D2BFBE9CF}" destId="{9277FD43-42E1-4E1E-ADD1-55638DD6D627}" srcOrd="0" destOrd="0" presId="urn:microsoft.com/office/officeart/2008/layout/VerticalCurvedList"/>
    <dgm:cxn modelId="{56EA90AE-C53E-49FE-8957-0D4E4C0B0DE0}" type="presParOf" srcId="{9277FD43-42E1-4E1E-ADD1-55638DD6D627}" destId="{AADFBBFF-BB30-4F29-AAE6-7535E61BC675}" srcOrd="0" destOrd="0" presId="urn:microsoft.com/office/officeart/2008/layout/VerticalCurvedList"/>
    <dgm:cxn modelId="{5AB98911-B79E-4B43-A3D3-7B47E4FE5CF7}" type="presParOf" srcId="{AADFBBFF-BB30-4F29-AAE6-7535E61BC675}" destId="{79625EE3-2080-402F-8585-AE2A5EE477BE}" srcOrd="0" destOrd="0" presId="urn:microsoft.com/office/officeart/2008/layout/VerticalCurvedList"/>
    <dgm:cxn modelId="{00089545-A6CA-4289-82F4-3504ACCC2946}" type="presParOf" srcId="{AADFBBFF-BB30-4F29-AAE6-7535E61BC675}" destId="{24C97ECF-4281-4707-9D2E-903C0EC2B58B}" srcOrd="1" destOrd="0" presId="urn:microsoft.com/office/officeart/2008/layout/VerticalCurvedList"/>
    <dgm:cxn modelId="{4D1F9FC3-B279-46F7-8869-A11F90827FE7}" type="presParOf" srcId="{AADFBBFF-BB30-4F29-AAE6-7535E61BC675}" destId="{CCE76817-5352-4990-9DC3-4EA0C890FFD2}" srcOrd="2" destOrd="0" presId="urn:microsoft.com/office/officeart/2008/layout/VerticalCurvedList"/>
    <dgm:cxn modelId="{D18401AF-2B9A-4B38-8C11-1164738B56E4}" type="presParOf" srcId="{AADFBBFF-BB30-4F29-AAE6-7535E61BC675}" destId="{DBFAA6C4-7CC2-434D-B28A-24A0933C0109}" srcOrd="3" destOrd="0" presId="urn:microsoft.com/office/officeart/2008/layout/VerticalCurvedList"/>
    <dgm:cxn modelId="{88A7ACFB-AACC-41BA-B526-A8AC1437B846}" type="presParOf" srcId="{9277FD43-42E1-4E1E-ADD1-55638DD6D627}" destId="{DE352AF2-9DDC-4974-9DD8-6D9D8FA80311}" srcOrd="1" destOrd="0" presId="urn:microsoft.com/office/officeart/2008/layout/VerticalCurvedList"/>
    <dgm:cxn modelId="{C0943ACB-AA94-4D16-9CBD-388961D98A89}" type="presParOf" srcId="{9277FD43-42E1-4E1E-ADD1-55638DD6D627}" destId="{7E62C52D-33A6-40AE-9034-72420D10AC81}" srcOrd="2" destOrd="0" presId="urn:microsoft.com/office/officeart/2008/layout/VerticalCurvedList"/>
    <dgm:cxn modelId="{273BFAD3-8E0A-4325-8112-36984A8658ED}" type="presParOf" srcId="{7E62C52D-33A6-40AE-9034-72420D10AC81}" destId="{C6CF269B-344C-4243-8BD4-1BF4EE71B45F}" srcOrd="0" destOrd="0" presId="urn:microsoft.com/office/officeart/2008/layout/VerticalCurvedList"/>
    <dgm:cxn modelId="{3DEAD22F-9A68-4626-8D8A-81CEC6668E23}" type="presParOf" srcId="{9277FD43-42E1-4E1E-ADD1-55638DD6D627}" destId="{CD52FA07-8B9A-47AB-B4DD-88260B1EE081}" srcOrd="3" destOrd="0" presId="urn:microsoft.com/office/officeart/2008/layout/VerticalCurvedList"/>
    <dgm:cxn modelId="{CD43E5C6-1288-4FCF-B8FD-7731397EDACF}" type="presParOf" srcId="{9277FD43-42E1-4E1E-ADD1-55638DD6D627}" destId="{F34FD35A-A71E-48C6-8441-B8FE4B71EE05}" srcOrd="4" destOrd="0" presId="urn:microsoft.com/office/officeart/2008/layout/VerticalCurvedList"/>
    <dgm:cxn modelId="{A8CAEAA4-18D2-41C6-88C2-1D20FF4438BA}" type="presParOf" srcId="{F34FD35A-A71E-48C6-8441-B8FE4B71EE05}" destId="{36DEE9B8-EC02-4F22-8E31-27AB6FDCB564}" srcOrd="0" destOrd="0" presId="urn:microsoft.com/office/officeart/2008/layout/VerticalCurvedList"/>
    <dgm:cxn modelId="{A91920E7-6A18-445D-986F-2B96217ED3C2}" type="presParOf" srcId="{9277FD43-42E1-4E1E-ADD1-55638DD6D627}" destId="{0BC1E559-E65F-4F4A-8C7E-0B97802B037F}" srcOrd="5" destOrd="0" presId="urn:microsoft.com/office/officeart/2008/layout/VerticalCurvedList"/>
    <dgm:cxn modelId="{ED3B368B-B0E7-402E-BDEC-E6F2AA81886D}" type="presParOf" srcId="{9277FD43-42E1-4E1E-ADD1-55638DD6D627}" destId="{1EB98D1F-6BB5-4823-8906-5CA7BFA7E034}" srcOrd="6" destOrd="0" presId="urn:microsoft.com/office/officeart/2008/layout/VerticalCurvedList"/>
    <dgm:cxn modelId="{DF5A244F-EA3E-4386-AF8E-442EE486762D}" type="presParOf" srcId="{1EB98D1F-6BB5-4823-8906-5CA7BFA7E034}" destId="{E633FAB7-2B4B-4684-A61B-1A5F855D043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97ECF-4281-4707-9D2E-903C0EC2B58B}">
      <dsp:nvSpPr>
        <dsp:cNvPr id="0" name=""/>
        <dsp:cNvSpPr/>
      </dsp:nvSpPr>
      <dsp:spPr>
        <a:xfrm>
          <a:off x="-2766655" y="-426552"/>
          <a:ext cx="3301663" cy="3301663"/>
        </a:xfrm>
        <a:prstGeom prst="blockArc">
          <a:avLst>
            <a:gd name="adj1" fmla="val 18900000"/>
            <a:gd name="adj2" fmla="val 2700000"/>
            <a:gd name="adj3" fmla="val 654"/>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352AF2-9DDC-4974-9DD8-6D9D8FA80311}">
      <dsp:nvSpPr>
        <dsp:cNvPr id="0" name=""/>
        <dsp:cNvSpPr/>
      </dsp:nvSpPr>
      <dsp:spPr>
        <a:xfrm>
          <a:off x="343977" y="244855"/>
          <a:ext cx="4919709" cy="4897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09"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1. PEKERJAAN PERSIAPAN</a:t>
          </a:r>
        </a:p>
      </dsp:txBody>
      <dsp:txXfrm>
        <a:off x="343977" y="244855"/>
        <a:ext cx="4919709" cy="489711"/>
      </dsp:txXfrm>
    </dsp:sp>
    <dsp:sp modelId="{C6CF269B-344C-4243-8BD4-1BF4EE71B45F}">
      <dsp:nvSpPr>
        <dsp:cNvPr id="0" name=""/>
        <dsp:cNvSpPr/>
      </dsp:nvSpPr>
      <dsp:spPr>
        <a:xfrm>
          <a:off x="37907" y="183641"/>
          <a:ext cx="612139" cy="612139"/>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52FA07-8B9A-47AB-B4DD-88260B1EE081}">
      <dsp:nvSpPr>
        <dsp:cNvPr id="0" name=""/>
        <dsp:cNvSpPr/>
      </dsp:nvSpPr>
      <dsp:spPr>
        <a:xfrm>
          <a:off x="521987" y="979423"/>
          <a:ext cx="4741699" cy="4897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09"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2. PEKERJAAN MEKANIKAL</a:t>
          </a:r>
        </a:p>
      </dsp:txBody>
      <dsp:txXfrm>
        <a:off x="521987" y="979423"/>
        <a:ext cx="4741699" cy="489711"/>
      </dsp:txXfrm>
    </dsp:sp>
    <dsp:sp modelId="{36DEE9B8-EC02-4F22-8E31-27AB6FDCB564}">
      <dsp:nvSpPr>
        <dsp:cNvPr id="0" name=""/>
        <dsp:cNvSpPr/>
      </dsp:nvSpPr>
      <dsp:spPr>
        <a:xfrm>
          <a:off x="215918" y="918209"/>
          <a:ext cx="612139" cy="612139"/>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C1E559-E65F-4F4A-8C7E-0B97802B037F}">
      <dsp:nvSpPr>
        <dsp:cNvPr id="0" name=""/>
        <dsp:cNvSpPr/>
      </dsp:nvSpPr>
      <dsp:spPr>
        <a:xfrm>
          <a:off x="343977" y="1713991"/>
          <a:ext cx="4919709" cy="4897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09"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3. PEKERJAAN FINISHING</a:t>
          </a:r>
        </a:p>
      </dsp:txBody>
      <dsp:txXfrm>
        <a:off x="343977" y="1713991"/>
        <a:ext cx="4919709" cy="489711"/>
      </dsp:txXfrm>
    </dsp:sp>
    <dsp:sp modelId="{E633FAB7-2B4B-4684-A61B-1A5F855D043B}">
      <dsp:nvSpPr>
        <dsp:cNvPr id="0" name=""/>
        <dsp:cNvSpPr/>
      </dsp:nvSpPr>
      <dsp:spPr>
        <a:xfrm>
          <a:off x="37907" y="1652777"/>
          <a:ext cx="612139" cy="612139"/>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F56F36C2-BD4B-4EF5-AD06-3CB2E41E67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a:extLst>
              <a:ext uri="{FF2B5EF4-FFF2-40B4-BE49-F238E27FC236}">
                <a16:creationId xmlns:a16="http://schemas.microsoft.com/office/drawing/2014/main" id="{9E84B5C3-1705-BE61-69E1-B5161393FC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DE9C5C-AA8B-46CF-96BE-460E12B55A3F}" type="datetimeFigureOut">
              <a:rPr lang="id-ID" smtClean="0"/>
              <a:t>31/07/2025</a:t>
            </a:fld>
            <a:endParaRPr lang="id-ID"/>
          </a:p>
        </p:txBody>
      </p:sp>
      <p:sp>
        <p:nvSpPr>
          <p:cNvPr id="4" name="Tampungan Kaki 3">
            <a:extLst>
              <a:ext uri="{FF2B5EF4-FFF2-40B4-BE49-F238E27FC236}">
                <a16:creationId xmlns:a16="http://schemas.microsoft.com/office/drawing/2014/main" id="{9E0F3DF3-176D-FE60-0D8F-1FCE8C59BA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Tampungan Nomor Slide 4">
            <a:extLst>
              <a:ext uri="{FF2B5EF4-FFF2-40B4-BE49-F238E27FC236}">
                <a16:creationId xmlns:a16="http://schemas.microsoft.com/office/drawing/2014/main" id="{114D5E8F-3370-6EC0-2EB0-A0EF57134B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3DD1E4-9C08-4790-B46A-9E6183F1C018}" type="slidenum">
              <a:rPr lang="id-ID" smtClean="0"/>
              <a:t>‹#›</a:t>
            </a:fld>
            <a:endParaRPr lang="id-ID"/>
          </a:p>
        </p:txBody>
      </p:sp>
    </p:spTree>
    <p:extLst>
      <p:ext uri="{BB962C8B-B14F-4D97-AF65-F5344CB8AC3E}">
        <p14:creationId xmlns:p14="http://schemas.microsoft.com/office/powerpoint/2010/main" val="6191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A79CA-FC32-B742-A70B-E8D30071E3A2}"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0FA1F-E585-0B47-8C16-67D0BE956B58}" type="slidenum">
              <a:rPr lang="en-US" smtClean="0"/>
              <a:t>‹#›</a:t>
            </a:fld>
            <a:endParaRPr lang="en-US"/>
          </a:p>
        </p:txBody>
      </p:sp>
    </p:spTree>
    <p:extLst>
      <p:ext uri="{BB962C8B-B14F-4D97-AF65-F5344CB8AC3E}">
        <p14:creationId xmlns:p14="http://schemas.microsoft.com/office/powerpoint/2010/main" val="3297297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30FA1F-E585-0B47-8C16-67D0BE956B58}" type="slidenum">
              <a:rPr lang="en-US" smtClean="0"/>
              <a:t>5</a:t>
            </a:fld>
            <a:endParaRPr lang="en-US"/>
          </a:p>
        </p:txBody>
      </p:sp>
    </p:spTree>
    <p:extLst>
      <p:ext uri="{BB962C8B-B14F-4D97-AF65-F5344CB8AC3E}">
        <p14:creationId xmlns:p14="http://schemas.microsoft.com/office/powerpoint/2010/main" val="964575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30FA1F-E585-0B47-8C16-67D0BE956B58}" type="slidenum">
              <a:rPr lang="en-US" smtClean="0"/>
              <a:t>7</a:t>
            </a:fld>
            <a:endParaRPr lang="en-US"/>
          </a:p>
        </p:txBody>
      </p:sp>
    </p:spTree>
    <p:extLst>
      <p:ext uri="{BB962C8B-B14F-4D97-AF65-F5344CB8AC3E}">
        <p14:creationId xmlns:p14="http://schemas.microsoft.com/office/powerpoint/2010/main" val="7611399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A0E8-7BB9-5E5E-1BFD-18AFECD55D98}"/>
              </a:ext>
            </a:extLst>
          </p:cNvPr>
          <p:cNvSpPr>
            <a:spLocks noGrp="1"/>
          </p:cNvSpPr>
          <p:nvPr>
            <p:ph type="ctrTitle"/>
          </p:nvPr>
        </p:nvSpPr>
        <p:spPr>
          <a:xfrm>
            <a:off x="1524000" y="1122362"/>
            <a:ext cx="9144000" cy="1300797"/>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B42C8D9-821A-2954-DB04-BF7A4F55CD8E}"/>
              </a:ext>
            </a:extLst>
          </p:cNvPr>
          <p:cNvSpPr>
            <a:spLocks noGrp="1"/>
          </p:cNvSpPr>
          <p:nvPr>
            <p:ph type="subTitle" idx="1"/>
          </p:nvPr>
        </p:nvSpPr>
        <p:spPr>
          <a:xfrm>
            <a:off x="1524000" y="2423159"/>
            <a:ext cx="9144000" cy="90208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9135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A70A-3C91-2482-CC03-98DA83137A91}"/>
              </a:ext>
            </a:extLst>
          </p:cNvPr>
          <p:cNvSpPr>
            <a:spLocks noGrp="1"/>
          </p:cNvSpPr>
          <p:nvPr>
            <p:ph type="title"/>
          </p:nvPr>
        </p:nvSpPr>
        <p:spPr>
          <a:xfrm>
            <a:off x="4038600" y="1073150"/>
            <a:ext cx="7315200" cy="1325563"/>
          </a:xfrm>
        </p:spPr>
        <p:txBody>
          <a:bodyPr/>
          <a:lstStyle>
            <a:lvl1pPr algn="l">
              <a:defRPr/>
            </a:lvl1pPr>
          </a:lstStyle>
          <a:p>
            <a:r>
              <a:rPr lang="en-US"/>
              <a:t>Click to edit Master title style</a:t>
            </a:r>
          </a:p>
        </p:txBody>
      </p:sp>
      <p:sp>
        <p:nvSpPr>
          <p:cNvPr id="3" name="Content Placeholder 2">
            <a:extLst>
              <a:ext uri="{FF2B5EF4-FFF2-40B4-BE49-F238E27FC236}">
                <a16:creationId xmlns:a16="http://schemas.microsoft.com/office/drawing/2014/main" id="{7BAE67E3-2117-815A-62F2-F4253937FA51}"/>
              </a:ext>
            </a:extLst>
          </p:cNvPr>
          <p:cNvSpPr>
            <a:spLocks noGrp="1"/>
          </p:cNvSpPr>
          <p:nvPr>
            <p:ph idx="1"/>
          </p:nvPr>
        </p:nvSpPr>
        <p:spPr>
          <a:xfrm>
            <a:off x="4038600" y="2398713"/>
            <a:ext cx="7315200" cy="3778250"/>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BA0EDE-C873-3D09-0F53-25CBFEDCA88D}"/>
              </a:ext>
            </a:extLst>
          </p:cNvPr>
          <p:cNvSpPr>
            <a:spLocks noGrp="1"/>
          </p:cNvSpPr>
          <p:nvPr>
            <p:ph type="dt" sz="half" idx="10"/>
          </p:nvPr>
        </p:nvSpPr>
        <p:spPr/>
        <p:txBody>
          <a:bodyPr/>
          <a:lstStyle/>
          <a:p>
            <a:fld id="{DD3D1EC9-772C-D447-B0BC-8878E13AD991}" type="datetimeFigureOut">
              <a:rPr lang="en-US" smtClean="0"/>
              <a:t>7/31/2025</a:t>
            </a:fld>
            <a:endParaRPr lang="en-US"/>
          </a:p>
        </p:txBody>
      </p:sp>
      <p:sp>
        <p:nvSpPr>
          <p:cNvPr id="5" name="Footer Placeholder 4">
            <a:extLst>
              <a:ext uri="{FF2B5EF4-FFF2-40B4-BE49-F238E27FC236}">
                <a16:creationId xmlns:a16="http://schemas.microsoft.com/office/drawing/2014/main" id="{F23B335B-EBDA-D796-A567-5CD9DB399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F1CCBE-A30B-94D5-8E2C-68500EE09F1A}"/>
              </a:ext>
            </a:extLst>
          </p:cNvPr>
          <p:cNvSpPr>
            <a:spLocks noGrp="1"/>
          </p:cNvSpPr>
          <p:nvPr>
            <p:ph type="sldNum" sz="quarter" idx="12"/>
          </p:nvPr>
        </p:nvSpPr>
        <p:spPr/>
        <p:txBody>
          <a:bodyPr/>
          <a:lstStyle/>
          <a:p>
            <a:fld id="{D7412CF8-9496-C741-9A19-CFC46C0C0D9D}" type="slidenum">
              <a:rPr lang="en-US" smtClean="0"/>
              <a:t>‹#›</a:t>
            </a:fld>
            <a:endParaRPr lang="en-US"/>
          </a:p>
        </p:txBody>
      </p:sp>
    </p:spTree>
    <p:extLst>
      <p:ext uri="{BB962C8B-B14F-4D97-AF65-F5344CB8AC3E}">
        <p14:creationId xmlns:p14="http://schemas.microsoft.com/office/powerpoint/2010/main" val="225538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6DB6-B16F-2087-1349-EEC1B4D09EFB}"/>
              </a:ext>
            </a:extLst>
          </p:cNvPr>
          <p:cNvSpPr>
            <a:spLocks noGrp="1"/>
          </p:cNvSpPr>
          <p:nvPr>
            <p:ph type="title"/>
          </p:nvPr>
        </p:nvSpPr>
        <p:spPr>
          <a:xfrm>
            <a:off x="571023" y="219870"/>
            <a:ext cx="8977313" cy="592138"/>
          </a:xfrm>
        </p:spPr>
        <p:txBody>
          <a:bodyPr/>
          <a:lstStyle/>
          <a:p>
            <a:r>
              <a:rPr lang="en-US" dirty="0"/>
              <a:t>Click to edit Master title style</a:t>
            </a:r>
          </a:p>
        </p:txBody>
      </p:sp>
    </p:spTree>
    <p:extLst>
      <p:ext uri="{BB962C8B-B14F-4D97-AF65-F5344CB8AC3E}">
        <p14:creationId xmlns:p14="http://schemas.microsoft.com/office/powerpoint/2010/main" val="132831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9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1001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2C1799-20A1-B311-EF25-6236DC241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20D60D-4B6E-03D9-EC79-B83A8048DF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D9037-2662-07F2-FEDF-51DEFFEF7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3D1EC9-772C-D447-B0BC-8878E13AD991}" type="datetimeFigureOut">
              <a:rPr lang="en-US" smtClean="0"/>
              <a:t>7/31/2025</a:t>
            </a:fld>
            <a:endParaRPr lang="en-US"/>
          </a:p>
        </p:txBody>
      </p:sp>
      <p:sp>
        <p:nvSpPr>
          <p:cNvPr id="5" name="Footer Placeholder 4">
            <a:extLst>
              <a:ext uri="{FF2B5EF4-FFF2-40B4-BE49-F238E27FC236}">
                <a16:creationId xmlns:a16="http://schemas.microsoft.com/office/drawing/2014/main" id="{2F85988B-8C12-9161-2E0C-0EFE42D251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EA17EC-F41C-8172-36ED-FE2184ED5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412CF8-9496-C741-9A19-CFC46C0C0D9D}" type="slidenum">
              <a:rPr lang="en-US" smtClean="0"/>
              <a:t>‹#›</a:t>
            </a:fld>
            <a:endParaRPr lang="en-US"/>
          </a:p>
        </p:txBody>
      </p:sp>
    </p:spTree>
    <p:extLst>
      <p:ext uri="{BB962C8B-B14F-4D97-AF65-F5344CB8AC3E}">
        <p14:creationId xmlns:p14="http://schemas.microsoft.com/office/powerpoint/2010/main" val="4070043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3886D4E-8FCC-2591-2B61-0F35BE5CCCFC}"/>
              </a:ext>
            </a:extLst>
          </p:cNvPr>
          <p:cNvSpPr>
            <a:spLocks noGrp="1"/>
          </p:cNvSpPr>
          <p:nvPr>
            <p:ph type="ctrTitle"/>
          </p:nvPr>
        </p:nvSpPr>
        <p:spPr/>
        <p:txBody>
          <a:bodyPr/>
          <a:lstStyle/>
          <a:p>
            <a:r>
              <a:rPr lang="en-US" dirty="0"/>
              <a:t>KICK OF MEETING</a:t>
            </a:r>
            <a:endParaRPr lang="id-ID" dirty="0"/>
          </a:p>
        </p:txBody>
      </p:sp>
      <p:sp>
        <p:nvSpPr>
          <p:cNvPr id="3" name="Subjudul 2">
            <a:extLst>
              <a:ext uri="{FF2B5EF4-FFF2-40B4-BE49-F238E27FC236}">
                <a16:creationId xmlns:a16="http://schemas.microsoft.com/office/drawing/2014/main" id="{302934AC-0341-679C-C031-5057F0C609A3}"/>
              </a:ext>
            </a:extLst>
          </p:cNvPr>
          <p:cNvSpPr>
            <a:spLocks noGrp="1"/>
          </p:cNvSpPr>
          <p:nvPr>
            <p:ph type="subTitle" idx="1"/>
          </p:nvPr>
        </p:nvSpPr>
        <p:spPr/>
        <p:txBody>
          <a:bodyPr>
            <a:normAutofit/>
          </a:bodyPr>
          <a:lstStyle/>
          <a:p>
            <a:r>
              <a:rPr lang="en-US" dirty="0"/>
              <a:t>PERAWATAN PIPA PMK</a:t>
            </a:r>
          </a:p>
          <a:p>
            <a:endParaRPr lang="en-US" dirty="0"/>
          </a:p>
          <a:p>
            <a:endParaRPr lang="en-US" dirty="0"/>
          </a:p>
          <a:p>
            <a:endParaRPr lang="id-ID" dirty="0"/>
          </a:p>
        </p:txBody>
      </p:sp>
    </p:spTree>
    <p:extLst>
      <p:ext uri="{BB962C8B-B14F-4D97-AF65-F5344CB8AC3E}">
        <p14:creationId xmlns:p14="http://schemas.microsoft.com/office/powerpoint/2010/main" val="2769820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F770BD-75D9-D05E-E565-2BF1AF16C568}"/>
              </a:ext>
            </a:extLst>
          </p:cNvPr>
          <p:cNvSpPr txBox="1">
            <a:spLocks noGrp="1"/>
          </p:cNvSpPr>
          <p:nvPr>
            <p:ph type="title"/>
            <p:custDataLst>
              <p:tags r:id="rId1"/>
            </p:custDataLst>
          </p:nvPr>
        </p:nvSpPr>
        <p:spPr>
          <a:xfrm>
            <a:off x="4978400" y="1183730"/>
            <a:ext cx="6375400" cy="4227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dk1"/>
          </a:lnRef>
          <a:fillRef idx="2">
            <a:schemeClr val="dk1"/>
          </a:fillRef>
          <a:effectRef idx="1">
            <a:schemeClr val="dk1"/>
          </a:effectRef>
          <a:fontRef idx="minor">
            <a:schemeClr val="dk1"/>
          </a:fontRef>
        </p:style>
        <p:txBody>
          <a:bodyPr wrap="square" lIns="89450" tIns="44730" rIns="89450" bIns="44730">
            <a:spAutoFit/>
          </a:bodyPr>
          <a:lstStyle/>
          <a:p>
            <a:pPr algn="ctr" defTabSz="932962" fontAlgn="base">
              <a:spcBef>
                <a:spcPct val="0"/>
              </a:spcBef>
              <a:spcAft>
                <a:spcPct val="0"/>
              </a:spcAft>
              <a:defRPr/>
            </a:pPr>
            <a:r>
              <a:rPr lang="id-ID" sz="2400" dirty="0">
                <a:solidFill>
                  <a:srgbClr val="FFFFFF"/>
                </a:solidFill>
                <a:latin typeface="Futura-Bold" pitchFamily="2" charset="0"/>
                <a:cs typeface="Arial" pitchFamily="34" charset="0"/>
              </a:rPr>
              <a:t>TARGET </a:t>
            </a:r>
            <a:r>
              <a:rPr lang="en-US" sz="2400" dirty="0">
                <a:solidFill>
                  <a:srgbClr val="FFFFFF"/>
                </a:solidFill>
                <a:latin typeface="Futura-Bold" pitchFamily="2" charset="0"/>
                <a:cs typeface="Arial" pitchFamily="34" charset="0"/>
              </a:rPr>
              <a:t>180</a:t>
            </a:r>
            <a:r>
              <a:rPr lang="id-ID" sz="2400" dirty="0">
                <a:solidFill>
                  <a:srgbClr val="FFFFFF"/>
                </a:solidFill>
                <a:latin typeface="Futura-Bold" pitchFamily="2" charset="0"/>
                <a:cs typeface="Arial" pitchFamily="34" charset="0"/>
              </a:rPr>
              <a:t> </a:t>
            </a:r>
            <a:r>
              <a:rPr lang="en-US" sz="2400" dirty="0">
                <a:solidFill>
                  <a:srgbClr val="FFFFFF"/>
                </a:solidFill>
                <a:latin typeface="Futura-Bold" pitchFamily="2" charset="0"/>
                <a:cs typeface="Arial" pitchFamily="34" charset="0"/>
              </a:rPr>
              <a:t>HARI</a:t>
            </a:r>
            <a:r>
              <a:rPr lang="id-ID" sz="2400" dirty="0">
                <a:solidFill>
                  <a:srgbClr val="FFFFFF"/>
                </a:solidFill>
                <a:latin typeface="Futura-Bold" pitchFamily="2" charset="0"/>
                <a:cs typeface="Arial" pitchFamily="34" charset="0"/>
              </a:rPr>
              <a:t> KALENDER</a:t>
            </a:r>
          </a:p>
        </p:txBody>
      </p:sp>
      <p:sp>
        <p:nvSpPr>
          <p:cNvPr id="5" name="Slide Number Placeholder 3">
            <a:extLst>
              <a:ext uri="{FF2B5EF4-FFF2-40B4-BE49-F238E27FC236}">
                <a16:creationId xmlns:a16="http://schemas.microsoft.com/office/drawing/2014/main" id="{86DF19BB-9576-BA8B-DF31-90EC0D008586}"/>
              </a:ext>
            </a:extLst>
          </p:cNvPr>
          <p:cNvSpPr>
            <a:spLocks noGrp="1"/>
          </p:cNvSpPr>
          <p:nvPr>
            <p:ph type="sldNum" sz="quarter" idx="12"/>
          </p:nvPr>
        </p:nvSpPr>
        <p:spPr>
          <a:xfrm>
            <a:off x="8610600" y="6356350"/>
            <a:ext cx="2743200" cy="365125"/>
          </a:xfrm>
        </p:spPr>
        <p:txBody>
          <a:bodyPr/>
          <a:lstStyle/>
          <a:p>
            <a:fld id="{CF7A2BDD-D331-44F0-96AA-4FB4ED497064}" type="slidenum">
              <a:rPr lang="en-US" smtClean="0">
                <a:solidFill>
                  <a:prstClr val="black"/>
                </a:solidFill>
              </a:rPr>
              <a:pPr/>
              <a:t>2</a:t>
            </a:fld>
            <a:endParaRPr lang="en-US" dirty="0">
              <a:solidFill>
                <a:prstClr val="black"/>
              </a:solidFill>
            </a:endParaRPr>
          </a:p>
        </p:txBody>
      </p:sp>
      <p:sp>
        <p:nvSpPr>
          <p:cNvPr id="6" name="TextBox 5">
            <a:extLst>
              <a:ext uri="{FF2B5EF4-FFF2-40B4-BE49-F238E27FC236}">
                <a16:creationId xmlns:a16="http://schemas.microsoft.com/office/drawing/2014/main" id="{4F42E241-6CBB-8715-CE46-21983084ABB0}"/>
              </a:ext>
            </a:extLst>
          </p:cNvPr>
          <p:cNvSpPr txBox="1"/>
          <p:nvPr>
            <p:custDataLst>
              <p:tags r:id="rId2"/>
            </p:custDataLst>
          </p:nvPr>
        </p:nvSpPr>
        <p:spPr>
          <a:xfrm>
            <a:off x="5079170" y="5799465"/>
            <a:ext cx="6263639" cy="459666"/>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dk1"/>
          </a:lnRef>
          <a:fillRef idx="2">
            <a:schemeClr val="dk1"/>
          </a:fillRef>
          <a:effectRef idx="1">
            <a:schemeClr val="dk1"/>
          </a:effectRef>
          <a:fontRef idx="minor">
            <a:schemeClr val="dk1"/>
          </a:fontRef>
        </p:style>
        <p:txBody>
          <a:bodyPr wrap="square" lIns="89450" tIns="44730" rIns="89450" bIns="44730">
            <a:spAutoFit/>
          </a:bodyPr>
          <a:lstStyle/>
          <a:p>
            <a:pPr algn="ctr" defTabSz="932962" fontAlgn="base">
              <a:spcBef>
                <a:spcPct val="0"/>
              </a:spcBef>
              <a:spcAft>
                <a:spcPct val="0"/>
              </a:spcAft>
              <a:defRPr/>
            </a:pPr>
            <a:r>
              <a:rPr lang="en-US" sz="2400" dirty="0">
                <a:solidFill>
                  <a:srgbClr val="FFFFFF"/>
                </a:solidFill>
                <a:latin typeface="Futura-Bold" pitchFamily="2" charset="0"/>
                <a:cs typeface="Arial" pitchFamily="34" charset="0"/>
              </a:rPr>
              <a:t>TODAY : </a:t>
            </a:r>
            <a:r>
              <a:rPr lang="en-US" sz="2400" dirty="0">
                <a:solidFill>
                  <a:schemeClr val="bg1"/>
                </a:solidFill>
                <a:latin typeface="Futura-Bold" pitchFamily="2" charset="0"/>
                <a:cs typeface="Arial" pitchFamily="34" charset="0"/>
              </a:rPr>
              <a:t>31</a:t>
            </a:r>
            <a:r>
              <a:rPr lang="id-ID" sz="2400" dirty="0">
                <a:solidFill>
                  <a:schemeClr val="bg1"/>
                </a:solidFill>
                <a:latin typeface="Futura-Bold" pitchFamily="2" charset="0"/>
                <a:cs typeface="Arial" pitchFamily="34" charset="0"/>
              </a:rPr>
              <a:t> </a:t>
            </a:r>
            <a:r>
              <a:rPr lang="en-US" sz="2400" dirty="0">
                <a:solidFill>
                  <a:schemeClr val="bg1"/>
                </a:solidFill>
                <a:latin typeface="Futura-Bold" pitchFamily="2" charset="0"/>
                <a:cs typeface="Arial" pitchFamily="34" charset="0"/>
              </a:rPr>
              <a:t>Juli 2025</a:t>
            </a:r>
            <a:endParaRPr lang="id-ID" sz="2400" dirty="0">
              <a:solidFill>
                <a:schemeClr val="bg1"/>
              </a:solidFill>
              <a:latin typeface="Futura-Bold" pitchFamily="2" charset="0"/>
              <a:cs typeface="Arial" pitchFamily="34" charset="0"/>
            </a:endParaRPr>
          </a:p>
        </p:txBody>
      </p:sp>
      <p:grpSp>
        <p:nvGrpSpPr>
          <p:cNvPr id="7" name="Group 6">
            <a:extLst>
              <a:ext uri="{FF2B5EF4-FFF2-40B4-BE49-F238E27FC236}">
                <a16:creationId xmlns:a16="http://schemas.microsoft.com/office/drawing/2014/main" id="{1F7CE4AA-D632-7E66-F93A-D8C7347A3220}"/>
              </a:ext>
            </a:extLst>
          </p:cNvPr>
          <p:cNvGrpSpPr/>
          <p:nvPr/>
        </p:nvGrpSpPr>
        <p:grpSpPr>
          <a:xfrm>
            <a:off x="5090159" y="2205307"/>
            <a:ext cx="2631325" cy="2902459"/>
            <a:chOff x="3419872" y="2530996"/>
            <a:chExt cx="2382329" cy="2902459"/>
          </a:xfrm>
          <a:solidFill>
            <a:srgbClr val="203864"/>
          </a:solidFill>
        </p:grpSpPr>
        <p:sp>
          <p:nvSpPr>
            <p:cNvPr id="8" name="Oval 7">
              <a:extLst>
                <a:ext uri="{FF2B5EF4-FFF2-40B4-BE49-F238E27FC236}">
                  <a16:creationId xmlns:a16="http://schemas.microsoft.com/office/drawing/2014/main" id="{6490E4D9-63BF-A1AA-F258-A07B6C134A96}"/>
                </a:ext>
              </a:extLst>
            </p:cNvPr>
            <p:cNvSpPr/>
            <p:nvPr/>
          </p:nvSpPr>
          <p:spPr>
            <a:xfrm>
              <a:off x="3436813" y="2956392"/>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en-US" dirty="0">
                <a:solidFill>
                  <a:prstClr val="white"/>
                </a:solidFill>
                <a:latin typeface="Calibri"/>
              </a:endParaRPr>
            </a:p>
          </p:txBody>
        </p:sp>
        <p:sp>
          <p:nvSpPr>
            <p:cNvPr id="9" name="TextBox 8">
              <a:extLst>
                <a:ext uri="{FF2B5EF4-FFF2-40B4-BE49-F238E27FC236}">
                  <a16:creationId xmlns:a16="http://schemas.microsoft.com/office/drawing/2014/main" id="{DF36EB5F-2DF0-ED15-9F1B-7C90E5B7A208}"/>
                </a:ext>
              </a:extLst>
            </p:cNvPr>
            <p:cNvSpPr txBox="1"/>
            <p:nvPr/>
          </p:nvSpPr>
          <p:spPr>
            <a:xfrm>
              <a:off x="3419872" y="2530996"/>
              <a:ext cx="2160240" cy="400110"/>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lgn="ctr">
                <a:defRPr/>
              </a:pPr>
              <a:r>
                <a:rPr lang="en-US" sz="2000" b="1" dirty="0">
                  <a:ln w="6600" cmpd="dbl">
                    <a:solidFill>
                      <a:schemeClr val="tx1"/>
                    </a:solidFill>
                    <a:prstDash val="solid"/>
                  </a:ln>
                  <a:solidFill>
                    <a:srgbClr val="FFFFFF"/>
                  </a:solidFill>
                  <a:effectLst>
                    <a:outerShdw dist="38100" dir="2700000" algn="tl" rotWithShape="0">
                      <a:srgbClr val="ED7D31"/>
                    </a:outerShdw>
                  </a:effectLst>
                  <a:latin typeface="Calibri"/>
                </a:rPr>
                <a:t>DAY</a:t>
              </a:r>
              <a:endParaRPr lang="en-US" sz="2000" dirty="0">
                <a:ln cmpd="dbl">
                  <a:solidFill>
                    <a:schemeClr val="tx1"/>
                  </a:solidFill>
                </a:ln>
                <a:solidFill>
                  <a:prstClr val="white"/>
                </a:solidFill>
                <a:latin typeface="Calibri"/>
              </a:endParaRPr>
            </a:p>
          </p:txBody>
        </p:sp>
        <p:sp>
          <p:nvSpPr>
            <p:cNvPr id="10" name="TextBox 9">
              <a:extLst>
                <a:ext uri="{FF2B5EF4-FFF2-40B4-BE49-F238E27FC236}">
                  <a16:creationId xmlns:a16="http://schemas.microsoft.com/office/drawing/2014/main" id="{580324D0-8204-7212-34CF-74A703FDF2AB}"/>
                </a:ext>
              </a:extLst>
            </p:cNvPr>
            <p:cNvSpPr txBox="1"/>
            <p:nvPr/>
          </p:nvSpPr>
          <p:spPr>
            <a:xfrm>
              <a:off x="3730338" y="3238974"/>
              <a:ext cx="1532468"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p>
              <a:pPr lvl="0" algn="ctr">
                <a:defRPr/>
              </a:pPr>
              <a:r>
                <a:rPr lang="en-US" sz="7200" b="1" dirty="0">
                  <a:ln w="12700">
                    <a:solidFill>
                      <a:srgbClr val="002960">
                        <a:satMod val="155000"/>
                      </a:srgbClr>
                    </a:solidFill>
                    <a:prstDash val="solid"/>
                  </a:ln>
                  <a:solidFill>
                    <a:srgbClr val="FFFFFF"/>
                  </a:solidFill>
                  <a:effectLst>
                    <a:outerShdw blurRad="41275" dist="20320" dir="1800000" algn="tl" rotWithShape="0">
                      <a:srgbClr val="000000">
                        <a:alpha val="40000"/>
                      </a:srgbClr>
                    </a:outerShdw>
                  </a:effectLst>
                  <a:latin typeface="Futura-Bold" pitchFamily="2" charset="0"/>
                  <a:cs typeface="Arial" pitchFamily="34" charset="0"/>
                </a:rPr>
                <a:t>0</a:t>
              </a:r>
            </a:p>
          </p:txBody>
        </p:sp>
        <p:sp>
          <p:nvSpPr>
            <p:cNvPr id="11" name="TextBox 10">
              <a:extLst>
                <a:ext uri="{FF2B5EF4-FFF2-40B4-BE49-F238E27FC236}">
                  <a16:creationId xmlns:a16="http://schemas.microsoft.com/office/drawing/2014/main" id="{49C11CDD-C7F0-E949-86D5-28D32B1DE182}"/>
                </a:ext>
              </a:extLst>
            </p:cNvPr>
            <p:cNvSpPr txBox="1"/>
            <p:nvPr/>
          </p:nvSpPr>
          <p:spPr>
            <a:xfrm>
              <a:off x="3520377" y="5064123"/>
              <a:ext cx="2281824" cy="369332"/>
            </a:xfrm>
            <a:prstGeom prst="rect">
              <a:avLst/>
            </a:prstGeom>
            <a:grpFill/>
            <a:ln>
              <a:solidFill>
                <a:srgbClr val="002960">
                  <a:satMod val="155000"/>
                </a:srgbClr>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lvl="0">
                <a:defRPr/>
              </a:pPr>
              <a:r>
                <a:rPr lang="en-US" dirty="0">
                  <a:ln w="0">
                    <a:noFill/>
                  </a:ln>
                  <a:solidFill>
                    <a:schemeClr val="bg1"/>
                  </a:solidFill>
                  <a:effectLst>
                    <a:outerShdw blurRad="38100" dist="19050" dir="2700000" algn="tl" rotWithShape="0">
                      <a:prstClr val="black">
                        <a:alpha val="40000"/>
                      </a:prstClr>
                    </a:outerShdw>
                  </a:effectLst>
                  <a:latin typeface="Calibri"/>
                </a:rPr>
                <a:t>Start </a:t>
              </a:r>
              <a:r>
                <a:rPr lang="en-US" dirty="0">
                  <a:ln w="0">
                    <a:noFill/>
                  </a:ln>
                  <a:solidFill>
                    <a:schemeClr val="bg1"/>
                  </a:solidFill>
                  <a:effectLst>
                    <a:outerShdw blurRad="38100" dist="19050" dir="2700000" algn="tl" rotWithShape="0">
                      <a:prstClr val="black">
                        <a:alpha val="40000"/>
                      </a:prstClr>
                    </a:outerShdw>
                  </a:effectLst>
                </a:rPr>
                <a:t>: 31 Juli</a:t>
              </a:r>
              <a:r>
                <a:rPr lang="id-ID" dirty="0">
                  <a:ln w="0">
                    <a:noFill/>
                  </a:ln>
                  <a:solidFill>
                    <a:schemeClr val="bg1"/>
                  </a:solidFill>
                  <a:effectLst>
                    <a:outerShdw blurRad="38100" dist="19050" dir="2700000" algn="tl" rotWithShape="0">
                      <a:prstClr val="black">
                        <a:alpha val="40000"/>
                      </a:prstClr>
                    </a:outerShdw>
                  </a:effectLst>
                </a:rPr>
                <a:t> 202</a:t>
              </a:r>
              <a:r>
                <a:rPr lang="en-US" dirty="0">
                  <a:ln w="0">
                    <a:noFill/>
                  </a:ln>
                  <a:solidFill>
                    <a:schemeClr val="bg1"/>
                  </a:solidFill>
                  <a:effectLst>
                    <a:outerShdw blurRad="38100" dist="19050" dir="2700000" algn="tl" rotWithShape="0">
                      <a:prstClr val="black">
                        <a:alpha val="40000"/>
                      </a:prstClr>
                    </a:outerShdw>
                  </a:effectLst>
                </a:rPr>
                <a:t>5</a:t>
              </a:r>
              <a:endParaRPr lang="en-US" dirty="0">
                <a:ln w="0">
                  <a:noFill/>
                </a:ln>
                <a:solidFill>
                  <a:schemeClr val="bg1"/>
                </a:solidFill>
                <a:effectLst>
                  <a:outerShdw blurRad="38100" dist="19050" dir="2700000" algn="tl" rotWithShape="0">
                    <a:prstClr val="black">
                      <a:alpha val="40000"/>
                    </a:prstClr>
                  </a:outerShdw>
                </a:effectLst>
                <a:latin typeface="Calibri"/>
              </a:endParaRPr>
            </a:p>
          </p:txBody>
        </p:sp>
      </p:grpSp>
      <p:grpSp>
        <p:nvGrpSpPr>
          <p:cNvPr id="12" name="Group 11">
            <a:extLst>
              <a:ext uri="{FF2B5EF4-FFF2-40B4-BE49-F238E27FC236}">
                <a16:creationId xmlns:a16="http://schemas.microsoft.com/office/drawing/2014/main" id="{0017A38B-9DBE-97AC-2BA8-1C5CDD5351AC}"/>
              </a:ext>
            </a:extLst>
          </p:cNvPr>
          <p:cNvGrpSpPr/>
          <p:nvPr/>
        </p:nvGrpSpPr>
        <p:grpSpPr>
          <a:xfrm>
            <a:off x="8610600" y="2038074"/>
            <a:ext cx="2886000" cy="2963305"/>
            <a:chOff x="3400024" y="2530996"/>
            <a:chExt cx="2281836" cy="2963305"/>
          </a:xfrm>
          <a:solidFill>
            <a:srgbClr val="203864"/>
          </a:solidFill>
        </p:grpSpPr>
        <p:sp>
          <p:nvSpPr>
            <p:cNvPr id="13" name="Oval 12">
              <a:extLst>
                <a:ext uri="{FF2B5EF4-FFF2-40B4-BE49-F238E27FC236}">
                  <a16:creationId xmlns:a16="http://schemas.microsoft.com/office/drawing/2014/main" id="{6F66BCDC-155B-444C-DCB7-610533206183}"/>
                </a:ext>
              </a:extLst>
            </p:cNvPr>
            <p:cNvSpPr/>
            <p:nvPr/>
          </p:nvSpPr>
          <p:spPr>
            <a:xfrm>
              <a:off x="3400024" y="3043680"/>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defRPr/>
              </a:pPr>
              <a:endParaRPr lang="en-US">
                <a:solidFill>
                  <a:prstClr val="white"/>
                </a:solidFill>
                <a:latin typeface="Calibri"/>
              </a:endParaRPr>
            </a:p>
          </p:txBody>
        </p:sp>
        <p:sp>
          <p:nvSpPr>
            <p:cNvPr id="14" name="TextBox 13">
              <a:extLst>
                <a:ext uri="{FF2B5EF4-FFF2-40B4-BE49-F238E27FC236}">
                  <a16:creationId xmlns:a16="http://schemas.microsoft.com/office/drawing/2014/main" id="{6BEC18DC-A672-E670-C4C9-3C1D0206FD16}"/>
                </a:ext>
              </a:extLst>
            </p:cNvPr>
            <p:cNvSpPr txBox="1"/>
            <p:nvPr/>
          </p:nvSpPr>
          <p:spPr>
            <a:xfrm>
              <a:off x="3419872" y="2530996"/>
              <a:ext cx="2160240" cy="400110"/>
            </a:xfrm>
            <a:prstGeom prst="rect">
              <a:avLst/>
            </a:prstGeom>
            <a:grpFill/>
            <a:ln cmpd="dbl">
              <a:solidFill>
                <a:schemeClr val="tx1"/>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lgn="ctr">
                <a:defRPr/>
              </a:pPr>
              <a:r>
                <a:rPr lang="en-US" sz="2000" b="1" dirty="0">
                  <a:ln w="6600">
                    <a:solidFill>
                      <a:schemeClr val="tx1"/>
                    </a:solidFill>
                    <a:prstDash val="solid"/>
                  </a:ln>
                  <a:solidFill>
                    <a:schemeClr val="bg1"/>
                  </a:solidFill>
                  <a:latin typeface="Calibri"/>
                </a:rPr>
                <a:t>REMAINING DAY</a:t>
              </a:r>
            </a:p>
          </p:txBody>
        </p:sp>
        <p:sp>
          <p:nvSpPr>
            <p:cNvPr id="15" name="TextBox 14">
              <a:extLst>
                <a:ext uri="{FF2B5EF4-FFF2-40B4-BE49-F238E27FC236}">
                  <a16:creationId xmlns:a16="http://schemas.microsoft.com/office/drawing/2014/main" id="{AE56F229-6C4B-68C0-6904-33C8B64B38AA}"/>
                </a:ext>
              </a:extLst>
            </p:cNvPr>
            <p:cNvSpPr txBox="1"/>
            <p:nvPr/>
          </p:nvSpPr>
          <p:spPr>
            <a:xfrm>
              <a:off x="3650116" y="3357861"/>
              <a:ext cx="1801499"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p>
              <a:pPr>
                <a:defRPr/>
              </a:pPr>
              <a:r>
                <a:rPr lang="en-US" sz="7200" b="1" dirty="0">
                  <a:ln w="12700">
                    <a:solidFill>
                      <a:srgbClr val="002960">
                        <a:satMod val="155000"/>
                      </a:srgbClr>
                    </a:solidFill>
                    <a:prstDash val="solid"/>
                  </a:ln>
                  <a:solidFill>
                    <a:prstClr val="white"/>
                  </a:solidFill>
                  <a:effectLst>
                    <a:outerShdw blurRad="41275" dist="20320" dir="1800000" algn="tl" rotWithShape="0">
                      <a:srgbClr val="000000">
                        <a:alpha val="40000"/>
                      </a:srgbClr>
                    </a:outerShdw>
                  </a:effectLst>
                  <a:latin typeface="Futura-Bold" pitchFamily="2" charset="0"/>
                  <a:cs typeface="Arial" pitchFamily="34" charset="0"/>
                </a:rPr>
                <a:t>180</a:t>
              </a:r>
            </a:p>
          </p:txBody>
        </p:sp>
        <p:sp>
          <p:nvSpPr>
            <p:cNvPr id="16" name="TextBox 15">
              <a:extLst>
                <a:ext uri="{FF2B5EF4-FFF2-40B4-BE49-F238E27FC236}">
                  <a16:creationId xmlns:a16="http://schemas.microsoft.com/office/drawing/2014/main" id="{88EDE17F-44CC-82F3-D4F3-5B01946306B7}"/>
                </a:ext>
              </a:extLst>
            </p:cNvPr>
            <p:cNvSpPr txBox="1"/>
            <p:nvPr/>
          </p:nvSpPr>
          <p:spPr>
            <a:xfrm>
              <a:off x="3521620" y="5124969"/>
              <a:ext cx="2160240" cy="369332"/>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defRPr/>
              </a:pPr>
              <a:r>
                <a:rPr lang="en-US" dirty="0">
                  <a:solidFill>
                    <a:schemeClr val="bg1"/>
                  </a:solidFill>
                  <a:latin typeface="Calibri"/>
                </a:rPr>
                <a:t>End : 28 Januari 2026</a:t>
              </a:r>
            </a:p>
          </p:txBody>
        </p:sp>
      </p:grpSp>
      <p:grpSp>
        <p:nvGrpSpPr>
          <p:cNvPr id="18" name="Grup 27">
            <a:extLst>
              <a:ext uri="{FF2B5EF4-FFF2-40B4-BE49-F238E27FC236}">
                <a16:creationId xmlns:a16="http://schemas.microsoft.com/office/drawing/2014/main" id="{90AA28FE-B645-EC98-39B7-51BEBA8242E5}"/>
              </a:ext>
            </a:extLst>
          </p:cNvPr>
          <p:cNvGrpSpPr/>
          <p:nvPr/>
        </p:nvGrpSpPr>
        <p:grpSpPr>
          <a:xfrm>
            <a:off x="596530" y="1036030"/>
            <a:ext cx="3542350" cy="3217830"/>
            <a:chOff x="1571574" y="1036030"/>
            <a:chExt cx="3542350" cy="3217830"/>
          </a:xfrm>
        </p:grpSpPr>
        <p:sp>
          <p:nvSpPr>
            <p:cNvPr id="19" name="Rectangle 65">
              <a:extLst>
                <a:ext uri="{FF2B5EF4-FFF2-40B4-BE49-F238E27FC236}">
                  <a16:creationId xmlns:a16="http://schemas.microsoft.com/office/drawing/2014/main" id="{47D60FC7-3D74-AA54-85C7-06F62F116991}"/>
                </a:ext>
              </a:extLst>
            </p:cNvPr>
            <p:cNvSpPr>
              <a:spLocks noChangeArrowheads="1"/>
            </p:cNvSpPr>
            <p:nvPr>
              <p:custDataLst>
                <p:tags r:id="rId3"/>
              </p:custDataLst>
            </p:nvPr>
          </p:nvSpPr>
          <p:spPr bwMode="auto">
            <a:xfrm>
              <a:off x="2063552" y="1740086"/>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MASTER SCHEDULE </a:t>
              </a:r>
              <a:r>
                <a:rPr lang="en-US" sz="1200" b="1" dirty="0">
                  <a:solidFill>
                    <a:srgbClr val="FFFFFF"/>
                  </a:solidFill>
                  <a:latin typeface="Calibri"/>
                  <a:ea typeface="SimSun" pitchFamily="2" charset="-122"/>
                </a:rPr>
                <a:t>   </a:t>
              </a:r>
            </a:p>
          </p:txBody>
        </p:sp>
        <p:sp>
          <p:nvSpPr>
            <p:cNvPr id="20" name="Rectangle 65">
              <a:extLst>
                <a:ext uri="{FF2B5EF4-FFF2-40B4-BE49-F238E27FC236}">
                  <a16:creationId xmlns:a16="http://schemas.microsoft.com/office/drawing/2014/main" id="{F23BB880-D206-6A32-8885-7479074D7227}"/>
                </a:ext>
              </a:extLst>
            </p:cNvPr>
            <p:cNvSpPr>
              <a:spLocks noChangeArrowheads="1"/>
            </p:cNvSpPr>
            <p:nvPr>
              <p:custDataLst>
                <p:tags r:id="rId4"/>
              </p:custDataLst>
            </p:nvPr>
          </p:nvSpPr>
          <p:spPr bwMode="auto">
            <a:xfrm>
              <a:off x="1991544" y="3065638"/>
              <a:ext cx="2667570"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EXECUTION METHOD</a:t>
              </a:r>
            </a:p>
          </p:txBody>
        </p:sp>
        <p:sp>
          <p:nvSpPr>
            <p:cNvPr id="21" name="Rectangle 65">
              <a:extLst>
                <a:ext uri="{FF2B5EF4-FFF2-40B4-BE49-F238E27FC236}">
                  <a16:creationId xmlns:a16="http://schemas.microsoft.com/office/drawing/2014/main" id="{B3A6EC92-20E9-5D97-BBCB-C489B9F96C65}"/>
                </a:ext>
              </a:extLst>
            </p:cNvPr>
            <p:cNvSpPr>
              <a:spLocks noChangeArrowheads="1"/>
            </p:cNvSpPr>
            <p:nvPr>
              <p:custDataLst>
                <p:tags r:id="rId5"/>
              </p:custDataLst>
            </p:nvPr>
          </p:nvSpPr>
          <p:spPr bwMode="auto">
            <a:xfrm>
              <a:off x="2018596" y="2386980"/>
              <a:ext cx="2637244" cy="393946"/>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TOOL &amp; RESOURCE  </a:t>
              </a:r>
            </a:p>
          </p:txBody>
        </p:sp>
        <p:sp>
          <p:nvSpPr>
            <p:cNvPr id="22" name="Rectangle 65">
              <a:extLst>
                <a:ext uri="{FF2B5EF4-FFF2-40B4-BE49-F238E27FC236}">
                  <a16:creationId xmlns:a16="http://schemas.microsoft.com/office/drawing/2014/main" id="{2FB1F67C-A600-9507-8E4F-9073C130C8BA}"/>
                </a:ext>
              </a:extLst>
            </p:cNvPr>
            <p:cNvSpPr>
              <a:spLocks noChangeArrowheads="1"/>
            </p:cNvSpPr>
            <p:nvPr>
              <p:custDataLst>
                <p:tags r:id="rId6"/>
              </p:custDataLst>
            </p:nvPr>
          </p:nvSpPr>
          <p:spPr bwMode="auto">
            <a:xfrm>
              <a:off x="2063552" y="3805031"/>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OTHER</a:t>
              </a:r>
              <a:r>
                <a:rPr lang="en-US" sz="1200" b="1" dirty="0">
                  <a:solidFill>
                    <a:srgbClr val="FFFFFF"/>
                  </a:solidFill>
                  <a:latin typeface="Calibri"/>
                  <a:ea typeface="SimSun" pitchFamily="2" charset="-122"/>
                </a:rPr>
                <a:t>  </a:t>
              </a:r>
            </a:p>
          </p:txBody>
        </p:sp>
        <p:sp>
          <p:nvSpPr>
            <p:cNvPr id="23" name="Rectangle 65">
              <a:extLst>
                <a:ext uri="{FF2B5EF4-FFF2-40B4-BE49-F238E27FC236}">
                  <a16:creationId xmlns:a16="http://schemas.microsoft.com/office/drawing/2014/main" id="{597CC704-3890-2D3C-B7B6-6BBE14C0FC2A}"/>
                </a:ext>
              </a:extLst>
            </p:cNvPr>
            <p:cNvSpPr>
              <a:spLocks noChangeArrowheads="1"/>
            </p:cNvSpPr>
            <p:nvPr>
              <p:custDataLst>
                <p:tags r:id="rId7"/>
              </p:custDataLst>
            </p:nvPr>
          </p:nvSpPr>
          <p:spPr bwMode="auto">
            <a:xfrm>
              <a:off x="2038155" y="1080754"/>
              <a:ext cx="3075769"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PROJECT ORGANIZATION</a:t>
              </a:r>
              <a:endParaRPr lang="en-US" sz="1200" b="1" dirty="0">
                <a:solidFill>
                  <a:srgbClr val="FFFFFF"/>
                </a:solidFill>
                <a:latin typeface="Calibri"/>
                <a:ea typeface="SimSun" pitchFamily="2" charset="-122"/>
              </a:endParaRPr>
            </a:p>
          </p:txBody>
        </p:sp>
        <p:sp>
          <p:nvSpPr>
            <p:cNvPr id="24" name="Rectangle 4">
              <a:extLst>
                <a:ext uri="{FF2B5EF4-FFF2-40B4-BE49-F238E27FC236}">
                  <a16:creationId xmlns:a16="http://schemas.microsoft.com/office/drawing/2014/main" id="{E729C809-1BFE-0D99-A1E8-E18BEE606C83}"/>
                </a:ext>
              </a:extLst>
            </p:cNvPr>
            <p:cNvSpPr>
              <a:spLocks noChangeArrowheads="1"/>
            </p:cNvSpPr>
            <p:nvPr>
              <p:custDataLst>
                <p:tags r:id="rId8"/>
              </p:custDataLst>
            </p:nvPr>
          </p:nvSpPr>
          <p:spPr bwMode="auto">
            <a:xfrm>
              <a:off x="1571574" y="1036030"/>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5" name="Rectangle 4">
              <a:extLst>
                <a:ext uri="{FF2B5EF4-FFF2-40B4-BE49-F238E27FC236}">
                  <a16:creationId xmlns:a16="http://schemas.microsoft.com/office/drawing/2014/main" id="{199C2A28-9B0A-2F5B-BE10-0CE4D060D922}"/>
                </a:ext>
              </a:extLst>
            </p:cNvPr>
            <p:cNvSpPr>
              <a:spLocks noChangeArrowheads="1"/>
            </p:cNvSpPr>
            <p:nvPr>
              <p:custDataLst>
                <p:tags r:id="rId9"/>
              </p:custDataLst>
            </p:nvPr>
          </p:nvSpPr>
          <p:spPr bwMode="auto">
            <a:xfrm>
              <a:off x="1593671" y="1686292"/>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6" name="Rectangle 4">
              <a:extLst>
                <a:ext uri="{FF2B5EF4-FFF2-40B4-BE49-F238E27FC236}">
                  <a16:creationId xmlns:a16="http://schemas.microsoft.com/office/drawing/2014/main" id="{C44FE169-4939-5C2D-788D-2E2837EE6B14}"/>
                </a:ext>
              </a:extLst>
            </p:cNvPr>
            <p:cNvSpPr>
              <a:spLocks noChangeArrowheads="1"/>
            </p:cNvSpPr>
            <p:nvPr>
              <p:custDataLst>
                <p:tags r:id="rId10"/>
              </p:custDataLst>
            </p:nvPr>
          </p:nvSpPr>
          <p:spPr bwMode="auto">
            <a:xfrm>
              <a:off x="1571574" y="2347723"/>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7" name="Rectangle 4">
              <a:extLst>
                <a:ext uri="{FF2B5EF4-FFF2-40B4-BE49-F238E27FC236}">
                  <a16:creationId xmlns:a16="http://schemas.microsoft.com/office/drawing/2014/main" id="{2C91F4D2-2B6B-6DEB-22BE-CBAFDF15F993}"/>
                </a:ext>
              </a:extLst>
            </p:cNvPr>
            <p:cNvSpPr>
              <a:spLocks noChangeArrowheads="1"/>
            </p:cNvSpPr>
            <p:nvPr>
              <p:custDataLst>
                <p:tags r:id="rId11"/>
              </p:custDataLst>
            </p:nvPr>
          </p:nvSpPr>
          <p:spPr bwMode="auto">
            <a:xfrm>
              <a:off x="1591878" y="3733095"/>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8" name="Rectangle 4">
              <a:extLst>
                <a:ext uri="{FF2B5EF4-FFF2-40B4-BE49-F238E27FC236}">
                  <a16:creationId xmlns:a16="http://schemas.microsoft.com/office/drawing/2014/main" id="{C8042501-BBF1-FFFF-4F59-F3990F7B2089}"/>
                </a:ext>
              </a:extLst>
            </p:cNvPr>
            <p:cNvSpPr>
              <a:spLocks noChangeArrowheads="1"/>
            </p:cNvSpPr>
            <p:nvPr>
              <p:custDataLst>
                <p:tags r:id="rId12"/>
              </p:custDataLst>
            </p:nvPr>
          </p:nvSpPr>
          <p:spPr bwMode="auto">
            <a:xfrm>
              <a:off x="1591878" y="3016263"/>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grpSp>
    </p:spTree>
    <p:extLst>
      <p:ext uri="{BB962C8B-B14F-4D97-AF65-F5344CB8AC3E}">
        <p14:creationId xmlns:p14="http://schemas.microsoft.com/office/powerpoint/2010/main" val="236007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 name="TextBox 1">
            <a:extLst>
              <a:ext uri="{FF2B5EF4-FFF2-40B4-BE49-F238E27FC236}">
                <a16:creationId xmlns:a16="http://schemas.microsoft.com/office/drawing/2014/main" id="{A4E78DA2-F67F-1595-FA4A-8DEDB9714E01}"/>
              </a:ext>
            </a:extLst>
          </p:cNvPr>
          <p:cNvSpPr txBox="1"/>
          <p:nvPr/>
        </p:nvSpPr>
        <p:spPr>
          <a:xfrm>
            <a:off x="331588" y="209631"/>
            <a:ext cx="2390801" cy="646331"/>
          </a:xfrm>
          <a:prstGeom prst="rect">
            <a:avLst/>
          </a:prstGeom>
          <a:noFill/>
        </p:spPr>
        <p:txBody>
          <a:bodyPr wrap="square" rtlCol="0">
            <a:spAutoFit/>
          </a:bodyPr>
          <a:lstStyle/>
          <a:p>
            <a:pPr algn="ctr"/>
            <a:r>
              <a:rPr lang="en-US" b="1" dirty="0">
                <a:solidFill>
                  <a:schemeClr val="bg1"/>
                </a:solidFill>
              </a:rPr>
              <a:t>STRUCTURE ORGANIZATION</a:t>
            </a:r>
          </a:p>
        </p:txBody>
      </p:sp>
      <p:grpSp>
        <p:nvGrpSpPr>
          <p:cNvPr id="3" name="Group 2">
            <a:extLst>
              <a:ext uri="{FF2B5EF4-FFF2-40B4-BE49-F238E27FC236}">
                <a16:creationId xmlns:a16="http://schemas.microsoft.com/office/drawing/2014/main" id="{B48FD7E0-FDBD-D3E5-35F6-F6D5EEDE9604}"/>
              </a:ext>
            </a:extLst>
          </p:cNvPr>
          <p:cNvGrpSpPr/>
          <p:nvPr/>
        </p:nvGrpSpPr>
        <p:grpSpPr>
          <a:xfrm>
            <a:off x="285755" y="189128"/>
            <a:ext cx="5343671" cy="697956"/>
            <a:chOff x="569793" y="735245"/>
            <a:chExt cx="5343671" cy="697956"/>
          </a:xfrm>
        </p:grpSpPr>
        <p:sp>
          <p:nvSpPr>
            <p:cNvPr id="4" name="Rectangle: Rounded Corners 3">
              <a:extLst>
                <a:ext uri="{FF2B5EF4-FFF2-40B4-BE49-F238E27FC236}">
                  <a16:creationId xmlns:a16="http://schemas.microsoft.com/office/drawing/2014/main" id="{487C03D6-B98F-336D-970F-2BC6C8B8D794}"/>
                </a:ext>
              </a:extLst>
            </p:cNvPr>
            <p:cNvSpPr/>
            <p:nvPr/>
          </p:nvSpPr>
          <p:spPr>
            <a:xfrm>
              <a:off x="569793" y="746046"/>
              <a:ext cx="4904016" cy="687155"/>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A743651D-1F58-A152-4912-9D2844E18EE6}"/>
                </a:ext>
              </a:extLst>
            </p:cNvPr>
            <p:cNvSpPr/>
            <p:nvPr/>
          </p:nvSpPr>
          <p:spPr>
            <a:xfrm>
              <a:off x="4999064" y="735245"/>
              <a:ext cx="914400" cy="687155"/>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E12C24E-2C8C-F08B-5505-0A45D42EA97F}"/>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12AF531-F4A8-2233-B7AF-1501B31FA4CA}"/>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A20E6E9-F81D-B9D4-0F80-D26ECD4FEE3B}"/>
                </a:ext>
              </a:extLst>
            </p:cNvPr>
            <p:cNvSpPr txBox="1"/>
            <p:nvPr/>
          </p:nvSpPr>
          <p:spPr>
            <a:xfrm>
              <a:off x="615626" y="755748"/>
              <a:ext cx="2390801" cy="646331"/>
            </a:xfrm>
            <a:prstGeom prst="rect">
              <a:avLst/>
            </a:prstGeom>
            <a:noFill/>
          </p:spPr>
          <p:txBody>
            <a:bodyPr wrap="square" rtlCol="0">
              <a:spAutoFit/>
            </a:bodyPr>
            <a:lstStyle/>
            <a:p>
              <a:pPr algn="ctr"/>
              <a:r>
                <a:rPr lang="en-US" b="1" dirty="0">
                  <a:solidFill>
                    <a:schemeClr val="bg1"/>
                  </a:solidFill>
                </a:rPr>
                <a:t>STRUCTURE ORGANIZATION</a:t>
              </a:r>
            </a:p>
          </p:txBody>
        </p:sp>
      </p:grpSp>
      <p:pic>
        <p:nvPicPr>
          <p:cNvPr id="46" name="Picture 45">
            <a:extLst>
              <a:ext uri="{FF2B5EF4-FFF2-40B4-BE49-F238E27FC236}">
                <a16:creationId xmlns:a16="http://schemas.microsoft.com/office/drawing/2014/main" id="{007AEAF6-6299-C8C1-5E22-7AC37BB70DCF}"/>
              </a:ext>
            </a:extLst>
          </p:cNvPr>
          <p:cNvPicPr>
            <a:picLocks noChangeAspect="1"/>
          </p:cNvPicPr>
          <p:nvPr/>
        </p:nvPicPr>
        <p:blipFill>
          <a:blip r:embed="rId2"/>
          <a:stretch>
            <a:fillRect/>
          </a:stretch>
        </p:blipFill>
        <p:spPr>
          <a:xfrm>
            <a:off x="1782699" y="702182"/>
            <a:ext cx="8626602" cy="5607178"/>
          </a:xfrm>
          <a:prstGeom prst="rect">
            <a:avLst/>
          </a:prstGeom>
        </p:spPr>
      </p:pic>
    </p:spTree>
    <p:extLst>
      <p:ext uri="{BB962C8B-B14F-4D97-AF65-F5344CB8AC3E}">
        <p14:creationId xmlns:p14="http://schemas.microsoft.com/office/powerpoint/2010/main" val="315507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9F4690B-BC51-FFE0-868B-16E597B4DFD7}"/>
              </a:ext>
            </a:extLst>
          </p:cNvPr>
          <p:cNvGrpSpPr/>
          <p:nvPr/>
        </p:nvGrpSpPr>
        <p:grpSpPr>
          <a:xfrm>
            <a:off x="438122" y="221567"/>
            <a:ext cx="5297838" cy="687155"/>
            <a:chOff x="1544574" y="576718"/>
            <a:chExt cx="5297838" cy="687155"/>
          </a:xfrm>
        </p:grpSpPr>
        <p:sp>
          <p:nvSpPr>
            <p:cNvPr id="4" name="Rectangle: Rounded Corners 3">
              <a:extLst>
                <a:ext uri="{FF2B5EF4-FFF2-40B4-BE49-F238E27FC236}">
                  <a16:creationId xmlns:a16="http://schemas.microsoft.com/office/drawing/2014/main" id="{81A0BA40-EF77-EE61-1841-8A0FD4595715}"/>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32FED551-CDAC-711E-5B26-CA1A4070A0AA}"/>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39C9D45-B9C9-5414-F489-A165E0FE6048}"/>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98EBDC8-A74B-4D4E-6E7A-4900B1B5D8CF}"/>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1144BC7-D36B-EDC5-43A5-6BA18E1A373F}"/>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MANPOWER</a:t>
              </a:r>
              <a:endParaRPr lang="en-US" sz="2000" b="1" dirty="0">
                <a:solidFill>
                  <a:schemeClr val="bg1"/>
                </a:solidFill>
              </a:endParaRPr>
            </a:p>
          </p:txBody>
        </p:sp>
        <p:sp>
          <p:nvSpPr>
            <p:cNvPr id="9" name="TextBox 8">
              <a:extLst>
                <a:ext uri="{FF2B5EF4-FFF2-40B4-BE49-F238E27FC236}">
                  <a16:creationId xmlns:a16="http://schemas.microsoft.com/office/drawing/2014/main" id="{CAEB42B5-6759-AE5C-E81F-99A58F5CBD64}"/>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graphicFrame>
        <p:nvGraphicFramePr>
          <p:cNvPr id="10" name="Content Placeholder 4">
            <a:extLst>
              <a:ext uri="{FF2B5EF4-FFF2-40B4-BE49-F238E27FC236}">
                <a16:creationId xmlns:a16="http://schemas.microsoft.com/office/drawing/2014/main" id="{E0FE9577-4491-03A8-3BA5-1E2421EC53AF}"/>
              </a:ext>
            </a:extLst>
          </p:cNvPr>
          <p:cNvGraphicFramePr>
            <a:graphicFrameLocks/>
          </p:cNvGraphicFramePr>
          <p:nvPr>
            <p:extLst>
              <p:ext uri="{D42A27DB-BD31-4B8C-83A1-F6EECF244321}">
                <p14:modId xmlns:p14="http://schemas.microsoft.com/office/powerpoint/2010/main" val="700851609"/>
              </p:ext>
            </p:extLst>
          </p:nvPr>
        </p:nvGraphicFramePr>
        <p:xfrm>
          <a:off x="1271464" y="1277011"/>
          <a:ext cx="9937104" cy="4888293"/>
        </p:xfrm>
        <a:graphic>
          <a:graphicData uri="http://schemas.openxmlformats.org/drawingml/2006/table">
            <a:tbl>
              <a:tblPr firstRow="1" bandRow="1">
                <a:tableStyleId>{68D230F3-CF80-4859-8CE7-A43EE81993B5}</a:tableStyleId>
              </a:tblPr>
              <a:tblGrid>
                <a:gridCol w="899065">
                  <a:extLst>
                    <a:ext uri="{9D8B030D-6E8A-4147-A177-3AD203B41FA5}">
                      <a16:colId xmlns:a16="http://schemas.microsoft.com/office/drawing/2014/main" val="2968914665"/>
                    </a:ext>
                  </a:extLst>
                </a:gridCol>
                <a:gridCol w="4410232">
                  <a:extLst>
                    <a:ext uri="{9D8B030D-6E8A-4147-A177-3AD203B41FA5}">
                      <a16:colId xmlns:a16="http://schemas.microsoft.com/office/drawing/2014/main" val="4219746791"/>
                    </a:ext>
                  </a:extLst>
                </a:gridCol>
                <a:gridCol w="2027186">
                  <a:extLst>
                    <a:ext uri="{9D8B030D-6E8A-4147-A177-3AD203B41FA5}">
                      <a16:colId xmlns:a16="http://schemas.microsoft.com/office/drawing/2014/main" val="3762102807"/>
                    </a:ext>
                  </a:extLst>
                </a:gridCol>
                <a:gridCol w="2600621">
                  <a:extLst>
                    <a:ext uri="{9D8B030D-6E8A-4147-A177-3AD203B41FA5}">
                      <a16:colId xmlns:a16="http://schemas.microsoft.com/office/drawing/2014/main" val="3039436035"/>
                    </a:ext>
                  </a:extLst>
                </a:gridCol>
              </a:tblGrid>
              <a:tr h="507277">
                <a:tc>
                  <a:txBody>
                    <a:bodyPr/>
                    <a:lstStyle/>
                    <a:p>
                      <a:pPr algn="ctr"/>
                      <a:r>
                        <a:rPr lang="en-US" sz="1200" dirty="0"/>
                        <a:t>NO</a:t>
                      </a:r>
                    </a:p>
                  </a:txBody>
                  <a:tcPr anchor="ctr"/>
                </a:tc>
                <a:tc>
                  <a:txBody>
                    <a:bodyPr/>
                    <a:lstStyle/>
                    <a:p>
                      <a:pPr algn="ctr"/>
                      <a:r>
                        <a:rPr lang="en-US" sz="1200" dirty="0"/>
                        <a:t>URAIAN</a:t>
                      </a:r>
                    </a:p>
                  </a:txBody>
                  <a:tcPr anchor="ctr"/>
                </a:tc>
                <a:tc>
                  <a:txBody>
                    <a:bodyPr/>
                    <a:lstStyle/>
                    <a:p>
                      <a:pPr algn="ctr"/>
                      <a:r>
                        <a:rPr lang="en-US" sz="1200" dirty="0"/>
                        <a:t>JUMLAH</a:t>
                      </a:r>
                    </a:p>
                  </a:txBody>
                  <a:tcPr anchor="ctr"/>
                </a:tc>
                <a:tc>
                  <a:txBody>
                    <a:bodyPr/>
                    <a:lstStyle/>
                    <a:p>
                      <a:pPr algn="ctr"/>
                      <a:r>
                        <a:rPr lang="en-US" sz="1200" dirty="0"/>
                        <a:t>KET</a:t>
                      </a:r>
                    </a:p>
                  </a:txBody>
                  <a:tcPr anchor="ctr"/>
                </a:tc>
                <a:extLst>
                  <a:ext uri="{0D108BD9-81ED-4DB2-BD59-A6C34878D82A}">
                    <a16:rowId xmlns:a16="http://schemas.microsoft.com/office/drawing/2014/main" val="1864887311"/>
                  </a:ext>
                </a:extLst>
              </a:tr>
              <a:tr h="402287">
                <a:tc>
                  <a:txBody>
                    <a:bodyPr/>
                    <a:lstStyle/>
                    <a:p>
                      <a:pPr algn="ctr"/>
                      <a:r>
                        <a:rPr lang="en-US" sz="1600" dirty="0"/>
                        <a:t>1</a:t>
                      </a:r>
                    </a:p>
                  </a:txBody>
                  <a:tcPr anchor="ctr"/>
                </a:tc>
                <a:tc>
                  <a:txBody>
                    <a:bodyPr/>
                    <a:lstStyle/>
                    <a:p>
                      <a:pPr algn="l"/>
                      <a:r>
                        <a:rPr lang="en-US" sz="1600" dirty="0"/>
                        <a:t>Project Manager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11872564"/>
                  </a:ext>
                </a:extLst>
              </a:tr>
              <a:tr h="496125">
                <a:tc>
                  <a:txBody>
                    <a:bodyPr/>
                    <a:lstStyle/>
                    <a:p>
                      <a:pPr algn="ctr"/>
                      <a:r>
                        <a:rPr lang="id-ID" sz="1600" dirty="0"/>
                        <a:t>2</a:t>
                      </a:r>
                      <a:endParaRPr lang="en-US" sz="1600" dirty="0"/>
                    </a:p>
                  </a:txBody>
                  <a:tcPr anchor="ctr"/>
                </a:tc>
                <a:tc>
                  <a:txBody>
                    <a:bodyPr/>
                    <a:lstStyle/>
                    <a:p>
                      <a:pPr algn="l"/>
                      <a:r>
                        <a:rPr lang="en-US" sz="1600" dirty="0"/>
                        <a:t>Manager Area</a:t>
                      </a:r>
                    </a:p>
                  </a:txBody>
                  <a:tcPr anchor="ctr"/>
                </a:tc>
                <a:tc>
                  <a:txBody>
                    <a:bodyPr/>
                    <a:lstStyle/>
                    <a:p>
                      <a:pPr algn="ctr"/>
                      <a:r>
                        <a:rPr lang="id-ID" sz="1600" dirty="0"/>
                        <a:t>1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42977398"/>
                  </a:ext>
                </a:extLst>
              </a:tr>
              <a:tr h="496125">
                <a:tc>
                  <a:txBody>
                    <a:bodyPr/>
                    <a:lstStyle/>
                    <a:p>
                      <a:pPr algn="ctr"/>
                      <a:r>
                        <a:rPr lang="en-US" sz="1600" dirty="0"/>
                        <a:t>3</a:t>
                      </a:r>
                    </a:p>
                  </a:txBody>
                  <a:tcPr anchor="ctr"/>
                </a:tc>
                <a:tc>
                  <a:txBody>
                    <a:bodyPr/>
                    <a:lstStyle/>
                    <a:p>
                      <a:pPr algn="l"/>
                      <a:r>
                        <a:rPr lang="en-US" sz="1600" dirty="0"/>
                        <a:t>Site Manger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77496956"/>
                  </a:ext>
                </a:extLst>
              </a:tr>
              <a:tr h="413438">
                <a:tc>
                  <a:txBody>
                    <a:bodyPr/>
                    <a:lstStyle/>
                    <a:p>
                      <a:pPr algn="ctr"/>
                      <a:r>
                        <a:rPr lang="en-US" sz="1600" dirty="0"/>
                        <a:t>3</a:t>
                      </a:r>
                    </a:p>
                  </a:txBody>
                  <a:tcPr anchor="ctr"/>
                </a:tc>
                <a:tc>
                  <a:txBody>
                    <a:bodyPr/>
                    <a:lstStyle/>
                    <a:p>
                      <a:pPr algn="l"/>
                      <a:r>
                        <a:rPr lang="id-ID" sz="1600" dirty="0"/>
                        <a:t>Keuangan</a:t>
                      </a:r>
                      <a:endParaRPr lang="en-US" sz="1600" dirty="0"/>
                    </a:p>
                  </a:txBody>
                  <a:tcPr anchor="ctr"/>
                </a:tc>
                <a:tc>
                  <a:txBody>
                    <a:bodyPr/>
                    <a:lstStyle/>
                    <a:p>
                      <a:pPr algn="ctr"/>
                      <a:r>
                        <a:rPr lang="id-ID" sz="1600" dirty="0"/>
                        <a:t>1</a:t>
                      </a:r>
                      <a:r>
                        <a:rPr lang="en-US" sz="1600" dirty="0"/>
                        <a:t>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3266332216"/>
                  </a:ext>
                </a:extLst>
              </a:tr>
              <a:tr h="413438">
                <a:tc>
                  <a:txBody>
                    <a:bodyPr/>
                    <a:lstStyle/>
                    <a:p>
                      <a:pPr algn="ctr"/>
                      <a:r>
                        <a:rPr lang="en-US" sz="1600" dirty="0"/>
                        <a:t>4</a:t>
                      </a:r>
                    </a:p>
                  </a:txBody>
                  <a:tcPr anchor="ctr"/>
                </a:tc>
                <a:tc>
                  <a:txBody>
                    <a:bodyPr/>
                    <a:lstStyle/>
                    <a:p>
                      <a:pPr algn="l"/>
                      <a:r>
                        <a:rPr lang="id-ID" sz="1600" dirty="0"/>
                        <a:t>Foreman</a:t>
                      </a:r>
                      <a:endParaRPr lang="en-US" sz="1600" dirty="0"/>
                    </a:p>
                  </a:txBody>
                  <a:tcPr anchor="ctr"/>
                </a:tc>
                <a:tc>
                  <a:txBody>
                    <a:bodyPr/>
                    <a:lstStyle/>
                    <a:p>
                      <a:pPr algn="ctr"/>
                      <a:r>
                        <a:rPr lang="en-US" sz="1600" dirty="0"/>
                        <a:t>2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4222651992"/>
                  </a:ext>
                </a:extLst>
              </a:tr>
              <a:tr h="413438">
                <a:tc>
                  <a:txBody>
                    <a:bodyPr/>
                    <a:lstStyle/>
                    <a:p>
                      <a:pPr algn="ctr"/>
                      <a:r>
                        <a:rPr lang="id-ID" sz="1600" dirty="0"/>
                        <a:t>5</a:t>
                      </a:r>
                      <a:endParaRPr lang="en-US" sz="1600" dirty="0"/>
                    </a:p>
                  </a:txBody>
                  <a:tcPr anchor="ctr"/>
                </a:tc>
                <a:tc>
                  <a:txBody>
                    <a:bodyPr/>
                    <a:lstStyle/>
                    <a:p>
                      <a:pPr algn="l"/>
                      <a:r>
                        <a:rPr lang="en-US" sz="1600" dirty="0"/>
                        <a:t>Safety Officer</a:t>
                      </a:r>
                    </a:p>
                  </a:txBody>
                  <a:tcPr anchor="ctr"/>
                </a:tc>
                <a:tc>
                  <a:txBody>
                    <a:bodyPr/>
                    <a:lstStyle/>
                    <a:p>
                      <a:pPr algn="ctr"/>
                      <a:r>
                        <a:rPr lang="en-US" sz="1600" dirty="0"/>
                        <a:t>1</a:t>
                      </a:r>
                      <a:r>
                        <a:rPr lang="id-ID" sz="1600" dirty="0"/>
                        <a:t>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513831790"/>
                  </a:ext>
                </a:extLst>
              </a:tr>
              <a:tr h="413438">
                <a:tc>
                  <a:txBody>
                    <a:bodyPr/>
                    <a:lstStyle/>
                    <a:p>
                      <a:pPr algn="ctr"/>
                      <a:r>
                        <a:rPr lang="id-ID" sz="1600" dirty="0"/>
                        <a:t>6</a:t>
                      </a:r>
                      <a:endParaRPr lang="en-US" sz="1600" dirty="0"/>
                    </a:p>
                  </a:txBody>
                  <a:tcPr anchor="ctr"/>
                </a:tc>
                <a:tc>
                  <a:txBody>
                    <a:bodyPr/>
                    <a:lstStyle/>
                    <a:p>
                      <a:pPr algn="l"/>
                      <a:r>
                        <a:rPr lang="en-US" sz="1600" dirty="0"/>
                        <a:t>Safety</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96200271"/>
                  </a:ext>
                </a:extLst>
              </a:tr>
              <a:tr h="413438">
                <a:tc>
                  <a:txBody>
                    <a:bodyPr/>
                    <a:lstStyle/>
                    <a:p>
                      <a:pPr algn="ctr"/>
                      <a:r>
                        <a:rPr lang="id-ID" sz="1600" dirty="0"/>
                        <a:t>7</a:t>
                      </a:r>
                      <a:endParaRPr lang="en-US" sz="1600" dirty="0"/>
                    </a:p>
                  </a:txBody>
                  <a:tcPr anchor="ctr"/>
                </a:tc>
                <a:tc>
                  <a:txBody>
                    <a:bodyPr/>
                    <a:lstStyle/>
                    <a:p>
                      <a:pPr algn="l"/>
                      <a:r>
                        <a:rPr lang="en-US" sz="1600" dirty="0"/>
                        <a:t>First Aider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245250396"/>
                  </a:ext>
                </a:extLst>
              </a:tr>
              <a:tr h="413438">
                <a:tc>
                  <a:txBody>
                    <a:bodyPr/>
                    <a:lstStyle/>
                    <a:p>
                      <a:pPr algn="ctr"/>
                      <a:r>
                        <a:rPr lang="id-ID" sz="1600" dirty="0"/>
                        <a:t>8</a:t>
                      </a:r>
                      <a:endParaRPr lang="en-US" sz="1600" dirty="0"/>
                    </a:p>
                  </a:txBody>
                  <a:tcPr anchor="ctr"/>
                </a:tc>
                <a:tc>
                  <a:txBody>
                    <a:bodyPr/>
                    <a:lstStyle/>
                    <a:p>
                      <a:pPr algn="l"/>
                      <a:r>
                        <a:rPr lang="en-US" sz="1600" dirty="0" err="1"/>
                        <a:t>Pekerja</a:t>
                      </a:r>
                      <a:endParaRPr lang="en-US" sz="1600" dirty="0"/>
                    </a:p>
                  </a:txBody>
                  <a:tcPr anchor="ctr"/>
                </a:tc>
                <a:tc>
                  <a:txBody>
                    <a:bodyPr/>
                    <a:lstStyle/>
                    <a:p>
                      <a:pPr algn="ctr"/>
                      <a:r>
                        <a:rPr lang="en-US" sz="1600" dirty="0"/>
                        <a:t>20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550636185"/>
                  </a:ext>
                </a:extLst>
              </a:tr>
              <a:tr h="505851">
                <a:tc>
                  <a:txBody>
                    <a:bodyPr/>
                    <a:lstStyle/>
                    <a:p>
                      <a:pPr algn="ctr"/>
                      <a:endParaRPr lang="en-US" sz="1600" dirty="0"/>
                    </a:p>
                  </a:txBody>
                  <a:tcPr anchor="ctr"/>
                </a:tc>
                <a:tc>
                  <a:txBody>
                    <a:bodyPr/>
                    <a:lstStyle/>
                    <a:p>
                      <a:pPr algn="l"/>
                      <a:r>
                        <a:rPr lang="en-US" sz="1600" dirty="0"/>
                        <a:t>TOTAL</a:t>
                      </a:r>
                    </a:p>
                  </a:txBody>
                  <a:tcPr anchor="ctr"/>
                </a:tc>
                <a:tc>
                  <a:txBody>
                    <a:bodyPr/>
                    <a:lstStyle/>
                    <a:p>
                      <a:pPr algn="ctr"/>
                      <a:r>
                        <a:rPr lang="en-US" sz="1600" dirty="0"/>
                        <a:t>29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nchor="ctr"/>
                </a:tc>
                <a:extLst>
                  <a:ext uri="{0D108BD9-81ED-4DB2-BD59-A6C34878D82A}">
                    <a16:rowId xmlns:a16="http://schemas.microsoft.com/office/drawing/2014/main" val="1169765297"/>
                  </a:ext>
                </a:extLst>
              </a:tr>
            </a:tbl>
          </a:graphicData>
        </a:graphic>
      </p:graphicFrame>
    </p:spTree>
    <p:extLst>
      <p:ext uri="{BB962C8B-B14F-4D97-AF65-F5344CB8AC3E}">
        <p14:creationId xmlns:p14="http://schemas.microsoft.com/office/powerpoint/2010/main" val="3299947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4D651B6-0F86-8556-5E48-919B00771F55}"/>
              </a:ext>
            </a:extLst>
          </p:cNvPr>
          <p:cNvGrpSpPr/>
          <p:nvPr/>
        </p:nvGrpSpPr>
        <p:grpSpPr>
          <a:xfrm>
            <a:off x="331588" y="189128"/>
            <a:ext cx="5297838" cy="687155"/>
            <a:chOff x="615626" y="735245"/>
            <a:chExt cx="5297838" cy="687155"/>
          </a:xfrm>
        </p:grpSpPr>
        <p:sp>
          <p:nvSpPr>
            <p:cNvPr id="4" name="Rectangle: Rounded Corners 3">
              <a:extLst>
                <a:ext uri="{FF2B5EF4-FFF2-40B4-BE49-F238E27FC236}">
                  <a16:creationId xmlns:a16="http://schemas.microsoft.com/office/drawing/2014/main" id="{A4C0DB21-6D11-1646-192D-89049D3EB830}"/>
                </a:ext>
              </a:extLst>
            </p:cNvPr>
            <p:cNvSpPr/>
            <p:nvPr/>
          </p:nvSpPr>
          <p:spPr>
            <a:xfrm>
              <a:off x="624769" y="735245"/>
              <a:ext cx="4904016" cy="687155"/>
            </a:xfrm>
            <a:prstGeom prst="round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2513B1AB-5D06-196A-6BA1-5D437311BCB8}"/>
                </a:ext>
              </a:extLst>
            </p:cNvPr>
            <p:cNvSpPr/>
            <p:nvPr/>
          </p:nvSpPr>
          <p:spPr>
            <a:xfrm>
              <a:off x="4999064" y="735245"/>
              <a:ext cx="914400" cy="68715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3A0B1247-D8D5-053D-364B-A88409346639}"/>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2735979-987A-1D86-DB1E-1B39F51E2F58}"/>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1BC0682-94BF-C1BB-B3EF-5879189289D0}"/>
                </a:ext>
              </a:extLst>
            </p:cNvPr>
            <p:cNvSpPr txBox="1"/>
            <p:nvPr/>
          </p:nvSpPr>
          <p:spPr>
            <a:xfrm>
              <a:off x="615626" y="878773"/>
              <a:ext cx="2390801" cy="369332"/>
            </a:xfrm>
            <a:prstGeom prst="rect">
              <a:avLst/>
            </a:prstGeom>
            <a:noFill/>
          </p:spPr>
          <p:txBody>
            <a:bodyPr wrap="square" rtlCol="0">
              <a:spAutoFit/>
            </a:bodyPr>
            <a:lstStyle/>
            <a:p>
              <a:pPr algn="ctr"/>
              <a:r>
                <a:rPr lang="id-ID" b="1" dirty="0">
                  <a:solidFill>
                    <a:schemeClr val="bg1"/>
                  </a:solidFill>
                </a:rPr>
                <a:t>KURVA S</a:t>
              </a:r>
              <a:endParaRPr lang="en-US" b="1" dirty="0">
                <a:solidFill>
                  <a:schemeClr val="bg1"/>
                </a:solidFill>
              </a:endParaRPr>
            </a:p>
          </p:txBody>
        </p:sp>
      </p:grpSp>
      <p:pic>
        <p:nvPicPr>
          <p:cNvPr id="9" name="Picture 8">
            <a:extLst>
              <a:ext uri="{FF2B5EF4-FFF2-40B4-BE49-F238E27FC236}">
                <a16:creationId xmlns:a16="http://schemas.microsoft.com/office/drawing/2014/main" id="{FB7C3910-8E0A-40D3-5D74-D90364179004}"/>
              </a:ext>
            </a:extLst>
          </p:cNvPr>
          <p:cNvPicPr>
            <a:picLocks noChangeAspect="1"/>
          </p:cNvPicPr>
          <p:nvPr/>
        </p:nvPicPr>
        <p:blipFill>
          <a:blip r:embed="rId3"/>
          <a:stretch>
            <a:fillRect/>
          </a:stretch>
        </p:blipFill>
        <p:spPr>
          <a:xfrm>
            <a:off x="873760" y="1019811"/>
            <a:ext cx="10810240" cy="5330189"/>
          </a:xfrm>
          <a:prstGeom prst="rect">
            <a:avLst/>
          </a:prstGeom>
        </p:spPr>
      </p:pic>
    </p:spTree>
    <p:extLst>
      <p:ext uri="{BB962C8B-B14F-4D97-AF65-F5344CB8AC3E}">
        <p14:creationId xmlns:p14="http://schemas.microsoft.com/office/powerpoint/2010/main" val="2279026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5F02434-617E-CD55-4B9F-D68EB512CD5A}"/>
              </a:ext>
            </a:extLst>
          </p:cNvPr>
          <p:cNvGrpSpPr/>
          <p:nvPr/>
        </p:nvGrpSpPr>
        <p:grpSpPr>
          <a:xfrm>
            <a:off x="367752" y="296503"/>
            <a:ext cx="5317043" cy="687155"/>
            <a:chOff x="596421" y="735245"/>
            <a:chExt cx="5317043" cy="687155"/>
          </a:xfrm>
        </p:grpSpPr>
        <p:sp>
          <p:nvSpPr>
            <p:cNvPr id="4" name="Rectangle: Rounded Corners 3">
              <a:extLst>
                <a:ext uri="{FF2B5EF4-FFF2-40B4-BE49-F238E27FC236}">
                  <a16:creationId xmlns:a16="http://schemas.microsoft.com/office/drawing/2014/main" id="{304690E6-8297-2356-0D05-062780BC42B9}"/>
                </a:ext>
              </a:extLst>
            </p:cNvPr>
            <p:cNvSpPr/>
            <p:nvPr/>
          </p:nvSpPr>
          <p:spPr>
            <a:xfrm>
              <a:off x="596421" y="735245"/>
              <a:ext cx="4904016" cy="687155"/>
            </a:xfrm>
            <a:prstGeom prst="roundRect">
              <a:avLst/>
            </a:prstGeom>
            <a:solidFill>
              <a:srgbClr val="F6A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32E1AD8F-6DD1-E875-2929-DB292CDEE38F}"/>
                </a:ext>
              </a:extLst>
            </p:cNvPr>
            <p:cNvSpPr/>
            <p:nvPr/>
          </p:nvSpPr>
          <p:spPr>
            <a:xfrm>
              <a:off x="4999064" y="735245"/>
              <a:ext cx="914400" cy="6871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2F964813-80DD-FEFB-7016-1DDE237949FA}"/>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E301D7F-0412-BA85-22D8-E098C07F94AB}"/>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A95D5F-ECBD-1797-FB6F-575AA1C25B1F}"/>
                </a:ext>
              </a:extLst>
            </p:cNvPr>
            <p:cNvSpPr txBox="1"/>
            <p:nvPr/>
          </p:nvSpPr>
          <p:spPr>
            <a:xfrm>
              <a:off x="615626" y="897152"/>
              <a:ext cx="2390801" cy="369332"/>
            </a:xfrm>
            <a:prstGeom prst="rect">
              <a:avLst/>
            </a:prstGeom>
            <a:noFill/>
          </p:spPr>
          <p:txBody>
            <a:bodyPr wrap="square" rtlCol="0">
              <a:spAutoFit/>
            </a:bodyPr>
            <a:lstStyle/>
            <a:p>
              <a:pPr algn="ctr"/>
              <a:r>
                <a:rPr lang="id-ID" b="1" dirty="0">
                  <a:solidFill>
                    <a:schemeClr val="bg1"/>
                  </a:solidFill>
                </a:rPr>
                <a:t>PERALATAN</a:t>
              </a:r>
              <a:endParaRPr lang="en-US" b="1" dirty="0">
                <a:solidFill>
                  <a:schemeClr val="bg1"/>
                </a:solidFill>
              </a:endParaRPr>
            </a:p>
          </p:txBody>
        </p:sp>
      </p:grpSp>
      <p:graphicFrame>
        <p:nvGraphicFramePr>
          <p:cNvPr id="9" name="Content Placeholder 2">
            <a:extLst>
              <a:ext uri="{FF2B5EF4-FFF2-40B4-BE49-F238E27FC236}">
                <a16:creationId xmlns:a16="http://schemas.microsoft.com/office/drawing/2014/main" id="{11777A0C-1A5F-351C-1D67-1BC3EE3D0AFA}"/>
              </a:ext>
            </a:extLst>
          </p:cNvPr>
          <p:cNvGraphicFramePr>
            <a:graphicFrameLocks/>
          </p:cNvGraphicFramePr>
          <p:nvPr>
            <p:extLst>
              <p:ext uri="{D42A27DB-BD31-4B8C-83A1-F6EECF244321}">
                <p14:modId xmlns:p14="http://schemas.microsoft.com/office/powerpoint/2010/main" val="742243137"/>
              </p:ext>
            </p:extLst>
          </p:nvPr>
        </p:nvGraphicFramePr>
        <p:xfrm>
          <a:off x="1145169" y="1143703"/>
          <a:ext cx="9901662" cy="5071189"/>
        </p:xfrm>
        <a:graphic>
          <a:graphicData uri="http://schemas.openxmlformats.org/drawingml/2006/table">
            <a:tbl>
              <a:tblPr firstRow="1" firstCol="1" bandRow="1">
                <a:tableStyleId>{BDBED569-4797-4DF1-A0F4-6AAB3CD982D8}</a:tableStyleId>
              </a:tblPr>
              <a:tblGrid>
                <a:gridCol w="607687">
                  <a:extLst>
                    <a:ext uri="{9D8B030D-6E8A-4147-A177-3AD203B41FA5}">
                      <a16:colId xmlns:a16="http://schemas.microsoft.com/office/drawing/2014/main" val="2287895332"/>
                    </a:ext>
                  </a:extLst>
                </a:gridCol>
                <a:gridCol w="2784551">
                  <a:extLst>
                    <a:ext uri="{9D8B030D-6E8A-4147-A177-3AD203B41FA5}">
                      <a16:colId xmlns:a16="http://schemas.microsoft.com/office/drawing/2014/main" val="2585788363"/>
                    </a:ext>
                  </a:extLst>
                </a:gridCol>
                <a:gridCol w="1741959">
                  <a:extLst>
                    <a:ext uri="{9D8B030D-6E8A-4147-A177-3AD203B41FA5}">
                      <a16:colId xmlns:a16="http://schemas.microsoft.com/office/drawing/2014/main" val="3079639673"/>
                    </a:ext>
                  </a:extLst>
                </a:gridCol>
                <a:gridCol w="4767465">
                  <a:extLst>
                    <a:ext uri="{9D8B030D-6E8A-4147-A177-3AD203B41FA5}">
                      <a16:colId xmlns:a16="http://schemas.microsoft.com/office/drawing/2014/main" val="618632973"/>
                    </a:ext>
                  </a:extLst>
                </a:gridCol>
              </a:tblGrid>
              <a:tr h="442653">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NO</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ALAT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id-ID" sz="1400" dirty="0">
                          <a:effectLst/>
                          <a:latin typeface="Arial" panose="020B0604020202020204" pitchFamily="34" charset="0"/>
                          <a:cs typeface="Arial" panose="020B0604020202020204" pitchFamily="34" charset="0"/>
                        </a:rPr>
                        <a:t>JUMLAH</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KETERANGAN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143147080"/>
                  </a:ext>
                </a:extLst>
              </a:tr>
              <a:tr h="292977">
                <a:tc>
                  <a:txBody>
                    <a:bodyPr/>
                    <a:lstStyle/>
                    <a:p>
                      <a:pPr algn="ctr">
                        <a:spcAft>
                          <a:spcPts val="0"/>
                        </a:spcAft>
                        <a:tabLst>
                          <a:tab pos="228600" algn="l"/>
                          <a:tab pos="285750" algn="l"/>
                        </a:tabLst>
                      </a:pPr>
                      <a:r>
                        <a:rPr lang="en-US" sz="1400" b="0" dirty="0">
                          <a:effectLst/>
                          <a:latin typeface="Arial" panose="020B0604020202020204" pitchFamily="34" charset="0"/>
                          <a:cs typeface="Arial" panose="020B0604020202020204" pitchFamily="34" charset="0"/>
                        </a:rPr>
                        <a:t>1</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Generator Set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2 Unit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 / Sewa</a:t>
                      </a:r>
                    </a:p>
                  </a:txBody>
                  <a:tcPr marL="37465" marR="37465" marT="0" marB="0" anchor="ctr"/>
                </a:tc>
                <a:extLst>
                  <a:ext uri="{0D108BD9-81ED-4DB2-BD59-A6C34878D82A}">
                    <a16:rowId xmlns:a16="http://schemas.microsoft.com/office/drawing/2014/main" val="2464438591"/>
                  </a:ext>
                </a:extLst>
              </a:tr>
              <a:tr h="295793">
                <a:tc>
                  <a:txBody>
                    <a:bodyPr/>
                    <a:lstStyle/>
                    <a:p>
                      <a:pPr algn="ctr">
                        <a:spcAft>
                          <a:spcPts val="0"/>
                        </a:spcAft>
                        <a:tabLst>
                          <a:tab pos="228600" algn="l"/>
                          <a:tab pos="285750" algn="l"/>
                        </a:tabLst>
                      </a:pPr>
                      <a:r>
                        <a:rPr lang="en-US" sz="1400" b="0" dirty="0">
                          <a:effectLst/>
                          <a:latin typeface="Arial" panose="020B0604020202020204" pitchFamily="34" charset="0"/>
                          <a:cs typeface="Arial" panose="020B0604020202020204" pitchFamily="34" charset="0"/>
                        </a:rPr>
                        <a:t>2</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cs typeface="Arial" panose="020B0604020202020204" pitchFamily="34" charset="0"/>
                        </a:rPr>
                        <a:t>Gerinda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10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Milik</a:t>
                      </a:r>
                      <a:r>
                        <a:rPr lang="en-US" sz="1400" dirty="0">
                          <a:effectLst/>
                          <a:latin typeface="Arial" panose="020B0604020202020204" pitchFamily="34" charset="0"/>
                          <a:ea typeface="Times New Roman" panose="02020603050405020304" pitchFamily="18" charset="0"/>
                          <a:cs typeface="Arial" panose="020B0604020202020204" pitchFamily="34" charset="0"/>
                        </a:rPr>
                        <a:t> Perusahaan</a:t>
                      </a:r>
                    </a:p>
                  </a:txBody>
                  <a:tcPr marL="37465" marR="37465" marT="0" marB="0" anchor="ctr"/>
                </a:tc>
                <a:extLst>
                  <a:ext uri="{0D108BD9-81ED-4DB2-BD59-A6C34878D82A}">
                    <a16:rowId xmlns:a16="http://schemas.microsoft.com/office/drawing/2014/main" val="3146917194"/>
                  </a:ext>
                </a:extLst>
              </a:tr>
              <a:tr h="362225">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3</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Mesin</a:t>
                      </a:r>
                      <a:r>
                        <a:rPr lang="en-US" sz="1400" dirty="0">
                          <a:effectLst/>
                          <a:latin typeface="Arial" panose="020B0604020202020204" pitchFamily="34" charset="0"/>
                          <a:ea typeface="Times New Roman" panose="02020603050405020304" pitchFamily="18" charset="0"/>
                          <a:cs typeface="Arial" panose="020B0604020202020204" pitchFamily="34" charset="0"/>
                        </a:rPr>
                        <a:t> Las 600 Ampere</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 3 Set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1055523169"/>
                  </a:ext>
                </a:extLst>
              </a:tr>
              <a:tr h="238864">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4</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Concrete Mixer</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1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501229199"/>
                  </a:ext>
                </a:extLst>
              </a:tr>
              <a:tr h="291790">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5</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Peralatan</a:t>
                      </a:r>
                      <a:r>
                        <a:rPr lang="en-US" sz="1400" baseline="0" dirty="0">
                          <a:effectLst/>
                          <a:latin typeface="Arial" panose="020B0604020202020204" pitchFamily="34" charset="0"/>
                          <a:ea typeface="Times New Roman" panose="02020603050405020304" pitchFamily="18" charset="0"/>
                          <a:cs typeface="Arial" panose="020B0604020202020204" pitchFamily="34" charset="0"/>
                        </a:rPr>
                        <a:t> </a:t>
                      </a:r>
                      <a:r>
                        <a:rPr lang="en-US" sz="1400" baseline="0" dirty="0" err="1">
                          <a:effectLst/>
                          <a:latin typeface="Arial" panose="020B0604020202020204" pitchFamily="34" charset="0"/>
                          <a:ea typeface="Times New Roman" panose="02020603050405020304" pitchFamily="18" charset="0"/>
                          <a:cs typeface="Arial" panose="020B0604020202020204" pitchFamily="34" charset="0"/>
                        </a:rPr>
                        <a:t>Tukang</a:t>
                      </a:r>
                      <a:r>
                        <a:rPr lang="en-US" sz="1400" baseline="0" dirty="0">
                          <a:effectLst/>
                          <a:latin typeface="Arial" panose="020B0604020202020204" pitchFamily="34" charset="0"/>
                          <a:ea typeface="Times New Roman" panose="02020603050405020304" pitchFamily="18" charset="0"/>
                          <a:cs typeface="Arial" panose="020B0604020202020204" pitchFamily="34" charset="0"/>
                        </a:rPr>
                        <a:t> / </a:t>
                      </a:r>
                      <a:r>
                        <a:rPr lang="en-US" sz="1400" baseline="0" dirty="0" err="1">
                          <a:effectLst/>
                          <a:latin typeface="Arial" panose="020B0604020202020204" pitchFamily="34" charset="0"/>
                          <a:ea typeface="Times New Roman" panose="02020603050405020304" pitchFamily="18" charset="0"/>
                          <a:cs typeface="Arial" panose="020B0604020202020204" pitchFamily="34" charset="0"/>
                        </a:rPr>
                        <a:t>Sipil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id-ID" sz="1400" dirty="0">
                          <a:effectLst/>
                          <a:latin typeface="Arial" panose="020B0604020202020204" pitchFamily="34" charset="0"/>
                          <a:cs typeface="Arial" panose="020B0604020202020204" pitchFamily="34" charset="0"/>
                        </a:rPr>
                        <a:t>1</a:t>
                      </a:r>
                      <a:r>
                        <a:rPr lang="en-US" sz="1400" baseline="0" dirty="0">
                          <a:effectLst/>
                          <a:latin typeface="Arial" panose="020B0604020202020204" pitchFamily="34" charset="0"/>
                          <a:cs typeface="Arial" panose="020B0604020202020204" pitchFamily="34" charset="0"/>
                        </a:rPr>
                        <a:t> ls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2447104494"/>
                  </a:ext>
                </a:extLst>
              </a:tr>
              <a:tr h="284274">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6</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Kunci</a:t>
                      </a:r>
                      <a:r>
                        <a:rPr lang="en-US" sz="1400" baseline="0" dirty="0">
                          <a:effectLst/>
                          <a:latin typeface="Arial" panose="020B0604020202020204" pitchFamily="34" charset="0"/>
                          <a:ea typeface="Times New Roman" panose="02020603050405020304" pitchFamily="18" charset="0"/>
                          <a:cs typeface="Arial" panose="020B0604020202020204" pitchFamily="34" charset="0"/>
                        </a:rPr>
                        <a:t> Torque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Set</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1968798498"/>
                  </a:ext>
                </a:extLst>
              </a:tr>
              <a:tr h="274825">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7</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Scaffolding</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ls</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 / Sewa</a:t>
                      </a:r>
                    </a:p>
                  </a:txBody>
                  <a:tcPr marL="37465" marR="37465" marT="0" marB="0" anchor="ctr"/>
                </a:tc>
                <a:extLst>
                  <a:ext uri="{0D108BD9-81ED-4DB2-BD59-A6C34878D82A}">
                    <a16:rowId xmlns:a16="http://schemas.microsoft.com/office/drawing/2014/main" val="4201047148"/>
                  </a:ext>
                </a:extLst>
              </a:tr>
              <a:tr h="277453">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8</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Alat Cat</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Set</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760835654"/>
                  </a:ext>
                </a:extLst>
              </a:tr>
              <a:tr h="323618">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9</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Chain Block</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4 Set</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2920884938"/>
                  </a:ext>
                </a:extLst>
              </a:tr>
              <a:tr h="282746">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10</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Box Panel</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Unit </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3304924534"/>
                  </a:ext>
                </a:extLst>
              </a:tr>
              <a:tr h="237820">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11</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Kabel Power</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6 Set </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512495335"/>
                  </a:ext>
                </a:extLst>
              </a:tr>
              <a:tr h="295758">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2634767348"/>
                  </a:ext>
                </a:extLst>
              </a:tr>
              <a:tr h="242211">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461566181"/>
                  </a:ext>
                </a:extLst>
              </a:tr>
              <a:tr h="309394">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807002906"/>
                  </a:ext>
                </a:extLst>
              </a:tr>
              <a:tr h="309394">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478899520"/>
                  </a:ext>
                </a:extLst>
              </a:tr>
              <a:tr h="309394">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4026078429"/>
                  </a:ext>
                </a:extLst>
              </a:tr>
            </a:tbl>
          </a:graphicData>
        </a:graphic>
      </p:graphicFrame>
    </p:spTree>
    <p:extLst>
      <p:ext uri="{BB962C8B-B14F-4D97-AF65-F5344CB8AC3E}">
        <p14:creationId xmlns:p14="http://schemas.microsoft.com/office/powerpoint/2010/main" val="338028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1B378EC-A66F-47FC-1EE9-97257F0E95B4}"/>
              </a:ext>
            </a:extLst>
          </p:cNvPr>
          <p:cNvGrpSpPr/>
          <p:nvPr/>
        </p:nvGrpSpPr>
        <p:grpSpPr>
          <a:xfrm>
            <a:off x="367752" y="296503"/>
            <a:ext cx="5317043" cy="687155"/>
            <a:chOff x="596421" y="735245"/>
            <a:chExt cx="5317043" cy="687155"/>
          </a:xfrm>
        </p:grpSpPr>
        <p:sp>
          <p:nvSpPr>
            <p:cNvPr id="4" name="Rectangle: Rounded Corners 3">
              <a:extLst>
                <a:ext uri="{FF2B5EF4-FFF2-40B4-BE49-F238E27FC236}">
                  <a16:creationId xmlns:a16="http://schemas.microsoft.com/office/drawing/2014/main" id="{E969D897-3BF5-C41C-4BC6-931663D0BCDF}"/>
                </a:ext>
              </a:extLst>
            </p:cNvPr>
            <p:cNvSpPr/>
            <p:nvPr/>
          </p:nvSpPr>
          <p:spPr>
            <a:xfrm>
              <a:off x="596421" y="735245"/>
              <a:ext cx="4904016" cy="687155"/>
            </a:xfrm>
            <a:prstGeom prst="roundRect">
              <a:avLst/>
            </a:prstGeom>
            <a:solidFill>
              <a:srgbClr val="F6A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1EF8D165-12F8-07FA-CCDA-7FD29CD7C16C}"/>
                </a:ext>
              </a:extLst>
            </p:cNvPr>
            <p:cNvSpPr/>
            <p:nvPr/>
          </p:nvSpPr>
          <p:spPr>
            <a:xfrm>
              <a:off x="4999064" y="735245"/>
              <a:ext cx="914400" cy="6871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32544E4A-1375-D9FB-2DFB-340B5AF6A03D}"/>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259055D-9D6F-7A2D-AA7B-A3246F5AFF95}"/>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8404635-41DA-4ABD-8071-5BFE398D53F3}"/>
                </a:ext>
              </a:extLst>
            </p:cNvPr>
            <p:cNvSpPr txBox="1"/>
            <p:nvPr/>
          </p:nvSpPr>
          <p:spPr>
            <a:xfrm>
              <a:off x="615626" y="897152"/>
              <a:ext cx="2390801" cy="369332"/>
            </a:xfrm>
            <a:prstGeom prst="rect">
              <a:avLst/>
            </a:prstGeom>
            <a:noFill/>
          </p:spPr>
          <p:txBody>
            <a:bodyPr wrap="square" rtlCol="0">
              <a:spAutoFit/>
            </a:bodyPr>
            <a:lstStyle/>
            <a:p>
              <a:pPr algn="ctr"/>
              <a:r>
                <a:rPr lang="en-US" b="1" dirty="0">
                  <a:solidFill>
                    <a:schemeClr val="bg1"/>
                  </a:solidFill>
                </a:rPr>
                <a:t>SCOPE OF WORK</a:t>
              </a:r>
            </a:p>
          </p:txBody>
        </p:sp>
      </p:grpSp>
      <p:graphicFrame>
        <p:nvGraphicFramePr>
          <p:cNvPr id="13" name="Diagram 12">
            <a:extLst>
              <a:ext uri="{FF2B5EF4-FFF2-40B4-BE49-F238E27FC236}">
                <a16:creationId xmlns:a16="http://schemas.microsoft.com/office/drawing/2014/main" id="{84F63FA0-DB19-72BC-E529-507479FB208E}"/>
              </a:ext>
            </a:extLst>
          </p:cNvPr>
          <p:cNvGraphicFramePr/>
          <p:nvPr>
            <p:extLst>
              <p:ext uri="{D42A27DB-BD31-4B8C-83A1-F6EECF244321}">
                <p14:modId xmlns:p14="http://schemas.microsoft.com/office/powerpoint/2010/main" val="445163971"/>
              </p:ext>
            </p:extLst>
          </p:nvPr>
        </p:nvGraphicFramePr>
        <p:xfrm>
          <a:off x="0" y="2204720"/>
          <a:ext cx="5293360" cy="2448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9727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Right 2">
            <a:extLst>
              <a:ext uri="{FF2B5EF4-FFF2-40B4-BE49-F238E27FC236}">
                <a16:creationId xmlns:a16="http://schemas.microsoft.com/office/drawing/2014/main" id="{78584D0F-A246-3102-7FC1-6DFCF36F6D7A}"/>
              </a:ext>
            </a:extLst>
          </p:cNvPr>
          <p:cNvSpPr/>
          <p:nvPr/>
        </p:nvSpPr>
        <p:spPr>
          <a:xfrm>
            <a:off x="3183" y="3121520"/>
            <a:ext cx="10524362"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4" name="TextBox 3">
            <a:extLst>
              <a:ext uri="{FF2B5EF4-FFF2-40B4-BE49-F238E27FC236}">
                <a16:creationId xmlns:a16="http://schemas.microsoft.com/office/drawing/2014/main" id="{7AD62A41-134A-70A6-C2C4-210E763A36F9}"/>
              </a:ext>
            </a:extLst>
          </p:cNvPr>
          <p:cNvSpPr txBox="1"/>
          <p:nvPr/>
        </p:nvSpPr>
        <p:spPr>
          <a:xfrm>
            <a:off x="1742206" y="472091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up 9">
            <a:extLst>
              <a:ext uri="{FF2B5EF4-FFF2-40B4-BE49-F238E27FC236}">
                <a16:creationId xmlns:a16="http://schemas.microsoft.com/office/drawing/2014/main" id="{402A9AC4-FA15-061D-7AD3-DD8B0CC62D76}"/>
              </a:ext>
            </a:extLst>
          </p:cNvPr>
          <p:cNvGrpSpPr/>
          <p:nvPr/>
        </p:nvGrpSpPr>
        <p:grpSpPr>
          <a:xfrm>
            <a:off x="758182" y="2963278"/>
            <a:ext cx="1273259" cy="793507"/>
            <a:chOff x="2610557" y="2851518"/>
            <a:chExt cx="1273259" cy="793507"/>
          </a:xfrm>
        </p:grpSpPr>
        <p:sp>
          <p:nvSpPr>
            <p:cNvPr id="6" name="Rounded Rectangle 5">
              <a:extLst>
                <a:ext uri="{FF2B5EF4-FFF2-40B4-BE49-F238E27FC236}">
                  <a16:creationId xmlns:a16="http://schemas.microsoft.com/office/drawing/2014/main" id="{B14952CD-FEFA-446B-6FC8-843A4C35ECE7}"/>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7" name="TextBox 6">
              <a:extLst>
                <a:ext uri="{FF2B5EF4-FFF2-40B4-BE49-F238E27FC236}">
                  <a16:creationId xmlns:a16="http://schemas.microsoft.com/office/drawing/2014/main" id="{730804EF-A0FA-8B31-C2F9-E30A35195E47}"/>
                </a:ext>
              </a:extLst>
            </p:cNvPr>
            <p:cNvSpPr txBox="1"/>
            <p:nvPr/>
          </p:nvSpPr>
          <p:spPr>
            <a:xfrm>
              <a:off x="2667786" y="2996953"/>
              <a:ext cx="1123958"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Mobilisasi</a:t>
              </a:r>
              <a:r>
                <a:rPr lang="en-US" altLang="ko-KR" sz="1200" b="1" dirty="0">
                  <a:solidFill>
                    <a:srgbClr val="000000">
                      <a:lumMod val="75000"/>
                      <a:lumOff val="25000"/>
                    </a:srgbClr>
                  </a:solidFill>
                  <a:latin typeface="Arial"/>
                  <a:cs typeface="Arial" pitchFamily="34" charset="0"/>
                </a:rPr>
                <a:t> &amp; </a:t>
              </a:r>
              <a:r>
                <a:rPr lang="en-US" altLang="ko-KR" sz="1200" b="1" dirty="0" err="1">
                  <a:solidFill>
                    <a:srgbClr val="000000">
                      <a:lumMod val="75000"/>
                      <a:lumOff val="25000"/>
                    </a:srgbClr>
                  </a:solidFill>
                  <a:latin typeface="Arial"/>
                  <a:cs typeface="Arial" pitchFamily="34" charset="0"/>
                </a:rPr>
                <a:t>Demobilisasi</a:t>
              </a:r>
              <a:endParaRPr lang="ko-KR" altLang="en-US" sz="1200" b="1" dirty="0">
                <a:solidFill>
                  <a:srgbClr val="000000">
                    <a:lumMod val="75000"/>
                    <a:lumOff val="25000"/>
                  </a:srgbClr>
                </a:solidFill>
                <a:latin typeface="Arial"/>
                <a:cs typeface="Arial" pitchFamily="34" charset="0"/>
              </a:endParaRPr>
            </a:p>
          </p:txBody>
        </p:sp>
      </p:grpSp>
      <p:grpSp>
        <p:nvGrpSpPr>
          <p:cNvPr id="8" name="Grup 11">
            <a:extLst>
              <a:ext uri="{FF2B5EF4-FFF2-40B4-BE49-F238E27FC236}">
                <a16:creationId xmlns:a16="http://schemas.microsoft.com/office/drawing/2014/main" id="{221D3C83-AA47-C6FC-1CA8-77BA7303F83E}"/>
              </a:ext>
            </a:extLst>
          </p:cNvPr>
          <p:cNvGrpSpPr/>
          <p:nvPr/>
        </p:nvGrpSpPr>
        <p:grpSpPr>
          <a:xfrm>
            <a:off x="3278462" y="2963278"/>
            <a:ext cx="1273259" cy="793507"/>
            <a:chOff x="4153713" y="2851518"/>
            <a:chExt cx="1273259" cy="793507"/>
          </a:xfrm>
        </p:grpSpPr>
        <p:sp>
          <p:nvSpPr>
            <p:cNvPr id="9" name="Rounded Rectangle 2">
              <a:extLst>
                <a:ext uri="{FF2B5EF4-FFF2-40B4-BE49-F238E27FC236}">
                  <a16:creationId xmlns:a16="http://schemas.microsoft.com/office/drawing/2014/main" id="{EC53E9AE-1474-57C7-F797-2859E7DCA075}"/>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0" name="TextBox 9">
              <a:extLst>
                <a:ext uri="{FF2B5EF4-FFF2-40B4-BE49-F238E27FC236}">
                  <a16:creationId xmlns:a16="http://schemas.microsoft.com/office/drawing/2014/main" id="{A4B63280-93AE-8F93-21A0-AFFF00B899F5}"/>
                </a:ext>
              </a:extLst>
            </p:cNvPr>
            <p:cNvSpPr txBox="1"/>
            <p:nvPr/>
          </p:nvSpPr>
          <p:spPr>
            <a:xfrm>
              <a:off x="4295800" y="2996953"/>
              <a:ext cx="959880"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Direksi</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Keet</a:t>
              </a:r>
              <a:r>
                <a:rPr lang="en-US" altLang="ko-KR" sz="1200" b="1" dirty="0">
                  <a:solidFill>
                    <a:srgbClr val="000000">
                      <a:lumMod val="75000"/>
                      <a:lumOff val="25000"/>
                    </a:srgbClr>
                  </a:solidFill>
                  <a:latin typeface="Arial"/>
                  <a:cs typeface="Arial" pitchFamily="34" charset="0"/>
                </a:rPr>
                <a:t> </a:t>
              </a:r>
              <a:endParaRPr lang="ko-KR" altLang="en-US" sz="1200" b="1" dirty="0">
                <a:solidFill>
                  <a:srgbClr val="000000">
                    <a:lumMod val="75000"/>
                    <a:lumOff val="25000"/>
                  </a:srgbClr>
                </a:solidFill>
                <a:latin typeface="Arial"/>
                <a:cs typeface="Arial" pitchFamily="34" charset="0"/>
              </a:endParaRPr>
            </a:p>
          </p:txBody>
        </p:sp>
      </p:grpSp>
      <p:grpSp>
        <p:nvGrpSpPr>
          <p:cNvPr id="11" name="Grup 13">
            <a:extLst>
              <a:ext uri="{FF2B5EF4-FFF2-40B4-BE49-F238E27FC236}">
                <a16:creationId xmlns:a16="http://schemas.microsoft.com/office/drawing/2014/main" id="{41D16B91-F6F1-0002-9ACB-70DF271857AC}"/>
              </a:ext>
            </a:extLst>
          </p:cNvPr>
          <p:cNvGrpSpPr/>
          <p:nvPr/>
        </p:nvGrpSpPr>
        <p:grpSpPr>
          <a:xfrm>
            <a:off x="5870750" y="2963278"/>
            <a:ext cx="1273259" cy="793507"/>
            <a:chOff x="5696869" y="2851518"/>
            <a:chExt cx="1273259" cy="793507"/>
          </a:xfrm>
        </p:grpSpPr>
        <p:sp>
          <p:nvSpPr>
            <p:cNvPr id="12" name="Rounded Rectangle 3">
              <a:extLst>
                <a:ext uri="{FF2B5EF4-FFF2-40B4-BE49-F238E27FC236}">
                  <a16:creationId xmlns:a16="http://schemas.microsoft.com/office/drawing/2014/main" id="{8F45AABB-4B37-E2A6-547D-2FEAA1C3F7C0}"/>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3" name="TextBox 12">
              <a:extLst>
                <a:ext uri="{FF2B5EF4-FFF2-40B4-BE49-F238E27FC236}">
                  <a16:creationId xmlns:a16="http://schemas.microsoft.com/office/drawing/2014/main" id="{5FD68EE5-546A-5100-EBF0-22E9F4FCC8B5}"/>
                </a:ext>
              </a:extLst>
            </p:cNvPr>
            <p:cNvSpPr txBox="1"/>
            <p:nvPr/>
          </p:nvSpPr>
          <p:spPr>
            <a:xfrm>
              <a:off x="5735960" y="2924945"/>
              <a:ext cx="1186730" cy="646331"/>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Rambu</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Proyek</a:t>
              </a:r>
              <a:r>
                <a:rPr lang="en-US" altLang="ko-KR" sz="1200" b="1" dirty="0">
                  <a:solidFill>
                    <a:srgbClr val="000000">
                      <a:lumMod val="75000"/>
                      <a:lumOff val="25000"/>
                    </a:srgbClr>
                  </a:solidFill>
                  <a:latin typeface="Arial"/>
                  <a:cs typeface="Arial" pitchFamily="34" charset="0"/>
                </a:rPr>
                <a:t> dan HSE</a:t>
              </a:r>
              <a:endParaRPr lang="ko-KR" altLang="en-US" sz="1200" b="1" dirty="0">
                <a:solidFill>
                  <a:srgbClr val="000000">
                    <a:lumMod val="75000"/>
                    <a:lumOff val="25000"/>
                  </a:srgbClr>
                </a:solidFill>
                <a:latin typeface="Arial"/>
                <a:cs typeface="Arial" pitchFamily="34" charset="0"/>
              </a:endParaRPr>
            </a:p>
          </p:txBody>
        </p:sp>
      </p:grpSp>
      <p:grpSp>
        <p:nvGrpSpPr>
          <p:cNvPr id="14" name="Grup 15">
            <a:extLst>
              <a:ext uri="{FF2B5EF4-FFF2-40B4-BE49-F238E27FC236}">
                <a16:creationId xmlns:a16="http://schemas.microsoft.com/office/drawing/2014/main" id="{05A49088-70D1-370E-D081-6E6E8E186203}"/>
              </a:ext>
            </a:extLst>
          </p:cNvPr>
          <p:cNvGrpSpPr/>
          <p:nvPr/>
        </p:nvGrpSpPr>
        <p:grpSpPr>
          <a:xfrm>
            <a:off x="8247014" y="2963278"/>
            <a:ext cx="1273259" cy="793507"/>
            <a:chOff x="7240025" y="2851518"/>
            <a:chExt cx="1273259" cy="793507"/>
          </a:xfrm>
        </p:grpSpPr>
        <p:sp>
          <p:nvSpPr>
            <p:cNvPr id="15" name="Rounded Rectangle 4">
              <a:extLst>
                <a:ext uri="{FF2B5EF4-FFF2-40B4-BE49-F238E27FC236}">
                  <a16:creationId xmlns:a16="http://schemas.microsoft.com/office/drawing/2014/main" id="{5D4288BC-9CAA-EFCD-9B0E-A6D576B4AD73}"/>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6" name="TextBox 15">
              <a:extLst>
                <a:ext uri="{FF2B5EF4-FFF2-40B4-BE49-F238E27FC236}">
                  <a16:creationId xmlns:a16="http://schemas.microsoft.com/office/drawing/2014/main" id="{F97D906A-1ADA-B1F4-B467-0BF975493703}"/>
                </a:ext>
              </a:extLst>
            </p:cNvPr>
            <p:cNvSpPr txBox="1"/>
            <p:nvPr/>
          </p:nvSpPr>
          <p:spPr>
            <a:xfrm>
              <a:off x="7248129" y="3068960"/>
              <a:ext cx="1214647" cy="276999"/>
            </a:xfrm>
            <a:prstGeom prst="rect">
              <a:avLst/>
            </a:prstGeom>
            <a:noFill/>
          </p:spPr>
          <p:txBody>
            <a:bodyPr wrap="square" rtlCol="0">
              <a:spAutoFit/>
            </a:bodyPr>
            <a:lstStyle/>
            <a:p>
              <a:pPr algn="ctr" defTabSz="685800"/>
              <a:r>
                <a:rPr lang="id-ID" altLang="ko-KR" sz="1200" b="1" dirty="0">
                  <a:solidFill>
                    <a:srgbClr val="000000">
                      <a:lumMod val="75000"/>
                      <a:lumOff val="25000"/>
                    </a:srgbClr>
                  </a:solidFill>
                  <a:latin typeface="Arial"/>
                  <a:cs typeface="Arial" pitchFamily="34" charset="0"/>
                </a:rPr>
                <a:t>Engineering</a:t>
              </a:r>
              <a:endParaRPr lang="ko-KR" altLang="en-US" sz="1200" b="1" dirty="0">
                <a:solidFill>
                  <a:srgbClr val="000000">
                    <a:lumMod val="75000"/>
                    <a:lumOff val="25000"/>
                  </a:srgbClr>
                </a:solidFill>
                <a:latin typeface="Arial"/>
                <a:cs typeface="Arial" pitchFamily="34" charset="0"/>
              </a:endParaRPr>
            </a:p>
          </p:txBody>
        </p:sp>
      </p:grpSp>
      <p:grpSp>
        <p:nvGrpSpPr>
          <p:cNvPr id="17" name="Grup 10">
            <a:extLst>
              <a:ext uri="{FF2B5EF4-FFF2-40B4-BE49-F238E27FC236}">
                <a16:creationId xmlns:a16="http://schemas.microsoft.com/office/drawing/2014/main" id="{66ADF0BD-B523-8631-B6C0-26F8A5EBB113}"/>
              </a:ext>
            </a:extLst>
          </p:cNvPr>
          <p:cNvGrpSpPr/>
          <p:nvPr/>
        </p:nvGrpSpPr>
        <p:grpSpPr>
          <a:xfrm>
            <a:off x="978904" y="4014180"/>
            <a:ext cx="3716833" cy="1972387"/>
            <a:chOff x="2423593" y="3902420"/>
            <a:chExt cx="3716833" cy="1972387"/>
          </a:xfrm>
        </p:grpSpPr>
        <p:cxnSp>
          <p:nvCxnSpPr>
            <p:cNvPr id="18" name="Elbow Connector 14">
              <a:extLst>
                <a:ext uri="{FF2B5EF4-FFF2-40B4-BE49-F238E27FC236}">
                  <a16:creationId xmlns:a16="http://schemas.microsoft.com/office/drawing/2014/main" id="{59B3F86E-C53B-BD9E-C171-13FA4531721C}"/>
                </a:ext>
              </a:extLst>
            </p:cNvPr>
            <p:cNvCxnSpPr>
              <a:cxnSpLocks/>
            </p:cNvCxnSpPr>
            <p:nvPr/>
          </p:nvCxnSpPr>
          <p:spPr>
            <a:xfrm flipV="1">
              <a:off x="2423593" y="3902420"/>
              <a:ext cx="1146811" cy="390677"/>
            </a:xfrm>
            <a:prstGeom prst="bentConnector3">
              <a:avLst>
                <a:gd name="adj1" fmla="val -2101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576E0BE-05C8-F247-1057-F8B59FB01739}"/>
                </a:ext>
              </a:extLst>
            </p:cNvPr>
            <p:cNvSpPr txBox="1"/>
            <p:nvPr/>
          </p:nvSpPr>
          <p:spPr>
            <a:xfrm>
              <a:off x="2511237" y="4005064"/>
              <a:ext cx="3629189" cy="1869743"/>
            </a:xfrm>
            <a:prstGeom prst="rect">
              <a:avLst/>
            </a:prstGeom>
            <a:noFill/>
          </p:spPr>
          <p:txBody>
            <a:bodyPr wrap="square" rtlCol="0">
              <a:spAutoFit/>
            </a:bodyPr>
            <a:lstStyle/>
            <a:p>
              <a:pPr algn="just"/>
              <a:r>
                <a:rPr lang="id-ID" sz="1050" dirty="0">
                  <a:latin typeface="Tahoma" panose="020B0604030504040204" pitchFamily="34" charset="0"/>
                  <a:ea typeface="Tahoma" panose="020B0604030504040204" pitchFamily="34" charset="0"/>
                  <a:cs typeface="Tahoma" panose="020B0604030504040204" pitchFamily="34" charset="0"/>
                </a:rPr>
                <a:t>Kami akan mempersiapkan peralatan, tenaga kerja dan kelengkapan kerja di lapangan sesuai dengan kebutuhan dan petunjuk Pengawas. Waktu kedatangan maupun pengambilan kembali peralatan, tenaga kerja dan kelengkapan kerja tersebut harus mendapat ijin dan persetujuan Pengawas. Kami bertanggung jawab terhadap segala kerusakan yang terjadi, terjaganya kebersihan maupun hal-hal lain yang diakibatkan dalam pelaksanaan mobilisasi dan demobilisasi serta pelaksanaan pekerjaan secara keseluruhan.</a:t>
              </a:r>
              <a:endParaRPr lang="en-US" sz="1050" dirty="0">
                <a:latin typeface="Tahoma" panose="020B0604030504040204" pitchFamily="34" charset="0"/>
                <a:ea typeface="Tahoma" panose="020B0604030504040204" pitchFamily="34" charset="0"/>
                <a:cs typeface="Tahoma" panose="020B0604030504040204" pitchFamily="34" charset="0"/>
              </a:endParaRP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0" name="Grup 12">
            <a:extLst>
              <a:ext uri="{FF2B5EF4-FFF2-40B4-BE49-F238E27FC236}">
                <a16:creationId xmlns:a16="http://schemas.microsoft.com/office/drawing/2014/main" id="{15D5C17E-1B54-1C97-5680-9D441C2D38CB}"/>
              </a:ext>
            </a:extLst>
          </p:cNvPr>
          <p:cNvGrpSpPr/>
          <p:nvPr/>
        </p:nvGrpSpPr>
        <p:grpSpPr>
          <a:xfrm>
            <a:off x="2103449" y="1380521"/>
            <a:ext cx="3096344" cy="1296144"/>
            <a:chOff x="3387328" y="1268761"/>
            <a:chExt cx="3096344" cy="1296144"/>
          </a:xfrm>
        </p:grpSpPr>
        <p:cxnSp>
          <p:nvCxnSpPr>
            <p:cNvPr id="21" name="Elbow Connector 43">
              <a:extLst>
                <a:ext uri="{FF2B5EF4-FFF2-40B4-BE49-F238E27FC236}">
                  <a16:creationId xmlns:a16="http://schemas.microsoft.com/office/drawing/2014/main" id="{C3E378C5-BBBE-04CD-8EB5-FEED63943F04}"/>
                </a:ext>
              </a:extLst>
            </p:cNvPr>
            <p:cNvCxnSpPr/>
            <p:nvPr/>
          </p:nvCxnSpPr>
          <p:spPr>
            <a:xfrm>
              <a:off x="3387328" y="1924236"/>
              <a:ext cx="1906760" cy="640669"/>
            </a:xfrm>
            <a:prstGeom prst="bentConnector3">
              <a:avLst>
                <a:gd name="adj1" fmla="val -6919"/>
              </a:avLst>
            </a:prstGeom>
            <a:ln w="25400">
              <a:solidFill>
                <a:schemeClr val="accent2">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C7B352-2239-B978-AE5C-4FF885250E68}"/>
                </a:ext>
              </a:extLst>
            </p:cNvPr>
            <p:cNvSpPr txBox="1"/>
            <p:nvPr/>
          </p:nvSpPr>
          <p:spPr>
            <a:xfrm>
              <a:off x="3500588" y="1268761"/>
              <a:ext cx="2983084"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Direksi</a:t>
              </a:r>
              <a:r>
                <a:rPr lang="en-US" sz="1050" dirty="0">
                  <a:latin typeface="Tahoma" panose="020B0604030504040204" pitchFamily="34" charset="0"/>
                  <a:ea typeface="Tahoma" panose="020B0604030504040204" pitchFamily="34" charset="0"/>
                  <a:cs typeface="Tahoma" panose="020B0604030504040204" pitchFamily="34" charset="0"/>
                </a:rPr>
                <a:t> Kit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tempat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penyimpanan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alat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ataupun</a:t>
              </a:r>
              <a:r>
                <a:rPr lang="en-US" sz="1050" dirty="0">
                  <a:latin typeface="Tahoma" panose="020B0604030504040204" pitchFamily="34" charset="0"/>
                  <a:ea typeface="Tahoma" panose="020B0604030504040204" pitchFamily="34" charset="0"/>
                  <a:cs typeface="Tahoma" panose="020B0604030504040204" pitchFamily="34" charset="0"/>
                </a:rPr>
                <a:t> material yang sudah On site pada area pekerjaan, dan juga bisa </a:t>
              </a:r>
              <a:r>
                <a:rPr lang="en-US" sz="1050" dirty="0" err="1">
                  <a:latin typeface="Tahoma" panose="020B0604030504040204" pitchFamily="34" charset="0"/>
                  <a:ea typeface="Tahoma" panose="020B0604030504040204" pitchFamily="34" charset="0"/>
                  <a:cs typeface="Tahoma" panose="020B0604030504040204" pitchFamily="34" charset="0"/>
                </a:rPr>
                <a:t>digunakan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area </a:t>
              </a:r>
              <a:r>
                <a:rPr lang="en-US" sz="1050" dirty="0" err="1">
                  <a:latin typeface="Tahoma" panose="020B0604030504040204" pitchFamily="34" charset="0"/>
                  <a:ea typeface="Tahoma" panose="020B0604030504040204" pitchFamily="34" charset="0"/>
                  <a:cs typeface="Tahoma" panose="020B0604030504040204" pitchFamily="34" charset="0"/>
                </a:rPr>
                <a:t>perkantoran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sementara</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membahas</a:t>
              </a:r>
              <a:r>
                <a:rPr lang="en-US" sz="1050" dirty="0">
                  <a:latin typeface="Tahoma" panose="020B0604030504040204" pitchFamily="34" charset="0"/>
                  <a:ea typeface="Tahoma" panose="020B0604030504040204" pitchFamily="34" charset="0"/>
                  <a:cs typeface="Tahoma" panose="020B0604030504040204" pitchFamily="34" charset="0"/>
                </a:rPr>
                <a:t> progress dan </a:t>
              </a:r>
              <a:r>
                <a:rPr lang="en-US" sz="1050" dirty="0" err="1">
                  <a:latin typeface="Tahoma" panose="020B0604030504040204" pitchFamily="34" charset="0"/>
                  <a:ea typeface="Tahoma" panose="020B0604030504040204" pitchFamily="34" charset="0"/>
                  <a:cs typeface="Tahoma" panose="020B0604030504040204" pitchFamily="34" charset="0"/>
                </a:rPr>
                <a:t>scadule</a:t>
              </a:r>
              <a:r>
                <a:rPr lang="en-US" sz="1050" dirty="0">
                  <a:latin typeface="Tahoma" panose="020B0604030504040204" pitchFamily="34" charset="0"/>
                  <a:ea typeface="Tahoma" panose="020B0604030504040204" pitchFamily="34" charset="0"/>
                  <a:cs typeface="Tahoma" panose="020B0604030504040204" pitchFamily="34" charset="0"/>
                </a:rPr>
                <a:t> pekerjaan.</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3" name="Grup 17">
            <a:extLst>
              <a:ext uri="{FF2B5EF4-FFF2-40B4-BE49-F238E27FC236}">
                <a16:creationId xmlns:a16="http://schemas.microsoft.com/office/drawing/2014/main" id="{BFEC2156-5C6F-8C55-F174-28E9F4BF7F21}"/>
              </a:ext>
            </a:extLst>
          </p:cNvPr>
          <p:cNvGrpSpPr/>
          <p:nvPr/>
        </p:nvGrpSpPr>
        <p:grpSpPr>
          <a:xfrm>
            <a:off x="6437343" y="1524537"/>
            <a:ext cx="3803010" cy="1247649"/>
            <a:chOff x="5591945" y="1412777"/>
            <a:chExt cx="3803010" cy="1247649"/>
          </a:xfrm>
        </p:grpSpPr>
        <p:cxnSp>
          <p:nvCxnSpPr>
            <p:cNvPr id="24" name="Elbow Connector 55">
              <a:extLst>
                <a:ext uri="{FF2B5EF4-FFF2-40B4-BE49-F238E27FC236}">
                  <a16:creationId xmlns:a16="http://schemas.microsoft.com/office/drawing/2014/main" id="{B944E63B-E810-89BE-2D14-C4F3DE6C329B}"/>
                </a:ext>
              </a:extLst>
            </p:cNvPr>
            <p:cNvCxnSpPr/>
            <p:nvPr/>
          </p:nvCxnSpPr>
          <p:spPr>
            <a:xfrm flipV="1">
              <a:off x="7328147" y="1719802"/>
              <a:ext cx="2066808" cy="694676"/>
            </a:xfrm>
            <a:prstGeom prst="bentConnector3">
              <a:avLst>
                <a:gd name="adj1" fmla="val 117007"/>
              </a:avLst>
            </a:prstGeom>
            <a:ln w="25400">
              <a:solidFill>
                <a:schemeClr val="accent4">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9BD3A7-CEEA-79AE-99B4-B725245F0605}"/>
                </a:ext>
              </a:extLst>
            </p:cNvPr>
            <p:cNvSpPr txBox="1"/>
            <p:nvPr/>
          </p:nvSpPr>
          <p:spPr>
            <a:xfrm>
              <a:off x="5591945" y="1412777"/>
              <a:ext cx="3718175" cy="1247649"/>
            </a:xfrm>
            <a:prstGeom prst="rect">
              <a:avLst/>
            </a:prstGeom>
            <a:noFill/>
          </p:spPr>
          <p:txBody>
            <a:bodyPr wrap="square" rtlCol="0">
              <a:spAutoFit/>
            </a:bodyPr>
            <a:lstStyle/>
            <a:p>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Engginering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meliputi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Shop Drawing dan </a:t>
              </a:r>
              <a:r>
                <a:rPr lang="en-US" sz="1050" dirty="0" err="1">
                  <a:latin typeface="Tahoma" panose="020B0604030504040204" pitchFamily="34" charset="0"/>
                  <a:ea typeface="Tahoma" panose="020B0604030504040204" pitchFamily="34" charset="0"/>
                  <a:cs typeface="Tahoma" panose="020B0604030504040204" pitchFamily="34" charset="0"/>
                </a:rPr>
                <a:t>Prosedur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Kerja</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dikerjakan</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ini</a:t>
              </a:r>
              <a:r>
                <a:rPr lang="en-US" sz="1050" dirty="0">
                  <a:latin typeface="Tahoma" panose="020B0604030504040204" pitchFamily="34" charset="0"/>
                  <a:ea typeface="Tahoma" panose="020B0604030504040204" pitchFamily="34" charset="0"/>
                  <a:cs typeface="Tahoma" panose="020B0604030504040204" pitchFamily="34" charset="0"/>
                </a:rPr>
                <a:t>, Engineering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kontraktor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menyerahkan</a:t>
              </a:r>
              <a:r>
                <a:rPr lang="en-US" sz="1050" dirty="0">
                  <a:latin typeface="Tahoma" panose="020B0604030504040204" pitchFamily="34" charset="0"/>
                  <a:ea typeface="Tahoma" panose="020B0604030504040204" pitchFamily="34" charset="0"/>
                  <a:cs typeface="Tahoma" panose="020B0604030504040204" pitchFamily="34" charset="0"/>
                </a:rPr>
                <a:t> Shop Drawing </a:t>
              </a:r>
              <a:r>
                <a:rPr lang="en-US" sz="1050" dirty="0" err="1">
                  <a:latin typeface="Tahoma" panose="020B0604030504040204" pitchFamily="34" charset="0"/>
                  <a:ea typeface="Tahoma" panose="020B0604030504040204" pitchFamily="34" charset="0"/>
                  <a:cs typeface="Tahoma" panose="020B0604030504040204" pitchFamily="34" charset="0"/>
                </a:rPr>
                <a:t>terlebih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dahulu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harus</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pengecekan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pengukuran</a:t>
              </a:r>
              <a:r>
                <a:rPr lang="en-US" sz="1050" dirty="0">
                  <a:latin typeface="Tahoma" panose="020B0604030504040204" pitchFamily="34" charset="0"/>
                  <a:ea typeface="Tahoma" panose="020B0604030504040204" pitchFamily="34" charset="0"/>
                  <a:cs typeface="Tahoma" panose="020B0604030504040204" pitchFamily="34" charset="0"/>
                </a:rPr>
                <a:t> di </a:t>
              </a:r>
              <a:r>
                <a:rPr lang="en-US" sz="1050" dirty="0" err="1">
                  <a:latin typeface="Tahoma" panose="020B0604030504040204" pitchFamily="34" charset="0"/>
                  <a:ea typeface="Tahoma" panose="020B0604030504040204" pitchFamily="34" charset="0"/>
                  <a:cs typeface="Tahoma" panose="020B0604030504040204" pitchFamily="34" charset="0"/>
                </a:rPr>
                <a:t>lapangan</a:t>
              </a:r>
              <a:r>
                <a:rPr lang="en-US" sz="1050" dirty="0">
                  <a:latin typeface="Tahoma" panose="020B0604030504040204" pitchFamily="34" charset="0"/>
                  <a:ea typeface="Tahoma" panose="020B0604030504040204" pitchFamily="34" charset="0"/>
                  <a:cs typeface="Tahoma" panose="020B0604030504040204" pitchFamily="34" charset="0"/>
                </a:rPr>
                <a:t>.</a:t>
              </a:r>
            </a:p>
            <a:p>
              <a:pPr marL="914400" algn="r">
                <a:lnSpc>
                  <a:spcPct val="115000"/>
                </a:lnSpc>
              </a:pPr>
              <a:r>
                <a:rPr lang="en-US" sz="1050" dirty="0">
                  <a:latin typeface="Tahoma" panose="020B0604030504040204" pitchFamily="34" charset="0"/>
                  <a:ea typeface="Tahoma" panose="020B0604030504040204" pitchFamily="34" charset="0"/>
                  <a:cs typeface="Tahoma" panose="020B0604030504040204" pitchFamily="34" charset="0"/>
                </a:rPr>
                <a:t> </a:t>
              </a:r>
            </a:p>
            <a:p>
              <a:pPr algn="r"/>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6" name="Grup 18">
            <a:extLst>
              <a:ext uri="{FF2B5EF4-FFF2-40B4-BE49-F238E27FC236}">
                <a16:creationId xmlns:a16="http://schemas.microsoft.com/office/drawing/2014/main" id="{EDCAF5F0-4126-E76A-A91A-B0B59DA69586}"/>
              </a:ext>
            </a:extLst>
          </p:cNvPr>
          <p:cNvGrpSpPr/>
          <p:nvPr/>
        </p:nvGrpSpPr>
        <p:grpSpPr>
          <a:xfrm>
            <a:off x="5631841" y="4044817"/>
            <a:ext cx="3168352" cy="1295420"/>
            <a:chOff x="5187529" y="3933057"/>
            <a:chExt cx="3168352" cy="1295420"/>
          </a:xfrm>
        </p:grpSpPr>
        <p:cxnSp>
          <p:nvCxnSpPr>
            <p:cNvPr id="27" name="Elbow Connector 30">
              <a:extLst>
                <a:ext uri="{FF2B5EF4-FFF2-40B4-BE49-F238E27FC236}">
                  <a16:creationId xmlns:a16="http://schemas.microsoft.com/office/drawing/2014/main" id="{389CAAA0-840F-1434-2628-BD6E9B72303B}"/>
                </a:ext>
              </a:extLst>
            </p:cNvPr>
            <p:cNvCxnSpPr>
              <a:cxnSpLocks/>
            </p:cNvCxnSpPr>
            <p:nvPr/>
          </p:nvCxnSpPr>
          <p:spPr>
            <a:xfrm flipV="1">
              <a:off x="5187529" y="3933057"/>
              <a:ext cx="1073447" cy="418835"/>
            </a:xfrm>
            <a:prstGeom prst="bentConnector3">
              <a:avLst>
                <a:gd name="adj1" fmla="val -15731"/>
              </a:avLst>
            </a:prstGeom>
            <a:ln w="25400">
              <a:solidFill>
                <a:schemeClr val="accent3">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6C0D68A-8246-3E33-102B-D60600605856}"/>
                </a:ext>
              </a:extLst>
            </p:cNvPr>
            <p:cNvSpPr txBox="1"/>
            <p:nvPr/>
          </p:nvSpPr>
          <p:spPr>
            <a:xfrm>
              <a:off x="5330341" y="4005065"/>
              <a:ext cx="3025540"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pemasangan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suatu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proyek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memberitahukan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bahwa</a:t>
              </a:r>
              <a:r>
                <a:rPr lang="en-US" sz="1050" dirty="0">
                  <a:latin typeface="Tahoma" panose="020B0604030504040204" pitchFamily="34" charset="0"/>
                  <a:ea typeface="Tahoma" panose="020B0604030504040204" pitchFamily="34" charset="0"/>
                  <a:cs typeface="Tahoma" panose="020B0604030504040204" pitchFamily="34" charset="0"/>
                </a:rPr>
                <a:t> di area </a:t>
              </a:r>
              <a:r>
                <a:rPr lang="en-US" sz="1050" dirty="0" err="1">
                  <a:latin typeface="Tahoma" panose="020B0604030504040204" pitchFamily="34" charset="0"/>
                  <a:ea typeface="Tahoma" panose="020B0604030504040204" pitchFamily="34" charset="0"/>
                  <a:cs typeface="Tahoma" panose="020B0604030504040204" pitchFamily="34" charset="0"/>
                </a:rPr>
                <a:t>tersebut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sedang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HSE untuk </a:t>
              </a:r>
              <a:r>
                <a:rPr lang="en-US" sz="1050" dirty="0" err="1">
                  <a:latin typeface="Tahoma" panose="020B0604030504040204" pitchFamily="34" charset="0"/>
                  <a:ea typeface="Tahoma" panose="020B0604030504040204" pitchFamily="34" charset="0"/>
                  <a:cs typeface="Tahoma" panose="020B0604030504040204" pitchFamily="34" charset="0"/>
                </a:rPr>
                <a:t>memberitahu</a:t>
              </a:r>
              <a:r>
                <a:rPr lang="en-US" sz="1050" dirty="0">
                  <a:latin typeface="Tahoma" panose="020B0604030504040204" pitchFamily="34" charset="0"/>
                  <a:ea typeface="Tahoma" panose="020B0604030504040204" pitchFamily="34" charset="0"/>
                  <a:cs typeface="Tahoma" panose="020B0604030504040204" pitchFamily="34" charset="0"/>
                </a:rPr>
                <a:t> para pekerja agar pada </a:t>
              </a:r>
              <a:r>
                <a:rPr lang="en-US" sz="1050" dirty="0" err="1">
                  <a:latin typeface="Tahoma" panose="020B0604030504040204" pitchFamily="34" charset="0"/>
                  <a:ea typeface="Tahoma" panose="020B0604030504040204" pitchFamily="34" charset="0"/>
                  <a:cs typeface="Tahoma" panose="020B0604030504040204" pitchFamily="34" charset="0"/>
                </a:rPr>
                <a:t>saat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dapat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mengenali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situasi</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terjadi</a:t>
              </a:r>
              <a:r>
                <a:rPr lang="en-US" sz="1050" dirty="0">
                  <a:latin typeface="Tahoma" panose="020B0604030504040204" pitchFamily="34" charset="0"/>
                  <a:ea typeface="Tahoma" panose="020B0604030504040204" pitchFamily="34" charset="0"/>
                  <a:cs typeface="Tahoma" panose="020B0604030504040204" pitchFamily="34" charset="0"/>
                </a:rPr>
                <a:t> di area.</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9" name="Group 28">
            <a:extLst>
              <a:ext uri="{FF2B5EF4-FFF2-40B4-BE49-F238E27FC236}">
                <a16:creationId xmlns:a16="http://schemas.microsoft.com/office/drawing/2014/main" id="{BA1C47A2-0170-9526-0641-AF6919AF6B3B}"/>
              </a:ext>
            </a:extLst>
          </p:cNvPr>
          <p:cNvGrpSpPr/>
          <p:nvPr/>
        </p:nvGrpSpPr>
        <p:grpSpPr>
          <a:xfrm>
            <a:off x="3183" y="2172609"/>
            <a:ext cx="444082" cy="2355167"/>
            <a:chOff x="360234" y="-1"/>
            <a:chExt cx="875221" cy="4606429"/>
          </a:xfrm>
          <a:solidFill>
            <a:srgbClr val="0070C0"/>
          </a:solidFill>
        </p:grpSpPr>
        <p:sp>
          <p:nvSpPr>
            <p:cNvPr id="30" name="Rectangle 29">
              <a:extLst>
                <a:ext uri="{FF2B5EF4-FFF2-40B4-BE49-F238E27FC236}">
                  <a16:creationId xmlns:a16="http://schemas.microsoft.com/office/drawing/2014/main" id="{2B0DDEA0-2FB2-B329-3222-EEB76A53CC0B}"/>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1" name="TextBox 30">
              <a:extLst>
                <a:ext uri="{FF2B5EF4-FFF2-40B4-BE49-F238E27FC236}">
                  <a16:creationId xmlns:a16="http://schemas.microsoft.com/office/drawing/2014/main" id="{77F37FDA-663E-E04C-F2A2-11C04E27E0C2}"/>
                </a:ext>
              </a:extLst>
            </p:cNvPr>
            <p:cNvSpPr txBox="1"/>
            <p:nvPr/>
          </p:nvSpPr>
          <p:spPr>
            <a:xfrm rot="16200000">
              <a:off x="-1505370" y="1865603"/>
              <a:ext cx="4606429" cy="87522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a:solidFill>
                    <a:srgbClr val="F5F7F6"/>
                  </a:solidFill>
                </a:rPr>
                <a:t>Pekerjaan </a:t>
              </a:r>
              <a:r>
                <a:rPr lang="en-US" sz="2000" b="1" dirty="0" err="1">
                  <a:solidFill>
                    <a:srgbClr val="F5F7F6"/>
                  </a:solidFill>
                </a:rPr>
                <a:t>Persiapan</a:t>
              </a:r>
              <a:endParaRPr lang="en-US" sz="2000" b="1" dirty="0">
                <a:solidFill>
                  <a:srgbClr val="F5F7F6"/>
                </a:solidFill>
              </a:endParaRPr>
            </a:p>
          </p:txBody>
        </p:sp>
      </p:grpSp>
      <p:grpSp>
        <p:nvGrpSpPr>
          <p:cNvPr id="32" name="Group 31">
            <a:extLst>
              <a:ext uri="{FF2B5EF4-FFF2-40B4-BE49-F238E27FC236}">
                <a16:creationId xmlns:a16="http://schemas.microsoft.com/office/drawing/2014/main" id="{F07D0E4A-CDF3-B5F2-6DF7-45AD91A897A5}"/>
              </a:ext>
            </a:extLst>
          </p:cNvPr>
          <p:cNvGrpSpPr/>
          <p:nvPr/>
        </p:nvGrpSpPr>
        <p:grpSpPr>
          <a:xfrm>
            <a:off x="438122" y="221567"/>
            <a:ext cx="5297838" cy="687155"/>
            <a:chOff x="1544574" y="576718"/>
            <a:chExt cx="5297838" cy="687155"/>
          </a:xfrm>
        </p:grpSpPr>
        <p:sp>
          <p:nvSpPr>
            <p:cNvPr id="33" name="Rectangle: Rounded Corners 32">
              <a:extLst>
                <a:ext uri="{FF2B5EF4-FFF2-40B4-BE49-F238E27FC236}">
                  <a16:creationId xmlns:a16="http://schemas.microsoft.com/office/drawing/2014/main" id="{2BB2694F-7A05-FB8A-D812-F485211AC078}"/>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92AD300-61D8-0BA8-18B7-6A8F562CD1E9}"/>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CB82E6A4-EB5C-C545-DF0F-E8D3355865D1}"/>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B3F62D39-99EA-79BE-B4FC-8F6F80D782CD}"/>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B68059E-43C2-9787-2E2F-A743A7178B21}"/>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8" name="TextBox 37">
              <a:extLst>
                <a:ext uri="{FF2B5EF4-FFF2-40B4-BE49-F238E27FC236}">
                  <a16:creationId xmlns:a16="http://schemas.microsoft.com/office/drawing/2014/main" id="{6DF626F4-D04E-A8F7-3173-C3C49808D51C}"/>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a:t>
              </a:r>
              <a:r>
                <a:rPr lang="id-ID" sz="3200" dirty="0">
                  <a:solidFill>
                    <a:schemeClr val="accent2">
                      <a:lumMod val="50000"/>
                    </a:schemeClr>
                  </a:solidFill>
                </a:rPr>
                <a:t>1</a:t>
              </a:r>
              <a:endParaRPr lang="en-US" sz="3200" dirty="0">
                <a:solidFill>
                  <a:schemeClr val="accent2">
                    <a:lumMod val="50000"/>
                  </a:schemeClr>
                </a:solidFill>
              </a:endParaRPr>
            </a:p>
          </p:txBody>
        </p:sp>
      </p:grpSp>
    </p:spTree>
    <p:extLst>
      <p:ext uri="{BB962C8B-B14F-4D97-AF65-F5344CB8AC3E}">
        <p14:creationId xmlns:p14="http://schemas.microsoft.com/office/powerpoint/2010/main" val="3249388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6A160-55DC-0328-7F21-89A3026C1E02}"/>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7C8AB66B-CBD8-B7E2-8845-C1C199A99D43}"/>
              </a:ext>
            </a:extLst>
          </p:cNvPr>
          <p:cNvGrpSpPr/>
          <p:nvPr/>
        </p:nvGrpSpPr>
        <p:grpSpPr>
          <a:xfrm>
            <a:off x="438122" y="221567"/>
            <a:ext cx="5297838" cy="687155"/>
            <a:chOff x="1544574" y="576718"/>
            <a:chExt cx="5297838" cy="687155"/>
          </a:xfrm>
        </p:grpSpPr>
        <p:sp>
          <p:nvSpPr>
            <p:cNvPr id="33" name="Rectangle: Rounded Corners 32">
              <a:extLst>
                <a:ext uri="{FF2B5EF4-FFF2-40B4-BE49-F238E27FC236}">
                  <a16:creationId xmlns:a16="http://schemas.microsoft.com/office/drawing/2014/main" id="{D9DCD4E2-FE9E-D550-1247-A55E84771A0C}"/>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8E77C0E3-C260-AD4F-099E-D930081492C2}"/>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63CAE46A-A292-C82F-F492-FEB3C1E9FA8A}"/>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4354C97-1591-79AB-28CC-0F4FAB26CE30}"/>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8E7E91A6-C0C1-477D-B3A0-D50A94491857}"/>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8" name="TextBox 37">
              <a:extLst>
                <a:ext uri="{FF2B5EF4-FFF2-40B4-BE49-F238E27FC236}">
                  <a16:creationId xmlns:a16="http://schemas.microsoft.com/office/drawing/2014/main" id="{6C7AB8CE-EA23-5AA8-B5DD-CE77161B5B76}"/>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02</a:t>
              </a:r>
            </a:p>
          </p:txBody>
        </p:sp>
      </p:grpSp>
      <p:sp>
        <p:nvSpPr>
          <p:cNvPr id="2" name="Arrow: Right 1">
            <a:extLst>
              <a:ext uri="{FF2B5EF4-FFF2-40B4-BE49-F238E27FC236}">
                <a16:creationId xmlns:a16="http://schemas.microsoft.com/office/drawing/2014/main" id="{1987E7F4-DD25-9511-BDE4-14A3AE0E0567}"/>
              </a:ext>
            </a:extLst>
          </p:cNvPr>
          <p:cNvSpPr/>
          <p:nvPr/>
        </p:nvSpPr>
        <p:spPr>
          <a:xfrm>
            <a:off x="3182" y="3121520"/>
            <a:ext cx="13631538"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39" name="TextBox 38">
            <a:extLst>
              <a:ext uri="{FF2B5EF4-FFF2-40B4-BE49-F238E27FC236}">
                <a16:creationId xmlns:a16="http://schemas.microsoft.com/office/drawing/2014/main" id="{A313E6D1-D55E-0218-DC02-0F3E9479174A}"/>
              </a:ext>
            </a:extLst>
          </p:cNvPr>
          <p:cNvSpPr txBox="1"/>
          <p:nvPr/>
        </p:nvSpPr>
        <p:spPr>
          <a:xfrm>
            <a:off x="1742206" y="472091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0" name="Grup 9">
            <a:extLst>
              <a:ext uri="{FF2B5EF4-FFF2-40B4-BE49-F238E27FC236}">
                <a16:creationId xmlns:a16="http://schemas.microsoft.com/office/drawing/2014/main" id="{9CAB6C98-C337-0BBF-F866-CD6B2DF70302}"/>
              </a:ext>
            </a:extLst>
          </p:cNvPr>
          <p:cNvGrpSpPr/>
          <p:nvPr/>
        </p:nvGrpSpPr>
        <p:grpSpPr>
          <a:xfrm>
            <a:off x="822356" y="2953438"/>
            <a:ext cx="1273259" cy="793507"/>
            <a:chOff x="2674731" y="2841678"/>
            <a:chExt cx="1273259" cy="793507"/>
          </a:xfrm>
        </p:grpSpPr>
        <p:sp>
          <p:nvSpPr>
            <p:cNvPr id="41" name="Rounded Rectangle 5">
              <a:extLst>
                <a:ext uri="{FF2B5EF4-FFF2-40B4-BE49-F238E27FC236}">
                  <a16:creationId xmlns:a16="http://schemas.microsoft.com/office/drawing/2014/main" id="{21BAB3EA-7C09-8579-4A44-E716766634C7}"/>
                </a:ext>
              </a:extLst>
            </p:cNvPr>
            <p:cNvSpPr/>
            <p:nvPr/>
          </p:nvSpPr>
          <p:spPr>
            <a:xfrm>
              <a:off x="2674731" y="284167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2" name="TextBox 41">
              <a:extLst>
                <a:ext uri="{FF2B5EF4-FFF2-40B4-BE49-F238E27FC236}">
                  <a16:creationId xmlns:a16="http://schemas.microsoft.com/office/drawing/2014/main" id="{D4E3AEA2-5470-9E39-A78A-8350DFC94AF0}"/>
                </a:ext>
              </a:extLst>
            </p:cNvPr>
            <p:cNvSpPr txBox="1"/>
            <p:nvPr/>
          </p:nvSpPr>
          <p:spPr>
            <a:xfrm>
              <a:off x="2749382" y="3065277"/>
              <a:ext cx="1123958" cy="307777"/>
            </a:xfrm>
            <a:prstGeom prst="rect">
              <a:avLst/>
            </a:prstGeom>
            <a:noFill/>
          </p:spPr>
          <p:txBody>
            <a:bodyPr wrap="square" rtlCol="0">
              <a:spAutoFit/>
            </a:bodyPr>
            <a:lstStyle/>
            <a:p>
              <a:pPr algn="ctr" defTabSz="685800"/>
              <a:r>
                <a:rPr lang="en-US" sz="1400" b="1" dirty="0"/>
                <a:t>SEGMENT 1</a:t>
              </a:r>
              <a:endParaRPr lang="ko-KR" altLang="en-US" sz="2400" b="1" dirty="0">
                <a:solidFill>
                  <a:srgbClr val="000000">
                    <a:lumMod val="75000"/>
                    <a:lumOff val="25000"/>
                  </a:srgbClr>
                </a:solidFill>
                <a:latin typeface="Arial"/>
                <a:cs typeface="Arial" pitchFamily="34" charset="0"/>
              </a:endParaRPr>
            </a:p>
          </p:txBody>
        </p:sp>
      </p:grpSp>
      <p:sp>
        <p:nvSpPr>
          <p:cNvPr id="44" name="Rounded Rectangle 2">
            <a:extLst>
              <a:ext uri="{FF2B5EF4-FFF2-40B4-BE49-F238E27FC236}">
                <a16:creationId xmlns:a16="http://schemas.microsoft.com/office/drawing/2014/main" id="{56887BA6-99E3-2D05-FD13-FFD4F9650304}"/>
              </a:ext>
            </a:extLst>
          </p:cNvPr>
          <p:cNvSpPr/>
          <p:nvPr/>
        </p:nvSpPr>
        <p:spPr>
          <a:xfrm>
            <a:off x="3278462" y="296327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grpSp>
        <p:nvGrpSpPr>
          <p:cNvPr id="46" name="Grup 13">
            <a:extLst>
              <a:ext uri="{FF2B5EF4-FFF2-40B4-BE49-F238E27FC236}">
                <a16:creationId xmlns:a16="http://schemas.microsoft.com/office/drawing/2014/main" id="{3FF2365B-A8FF-D290-8AC3-8A00066D5BF7}"/>
              </a:ext>
            </a:extLst>
          </p:cNvPr>
          <p:cNvGrpSpPr/>
          <p:nvPr/>
        </p:nvGrpSpPr>
        <p:grpSpPr>
          <a:xfrm>
            <a:off x="5870750" y="2963278"/>
            <a:ext cx="1273259" cy="793507"/>
            <a:chOff x="5696869" y="2851518"/>
            <a:chExt cx="1273259" cy="793507"/>
          </a:xfrm>
        </p:grpSpPr>
        <p:sp>
          <p:nvSpPr>
            <p:cNvPr id="47" name="Rounded Rectangle 3">
              <a:extLst>
                <a:ext uri="{FF2B5EF4-FFF2-40B4-BE49-F238E27FC236}">
                  <a16:creationId xmlns:a16="http://schemas.microsoft.com/office/drawing/2014/main" id="{99791285-339C-9F2C-C528-F3B3B074A987}"/>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8" name="TextBox 47">
              <a:extLst>
                <a:ext uri="{FF2B5EF4-FFF2-40B4-BE49-F238E27FC236}">
                  <a16:creationId xmlns:a16="http://schemas.microsoft.com/office/drawing/2014/main" id="{7590AC5A-6D04-D30A-8A7B-CE0C9F1E9602}"/>
                </a:ext>
              </a:extLst>
            </p:cNvPr>
            <p:cNvSpPr txBox="1"/>
            <p:nvPr/>
          </p:nvSpPr>
          <p:spPr>
            <a:xfrm>
              <a:off x="5738631" y="3065275"/>
              <a:ext cx="1186730" cy="307777"/>
            </a:xfrm>
            <a:prstGeom prst="rect">
              <a:avLst/>
            </a:prstGeom>
            <a:noFill/>
          </p:spPr>
          <p:txBody>
            <a:bodyPr wrap="square" rtlCol="0">
              <a:spAutoFit/>
            </a:bodyPr>
            <a:lstStyle/>
            <a:p>
              <a:pPr algn="ctr" defTabSz="685800"/>
              <a:r>
                <a:rPr lang="en-US" sz="1400" b="1" dirty="0"/>
                <a:t>SEGMENT</a:t>
              </a:r>
              <a:r>
                <a:rPr lang="en-US" sz="1050" b="1" dirty="0"/>
                <a:t> 3</a:t>
              </a:r>
              <a:endParaRPr lang="ko-KR" altLang="en-US" sz="800" b="1" dirty="0">
                <a:solidFill>
                  <a:srgbClr val="000000">
                    <a:lumMod val="75000"/>
                    <a:lumOff val="25000"/>
                  </a:srgbClr>
                </a:solidFill>
                <a:latin typeface="Arial"/>
                <a:cs typeface="Arial" pitchFamily="34" charset="0"/>
              </a:endParaRPr>
            </a:p>
          </p:txBody>
        </p:sp>
      </p:grpSp>
      <p:grpSp>
        <p:nvGrpSpPr>
          <p:cNvPr id="49" name="Grup 15">
            <a:extLst>
              <a:ext uri="{FF2B5EF4-FFF2-40B4-BE49-F238E27FC236}">
                <a16:creationId xmlns:a16="http://schemas.microsoft.com/office/drawing/2014/main" id="{866F8B58-2CB3-2851-F16E-E4E054355CDF}"/>
              </a:ext>
            </a:extLst>
          </p:cNvPr>
          <p:cNvGrpSpPr/>
          <p:nvPr/>
        </p:nvGrpSpPr>
        <p:grpSpPr>
          <a:xfrm>
            <a:off x="8247014" y="2963278"/>
            <a:ext cx="1273259" cy="793507"/>
            <a:chOff x="7240025" y="2851518"/>
            <a:chExt cx="1273259" cy="793507"/>
          </a:xfrm>
        </p:grpSpPr>
        <p:sp>
          <p:nvSpPr>
            <p:cNvPr id="50" name="Rounded Rectangle 4">
              <a:extLst>
                <a:ext uri="{FF2B5EF4-FFF2-40B4-BE49-F238E27FC236}">
                  <a16:creationId xmlns:a16="http://schemas.microsoft.com/office/drawing/2014/main" id="{0828B5EA-72DC-A62D-4BD6-376B57D68994}"/>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51" name="TextBox 50">
              <a:extLst>
                <a:ext uri="{FF2B5EF4-FFF2-40B4-BE49-F238E27FC236}">
                  <a16:creationId xmlns:a16="http://schemas.microsoft.com/office/drawing/2014/main" id="{E7D160E8-D244-06DB-30B0-247330BCE501}"/>
                </a:ext>
              </a:extLst>
            </p:cNvPr>
            <p:cNvSpPr txBox="1"/>
            <p:nvPr/>
          </p:nvSpPr>
          <p:spPr>
            <a:xfrm>
              <a:off x="7269330" y="3065274"/>
              <a:ext cx="1214647" cy="307777"/>
            </a:xfrm>
            <a:prstGeom prst="rect">
              <a:avLst/>
            </a:prstGeom>
            <a:noFill/>
          </p:spPr>
          <p:txBody>
            <a:bodyPr wrap="square" rtlCol="0">
              <a:spAutoFit/>
            </a:bodyPr>
            <a:lstStyle/>
            <a:p>
              <a:pPr algn="ctr" defTabSz="685800"/>
              <a:r>
                <a:rPr lang="en-US" sz="1400" b="1" dirty="0"/>
                <a:t>SEGMENT 4</a:t>
              </a:r>
              <a:endParaRPr lang="ko-KR" altLang="en-US" sz="1050" b="1" dirty="0">
                <a:solidFill>
                  <a:srgbClr val="000000">
                    <a:lumMod val="75000"/>
                    <a:lumOff val="25000"/>
                  </a:srgbClr>
                </a:solidFill>
                <a:latin typeface="Arial"/>
                <a:cs typeface="Arial" pitchFamily="34" charset="0"/>
              </a:endParaRPr>
            </a:p>
          </p:txBody>
        </p:sp>
      </p:grpSp>
      <p:grpSp>
        <p:nvGrpSpPr>
          <p:cNvPr id="64" name="Group 63">
            <a:extLst>
              <a:ext uri="{FF2B5EF4-FFF2-40B4-BE49-F238E27FC236}">
                <a16:creationId xmlns:a16="http://schemas.microsoft.com/office/drawing/2014/main" id="{7789EC03-261A-7C1B-3879-2505040D8F27}"/>
              </a:ext>
            </a:extLst>
          </p:cNvPr>
          <p:cNvGrpSpPr/>
          <p:nvPr/>
        </p:nvGrpSpPr>
        <p:grpSpPr>
          <a:xfrm>
            <a:off x="3183" y="2172609"/>
            <a:ext cx="444083" cy="2355167"/>
            <a:chOff x="360233" y="-1"/>
            <a:chExt cx="875222" cy="4606430"/>
          </a:xfrm>
          <a:solidFill>
            <a:srgbClr val="0070C0"/>
          </a:solidFill>
        </p:grpSpPr>
        <p:sp>
          <p:nvSpPr>
            <p:cNvPr id="65" name="Rectangle 64">
              <a:extLst>
                <a:ext uri="{FF2B5EF4-FFF2-40B4-BE49-F238E27FC236}">
                  <a16:creationId xmlns:a16="http://schemas.microsoft.com/office/drawing/2014/main" id="{F396C000-5AFF-9D88-8CC8-51611DFF7680}"/>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6" name="TextBox 65">
              <a:extLst>
                <a:ext uri="{FF2B5EF4-FFF2-40B4-BE49-F238E27FC236}">
                  <a16:creationId xmlns:a16="http://schemas.microsoft.com/office/drawing/2014/main" id="{4CABAD23-71AB-01AD-428C-E12B3B8FB85D}"/>
                </a:ext>
              </a:extLst>
            </p:cNvPr>
            <p:cNvSpPr txBox="1"/>
            <p:nvPr/>
          </p:nvSpPr>
          <p:spPr>
            <a:xfrm rot="16200000">
              <a:off x="-1505372" y="1865604"/>
              <a:ext cx="4606430" cy="87522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err="1">
                  <a:solidFill>
                    <a:srgbClr val="F5F7F6"/>
                  </a:solidFill>
                </a:rPr>
                <a:t>Pekerjaan</a:t>
              </a:r>
              <a:r>
                <a:rPr lang="en-US" sz="2000" b="1" dirty="0">
                  <a:solidFill>
                    <a:srgbClr val="F5F7F6"/>
                  </a:solidFill>
                </a:rPr>
                <a:t> </a:t>
              </a:r>
              <a:r>
                <a:rPr lang="en-US" sz="2000" b="1" dirty="0" err="1">
                  <a:solidFill>
                    <a:srgbClr val="F5F7F6"/>
                  </a:solidFill>
                </a:rPr>
                <a:t>Mekanikal</a:t>
              </a:r>
              <a:r>
                <a:rPr lang="en-US" sz="2000" b="1" dirty="0">
                  <a:solidFill>
                    <a:srgbClr val="F5F7F6"/>
                  </a:solidFill>
                </a:rPr>
                <a:t> </a:t>
              </a:r>
            </a:p>
          </p:txBody>
        </p:sp>
      </p:grpSp>
      <p:sp>
        <p:nvSpPr>
          <p:cNvPr id="3" name="TextBox 2">
            <a:extLst>
              <a:ext uri="{FF2B5EF4-FFF2-40B4-BE49-F238E27FC236}">
                <a16:creationId xmlns:a16="http://schemas.microsoft.com/office/drawing/2014/main" id="{D0C933D3-1FEF-F527-627D-CF3D66FF515F}"/>
              </a:ext>
            </a:extLst>
          </p:cNvPr>
          <p:cNvSpPr txBox="1"/>
          <p:nvPr/>
        </p:nvSpPr>
        <p:spPr>
          <a:xfrm>
            <a:off x="3353112" y="3177036"/>
            <a:ext cx="1123958" cy="307777"/>
          </a:xfrm>
          <a:prstGeom prst="rect">
            <a:avLst/>
          </a:prstGeom>
          <a:noFill/>
        </p:spPr>
        <p:txBody>
          <a:bodyPr wrap="square" rtlCol="0">
            <a:spAutoFit/>
          </a:bodyPr>
          <a:lstStyle/>
          <a:p>
            <a:pPr algn="ctr" defTabSz="685800"/>
            <a:r>
              <a:rPr lang="en-US" sz="1400" b="1" dirty="0"/>
              <a:t>SEGMENT 2</a:t>
            </a:r>
            <a:endParaRPr lang="ko-KR" altLang="en-US" sz="2400" b="1" dirty="0">
              <a:solidFill>
                <a:srgbClr val="000000">
                  <a:lumMod val="75000"/>
                  <a:lumOff val="25000"/>
                </a:srgbClr>
              </a:solidFill>
              <a:latin typeface="Arial"/>
              <a:cs typeface="Arial" pitchFamily="34" charset="0"/>
            </a:endParaRPr>
          </a:p>
        </p:txBody>
      </p:sp>
    </p:spTree>
    <p:extLst>
      <p:ext uri="{BB962C8B-B14F-4D97-AF65-F5344CB8AC3E}">
        <p14:creationId xmlns:p14="http://schemas.microsoft.com/office/powerpoint/2010/main" val="1873027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D01E-52A2-FD31-3587-E973EE8FC893}"/>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AF4A1264-6A23-45F5-3A5F-E638C4F46A49}"/>
              </a:ext>
            </a:extLst>
          </p:cNvPr>
          <p:cNvGrpSpPr/>
          <p:nvPr/>
        </p:nvGrpSpPr>
        <p:grpSpPr>
          <a:xfrm>
            <a:off x="438122" y="221567"/>
            <a:ext cx="5297838" cy="687155"/>
            <a:chOff x="1544574" y="576718"/>
            <a:chExt cx="5297838" cy="687155"/>
          </a:xfrm>
        </p:grpSpPr>
        <p:sp>
          <p:nvSpPr>
            <p:cNvPr id="33" name="Rectangle: Rounded Corners 32">
              <a:extLst>
                <a:ext uri="{FF2B5EF4-FFF2-40B4-BE49-F238E27FC236}">
                  <a16:creationId xmlns:a16="http://schemas.microsoft.com/office/drawing/2014/main" id="{5361DE26-1595-1A14-FFDD-D17337DED577}"/>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00884466-8193-BCD0-082C-C714F32839EC}"/>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1A8CB052-FF61-205E-7CD6-55B1CFF75136}"/>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55CBC04-0A26-19A1-99B2-CBA6B38BF2E4}"/>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4F0738E-E3A9-5004-97A1-938F89C231C2}"/>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8" name="TextBox 37">
              <a:extLst>
                <a:ext uri="{FF2B5EF4-FFF2-40B4-BE49-F238E27FC236}">
                  <a16:creationId xmlns:a16="http://schemas.microsoft.com/office/drawing/2014/main" id="{A2EAA93F-008D-25B4-65D4-3844A97D612A}"/>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03</a:t>
              </a:r>
            </a:p>
          </p:txBody>
        </p:sp>
      </p:grpSp>
      <p:sp>
        <p:nvSpPr>
          <p:cNvPr id="2" name="Arrow: Right 1">
            <a:extLst>
              <a:ext uri="{FF2B5EF4-FFF2-40B4-BE49-F238E27FC236}">
                <a16:creationId xmlns:a16="http://schemas.microsoft.com/office/drawing/2014/main" id="{85C0372B-DA36-5A74-2EFD-232813FA1E09}"/>
              </a:ext>
            </a:extLst>
          </p:cNvPr>
          <p:cNvSpPr/>
          <p:nvPr/>
        </p:nvSpPr>
        <p:spPr>
          <a:xfrm>
            <a:off x="3182" y="3121520"/>
            <a:ext cx="12676497"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39" name="TextBox 38">
            <a:extLst>
              <a:ext uri="{FF2B5EF4-FFF2-40B4-BE49-F238E27FC236}">
                <a16:creationId xmlns:a16="http://schemas.microsoft.com/office/drawing/2014/main" id="{EAD258E4-2404-A009-D910-5DEE4A72C2F8}"/>
              </a:ext>
            </a:extLst>
          </p:cNvPr>
          <p:cNvSpPr txBox="1"/>
          <p:nvPr/>
        </p:nvSpPr>
        <p:spPr>
          <a:xfrm>
            <a:off x="1742206" y="472091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0" name="Grup 9">
            <a:extLst>
              <a:ext uri="{FF2B5EF4-FFF2-40B4-BE49-F238E27FC236}">
                <a16:creationId xmlns:a16="http://schemas.microsoft.com/office/drawing/2014/main" id="{BA8768FC-EF2C-4154-A66F-334DE5BF70D8}"/>
              </a:ext>
            </a:extLst>
          </p:cNvPr>
          <p:cNvGrpSpPr/>
          <p:nvPr/>
        </p:nvGrpSpPr>
        <p:grpSpPr>
          <a:xfrm>
            <a:off x="758182" y="2963278"/>
            <a:ext cx="1273259" cy="793507"/>
            <a:chOff x="2610557" y="2851518"/>
            <a:chExt cx="1273259" cy="793507"/>
          </a:xfrm>
        </p:grpSpPr>
        <p:sp>
          <p:nvSpPr>
            <p:cNvPr id="41" name="Rounded Rectangle 5">
              <a:extLst>
                <a:ext uri="{FF2B5EF4-FFF2-40B4-BE49-F238E27FC236}">
                  <a16:creationId xmlns:a16="http://schemas.microsoft.com/office/drawing/2014/main" id="{15110311-8F19-A1B3-9716-F954ECBC9C23}"/>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2" name="TextBox 41">
              <a:extLst>
                <a:ext uri="{FF2B5EF4-FFF2-40B4-BE49-F238E27FC236}">
                  <a16:creationId xmlns:a16="http://schemas.microsoft.com/office/drawing/2014/main" id="{7807B321-1957-1980-E087-A04FD48B59B1}"/>
                </a:ext>
              </a:extLst>
            </p:cNvPr>
            <p:cNvSpPr txBox="1"/>
            <p:nvPr/>
          </p:nvSpPr>
          <p:spPr>
            <a:xfrm>
              <a:off x="2685207" y="3090118"/>
              <a:ext cx="1123958" cy="307777"/>
            </a:xfrm>
            <a:prstGeom prst="rect">
              <a:avLst/>
            </a:prstGeom>
            <a:noFill/>
          </p:spPr>
          <p:txBody>
            <a:bodyPr wrap="square" rtlCol="0">
              <a:spAutoFit/>
            </a:bodyPr>
            <a:lstStyle/>
            <a:p>
              <a:pPr algn="ctr" defTabSz="685800"/>
              <a:r>
                <a:rPr lang="en-US" sz="1400" b="1" dirty="0"/>
                <a:t>SEGMENT 5</a:t>
              </a:r>
              <a:endParaRPr lang="ko-KR" altLang="en-US" sz="1050" b="1" dirty="0">
                <a:solidFill>
                  <a:srgbClr val="000000">
                    <a:lumMod val="75000"/>
                    <a:lumOff val="25000"/>
                  </a:srgbClr>
                </a:solidFill>
                <a:latin typeface="Arial"/>
                <a:cs typeface="Arial" pitchFamily="34" charset="0"/>
              </a:endParaRPr>
            </a:p>
          </p:txBody>
        </p:sp>
      </p:grpSp>
      <p:grpSp>
        <p:nvGrpSpPr>
          <p:cNvPr id="43" name="Grup 11">
            <a:extLst>
              <a:ext uri="{FF2B5EF4-FFF2-40B4-BE49-F238E27FC236}">
                <a16:creationId xmlns:a16="http://schemas.microsoft.com/office/drawing/2014/main" id="{8DC51905-EC10-8359-D137-C0B3A2FC81C3}"/>
              </a:ext>
            </a:extLst>
          </p:cNvPr>
          <p:cNvGrpSpPr/>
          <p:nvPr/>
        </p:nvGrpSpPr>
        <p:grpSpPr>
          <a:xfrm>
            <a:off x="3278462" y="2963278"/>
            <a:ext cx="1273259" cy="793507"/>
            <a:chOff x="4153713" y="2851518"/>
            <a:chExt cx="1273259" cy="793507"/>
          </a:xfrm>
        </p:grpSpPr>
        <p:sp>
          <p:nvSpPr>
            <p:cNvPr id="44" name="Rounded Rectangle 2">
              <a:extLst>
                <a:ext uri="{FF2B5EF4-FFF2-40B4-BE49-F238E27FC236}">
                  <a16:creationId xmlns:a16="http://schemas.microsoft.com/office/drawing/2014/main" id="{911C20ED-870D-B2A2-54F2-84A814D5D800}"/>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5" name="TextBox 44">
              <a:extLst>
                <a:ext uri="{FF2B5EF4-FFF2-40B4-BE49-F238E27FC236}">
                  <a16:creationId xmlns:a16="http://schemas.microsoft.com/office/drawing/2014/main" id="{84652149-762F-2B26-A08F-DDCB3F8BC6D9}"/>
                </a:ext>
              </a:extLst>
            </p:cNvPr>
            <p:cNvSpPr txBox="1"/>
            <p:nvPr/>
          </p:nvSpPr>
          <p:spPr>
            <a:xfrm>
              <a:off x="4225721" y="3098399"/>
              <a:ext cx="1125837" cy="307777"/>
            </a:xfrm>
            <a:prstGeom prst="rect">
              <a:avLst/>
            </a:prstGeom>
            <a:noFill/>
          </p:spPr>
          <p:txBody>
            <a:bodyPr wrap="square" rtlCol="0">
              <a:spAutoFit/>
            </a:bodyPr>
            <a:lstStyle/>
            <a:p>
              <a:pPr algn="ctr" defTabSz="685800"/>
              <a:r>
                <a:rPr lang="en-US" sz="1400" b="1" dirty="0"/>
                <a:t>SEGMENT 6</a:t>
              </a:r>
              <a:endParaRPr lang="ko-KR" altLang="en-US" sz="200" b="1" dirty="0">
                <a:solidFill>
                  <a:srgbClr val="000000">
                    <a:lumMod val="75000"/>
                    <a:lumOff val="25000"/>
                  </a:srgbClr>
                </a:solidFill>
                <a:latin typeface="Arial"/>
                <a:cs typeface="Arial" pitchFamily="34" charset="0"/>
              </a:endParaRPr>
            </a:p>
          </p:txBody>
        </p:sp>
      </p:grpSp>
      <p:grpSp>
        <p:nvGrpSpPr>
          <p:cNvPr id="46" name="Grup 13">
            <a:extLst>
              <a:ext uri="{FF2B5EF4-FFF2-40B4-BE49-F238E27FC236}">
                <a16:creationId xmlns:a16="http://schemas.microsoft.com/office/drawing/2014/main" id="{BB407811-E231-2BBB-5242-5EAFAD9B2476}"/>
              </a:ext>
            </a:extLst>
          </p:cNvPr>
          <p:cNvGrpSpPr/>
          <p:nvPr/>
        </p:nvGrpSpPr>
        <p:grpSpPr>
          <a:xfrm>
            <a:off x="5870750" y="2963278"/>
            <a:ext cx="1273259" cy="793507"/>
            <a:chOff x="5696869" y="2851518"/>
            <a:chExt cx="1273259" cy="793507"/>
          </a:xfrm>
        </p:grpSpPr>
        <p:sp>
          <p:nvSpPr>
            <p:cNvPr id="47" name="Rounded Rectangle 3">
              <a:extLst>
                <a:ext uri="{FF2B5EF4-FFF2-40B4-BE49-F238E27FC236}">
                  <a16:creationId xmlns:a16="http://schemas.microsoft.com/office/drawing/2014/main" id="{7A2C5528-70BB-BAB5-AF49-E676050851E3}"/>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8" name="TextBox 47">
              <a:extLst>
                <a:ext uri="{FF2B5EF4-FFF2-40B4-BE49-F238E27FC236}">
                  <a16:creationId xmlns:a16="http://schemas.microsoft.com/office/drawing/2014/main" id="{06D55298-34B3-7092-C576-914E4A6851BA}"/>
                </a:ext>
              </a:extLst>
            </p:cNvPr>
            <p:cNvSpPr txBox="1"/>
            <p:nvPr/>
          </p:nvSpPr>
          <p:spPr>
            <a:xfrm>
              <a:off x="5741536" y="3082666"/>
              <a:ext cx="1186730" cy="307777"/>
            </a:xfrm>
            <a:prstGeom prst="rect">
              <a:avLst/>
            </a:prstGeom>
            <a:noFill/>
          </p:spPr>
          <p:txBody>
            <a:bodyPr wrap="square" rtlCol="0">
              <a:spAutoFit/>
            </a:bodyPr>
            <a:lstStyle/>
            <a:p>
              <a:pPr algn="ctr" defTabSz="685800"/>
              <a:r>
                <a:rPr lang="en-US" sz="1400" b="1" dirty="0"/>
                <a:t>SEGMENT 7</a:t>
              </a:r>
              <a:endParaRPr lang="ko-KR" altLang="en-US" sz="600" b="1" dirty="0">
                <a:solidFill>
                  <a:srgbClr val="000000">
                    <a:lumMod val="75000"/>
                    <a:lumOff val="25000"/>
                  </a:srgbClr>
                </a:solidFill>
                <a:latin typeface="Arial"/>
                <a:cs typeface="Arial" pitchFamily="34" charset="0"/>
              </a:endParaRPr>
            </a:p>
          </p:txBody>
        </p:sp>
      </p:grpSp>
      <p:grpSp>
        <p:nvGrpSpPr>
          <p:cNvPr id="49" name="Grup 15">
            <a:extLst>
              <a:ext uri="{FF2B5EF4-FFF2-40B4-BE49-F238E27FC236}">
                <a16:creationId xmlns:a16="http://schemas.microsoft.com/office/drawing/2014/main" id="{98391378-B74A-3DC5-D58F-FF8D0CBD6146}"/>
              </a:ext>
            </a:extLst>
          </p:cNvPr>
          <p:cNvGrpSpPr/>
          <p:nvPr/>
        </p:nvGrpSpPr>
        <p:grpSpPr>
          <a:xfrm>
            <a:off x="8247014" y="2963278"/>
            <a:ext cx="1273259" cy="793507"/>
            <a:chOff x="7240025" y="2851518"/>
            <a:chExt cx="1273259" cy="793507"/>
          </a:xfrm>
        </p:grpSpPr>
        <p:sp>
          <p:nvSpPr>
            <p:cNvPr id="50" name="Rounded Rectangle 4">
              <a:extLst>
                <a:ext uri="{FF2B5EF4-FFF2-40B4-BE49-F238E27FC236}">
                  <a16:creationId xmlns:a16="http://schemas.microsoft.com/office/drawing/2014/main" id="{31D43312-9FE8-B4F9-7E8A-BB4C1D04DB36}"/>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51" name="TextBox 50">
              <a:extLst>
                <a:ext uri="{FF2B5EF4-FFF2-40B4-BE49-F238E27FC236}">
                  <a16:creationId xmlns:a16="http://schemas.microsoft.com/office/drawing/2014/main" id="{CF9ABA6B-E0C0-8333-2F88-25945A40601A}"/>
                </a:ext>
              </a:extLst>
            </p:cNvPr>
            <p:cNvSpPr txBox="1"/>
            <p:nvPr/>
          </p:nvSpPr>
          <p:spPr>
            <a:xfrm>
              <a:off x="7269330" y="3082665"/>
              <a:ext cx="1214647" cy="307777"/>
            </a:xfrm>
            <a:prstGeom prst="rect">
              <a:avLst/>
            </a:prstGeom>
            <a:noFill/>
          </p:spPr>
          <p:txBody>
            <a:bodyPr wrap="square" rtlCol="0">
              <a:spAutoFit/>
            </a:bodyPr>
            <a:lstStyle/>
            <a:p>
              <a:pPr algn="ctr" defTabSz="685800"/>
              <a:r>
                <a:rPr lang="fi-FI" sz="1400" b="1" dirty="0"/>
                <a:t>SEGMENT 8</a:t>
              </a:r>
            </a:p>
          </p:txBody>
        </p:sp>
      </p:grpSp>
      <p:grpSp>
        <p:nvGrpSpPr>
          <p:cNvPr id="64" name="Group 63">
            <a:extLst>
              <a:ext uri="{FF2B5EF4-FFF2-40B4-BE49-F238E27FC236}">
                <a16:creationId xmlns:a16="http://schemas.microsoft.com/office/drawing/2014/main" id="{1565F1B1-A8E4-75F5-B717-DDE56130102F}"/>
              </a:ext>
            </a:extLst>
          </p:cNvPr>
          <p:cNvGrpSpPr/>
          <p:nvPr/>
        </p:nvGrpSpPr>
        <p:grpSpPr>
          <a:xfrm>
            <a:off x="3183" y="2172609"/>
            <a:ext cx="444083" cy="2355167"/>
            <a:chOff x="360233" y="-1"/>
            <a:chExt cx="875222" cy="4606430"/>
          </a:xfrm>
          <a:solidFill>
            <a:srgbClr val="0070C0"/>
          </a:solidFill>
        </p:grpSpPr>
        <p:sp>
          <p:nvSpPr>
            <p:cNvPr id="65" name="Rectangle 64">
              <a:extLst>
                <a:ext uri="{FF2B5EF4-FFF2-40B4-BE49-F238E27FC236}">
                  <a16:creationId xmlns:a16="http://schemas.microsoft.com/office/drawing/2014/main" id="{D9E8BC48-716B-2A00-D061-C9554104EB83}"/>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6" name="TextBox 65">
              <a:extLst>
                <a:ext uri="{FF2B5EF4-FFF2-40B4-BE49-F238E27FC236}">
                  <a16:creationId xmlns:a16="http://schemas.microsoft.com/office/drawing/2014/main" id="{3DDF5AC6-3403-FEA4-0818-83BAA6D15914}"/>
                </a:ext>
              </a:extLst>
            </p:cNvPr>
            <p:cNvSpPr txBox="1"/>
            <p:nvPr/>
          </p:nvSpPr>
          <p:spPr>
            <a:xfrm rot="16200000">
              <a:off x="-1505372" y="1865604"/>
              <a:ext cx="4606430" cy="87522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err="1">
                  <a:solidFill>
                    <a:srgbClr val="F5F7F6"/>
                  </a:solidFill>
                </a:rPr>
                <a:t>Pekerjaan</a:t>
              </a:r>
              <a:r>
                <a:rPr lang="en-US" sz="2000" b="1" dirty="0">
                  <a:solidFill>
                    <a:srgbClr val="F5F7F6"/>
                  </a:solidFill>
                </a:rPr>
                <a:t> </a:t>
              </a:r>
              <a:r>
                <a:rPr lang="en-US" sz="2000" b="1" dirty="0" err="1">
                  <a:solidFill>
                    <a:srgbClr val="F5F7F6"/>
                  </a:solidFill>
                </a:rPr>
                <a:t>Mekanikal</a:t>
              </a:r>
              <a:r>
                <a:rPr lang="en-US" sz="2000" b="1" dirty="0">
                  <a:solidFill>
                    <a:srgbClr val="F5F7F6"/>
                  </a:solidFill>
                </a:rPr>
                <a:t> </a:t>
              </a:r>
            </a:p>
          </p:txBody>
        </p:sp>
      </p:grpSp>
    </p:spTree>
    <p:extLst>
      <p:ext uri="{BB962C8B-B14F-4D97-AF65-F5344CB8AC3E}">
        <p14:creationId xmlns:p14="http://schemas.microsoft.com/office/powerpoint/2010/main" val="2779002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E843-61ED-9866-4891-EF605943FDE8}"/>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8C2CE0C3-183C-C524-64B8-18BB0152A7F1}"/>
              </a:ext>
            </a:extLst>
          </p:cNvPr>
          <p:cNvGrpSpPr/>
          <p:nvPr/>
        </p:nvGrpSpPr>
        <p:grpSpPr>
          <a:xfrm>
            <a:off x="438122" y="221567"/>
            <a:ext cx="5297838" cy="687155"/>
            <a:chOff x="1544574" y="576718"/>
            <a:chExt cx="5297838" cy="687155"/>
          </a:xfrm>
        </p:grpSpPr>
        <p:sp>
          <p:nvSpPr>
            <p:cNvPr id="33" name="Rectangle: Rounded Corners 32">
              <a:extLst>
                <a:ext uri="{FF2B5EF4-FFF2-40B4-BE49-F238E27FC236}">
                  <a16:creationId xmlns:a16="http://schemas.microsoft.com/office/drawing/2014/main" id="{972742F8-D065-BD0B-962B-78B0C7A360FF}"/>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14228A7-29E1-5211-E08A-BB809121B553}"/>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0DE9B62F-182C-7B02-033E-FCDD36DDE9D8}"/>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CD1FBAB2-CE1B-9B5F-EFE6-4BE01B38FF4C}"/>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48D1EFB-D791-4EC9-A7E2-7C0EFFBC1F25}"/>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8" name="TextBox 37">
              <a:extLst>
                <a:ext uri="{FF2B5EF4-FFF2-40B4-BE49-F238E27FC236}">
                  <a16:creationId xmlns:a16="http://schemas.microsoft.com/office/drawing/2014/main" id="{152D4F34-1B9F-F13B-EB11-3E5F7E3D7375}"/>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03</a:t>
              </a:r>
            </a:p>
          </p:txBody>
        </p:sp>
      </p:grpSp>
      <p:sp>
        <p:nvSpPr>
          <p:cNvPr id="2" name="Arrow: Right 1">
            <a:extLst>
              <a:ext uri="{FF2B5EF4-FFF2-40B4-BE49-F238E27FC236}">
                <a16:creationId xmlns:a16="http://schemas.microsoft.com/office/drawing/2014/main" id="{12689708-30E3-4DCA-82BB-1E533AE14A04}"/>
              </a:ext>
            </a:extLst>
          </p:cNvPr>
          <p:cNvSpPr/>
          <p:nvPr/>
        </p:nvSpPr>
        <p:spPr>
          <a:xfrm>
            <a:off x="3182" y="3121520"/>
            <a:ext cx="12107301"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39" name="TextBox 38">
            <a:extLst>
              <a:ext uri="{FF2B5EF4-FFF2-40B4-BE49-F238E27FC236}">
                <a16:creationId xmlns:a16="http://schemas.microsoft.com/office/drawing/2014/main" id="{EF962E49-FAF7-9B96-B010-B1EBE03DD292}"/>
              </a:ext>
            </a:extLst>
          </p:cNvPr>
          <p:cNvSpPr txBox="1"/>
          <p:nvPr/>
        </p:nvSpPr>
        <p:spPr>
          <a:xfrm>
            <a:off x="1742206" y="472091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0" name="Grup 9">
            <a:extLst>
              <a:ext uri="{FF2B5EF4-FFF2-40B4-BE49-F238E27FC236}">
                <a16:creationId xmlns:a16="http://schemas.microsoft.com/office/drawing/2014/main" id="{5E1D6E07-DC03-69F9-9251-56BECBA48EA2}"/>
              </a:ext>
            </a:extLst>
          </p:cNvPr>
          <p:cNvGrpSpPr/>
          <p:nvPr/>
        </p:nvGrpSpPr>
        <p:grpSpPr>
          <a:xfrm>
            <a:off x="758182" y="2963278"/>
            <a:ext cx="1273259" cy="793507"/>
            <a:chOff x="2610557" y="2851518"/>
            <a:chExt cx="1273259" cy="793507"/>
          </a:xfrm>
        </p:grpSpPr>
        <p:sp>
          <p:nvSpPr>
            <p:cNvPr id="41" name="Rounded Rectangle 5">
              <a:extLst>
                <a:ext uri="{FF2B5EF4-FFF2-40B4-BE49-F238E27FC236}">
                  <a16:creationId xmlns:a16="http://schemas.microsoft.com/office/drawing/2014/main" id="{C9CE1006-E581-CE12-9CAD-41079DCA2550}"/>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2" name="TextBox 41">
              <a:extLst>
                <a:ext uri="{FF2B5EF4-FFF2-40B4-BE49-F238E27FC236}">
                  <a16:creationId xmlns:a16="http://schemas.microsoft.com/office/drawing/2014/main" id="{0AECD425-22A2-0C38-0A1C-0F1A447F74D3}"/>
                </a:ext>
              </a:extLst>
            </p:cNvPr>
            <p:cNvSpPr txBox="1"/>
            <p:nvPr/>
          </p:nvSpPr>
          <p:spPr>
            <a:xfrm>
              <a:off x="2687850" y="3084543"/>
              <a:ext cx="1123958" cy="307777"/>
            </a:xfrm>
            <a:prstGeom prst="rect">
              <a:avLst/>
            </a:prstGeom>
            <a:noFill/>
          </p:spPr>
          <p:txBody>
            <a:bodyPr wrap="square" rtlCol="0">
              <a:spAutoFit/>
            </a:bodyPr>
            <a:lstStyle/>
            <a:p>
              <a:pPr algn="ctr" defTabSz="685800"/>
              <a:r>
                <a:rPr lang="en-US" sz="1400" b="1" dirty="0"/>
                <a:t>SEGMENT 9</a:t>
              </a:r>
              <a:endParaRPr lang="ko-KR" altLang="en-US" sz="1050" b="1" dirty="0">
                <a:solidFill>
                  <a:srgbClr val="000000">
                    <a:lumMod val="75000"/>
                    <a:lumOff val="25000"/>
                  </a:srgbClr>
                </a:solidFill>
                <a:latin typeface="Arial"/>
                <a:cs typeface="Arial" pitchFamily="34" charset="0"/>
              </a:endParaRPr>
            </a:p>
          </p:txBody>
        </p:sp>
      </p:grpSp>
      <p:grpSp>
        <p:nvGrpSpPr>
          <p:cNvPr id="43" name="Grup 11">
            <a:extLst>
              <a:ext uri="{FF2B5EF4-FFF2-40B4-BE49-F238E27FC236}">
                <a16:creationId xmlns:a16="http://schemas.microsoft.com/office/drawing/2014/main" id="{097C538C-3F32-6EED-61D8-D1059BD7BD8D}"/>
              </a:ext>
            </a:extLst>
          </p:cNvPr>
          <p:cNvGrpSpPr/>
          <p:nvPr/>
        </p:nvGrpSpPr>
        <p:grpSpPr>
          <a:xfrm>
            <a:off x="3275742" y="2963278"/>
            <a:ext cx="1275979" cy="793507"/>
            <a:chOff x="4150993" y="2851518"/>
            <a:chExt cx="1275979" cy="793507"/>
          </a:xfrm>
        </p:grpSpPr>
        <p:sp>
          <p:nvSpPr>
            <p:cNvPr id="44" name="Rounded Rectangle 2">
              <a:extLst>
                <a:ext uri="{FF2B5EF4-FFF2-40B4-BE49-F238E27FC236}">
                  <a16:creationId xmlns:a16="http://schemas.microsoft.com/office/drawing/2014/main" id="{DE77C5AC-E3F1-7FB5-9172-D2D2458CD1E6}"/>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5" name="TextBox 44">
              <a:extLst>
                <a:ext uri="{FF2B5EF4-FFF2-40B4-BE49-F238E27FC236}">
                  <a16:creationId xmlns:a16="http://schemas.microsoft.com/office/drawing/2014/main" id="{7712B6BD-8D9A-DBBE-3822-F9EC32BAFB15}"/>
                </a:ext>
              </a:extLst>
            </p:cNvPr>
            <p:cNvSpPr txBox="1"/>
            <p:nvPr/>
          </p:nvSpPr>
          <p:spPr>
            <a:xfrm>
              <a:off x="4150993" y="3084542"/>
              <a:ext cx="1275979" cy="307777"/>
            </a:xfrm>
            <a:prstGeom prst="rect">
              <a:avLst/>
            </a:prstGeom>
            <a:noFill/>
          </p:spPr>
          <p:txBody>
            <a:bodyPr wrap="square" rtlCol="0">
              <a:spAutoFit/>
            </a:bodyPr>
            <a:lstStyle/>
            <a:p>
              <a:pPr algn="ctr" defTabSz="685800"/>
              <a:r>
                <a:rPr lang="en-US" sz="1400" b="1" dirty="0"/>
                <a:t>SEGMENT 10</a:t>
              </a:r>
              <a:endParaRPr lang="ko-KR" altLang="en-US" sz="200" b="1" dirty="0">
                <a:solidFill>
                  <a:srgbClr val="000000">
                    <a:lumMod val="75000"/>
                    <a:lumOff val="25000"/>
                  </a:srgbClr>
                </a:solidFill>
                <a:latin typeface="Arial"/>
                <a:cs typeface="Arial" pitchFamily="34" charset="0"/>
              </a:endParaRPr>
            </a:p>
          </p:txBody>
        </p:sp>
      </p:grpSp>
      <p:grpSp>
        <p:nvGrpSpPr>
          <p:cNvPr id="46" name="Grup 13">
            <a:extLst>
              <a:ext uri="{FF2B5EF4-FFF2-40B4-BE49-F238E27FC236}">
                <a16:creationId xmlns:a16="http://schemas.microsoft.com/office/drawing/2014/main" id="{BE3FCC03-578F-6A37-662B-BA983EF0C67D}"/>
              </a:ext>
            </a:extLst>
          </p:cNvPr>
          <p:cNvGrpSpPr/>
          <p:nvPr/>
        </p:nvGrpSpPr>
        <p:grpSpPr>
          <a:xfrm>
            <a:off x="5870749" y="2963278"/>
            <a:ext cx="1273260" cy="793507"/>
            <a:chOff x="5696868" y="2851518"/>
            <a:chExt cx="1273260" cy="793507"/>
          </a:xfrm>
        </p:grpSpPr>
        <p:sp>
          <p:nvSpPr>
            <p:cNvPr id="47" name="Rounded Rectangle 3">
              <a:extLst>
                <a:ext uri="{FF2B5EF4-FFF2-40B4-BE49-F238E27FC236}">
                  <a16:creationId xmlns:a16="http://schemas.microsoft.com/office/drawing/2014/main" id="{3563354F-700D-01AF-741E-585A9BBE4313}"/>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48" name="TextBox 47">
              <a:extLst>
                <a:ext uri="{FF2B5EF4-FFF2-40B4-BE49-F238E27FC236}">
                  <a16:creationId xmlns:a16="http://schemas.microsoft.com/office/drawing/2014/main" id="{46BCDA4A-997A-8A5D-A3D1-7103E7F61165}"/>
                </a:ext>
              </a:extLst>
            </p:cNvPr>
            <p:cNvSpPr txBox="1"/>
            <p:nvPr/>
          </p:nvSpPr>
          <p:spPr>
            <a:xfrm>
              <a:off x="5696868" y="3087722"/>
              <a:ext cx="1273258" cy="307777"/>
            </a:xfrm>
            <a:prstGeom prst="rect">
              <a:avLst/>
            </a:prstGeom>
            <a:noFill/>
          </p:spPr>
          <p:txBody>
            <a:bodyPr wrap="square" rtlCol="0">
              <a:spAutoFit/>
            </a:bodyPr>
            <a:lstStyle/>
            <a:p>
              <a:pPr algn="ctr" defTabSz="685800"/>
              <a:r>
                <a:rPr lang="en-US" sz="1400" b="1" dirty="0"/>
                <a:t>SEGMENT 11</a:t>
              </a:r>
              <a:endParaRPr lang="ko-KR" altLang="en-US" sz="600" b="1" dirty="0">
                <a:solidFill>
                  <a:srgbClr val="000000">
                    <a:lumMod val="75000"/>
                    <a:lumOff val="25000"/>
                  </a:srgbClr>
                </a:solidFill>
                <a:latin typeface="Arial"/>
                <a:cs typeface="Arial" pitchFamily="34" charset="0"/>
              </a:endParaRPr>
            </a:p>
          </p:txBody>
        </p:sp>
      </p:grpSp>
      <p:grpSp>
        <p:nvGrpSpPr>
          <p:cNvPr id="49" name="Grup 15">
            <a:extLst>
              <a:ext uri="{FF2B5EF4-FFF2-40B4-BE49-F238E27FC236}">
                <a16:creationId xmlns:a16="http://schemas.microsoft.com/office/drawing/2014/main" id="{91A6F87E-6B01-3681-4624-A3F703C6469B}"/>
              </a:ext>
            </a:extLst>
          </p:cNvPr>
          <p:cNvGrpSpPr/>
          <p:nvPr/>
        </p:nvGrpSpPr>
        <p:grpSpPr>
          <a:xfrm>
            <a:off x="8247014" y="2963278"/>
            <a:ext cx="1273259" cy="793507"/>
            <a:chOff x="7240025" y="2851518"/>
            <a:chExt cx="1273259" cy="793507"/>
          </a:xfrm>
        </p:grpSpPr>
        <p:sp>
          <p:nvSpPr>
            <p:cNvPr id="50" name="Rounded Rectangle 4">
              <a:extLst>
                <a:ext uri="{FF2B5EF4-FFF2-40B4-BE49-F238E27FC236}">
                  <a16:creationId xmlns:a16="http://schemas.microsoft.com/office/drawing/2014/main" id="{64069A43-C199-BACE-AD7C-6DB2B9FBDCB4}"/>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51" name="TextBox 50">
              <a:extLst>
                <a:ext uri="{FF2B5EF4-FFF2-40B4-BE49-F238E27FC236}">
                  <a16:creationId xmlns:a16="http://schemas.microsoft.com/office/drawing/2014/main" id="{84BC3C0C-9D17-A2A6-CA07-F656963BCD2D}"/>
                </a:ext>
              </a:extLst>
            </p:cNvPr>
            <p:cNvSpPr txBox="1"/>
            <p:nvPr/>
          </p:nvSpPr>
          <p:spPr>
            <a:xfrm>
              <a:off x="7269330" y="3038948"/>
              <a:ext cx="1214647" cy="415498"/>
            </a:xfrm>
            <a:prstGeom prst="rect">
              <a:avLst/>
            </a:prstGeom>
            <a:noFill/>
          </p:spPr>
          <p:txBody>
            <a:bodyPr wrap="square" rtlCol="0">
              <a:spAutoFit/>
            </a:bodyPr>
            <a:lstStyle/>
            <a:p>
              <a:pPr algn="ctr" defTabSz="685800"/>
              <a:r>
                <a:rPr lang="fi-FI" sz="1050" b="1" dirty="0"/>
                <a:t>PEMASANGAN  PRESSURE GATE</a:t>
              </a:r>
            </a:p>
          </p:txBody>
        </p:sp>
      </p:grpSp>
      <p:grpSp>
        <p:nvGrpSpPr>
          <p:cNvPr id="64" name="Group 63">
            <a:extLst>
              <a:ext uri="{FF2B5EF4-FFF2-40B4-BE49-F238E27FC236}">
                <a16:creationId xmlns:a16="http://schemas.microsoft.com/office/drawing/2014/main" id="{35B524B2-5796-123E-E540-91969EBDD768}"/>
              </a:ext>
            </a:extLst>
          </p:cNvPr>
          <p:cNvGrpSpPr/>
          <p:nvPr/>
        </p:nvGrpSpPr>
        <p:grpSpPr>
          <a:xfrm>
            <a:off x="3183" y="2172609"/>
            <a:ext cx="444083" cy="2355167"/>
            <a:chOff x="360233" y="-1"/>
            <a:chExt cx="875222" cy="4606430"/>
          </a:xfrm>
          <a:solidFill>
            <a:srgbClr val="0070C0"/>
          </a:solidFill>
        </p:grpSpPr>
        <p:sp>
          <p:nvSpPr>
            <p:cNvPr id="65" name="Rectangle 64">
              <a:extLst>
                <a:ext uri="{FF2B5EF4-FFF2-40B4-BE49-F238E27FC236}">
                  <a16:creationId xmlns:a16="http://schemas.microsoft.com/office/drawing/2014/main" id="{320E7615-03BD-31C2-4A1A-72F248048251}"/>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6" name="TextBox 65">
              <a:extLst>
                <a:ext uri="{FF2B5EF4-FFF2-40B4-BE49-F238E27FC236}">
                  <a16:creationId xmlns:a16="http://schemas.microsoft.com/office/drawing/2014/main" id="{B7B0810C-12EB-D8B5-FE99-0CE486E18237}"/>
                </a:ext>
              </a:extLst>
            </p:cNvPr>
            <p:cNvSpPr txBox="1"/>
            <p:nvPr/>
          </p:nvSpPr>
          <p:spPr>
            <a:xfrm rot="16200000">
              <a:off x="-1505372" y="1865604"/>
              <a:ext cx="4606430" cy="87522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err="1">
                  <a:solidFill>
                    <a:srgbClr val="F5F7F6"/>
                  </a:solidFill>
                </a:rPr>
                <a:t>Pekerjaan</a:t>
              </a:r>
              <a:r>
                <a:rPr lang="en-US" sz="2000" b="1" dirty="0">
                  <a:solidFill>
                    <a:srgbClr val="F5F7F6"/>
                  </a:solidFill>
                </a:rPr>
                <a:t> </a:t>
              </a:r>
              <a:r>
                <a:rPr lang="en-US" sz="2000" b="1" dirty="0" err="1">
                  <a:solidFill>
                    <a:srgbClr val="F5F7F6"/>
                  </a:solidFill>
                </a:rPr>
                <a:t>Mekanikal</a:t>
              </a:r>
              <a:r>
                <a:rPr lang="en-US" sz="2000" b="1" dirty="0">
                  <a:solidFill>
                    <a:srgbClr val="F5F7F6"/>
                  </a:solidFill>
                </a:rPr>
                <a:t> </a:t>
              </a:r>
            </a:p>
          </p:txBody>
        </p:sp>
      </p:grpSp>
      <p:grpSp>
        <p:nvGrpSpPr>
          <p:cNvPr id="3" name="Grup 15">
            <a:extLst>
              <a:ext uri="{FF2B5EF4-FFF2-40B4-BE49-F238E27FC236}">
                <a16:creationId xmlns:a16="http://schemas.microsoft.com/office/drawing/2014/main" id="{9C28F530-2E93-9185-D3E4-5F243626A9B3}"/>
              </a:ext>
            </a:extLst>
          </p:cNvPr>
          <p:cNvGrpSpPr/>
          <p:nvPr/>
        </p:nvGrpSpPr>
        <p:grpSpPr>
          <a:xfrm>
            <a:off x="10348869" y="2915964"/>
            <a:ext cx="1273259" cy="793507"/>
            <a:chOff x="7240025" y="2851518"/>
            <a:chExt cx="1273259" cy="793507"/>
          </a:xfrm>
        </p:grpSpPr>
        <p:sp>
          <p:nvSpPr>
            <p:cNvPr id="4" name="Rounded Rectangle 4">
              <a:extLst>
                <a:ext uri="{FF2B5EF4-FFF2-40B4-BE49-F238E27FC236}">
                  <a16:creationId xmlns:a16="http://schemas.microsoft.com/office/drawing/2014/main" id="{39118AB6-3952-4581-90C6-D6EF66C977A5}"/>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5" name="TextBox 4">
              <a:extLst>
                <a:ext uri="{FF2B5EF4-FFF2-40B4-BE49-F238E27FC236}">
                  <a16:creationId xmlns:a16="http://schemas.microsoft.com/office/drawing/2014/main" id="{4553A8C6-AB63-43A4-49B7-9B6A4EC520D3}"/>
                </a:ext>
              </a:extLst>
            </p:cNvPr>
            <p:cNvSpPr txBox="1"/>
            <p:nvPr/>
          </p:nvSpPr>
          <p:spPr>
            <a:xfrm>
              <a:off x="7298637" y="3032827"/>
              <a:ext cx="1214647" cy="430887"/>
            </a:xfrm>
            <a:prstGeom prst="rect">
              <a:avLst/>
            </a:prstGeom>
            <a:noFill/>
          </p:spPr>
          <p:txBody>
            <a:bodyPr wrap="square" rtlCol="0">
              <a:spAutoFit/>
            </a:bodyPr>
            <a:lstStyle/>
            <a:p>
              <a:pPr algn="ctr" defTabSz="685800"/>
              <a:r>
                <a:rPr lang="fi-FI" sz="1100" b="1" dirty="0"/>
                <a:t>REKONDISI BALL VALVE</a:t>
              </a:r>
            </a:p>
          </p:txBody>
        </p:sp>
      </p:grpSp>
    </p:spTree>
    <p:extLst>
      <p:ext uri="{BB962C8B-B14F-4D97-AF65-F5344CB8AC3E}">
        <p14:creationId xmlns:p14="http://schemas.microsoft.com/office/powerpoint/2010/main" val="1666855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02AF-EFAF-C580-A1E8-9CC9149D08F1}"/>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04168ECB-4490-99EF-A2E5-142224A2A72B}"/>
              </a:ext>
            </a:extLst>
          </p:cNvPr>
          <p:cNvGrpSpPr/>
          <p:nvPr/>
        </p:nvGrpSpPr>
        <p:grpSpPr>
          <a:xfrm>
            <a:off x="438122" y="221567"/>
            <a:ext cx="5297838" cy="687155"/>
            <a:chOff x="1544574" y="576718"/>
            <a:chExt cx="5297838" cy="687155"/>
          </a:xfrm>
        </p:grpSpPr>
        <p:sp>
          <p:nvSpPr>
            <p:cNvPr id="33" name="Rectangle: Rounded Corners 32">
              <a:extLst>
                <a:ext uri="{FF2B5EF4-FFF2-40B4-BE49-F238E27FC236}">
                  <a16:creationId xmlns:a16="http://schemas.microsoft.com/office/drawing/2014/main" id="{317155DA-674F-5B0C-C60A-DDAD71944CD7}"/>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8FA4CB4A-CC99-4CFD-74E2-177FB3D5D8AC}"/>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733461D7-2457-9D73-D668-01CF2E62F9F3}"/>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C117D7C2-3526-3766-56C1-33FB5E0CD559}"/>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1D0CA55-F9C1-C67B-2E98-0617F3497ACE}"/>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8" name="TextBox 37">
              <a:extLst>
                <a:ext uri="{FF2B5EF4-FFF2-40B4-BE49-F238E27FC236}">
                  <a16:creationId xmlns:a16="http://schemas.microsoft.com/office/drawing/2014/main" id="{72D0646C-DCE5-B082-44B3-9416D4C51329}"/>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01</a:t>
              </a:r>
            </a:p>
          </p:txBody>
        </p:sp>
      </p:grpSp>
      <p:grpSp>
        <p:nvGrpSpPr>
          <p:cNvPr id="64" name="Group 63">
            <a:extLst>
              <a:ext uri="{FF2B5EF4-FFF2-40B4-BE49-F238E27FC236}">
                <a16:creationId xmlns:a16="http://schemas.microsoft.com/office/drawing/2014/main" id="{E7BD92DC-3832-87D4-C223-A103E7E6309C}"/>
              </a:ext>
            </a:extLst>
          </p:cNvPr>
          <p:cNvGrpSpPr/>
          <p:nvPr/>
        </p:nvGrpSpPr>
        <p:grpSpPr>
          <a:xfrm>
            <a:off x="-24743" y="2251416"/>
            <a:ext cx="925730" cy="2355168"/>
            <a:chOff x="360234" y="-2"/>
            <a:chExt cx="875221" cy="4606432"/>
          </a:xfrm>
          <a:solidFill>
            <a:srgbClr val="0070C0"/>
          </a:solidFill>
        </p:grpSpPr>
        <p:sp>
          <p:nvSpPr>
            <p:cNvPr id="65" name="Rectangle 64">
              <a:extLst>
                <a:ext uri="{FF2B5EF4-FFF2-40B4-BE49-F238E27FC236}">
                  <a16:creationId xmlns:a16="http://schemas.microsoft.com/office/drawing/2014/main" id="{4D4FFA39-63ED-A22A-ABBE-2B0E2E70F575}"/>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6" name="TextBox 65">
              <a:extLst>
                <a:ext uri="{FF2B5EF4-FFF2-40B4-BE49-F238E27FC236}">
                  <a16:creationId xmlns:a16="http://schemas.microsoft.com/office/drawing/2014/main" id="{69304954-8736-1C6F-24AF-561B05059D4A}"/>
                </a:ext>
              </a:extLst>
            </p:cNvPr>
            <p:cNvSpPr txBox="1"/>
            <p:nvPr/>
          </p:nvSpPr>
          <p:spPr>
            <a:xfrm rot="16200000">
              <a:off x="-1437188" y="1951805"/>
              <a:ext cx="4606432" cy="70281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err="1">
                  <a:solidFill>
                    <a:srgbClr val="F5F7F6"/>
                  </a:solidFill>
                </a:rPr>
                <a:t>Pekerjaan</a:t>
              </a:r>
              <a:r>
                <a:rPr lang="en-US" sz="2000" b="1" dirty="0">
                  <a:solidFill>
                    <a:srgbClr val="F5F7F6"/>
                  </a:solidFill>
                </a:rPr>
                <a:t> </a:t>
              </a:r>
            </a:p>
            <a:p>
              <a:pPr algn="ctr" defTabSz="1778000">
                <a:lnSpc>
                  <a:spcPct val="90000"/>
                </a:lnSpc>
                <a:spcBef>
                  <a:spcPct val="0"/>
                </a:spcBef>
                <a:spcAft>
                  <a:spcPct val="35000"/>
                </a:spcAft>
              </a:pPr>
              <a:r>
                <a:rPr lang="en-US" sz="2000" b="1" dirty="0" err="1">
                  <a:solidFill>
                    <a:srgbClr val="F5F7F6"/>
                  </a:solidFill>
                </a:rPr>
                <a:t>Finshing</a:t>
              </a:r>
              <a:r>
                <a:rPr lang="en-US" sz="2000" b="1" dirty="0">
                  <a:solidFill>
                    <a:srgbClr val="F5F7F6"/>
                  </a:solidFill>
                </a:rPr>
                <a:t> </a:t>
              </a:r>
            </a:p>
          </p:txBody>
        </p:sp>
      </p:grpSp>
      <p:sp>
        <p:nvSpPr>
          <p:cNvPr id="7" name="TextBox 6">
            <a:extLst>
              <a:ext uri="{FF2B5EF4-FFF2-40B4-BE49-F238E27FC236}">
                <a16:creationId xmlns:a16="http://schemas.microsoft.com/office/drawing/2014/main" id="{03BA78FE-787F-FAA3-F607-96987D033421}"/>
              </a:ext>
            </a:extLst>
          </p:cNvPr>
          <p:cNvSpPr txBox="1"/>
          <p:nvPr/>
        </p:nvSpPr>
        <p:spPr>
          <a:xfrm>
            <a:off x="1064282" y="2251415"/>
            <a:ext cx="6113720" cy="2585323"/>
          </a:xfrm>
          <a:prstGeom prst="rect">
            <a:avLst/>
          </a:prstGeom>
          <a:noFill/>
        </p:spPr>
        <p:txBody>
          <a:bodyPr wrap="square">
            <a:spAutoFit/>
          </a:bodyPr>
          <a:lstStyle/>
          <a:p>
            <a:pPr lvl="0">
              <a:buFont typeface="Wingdings" panose="05000000000000000000" pitchFamily="2" charset="2"/>
              <a:buChar char="ü"/>
            </a:pPr>
            <a:r>
              <a:rPr lang="id-ID" dirty="0"/>
              <a:t>Setelah pekerjaan </a:t>
            </a:r>
            <a:r>
              <a:rPr lang="en-US" dirty="0"/>
              <a:t>Cleaning </a:t>
            </a:r>
            <a:r>
              <a:rPr lang="id-ID" dirty="0"/>
              <a:t>dan commissioning selesai, vendor selanjutnya membuat</a:t>
            </a:r>
            <a:endParaRPr lang="en-US" dirty="0"/>
          </a:p>
          <a:p>
            <a:pPr marL="0" lvl="0" indent="0">
              <a:buNone/>
            </a:pPr>
            <a:r>
              <a:rPr lang="en-US" dirty="0"/>
              <a:t>  </a:t>
            </a:r>
            <a:r>
              <a:rPr lang="id-ID" dirty="0"/>
              <a:t> </a:t>
            </a:r>
            <a:r>
              <a:rPr lang="en-US" dirty="0"/>
              <a:t>  </a:t>
            </a:r>
            <a:r>
              <a:rPr lang="id-ID" dirty="0"/>
              <a:t>final report terkait pekerjaan yang sudah dilaksanakan.</a:t>
            </a:r>
            <a:endParaRPr lang="en-US" dirty="0"/>
          </a:p>
          <a:p>
            <a:pPr>
              <a:buFont typeface="Wingdings" panose="05000000000000000000" pitchFamily="2" charset="2"/>
              <a:buChar char="ü"/>
            </a:pPr>
            <a:r>
              <a:rPr lang="en-US" dirty="0"/>
              <a:t> </a:t>
            </a:r>
            <a:r>
              <a:rPr lang="id-ID" dirty="0"/>
              <a:t>Jika Final Report sudah dibuat, serahkan hasil final report ke pengawas pekerjaan.</a:t>
            </a:r>
            <a:endParaRPr lang="en-ID" sz="1800" dirty="0"/>
          </a:p>
          <a:p>
            <a:pPr>
              <a:buFont typeface="Wingdings" panose="05000000000000000000" pitchFamily="2" charset="2"/>
              <a:buChar char="ü"/>
            </a:pPr>
            <a:r>
              <a:rPr lang="en-US" dirty="0"/>
              <a:t> </a:t>
            </a:r>
            <a:r>
              <a:rPr lang="en-US" dirty="0" err="1"/>
              <a:t>Bersihkan</a:t>
            </a:r>
            <a:r>
              <a:rPr lang="en-US" dirty="0"/>
              <a:t> dan </a:t>
            </a:r>
            <a:r>
              <a:rPr lang="en-US" dirty="0" err="1"/>
              <a:t>rapikan</a:t>
            </a:r>
            <a:r>
              <a:rPr lang="en-US" dirty="0"/>
              <a:t> </a:t>
            </a:r>
            <a:r>
              <a:rPr lang="en-US" dirty="0" err="1"/>
              <a:t>lokasi</a:t>
            </a:r>
            <a:r>
              <a:rPr lang="en-US" dirty="0"/>
              <a:t> </a:t>
            </a:r>
            <a:r>
              <a:rPr lang="en-US" dirty="0" err="1"/>
              <a:t>kerja</a:t>
            </a:r>
            <a:r>
              <a:rPr lang="en-US" dirty="0"/>
              <a:t> </a:t>
            </a:r>
            <a:r>
              <a:rPr lang="en-US" dirty="0" err="1"/>
              <a:t>dari</a:t>
            </a:r>
            <a:r>
              <a:rPr lang="en-US" dirty="0"/>
              <a:t> </a:t>
            </a:r>
            <a:r>
              <a:rPr lang="en-US" dirty="0" err="1"/>
              <a:t>sisa-sisa</a:t>
            </a:r>
            <a:r>
              <a:rPr lang="en-US" dirty="0"/>
              <a:t> material di </a:t>
            </a:r>
            <a:r>
              <a:rPr lang="en-US" dirty="0" err="1"/>
              <a:t>sekitar</a:t>
            </a:r>
            <a:r>
              <a:rPr lang="en-US" dirty="0"/>
              <a:t> </a:t>
            </a:r>
            <a:r>
              <a:rPr lang="en-US" dirty="0" err="1"/>
              <a:t>lokasi</a:t>
            </a:r>
            <a:r>
              <a:rPr lang="en-US" dirty="0"/>
              <a:t> </a:t>
            </a:r>
            <a:r>
              <a:rPr lang="en-US" dirty="0" err="1"/>
              <a:t>kerja</a:t>
            </a:r>
            <a:r>
              <a:rPr lang="en-US" dirty="0"/>
              <a:t>.</a:t>
            </a:r>
            <a:endParaRPr lang="en-ID" dirty="0"/>
          </a:p>
          <a:p>
            <a:pPr>
              <a:buFont typeface="Wingdings" panose="05000000000000000000" pitchFamily="2" charset="2"/>
              <a:buChar char="ü"/>
            </a:pPr>
            <a:r>
              <a:rPr lang="en-US" dirty="0"/>
              <a:t> </a:t>
            </a:r>
            <a:r>
              <a:rPr lang="id-ID" dirty="0"/>
              <a:t>Pastikan kondisi kembali seperti awal (bersih dan rapi).	</a:t>
            </a:r>
            <a:endParaRPr lang="en-ID" dirty="0"/>
          </a:p>
        </p:txBody>
      </p:sp>
      <p:sp>
        <p:nvSpPr>
          <p:cNvPr id="8" name="Rectangle 7">
            <a:extLst>
              <a:ext uri="{FF2B5EF4-FFF2-40B4-BE49-F238E27FC236}">
                <a16:creationId xmlns:a16="http://schemas.microsoft.com/office/drawing/2014/main" id="{4DC53371-CF52-79D0-1ADD-0A4C1D5A0B00}"/>
              </a:ext>
            </a:extLst>
          </p:cNvPr>
          <p:cNvSpPr/>
          <p:nvPr/>
        </p:nvSpPr>
        <p:spPr>
          <a:xfrm>
            <a:off x="1402080" y="1341120"/>
            <a:ext cx="3419480" cy="538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PEMBERSIHAN LOKASI KERJA</a:t>
            </a:r>
          </a:p>
        </p:txBody>
      </p:sp>
    </p:spTree>
    <p:extLst>
      <p:ext uri="{BB962C8B-B14F-4D97-AF65-F5344CB8AC3E}">
        <p14:creationId xmlns:p14="http://schemas.microsoft.com/office/powerpoint/2010/main" val="120629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
            <a:extLst>
              <a:ext uri="{FF2B5EF4-FFF2-40B4-BE49-F238E27FC236}">
                <a16:creationId xmlns:a16="http://schemas.microsoft.com/office/drawing/2014/main" id="{C141983B-BE88-4941-81B2-2D17CE3448AB}"/>
              </a:ext>
            </a:extLst>
          </p:cNvPr>
          <p:cNvSpPr txBox="1"/>
          <p:nvPr/>
        </p:nvSpPr>
        <p:spPr>
          <a:xfrm>
            <a:off x="14924233" y="4695825"/>
            <a:ext cx="744403" cy="265113"/>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n-US"/>
          </a:p>
        </p:txBody>
      </p:sp>
      <p:sp>
        <p:nvSpPr>
          <p:cNvPr id="18" name="TextBox 17">
            <a:extLst>
              <a:ext uri="{FF2B5EF4-FFF2-40B4-BE49-F238E27FC236}">
                <a16:creationId xmlns:a16="http://schemas.microsoft.com/office/drawing/2014/main" id="{312E3BFD-684F-98E8-1F38-3F87D045F63F}"/>
              </a:ext>
            </a:extLst>
          </p:cNvPr>
          <p:cNvSpPr txBox="1"/>
          <p:nvPr/>
        </p:nvSpPr>
        <p:spPr>
          <a:xfrm>
            <a:off x="126629" y="2304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
        <p:nvSpPr>
          <p:cNvPr id="19" name="Rectangle: Rounded Corners 18">
            <a:extLst>
              <a:ext uri="{FF2B5EF4-FFF2-40B4-BE49-F238E27FC236}">
                <a16:creationId xmlns:a16="http://schemas.microsoft.com/office/drawing/2014/main" id="{8434D8C5-9AE3-A54C-234C-DAC60C18C7D1}"/>
              </a:ext>
            </a:extLst>
          </p:cNvPr>
          <p:cNvSpPr/>
          <p:nvPr/>
        </p:nvSpPr>
        <p:spPr>
          <a:xfrm>
            <a:off x="230153" y="35595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7F8B1FB2-54FC-5FA2-7164-5926D3E40179}"/>
              </a:ext>
            </a:extLst>
          </p:cNvPr>
          <p:cNvSpPr/>
          <p:nvPr/>
        </p:nvSpPr>
        <p:spPr>
          <a:xfrm>
            <a:off x="8146275" y="35595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EB57ACC-FC15-CE12-B84D-37BAE3ED2BD1}"/>
              </a:ext>
            </a:extLst>
          </p:cNvPr>
          <p:cNvSpPr/>
          <p:nvPr/>
        </p:nvSpPr>
        <p:spPr>
          <a:xfrm>
            <a:off x="8244099" y="3559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2" name="TextBox 21">
            <a:extLst>
              <a:ext uri="{FF2B5EF4-FFF2-40B4-BE49-F238E27FC236}">
                <a16:creationId xmlns:a16="http://schemas.microsoft.com/office/drawing/2014/main" id="{E7B481F4-49C2-DCE5-A84A-E28FB41CF686}"/>
              </a:ext>
            </a:extLst>
          </p:cNvPr>
          <p:cNvSpPr txBox="1"/>
          <p:nvPr/>
        </p:nvSpPr>
        <p:spPr>
          <a:xfrm>
            <a:off x="279029" y="3828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pic>
        <p:nvPicPr>
          <p:cNvPr id="2" name="Picture 1">
            <a:extLst>
              <a:ext uri="{FF2B5EF4-FFF2-40B4-BE49-F238E27FC236}">
                <a16:creationId xmlns:a16="http://schemas.microsoft.com/office/drawing/2014/main" id="{F65DA46C-1A0D-CED3-0765-9D90DA6C7B8B}"/>
              </a:ext>
            </a:extLst>
          </p:cNvPr>
          <p:cNvPicPr>
            <a:picLocks noChangeAspect="1"/>
          </p:cNvPicPr>
          <p:nvPr/>
        </p:nvPicPr>
        <p:blipFill>
          <a:blip r:embed="rId2"/>
          <a:stretch>
            <a:fillRect/>
          </a:stretch>
        </p:blipFill>
        <p:spPr>
          <a:xfrm>
            <a:off x="359164" y="1105343"/>
            <a:ext cx="8572500" cy="4838700"/>
          </a:xfrm>
          <a:prstGeom prst="rect">
            <a:avLst/>
          </a:prstGeom>
        </p:spPr>
      </p:pic>
    </p:spTree>
    <p:extLst>
      <p:ext uri="{BB962C8B-B14F-4D97-AF65-F5344CB8AC3E}">
        <p14:creationId xmlns:p14="http://schemas.microsoft.com/office/powerpoint/2010/main" val="434837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1AA63-A649-711E-1908-3752919C1487}"/>
            </a:ext>
          </a:extLst>
        </p:cNvPr>
        <p:cNvGrpSpPr/>
        <p:nvPr/>
      </p:nvGrpSpPr>
      <p:grpSpPr>
        <a:xfrm>
          <a:off x="0" y="0"/>
          <a:ext cx="0" cy="0"/>
          <a:chOff x="0" y="0"/>
          <a:chExt cx="0" cy="0"/>
        </a:xfrm>
      </p:grpSpPr>
      <p:sp>
        <p:nvSpPr>
          <p:cNvPr id="10" name="TextBox 1">
            <a:extLst>
              <a:ext uri="{FF2B5EF4-FFF2-40B4-BE49-F238E27FC236}">
                <a16:creationId xmlns:a16="http://schemas.microsoft.com/office/drawing/2014/main" id="{63DEE9A0-FEBA-A785-2061-78480CBF7034}"/>
              </a:ext>
            </a:extLst>
          </p:cNvPr>
          <p:cNvSpPr txBox="1"/>
          <p:nvPr/>
        </p:nvSpPr>
        <p:spPr>
          <a:xfrm>
            <a:off x="14924233" y="4695825"/>
            <a:ext cx="744403" cy="265113"/>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n-US"/>
          </a:p>
        </p:txBody>
      </p:sp>
      <p:sp>
        <p:nvSpPr>
          <p:cNvPr id="18" name="TextBox 17">
            <a:extLst>
              <a:ext uri="{FF2B5EF4-FFF2-40B4-BE49-F238E27FC236}">
                <a16:creationId xmlns:a16="http://schemas.microsoft.com/office/drawing/2014/main" id="{529D2A95-16B6-F4FE-E167-0391134EFDC9}"/>
              </a:ext>
            </a:extLst>
          </p:cNvPr>
          <p:cNvSpPr txBox="1"/>
          <p:nvPr/>
        </p:nvSpPr>
        <p:spPr>
          <a:xfrm>
            <a:off x="126629" y="2304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
        <p:nvSpPr>
          <p:cNvPr id="19" name="Rectangle: Rounded Corners 18">
            <a:extLst>
              <a:ext uri="{FF2B5EF4-FFF2-40B4-BE49-F238E27FC236}">
                <a16:creationId xmlns:a16="http://schemas.microsoft.com/office/drawing/2014/main" id="{48AD3849-C57D-DB1D-880C-6BE1D1642289}"/>
              </a:ext>
            </a:extLst>
          </p:cNvPr>
          <p:cNvSpPr/>
          <p:nvPr/>
        </p:nvSpPr>
        <p:spPr>
          <a:xfrm>
            <a:off x="230153" y="35595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B443516-F022-967B-4D44-02B2FE3740FC}"/>
              </a:ext>
            </a:extLst>
          </p:cNvPr>
          <p:cNvSpPr/>
          <p:nvPr/>
        </p:nvSpPr>
        <p:spPr>
          <a:xfrm>
            <a:off x="8146275" y="35595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852CD47-6CFF-DC46-555A-80B9DE683BF2}"/>
              </a:ext>
            </a:extLst>
          </p:cNvPr>
          <p:cNvSpPr/>
          <p:nvPr/>
        </p:nvSpPr>
        <p:spPr>
          <a:xfrm>
            <a:off x="8244099" y="3559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22" name="TextBox 21">
            <a:extLst>
              <a:ext uri="{FF2B5EF4-FFF2-40B4-BE49-F238E27FC236}">
                <a16:creationId xmlns:a16="http://schemas.microsoft.com/office/drawing/2014/main" id="{E26CC062-2487-1D90-E345-394FC3E81279}"/>
              </a:ext>
            </a:extLst>
          </p:cNvPr>
          <p:cNvSpPr txBox="1"/>
          <p:nvPr/>
        </p:nvSpPr>
        <p:spPr>
          <a:xfrm>
            <a:off x="279029" y="3828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pic>
        <p:nvPicPr>
          <p:cNvPr id="2" name="Picture 1">
            <a:extLst>
              <a:ext uri="{FF2B5EF4-FFF2-40B4-BE49-F238E27FC236}">
                <a16:creationId xmlns:a16="http://schemas.microsoft.com/office/drawing/2014/main" id="{AA8F1BEF-5333-F1E8-2830-2A4659BA29B0}"/>
              </a:ext>
            </a:extLst>
          </p:cNvPr>
          <p:cNvPicPr>
            <a:picLocks noChangeAspect="1"/>
          </p:cNvPicPr>
          <p:nvPr/>
        </p:nvPicPr>
        <p:blipFill>
          <a:blip r:embed="rId2"/>
          <a:stretch>
            <a:fillRect/>
          </a:stretch>
        </p:blipFill>
        <p:spPr>
          <a:xfrm>
            <a:off x="279029" y="970015"/>
            <a:ext cx="6234677" cy="5231445"/>
          </a:xfrm>
          <a:prstGeom prst="rect">
            <a:avLst/>
          </a:prstGeom>
        </p:spPr>
      </p:pic>
    </p:spTree>
    <p:extLst>
      <p:ext uri="{BB962C8B-B14F-4D97-AF65-F5344CB8AC3E}">
        <p14:creationId xmlns:p14="http://schemas.microsoft.com/office/powerpoint/2010/main" val="819486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0F24-3D02-3C49-69E1-5127E4DEC6DB}"/>
            </a:ext>
          </a:extLst>
        </p:cNvPr>
        <p:cNvGrpSpPr/>
        <p:nvPr/>
      </p:nvGrpSpPr>
      <p:grpSpPr>
        <a:xfrm>
          <a:off x="0" y="0"/>
          <a:ext cx="0" cy="0"/>
          <a:chOff x="0" y="0"/>
          <a:chExt cx="0" cy="0"/>
        </a:xfrm>
      </p:grpSpPr>
      <p:sp>
        <p:nvSpPr>
          <p:cNvPr id="10" name="TextBox 1">
            <a:extLst>
              <a:ext uri="{FF2B5EF4-FFF2-40B4-BE49-F238E27FC236}">
                <a16:creationId xmlns:a16="http://schemas.microsoft.com/office/drawing/2014/main" id="{8313F47C-041A-32CC-4232-D8C318FC44D6}"/>
              </a:ext>
            </a:extLst>
          </p:cNvPr>
          <p:cNvSpPr txBox="1"/>
          <p:nvPr/>
        </p:nvSpPr>
        <p:spPr>
          <a:xfrm>
            <a:off x="14924233" y="4695825"/>
            <a:ext cx="744403" cy="265113"/>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n-US"/>
          </a:p>
        </p:txBody>
      </p:sp>
      <p:sp>
        <p:nvSpPr>
          <p:cNvPr id="18" name="TextBox 17">
            <a:extLst>
              <a:ext uri="{FF2B5EF4-FFF2-40B4-BE49-F238E27FC236}">
                <a16:creationId xmlns:a16="http://schemas.microsoft.com/office/drawing/2014/main" id="{2F500A6B-900E-B27E-924B-1D17544D5F38}"/>
              </a:ext>
            </a:extLst>
          </p:cNvPr>
          <p:cNvSpPr txBox="1"/>
          <p:nvPr/>
        </p:nvSpPr>
        <p:spPr>
          <a:xfrm>
            <a:off x="126629" y="2304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
        <p:nvSpPr>
          <p:cNvPr id="19" name="Rectangle: Rounded Corners 18">
            <a:extLst>
              <a:ext uri="{FF2B5EF4-FFF2-40B4-BE49-F238E27FC236}">
                <a16:creationId xmlns:a16="http://schemas.microsoft.com/office/drawing/2014/main" id="{EBCB762D-C18E-30D4-2616-164078D57980}"/>
              </a:ext>
            </a:extLst>
          </p:cNvPr>
          <p:cNvSpPr/>
          <p:nvPr/>
        </p:nvSpPr>
        <p:spPr>
          <a:xfrm>
            <a:off x="230153" y="35595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67012F1C-AF15-DA24-BDF4-81DA2DD321C8}"/>
              </a:ext>
            </a:extLst>
          </p:cNvPr>
          <p:cNvSpPr/>
          <p:nvPr/>
        </p:nvSpPr>
        <p:spPr>
          <a:xfrm>
            <a:off x="8146275" y="35595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95A7AF3-610B-95D3-CDCF-30C65E670AAE}"/>
              </a:ext>
            </a:extLst>
          </p:cNvPr>
          <p:cNvSpPr/>
          <p:nvPr/>
        </p:nvSpPr>
        <p:spPr>
          <a:xfrm>
            <a:off x="8244099" y="3559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22" name="TextBox 21">
            <a:extLst>
              <a:ext uri="{FF2B5EF4-FFF2-40B4-BE49-F238E27FC236}">
                <a16:creationId xmlns:a16="http://schemas.microsoft.com/office/drawing/2014/main" id="{B3DD3060-290A-3577-68E9-AFB80CBBBED4}"/>
              </a:ext>
            </a:extLst>
          </p:cNvPr>
          <p:cNvSpPr txBox="1"/>
          <p:nvPr/>
        </p:nvSpPr>
        <p:spPr>
          <a:xfrm>
            <a:off x="279029" y="3828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pic>
        <p:nvPicPr>
          <p:cNvPr id="5" name="Picture 4">
            <a:extLst>
              <a:ext uri="{FF2B5EF4-FFF2-40B4-BE49-F238E27FC236}">
                <a16:creationId xmlns:a16="http://schemas.microsoft.com/office/drawing/2014/main" id="{4B4A8202-AF7D-F052-3A90-C0CB39032E6C}"/>
              </a:ext>
            </a:extLst>
          </p:cNvPr>
          <p:cNvPicPr>
            <a:picLocks noChangeAspect="1"/>
          </p:cNvPicPr>
          <p:nvPr/>
        </p:nvPicPr>
        <p:blipFill>
          <a:blip r:embed="rId2"/>
          <a:stretch>
            <a:fillRect/>
          </a:stretch>
        </p:blipFill>
        <p:spPr>
          <a:xfrm>
            <a:off x="385224" y="1339701"/>
            <a:ext cx="8590395" cy="4829131"/>
          </a:xfrm>
          <a:prstGeom prst="rect">
            <a:avLst/>
          </a:prstGeom>
        </p:spPr>
      </p:pic>
    </p:spTree>
    <p:extLst>
      <p:ext uri="{BB962C8B-B14F-4D97-AF65-F5344CB8AC3E}">
        <p14:creationId xmlns:p14="http://schemas.microsoft.com/office/powerpoint/2010/main" val="1900930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0964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KAtwxDsTV0OhT4gsZEgjX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AtwxDsTV0OhT4gsZEgj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3862</TotalTime>
  <Words>572</Words>
  <Application>Microsoft Office PowerPoint</Application>
  <PresentationFormat>Widescreen</PresentationFormat>
  <Paragraphs>182</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Calibri</vt:lpstr>
      <vt:lpstr>Futura-Bold</vt:lpstr>
      <vt:lpstr>Tahoma</vt:lpstr>
      <vt:lpstr>Wingdings</vt:lpstr>
      <vt:lpstr>Office Theme</vt:lpstr>
      <vt:lpstr>KICK OF MEETING</vt:lpstr>
      <vt:lpstr>TARGET 180 HARI KALENDER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PNEUMATIC TEST</dc:title>
  <dc:creator>Muhammad Reza Febriyanto</dc:creator>
  <cp:lastModifiedBy>asus vivobook</cp:lastModifiedBy>
  <cp:revision>69</cp:revision>
  <dcterms:created xsi:type="dcterms:W3CDTF">2024-11-13T05:46:50Z</dcterms:created>
  <dcterms:modified xsi:type="dcterms:W3CDTF">2025-07-31T02:58:48Z</dcterms:modified>
</cp:coreProperties>
</file>